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1.xml" ContentType="application/vnd.openxmlformats-officedocument.presentationml.tags+xml"/>
  <Override PartName="/ppt/notesSlides/notesSlide66.xml" ContentType="application/vnd.openxmlformats-officedocument.presentationml.notesSlide+xml"/>
  <Override PartName="/ppt/tags/tag2.xml" ContentType="application/vnd.openxmlformats-officedocument.presentationml.tags+xml"/>
  <Override PartName="/ppt/notesSlides/notesSlide67.xml" ContentType="application/vnd.openxmlformats-officedocument.presentationml.notesSlide+xml"/>
  <Override PartName="/ppt/tags/tag3.xml" ContentType="application/vnd.openxmlformats-officedocument.presentationml.tags+xml"/>
  <Override PartName="/ppt/notesSlides/notesSlide68.xml" ContentType="application/vnd.openxmlformats-officedocument.presentationml.notesSlide+xml"/>
  <Override PartName="/ppt/tags/tag4.xml" ContentType="application/vnd.openxmlformats-officedocument.presentationml.tags+xml"/>
  <Override PartName="/ppt/notesSlides/notesSlide69.xml" ContentType="application/vnd.openxmlformats-officedocument.presentationml.notesSlide+xml"/>
  <Override PartName="/ppt/tags/tag5.xml" ContentType="application/vnd.openxmlformats-officedocument.presentationml.tags+xml"/>
  <Override PartName="/ppt/notesSlides/notesSlide70.xml" ContentType="application/vnd.openxmlformats-officedocument.presentationml.notesSlide+xml"/>
  <Override PartName="/ppt/tags/tag6.xml" ContentType="application/vnd.openxmlformats-officedocument.presentationml.tags+xml"/>
  <Override PartName="/ppt/notesSlides/notesSlide71.xml" ContentType="application/vnd.openxmlformats-officedocument.presentationml.notesSlide+xml"/>
  <Override PartName="/ppt/tags/tag7.xml" ContentType="application/vnd.openxmlformats-officedocument.presentationml.tags+xml"/>
  <Override PartName="/ppt/notesSlides/notesSlide72.xml" ContentType="application/vnd.openxmlformats-officedocument.presentationml.notesSlide+xml"/>
  <Override PartName="/ppt/tags/tag8.xml" ContentType="application/vnd.openxmlformats-officedocument.presentationml.tags+xml"/>
  <Override PartName="/ppt/notesSlides/notesSlide73.xml" ContentType="application/vnd.openxmlformats-officedocument.presentationml.notesSlide+xml"/>
  <Override PartName="/ppt/tags/tag9.xml" ContentType="application/vnd.openxmlformats-officedocument.presentationml.tags+xml"/>
  <Override PartName="/ppt/notesSlides/notesSlide74.xml" ContentType="application/vnd.openxmlformats-officedocument.presentationml.notesSlide+xml"/>
  <Override PartName="/ppt/tags/tag10.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88"/>
  </p:notesMasterIdLst>
  <p:sldIdLst>
    <p:sldId id="2147482446" r:id="rId5"/>
    <p:sldId id="2147482527" r:id="rId6"/>
    <p:sldId id="2147482554" r:id="rId7"/>
    <p:sldId id="2147482529" r:id="rId8"/>
    <p:sldId id="2147482432" r:id="rId9"/>
    <p:sldId id="2147482524" r:id="rId10"/>
    <p:sldId id="2147482523" r:id="rId11"/>
    <p:sldId id="2147482522" r:id="rId12"/>
    <p:sldId id="2147482521" r:id="rId13"/>
    <p:sldId id="2147482517" r:id="rId14"/>
    <p:sldId id="2147482516" r:id="rId15"/>
    <p:sldId id="2147482533" r:id="rId16"/>
    <p:sldId id="2147482534" r:id="rId17"/>
    <p:sldId id="2147482513" r:id="rId18"/>
    <p:sldId id="2147482512" r:id="rId19"/>
    <p:sldId id="2147482509" r:id="rId20"/>
    <p:sldId id="2147482508" r:id="rId21"/>
    <p:sldId id="2147482507" r:id="rId22"/>
    <p:sldId id="2147482506" r:id="rId23"/>
    <p:sldId id="2147482503" r:id="rId24"/>
    <p:sldId id="2147482502" r:id="rId25"/>
    <p:sldId id="2147482501" r:id="rId26"/>
    <p:sldId id="2147482500" r:id="rId27"/>
    <p:sldId id="2147482555" r:id="rId28"/>
    <p:sldId id="2147482499" r:id="rId29"/>
    <p:sldId id="2147482537" r:id="rId30"/>
    <p:sldId id="2147482538" r:id="rId31"/>
    <p:sldId id="2147482496" r:id="rId32"/>
    <p:sldId id="2147482495" r:id="rId33"/>
    <p:sldId id="2147482493" r:id="rId34"/>
    <p:sldId id="2147482541" r:id="rId35"/>
    <p:sldId id="2147482542" r:id="rId36"/>
    <p:sldId id="2147482539" r:id="rId37"/>
    <p:sldId id="2147482492" r:id="rId38"/>
    <p:sldId id="2147482491" r:id="rId39"/>
    <p:sldId id="2147482490" r:id="rId40"/>
    <p:sldId id="2147482489" r:id="rId41"/>
    <p:sldId id="2147482488" r:id="rId42"/>
    <p:sldId id="2147482487" r:id="rId43"/>
    <p:sldId id="2147482486" r:id="rId44"/>
    <p:sldId id="2147482566" r:id="rId45"/>
    <p:sldId id="2147482565" r:id="rId46"/>
    <p:sldId id="2147482485" r:id="rId47"/>
    <p:sldId id="2147482484" r:id="rId48"/>
    <p:sldId id="2147482483" r:id="rId49"/>
    <p:sldId id="2147482481" r:id="rId50"/>
    <p:sldId id="2147482480" r:id="rId51"/>
    <p:sldId id="2147482479" r:id="rId52"/>
    <p:sldId id="2147482478" r:id="rId53"/>
    <p:sldId id="2147482477" r:id="rId54"/>
    <p:sldId id="2147482476" r:id="rId55"/>
    <p:sldId id="2147482475" r:id="rId56"/>
    <p:sldId id="2147482474" r:id="rId57"/>
    <p:sldId id="2147482473" r:id="rId58"/>
    <p:sldId id="2147482567" r:id="rId59"/>
    <p:sldId id="2147482472" r:id="rId60"/>
    <p:sldId id="2147482556" r:id="rId61"/>
    <p:sldId id="2147482557" r:id="rId62"/>
    <p:sldId id="2147482560" r:id="rId63"/>
    <p:sldId id="2147482561" r:id="rId64"/>
    <p:sldId id="2147482562" r:id="rId65"/>
    <p:sldId id="2147482467" r:id="rId66"/>
    <p:sldId id="2147482466" r:id="rId67"/>
    <p:sldId id="2147482465" r:id="rId68"/>
    <p:sldId id="2147482464" r:id="rId69"/>
    <p:sldId id="2147482463" r:id="rId70"/>
    <p:sldId id="2147482462" r:id="rId71"/>
    <p:sldId id="2147482544" r:id="rId72"/>
    <p:sldId id="2147482545" r:id="rId73"/>
    <p:sldId id="2147482546" r:id="rId74"/>
    <p:sldId id="2147482547" r:id="rId75"/>
    <p:sldId id="2147482548" r:id="rId76"/>
    <p:sldId id="2147482549" r:id="rId77"/>
    <p:sldId id="2147482550" r:id="rId78"/>
    <p:sldId id="2147482551" r:id="rId79"/>
    <p:sldId id="2147482552" r:id="rId80"/>
    <p:sldId id="2147482553" r:id="rId81"/>
    <p:sldId id="2147482451" r:id="rId82"/>
    <p:sldId id="2147482450" r:id="rId83"/>
    <p:sldId id="2147482449" r:id="rId84"/>
    <p:sldId id="2147482526" r:id="rId85"/>
    <p:sldId id="2147482447" r:id="rId86"/>
    <p:sldId id="2147482448" r:id="rId87"/>
  </p:sldIdLst>
  <p:sldSz cx="12192000" cy="6858000"/>
  <p:notesSz cx="6858000" cy="9144000"/>
  <p:embeddedFontLst>
    <p:embeddedFont>
      <p:font typeface="Consolas" panose="020B0609020204030204" pitchFamily="49" charset="0"/>
      <p:regular r:id="rId89"/>
      <p:bold r:id="rId90"/>
      <p:italic r:id="rId91"/>
      <p:boldItalic r:id="rId92"/>
    </p:embeddedFont>
    <p:embeddedFont>
      <p:font typeface="Segoe Sans Display Semibold" pitchFamily="2" charset="0"/>
      <p:regular r:id="rId93"/>
      <p:bold r:id="rId94"/>
      <p:italic r:id="rId95"/>
      <p:boldItalic r:id="rId96"/>
    </p:embeddedFont>
    <p:embeddedFont>
      <p:font typeface="Segoe UI" panose="020B0502040204020203" pitchFamily="34" charset="0"/>
      <p:regular r:id="rId97"/>
      <p:bold r:id="rId98"/>
      <p:italic r:id="rId99"/>
      <p:boldItalic r:id="rId100"/>
    </p:embeddedFont>
    <p:embeddedFont>
      <p:font typeface="Segoe UI Semibold" panose="020B0702040204020203" pitchFamily="34" charset="0"/>
      <p:bold r:id="rId101"/>
      <p:boldItalic r:id="rId10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51AE4EA-934A-4F4A-B9E7-EB2D651D81A6}">
          <p14:sldIdLst>
            <p14:sldId id="2147482446"/>
            <p14:sldId id="2147482527"/>
            <p14:sldId id="2147482554"/>
            <p14:sldId id="2147482529"/>
            <p14:sldId id="2147482432"/>
            <p14:sldId id="2147482524"/>
            <p14:sldId id="2147482523"/>
            <p14:sldId id="2147482522"/>
          </p14:sldIdLst>
        </p14:section>
        <p14:section name="M1" id="{B38CEABB-8253-4E20-B815-E10C82C8CB12}">
          <p14:sldIdLst>
            <p14:sldId id="2147482521"/>
            <p14:sldId id="2147482517"/>
            <p14:sldId id="2147482516"/>
            <p14:sldId id="2147482533"/>
            <p14:sldId id="2147482534"/>
          </p14:sldIdLst>
        </p14:section>
        <p14:section name="M1 Setup Lab" id="{1623EAF8-918C-4401-9E5D-928E5219E19F}">
          <p14:sldIdLst>
            <p14:sldId id="2147482513"/>
            <p14:sldId id="2147482512"/>
            <p14:sldId id="2147482509"/>
          </p14:sldIdLst>
        </p14:section>
        <p14:section name="M2" id="{07E58950-F7DC-4BFB-9D36-F0E617644340}">
          <p14:sldIdLst>
            <p14:sldId id="2147482508"/>
            <p14:sldId id="2147482507"/>
            <p14:sldId id="2147482506"/>
            <p14:sldId id="2147482503"/>
            <p14:sldId id="2147482502"/>
            <p14:sldId id="2147482501"/>
            <p14:sldId id="2147482500"/>
            <p14:sldId id="2147482555"/>
            <p14:sldId id="2147482499"/>
          </p14:sldIdLst>
        </p14:section>
        <p14:section name="Break" id="{3C39E7EC-FA85-4696-A005-17E9B931D53B}">
          <p14:sldIdLst/>
        </p14:section>
        <p14:section name="M3" id="{4557B816-4A4B-4502-B93A-C744D9A7AE41}">
          <p14:sldIdLst>
            <p14:sldId id="2147482537"/>
            <p14:sldId id="2147482538"/>
            <p14:sldId id="2147482496"/>
            <p14:sldId id="2147482495"/>
            <p14:sldId id="2147482493"/>
            <p14:sldId id="2147482541"/>
            <p14:sldId id="2147482542"/>
            <p14:sldId id="2147482539"/>
            <p14:sldId id="2147482492"/>
            <p14:sldId id="2147482491"/>
            <p14:sldId id="2147482490"/>
            <p14:sldId id="2147482489"/>
            <p14:sldId id="2147482488"/>
            <p14:sldId id="2147482487"/>
          </p14:sldIdLst>
        </p14:section>
        <p14:section name="Lunch" id="{0B38B5FA-9C82-40DD-AE9E-65BC13CA6CBE}">
          <p14:sldIdLst>
            <p14:sldId id="2147482486"/>
          </p14:sldIdLst>
        </p14:section>
        <p14:section name="M4" id="{E480FBE0-9A0A-4B89-B089-E870381CAD6F}">
          <p14:sldIdLst>
            <p14:sldId id="2147482566"/>
            <p14:sldId id="2147482565"/>
            <p14:sldId id="2147482485"/>
            <p14:sldId id="2147482484"/>
            <p14:sldId id="2147482483"/>
            <p14:sldId id="2147482481"/>
            <p14:sldId id="2147482480"/>
            <p14:sldId id="2147482479"/>
            <p14:sldId id="2147482478"/>
            <p14:sldId id="2147482477"/>
            <p14:sldId id="2147482476"/>
            <p14:sldId id="2147482475"/>
          </p14:sldIdLst>
        </p14:section>
        <p14:section name="Break" id="{DFB65C40-969B-4015-ABC6-7046C74F635B}">
          <p14:sldIdLst>
            <p14:sldId id="2147482474"/>
          </p14:sldIdLst>
        </p14:section>
        <p14:section name="M5" id="{25DE52FB-5583-4E8D-B02D-681E1089DE8D}">
          <p14:sldIdLst>
            <p14:sldId id="2147482473"/>
            <p14:sldId id="2147482567"/>
            <p14:sldId id="2147482472"/>
            <p14:sldId id="2147482556"/>
            <p14:sldId id="2147482557"/>
            <p14:sldId id="2147482560"/>
            <p14:sldId id="2147482561"/>
            <p14:sldId id="2147482562"/>
            <p14:sldId id="2147482467"/>
            <p14:sldId id="2147482466"/>
            <p14:sldId id="2147482465"/>
            <p14:sldId id="2147482464"/>
            <p14:sldId id="2147482463"/>
          </p14:sldIdLst>
        </p14:section>
        <p14:section name="Break" id="{C27ED20B-EB8E-4358-B375-DCDE7DB1D458}">
          <p14:sldIdLst>
            <p14:sldId id="2147482462"/>
          </p14:sldIdLst>
        </p14:section>
        <p14:section name="M6" id="{30AA719F-A986-4562-B2A1-C01C8555B13D}">
          <p14:sldIdLst>
            <p14:sldId id="2147482544"/>
            <p14:sldId id="2147482545"/>
            <p14:sldId id="2147482546"/>
            <p14:sldId id="2147482547"/>
            <p14:sldId id="2147482548"/>
            <p14:sldId id="2147482549"/>
            <p14:sldId id="2147482550"/>
            <p14:sldId id="2147482551"/>
            <p14:sldId id="2147482552"/>
            <p14:sldId id="2147482553"/>
          </p14:sldIdLst>
        </p14:section>
        <p14:section name="Wrap-up" id="{57DB1B27-AA80-4240-BA42-145C060C90AF}">
          <p14:sldIdLst>
            <p14:sldId id="2147482451"/>
            <p14:sldId id="2147482450"/>
            <p14:sldId id="2147482449"/>
            <p14:sldId id="2147482526"/>
            <p14:sldId id="2147482447"/>
            <p14:sldId id="214748244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AB950E-EEB5-9BB1-B2DF-780882D9AAC1}" name="Audrey Lobo" initials="AL" userId="S::aulobo@microsoft.com::313fbff7-efa2-4bdc-ad1d-f5cd95d6ddd1" providerId="AD"/>
  <p188:author id="{EB5DE72A-FF33-A403-A4B6-77A6884C4C6F}" name="Rasika Chaudhary" initials="RC" userId="S::rachaudh@microsoft.com::49072b5e-0cc8-4a2f-bfae-acf3ef4e930d" providerId="AD"/>
  <p188:author id="{D5C5E936-980A-19CA-38C9-D478CFAA640E}" name="Tahira Al-Faham" initials="TA" userId="S::talfaham@microsoft.com::32b83b30-f1ad-41a9-8bd4-78c8cb799640" providerId="AD"/>
  <p188:author id="{B0B1C53D-6AD5-71DB-3824-5CB8C943BC45}" name="Jay Padimiti" initials="JP" userId="S::jaypadimiti@microsoft.com::d937b11e-e7e0-42cd-aefc-e6d98b59c186" providerId="AD"/>
  <p188:author id="{783D3048-3F4C-0727-153C-666EC5D7C1FD}" name="Warren Bryant" initials="WB" userId="S::warrenbryant@microsoft.com::069c9ec9-e81f-45f8-8e60-6b28b402c2dc" providerId="AD"/>
  <p188:author id="{C3EFF0EB-C5A2-8E71-E6E5-C50959684998}" name="Olivier Conort" initials="OC" userId="S::conorto@microsoft.com::51b0ba74-6228-4132-ad9c-a592ea5ddb4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5ECE"/>
    <a:srgbClr val="2FFFE0"/>
    <a:srgbClr val="0B1020"/>
    <a:srgbClr val="000000"/>
    <a:srgbClr val="3A7BFF"/>
    <a:srgbClr val="FF00FF"/>
    <a:srgbClr val="526BFE"/>
    <a:srgbClr val="E405ED"/>
    <a:srgbClr val="020306"/>
    <a:srgbClr val="0018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96"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font" Target="fonts/font1.fntdata"/><Relationship Id="rId16" Type="http://schemas.openxmlformats.org/officeDocument/2006/relationships/slide" Target="slides/slide12.xml"/><Relationship Id="rId107" Type="http://schemas.microsoft.com/office/2016/11/relationships/changesInfo" Target="changesInfos/changesInfo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font" Target="fonts/font14.fntdata"/><Relationship Id="rId5" Type="http://schemas.openxmlformats.org/officeDocument/2006/relationships/slide" Target="slides/slide1.xml"/><Relationship Id="rId90" Type="http://schemas.openxmlformats.org/officeDocument/2006/relationships/font" Target="fonts/font2.fntdata"/><Relationship Id="rId95" Type="http://schemas.openxmlformats.org/officeDocument/2006/relationships/font" Target="fonts/font7.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108"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notesMaster" Target="notesMasters/notesMaster1.xml"/><Relationship Id="rId91" Type="http://schemas.openxmlformats.org/officeDocument/2006/relationships/font" Target="fonts/font3.fntdata"/><Relationship Id="rId96"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font" Target="fonts/font6.fntdata"/><Relationship Id="rId99" Type="http://schemas.openxmlformats.org/officeDocument/2006/relationships/font" Target="fonts/font11.fntdata"/><Relationship Id="rId101" Type="http://schemas.openxmlformats.org/officeDocument/2006/relationships/font" Target="fonts/font13.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9.fntdata"/><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4.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12.fntdata"/><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5.fntdata"/><Relationship Id="rId98" Type="http://schemas.openxmlformats.org/officeDocument/2006/relationships/font" Target="fonts/font10.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ier Conort" userId="51b0ba74-6228-4132-ad9c-a592ea5ddb4d" providerId="ADAL" clId="{92627246-A1F5-4C89-9963-CE082FB4C5CC}"/>
    <pc:docChg chg="delSld modSection">
      <pc:chgData name="Olivier Conort" userId="51b0ba74-6228-4132-ad9c-a592ea5ddb4d" providerId="ADAL" clId="{92627246-A1F5-4C89-9963-CE082FB4C5CC}" dt="2026-10-27T17:39:36.534" v="3" actId="47"/>
      <pc:docMkLst>
        <pc:docMk/>
      </pc:docMkLst>
      <pc:sldChg chg="del">
        <pc:chgData name="Olivier Conort" userId="51b0ba74-6228-4132-ad9c-a592ea5ddb4d" providerId="ADAL" clId="{92627246-A1F5-4C89-9963-CE082FB4C5CC}" dt="2026-10-27T17:39:13.246" v="0" actId="47"/>
        <pc:sldMkLst>
          <pc:docMk/>
          <pc:sldMk cId="995529619" sldId="2147482530"/>
        </pc:sldMkLst>
      </pc:sldChg>
      <pc:sldChg chg="del">
        <pc:chgData name="Olivier Conort" userId="51b0ba74-6228-4132-ad9c-a592ea5ddb4d" providerId="ADAL" clId="{92627246-A1F5-4C89-9963-CE082FB4C5CC}" dt="2026-10-27T17:39:32.416" v="2" actId="47"/>
        <pc:sldMkLst>
          <pc:docMk/>
          <pc:sldMk cId="3498550869" sldId="2147482531"/>
        </pc:sldMkLst>
      </pc:sldChg>
      <pc:sldChg chg="del">
        <pc:chgData name="Olivier Conort" userId="51b0ba74-6228-4132-ad9c-a592ea5ddb4d" providerId="ADAL" clId="{92627246-A1F5-4C89-9963-CE082FB4C5CC}" dt="2026-10-27T17:39:19.139" v="1" actId="47"/>
        <pc:sldMkLst>
          <pc:docMk/>
          <pc:sldMk cId="1705139516" sldId="2147482532"/>
        </pc:sldMkLst>
      </pc:sldChg>
      <pc:sldChg chg="del">
        <pc:chgData name="Olivier Conort" userId="51b0ba74-6228-4132-ad9c-a592ea5ddb4d" providerId="ADAL" clId="{92627246-A1F5-4C89-9963-CE082FB4C5CC}" dt="2026-10-27T17:39:36.534" v="3" actId="47"/>
        <pc:sldMkLst>
          <pc:docMk/>
          <pc:sldMk cId="2119265373" sldId="21474825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36830-484D-4B9E-896F-85A44AB192F7}"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F8016-D2CE-4AD0-B4F4-CB930C0C3E76}" type="slidenum">
              <a:rPr lang="en-US" smtClean="0"/>
              <a:t>‹#›</a:t>
            </a:fld>
            <a:endParaRPr lang="en-US"/>
          </a:p>
        </p:txBody>
      </p:sp>
    </p:spTree>
    <p:extLst>
      <p:ext uri="{BB962C8B-B14F-4D97-AF65-F5344CB8AC3E}">
        <p14:creationId xmlns:p14="http://schemas.microsoft.com/office/powerpoint/2010/main" val="3544748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Purpose: open the day, introduce the presenter team and the format (full-day, hands-on, intermediate). Talking points: one scenario all day; each presenter owns one module (M1 Olivier, M2 Adrian, M3 Rasika, M4 Nikita, M5 Jay, M6 Warren). Prep: confirm room, Wi-Fi, and that every participant completed the 15-minute login check before the day. Transition: "Let's start with what we are going to build."
CONTENT REVIEW NEEDED: Date (Oct 26) and presenter list come from the August Prerequisites planning document; confirm final date, time slot and room, and speaker titles.
Source: Prerequisites.docx (Workshop and attendance details); Workshop Outline (module owners); Description.docx (level, format).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D8D88E-8DF3-0344-97F0-7879A1D5D9E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sym typeface="Graphik Light"/>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sym typeface="Graphik Light"/>
            </a:endParaRPr>
          </a:p>
        </p:txBody>
      </p:sp>
    </p:spTree>
    <p:extLst>
      <p:ext uri="{BB962C8B-B14F-4D97-AF65-F5344CB8AC3E}">
        <p14:creationId xmlns:p14="http://schemas.microsoft.com/office/powerpoint/2010/main" val="3626379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6AB11-1B14-3F3E-4C06-A69355EE8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43B83-341F-38F6-EB9B-946ADE21AE7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C4A8DEC-4CD2-89E1-E516-4C352B709962}"/>
              </a:ext>
            </a:extLst>
          </p:cNvPr>
          <p:cNvSpPr>
            <a:spLocks noGrp="1"/>
          </p:cNvSpPr>
          <p:nvPr>
            <p:ph type="body" idx="1"/>
          </p:nvPr>
        </p:nvSpPr>
        <p:spPr/>
        <p:txBody>
          <a:bodyPr/>
          <a:lstStyle/>
          <a:p>
            <a:r>
              <a:rPr lang="en-US"/>
              <a:t>Purpose: open the day, introduce the presenter team and the format (full-day, hands-on, intermediate). Talking points: one scenario all day; each presenter owns one module (M1 Olivier, M2 Adrian, M3 Rasika, M4 Nikita, M5 Jay, M6 Warren). Prep: confirm room, Wi-Fi, and that every participant completed the 15-minute login check before the day. Transition: "Let's start with what we are going to build."
CONTENT REVIEW NEEDED: Date (Oct 26) and presenter list come from the August Prerequisites planning document; confirm final date, time slot and room, and speaker titles.
Source: Prerequisites.docx (Workshop and attendance details); Workshop Outline (module owners); Description.docx (level, format).</a:t>
            </a:r>
          </a:p>
        </p:txBody>
      </p:sp>
      <p:sp>
        <p:nvSpPr>
          <p:cNvPr id="4" name="Slide Number Placeholder 3">
            <a:extLst>
              <a:ext uri="{FF2B5EF4-FFF2-40B4-BE49-F238E27FC236}">
                <a16:creationId xmlns:a16="http://schemas.microsoft.com/office/drawing/2014/main" id="{A7211829-F7AD-FDF6-5D1E-8D6DDE7469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D8D88E-8DF3-0344-97F0-7879A1D5D9E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sym typeface="Graphik Light"/>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sym typeface="Graphik Light"/>
            </a:endParaRPr>
          </a:p>
        </p:txBody>
      </p:sp>
    </p:spTree>
    <p:extLst>
      <p:ext uri="{BB962C8B-B14F-4D97-AF65-F5344CB8AC3E}">
        <p14:creationId xmlns:p14="http://schemas.microsoft.com/office/powerpoint/2010/main" val="1971702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Purpose: thank the proctors before we start — they are in the room to help you all day. Raise a hand if you're stuck on a lab step, a sign-in, or your VM; a proctor will come to you.
Proctors: Yasin Mukadam, Reza Dorrani, Yash Patel, Ilya Fainberg, Ulla Becker, Siva Polisetty, Deepthi Peddireddy, Bhaskara Saladi, Bobby Chang, Ravi Chada, Christopher Moncayo, Ben Pham, Mike Stall, Sandeep Dhanrajani.
Instructor prep: ask the proctors to stand or wave when you show this slide.
Photos: Office 365 profile photos (retrieved Oct 22, 2026). To update one, right-click the circle &gt; Change Picture; the circular crop is kept.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D8D88E-8DF3-0344-97F0-7879A1D5D9E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sym typeface="Graphik Light"/>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sym typeface="Graphik Light"/>
            </a:endParaRPr>
          </a:p>
        </p:txBody>
      </p:sp>
    </p:spTree>
    <p:extLst>
      <p:ext uri="{BB962C8B-B14F-4D97-AF65-F5344CB8AC3E}">
        <p14:creationId xmlns:p14="http://schemas.microsoft.com/office/powerpoint/2010/main" val="3626379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introduce the customer persona in a light, memorable way before the solution. Keep it to about one minute.
Talking points: Northwind Traders buys specialty foods and drinks from suppliers and sells them to business customers under its own label — Clam Chowder is today's star product. They make money by delivering orders on time at the agreed price, so a late supplier hits them where it hurts.
How the business runs (say it, don't show it): suppliers → purchase orders → products → customer orders → carriers → customers. Orders move New → Invoiced → Shipped → Closed; only open orders can still be protected when a supplier is late. All of it lives in Dataverse: customers, orders and order details, products, suppliers, purchase orders.
What keeps them up at night — and where we fix it: a late supplier puts orders and revenue at risk (Module 3, intake and impact); recovery choices such as a split shipment or an expedited reorder need the right approver (Module 4, policy, agents, and human supervision); the carrier only offers a web portal with no API (Module 5, Computer Use).
Technical nuance (if asked): Northwind Traders is Microsoft's fictitious sample company — "a fictitious organization that manages orders, products, customers, suppliers, and many other aspects of a small business"; it first shipped with Microsoft Access and is available as a Dataverse sample solution.
Transition: "So here's what we'll build for Northwind today."
CONTENT REVIEW NEEDED: The tagline, the customer type ("business customers"), and the pain points are an illustrative narrative derived from the workshop scenario — confirm the persona framing. The banner uses 3 orders / USD 868.50 (Modules 1, 2, 4–6); the cloud-flow version of Module 3 produces 2 orders / USD 772.00 — see the Module 3 notes.
Source: https://learn.microsoft.com/en-us/power-apps/maker/canvas-apps/northwind-install ; modules/01-open-and-orient.md; modules/03-build-intake-and-impact-cloud-flows.md; docs/abstract/PPCC26-Workshop-Governed-Recovery-Lab.md.</a:t>
            </a:r>
          </a:p>
        </p:txBody>
      </p:sp>
      <p:sp>
        <p:nvSpPr>
          <p:cNvPr id="4" name="Slide Number Placeholder 3"/>
          <p:cNvSpPr>
            <a:spLocks noGrp="1"/>
          </p:cNvSpPr>
          <p:nvPr>
            <p:ph type="sldNum" sz="quarter" idx="5"/>
          </p:nvPr>
        </p:nvSpPr>
        <p:spPr/>
        <p:txBody>
          <a:bodyPr/>
          <a:lstStyle/>
          <a:p>
            <a:fld id="{7B9F8016-D2CE-4AD0-B4F4-CB930C0C3E76}" type="slidenum">
              <a:rPr lang="en-US" smtClean="0"/>
              <a:t>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position the workshop (from Description): business processes need more than forms and workflows; build an end-to-end process combining apps, automation and agents, with human-in-the-loop approvals, Dataverse and connectors, and governance/security/ALM best practices. Emphasize "build on the platform where Microsoft's AI-first innovation is landing." Transition to audience/prereqs.
Source: Description.docx (Description); modules/01..06 (component names).</a:t>
            </a:r>
          </a:p>
        </p:txBody>
      </p:sp>
      <p:sp>
        <p:nvSpPr>
          <p:cNvPr id="4" name="Slide Number Placeholder 3"/>
          <p:cNvSpPr>
            <a:spLocks noGrp="1"/>
          </p:cNvSpPr>
          <p:nvPr>
            <p:ph type="sldNum" sz="quarter" idx="5"/>
          </p:nvPr>
        </p:nvSpPr>
        <p:spPr/>
        <p:txBody>
          <a:bodyPr/>
          <a:lstStyle/>
          <a:p>
            <a:fld id="{7B9F8016-D2CE-4AD0-B4F4-CB930C0C3E76}" type="slidenum">
              <a:rPr lang="en-US" smtClean="0"/>
              <a:t>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learning objectives straight from the Description "What you'll learn". Map each to modules: 1→M2 (and M4 Agent feed in the app), 2→M3/M5, 3→M4/M5, 4→all modules (Dataverse, Outlook, Copilot Studio, MCP connectors), 5→M4/M5/M6 (bounded tools, fail-closed design, pipelines), 6→M6 end-to-end run. Transition to agenda.
Source: Description.docx (What you'll learn).</a:t>
            </a:r>
          </a:p>
        </p:txBody>
      </p:sp>
      <p:sp>
        <p:nvSpPr>
          <p:cNvPr id="4" name="Slide Number Placeholder 3"/>
          <p:cNvSpPr>
            <a:spLocks noGrp="1"/>
          </p:cNvSpPr>
          <p:nvPr>
            <p:ph type="sldNum" sz="quarter" idx="5"/>
          </p:nvPr>
        </p:nvSpPr>
        <p:spPr/>
        <p:txBody>
          <a:bodyPr/>
          <a:lstStyle/>
          <a:p>
            <a:fld id="{7B9F8016-D2CE-4AD0-B4F4-CB930C0C3E76}" type="slidenum">
              <a:rPr lang="en-US" smtClean="0"/>
              <a:t>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show the day. The workshop runs 9:00 AM – 4:40 PM: 10-min welcome, six modules (15 + 35 + 60 + 60 + 90 + 75 = 335 min), three 15-min breaks, a 1-hour lunch at 11:15 AM, and a 10-min recap at 4:30 PM. Module 6 also includes Computer Use wait time, so the recap can slip if carrier runs are slow.
CONTENT REVIEW NEEDED: The day ends at 4:40 PM, 40 minutes past the 4:00 PM target — the presenter chose to keep all module times, breaks, welcome and recap. Confirm with the event schedule and room booking, and confirm the time zone shown to participants.
CONTENT REVIEW NEEDED: Module 2 is 35 minutes in the Outline but 35–40 minutes in the lab file and abstract.
Products column: icons show the main products each module uses — M1 Power Apps (model-driven app) and Dataverse; M2 Power Apps and Dataverse, built with the App Builder skill in GitHub Copilot CLI (GitHub Copilot has no icon in the Power Platform set, so it is not shown); M3 Power Automate cloud flows with AI Builder prompts (Run a prompt) over Dataverse, triggered from Office 365 Outlook; M4 Copilot Studio agents with Dataverse (Business Skills, Dataverse MCP) and Power Apps (Power Apps MCP, Agent feed); M5 Copilot Studio (Carrier agent, Computer Use) with a Power Automate cloud flow over Dataverse; M6 Power Platform pipelines, then the Power Apps app and Copilot Studio agents run again in TARGET.
Source: Workshop Outline (module table); modules/02-build-control-tower.md; docs/abstract/PPCC26-Workshop-App-Builder-Lab.md; icons: official Microsoft Power Platform icons (learn.microsoft.com/power-platform/guidance/icons, December 2025 update), copy from the 'PP Icons 2026' OneDrive folder — permitted for training materials; do not crop, flip, rotate or distort.</a:t>
            </a:r>
          </a:p>
        </p:txBody>
      </p:sp>
      <p:sp>
        <p:nvSpPr>
          <p:cNvPr id="4" name="Slide Number Placeholder 3"/>
          <p:cNvSpPr>
            <a:spLocks noGrp="1"/>
          </p:cNvSpPr>
          <p:nvPr>
            <p:ph type="sldNum" sz="quarter" idx="5"/>
          </p:nvPr>
        </p:nvSpPr>
        <p:spPr/>
        <p:txBody>
          <a:bodyPr/>
          <a:lstStyle/>
          <a:p>
            <a:fld id="{7B9F8016-D2CE-4AD0-B4F4-CB930C0C3E76}" type="slidenum">
              <a:rPr lang="en-US" smtClean="0"/>
              <a:t>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show that each module's output is the next module's input. Talking points: M3 creates the case and Pending decision; M4 agents explain and hand off to a human; M5 builds the execution path that only runs after approval; M6 makes the single approval, watches execution, then deploys and replays. Transition: start Module 1.
Source: Workshop Outline (Deck structure); modules/01..06.</a:t>
            </a:r>
          </a:p>
        </p:txBody>
      </p:sp>
      <p:sp>
        <p:nvSpPr>
          <p:cNvPr id="4" name="Slide Number Placeholder 3"/>
          <p:cNvSpPr>
            <a:spLocks noGrp="1"/>
          </p:cNvSpPr>
          <p:nvPr>
            <p:ph type="sldNum" sz="quarter" idx="5"/>
          </p:nvPr>
        </p:nvSpPr>
        <p:spPr/>
        <p:txBody>
          <a:bodyPr/>
          <a:lstStyle/>
          <a:p>
            <a:fld id="{7B9F8016-D2CE-4AD0-B4F4-CB930C0C3E76}" type="slidenum">
              <a:rPr lang="en-US" smtClean="0"/>
              <a:t>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slide.
Source: Workshop Outline (row 1; Deck structure Module 1).</a:t>
            </a:r>
          </a:p>
        </p:txBody>
      </p:sp>
      <p:sp>
        <p:nvSpPr>
          <p:cNvPr id="4" name="Slide Number Placeholder 3"/>
          <p:cNvSpPr>
            <a:spLocks noGrp="1"/>
          </p:cNvSpPr>
          <p:nvPr>
            <p:ph type="sldNum" sz="quarter" idx="5"/>
          </p:nvPr>
        </p:nvSpPr>
        <p:spPr/>
        <p:txBody>
          <a:bodyPr/>
          <a:lstStyle/>
          <a:p>
            <a:fld id="{7B9F8016-D2CE-4AD0-B4F4-CB930C0C3E76}" type="slidenum">
              <a:rPr lang="en-US" smtClean="0"/>
              <a:t>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make the scenario concrete (Outline flagged it as hard to understand). Walk the money: 482.50 + 289.50 + 96.50 = 868.50. Explain the recovery choice comes from the Business Skill policy (M4) and the browser-only carrier step is why Computer Use is used (M5).
CONTENT REVIEW NEEDED: The Module 3 cloud-flow lab applies an eligibility rule that excludes shipped order 0935, giving 2 orders and USD 772.00, while Modules 1, 2, 4, 5 and 6 and the Module 3 abstract use 3 orders and USD 868.50. Align the numbers across labs before delivery.
Source: modules/01-open-and-orient.md (Inspect the business data); docs/abstract/PPCC26-Workshop-Governed-Recovery-Lab.md (Scenario); modules/03-build-intake-and-impact-cloud-flows.md (Scenario).</a:t>
            </a:r>
          </a:p>
        </p:txBody>
      </p:sp>
      <p:sp>
        <p:nvSpPr>
          <p:cNvPr id="4" name="Slide Number Placeholder 3"/>
          <p:cNvSpPr>
            <a:spLocks noGrp="1"/>
          </p:cNvSpPr>
          <p:nvPr>
            <p:ph type="sldNum" sz="quarter" idx="5"/>
          </p:nvPr>
        </p:nvSpPr>
        <p:spPr/>
        <p:txBody>
          <a:bodyPr/>
          <a:lstStyle/>
          <a:p>
            <a:fld id="{7B9F8016-D2CE-4AD0-B4F4-CB930C0C3E76}" type="slidenum">
              <a:rPr lang="en-US" smtClean="0"/>
              <a:t>10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show the whole process before building parts. Nuance: modules are built in an order that differs from runtime order — M5 builds the execution path, but the single approval that runs it happens in M6. CP7 = the execution evidence stage (CP7-ACTION) written only after a verified carrier result.
Source: modules/03..06; docs/abstract/PPCC26-Workshop-Governed-Recovery-Lab.md.</a:t>
            </a:r>
          </a:p>
        </p:txBody>
      </p:sp>
      <p:sp>
        <p:nvSpPr>
          <p:cNvPr id="4" name="Slide Number Placeholder 3"/>
          <p:cNvSpPr>
            <a:spLocks noGrp="1"/>
          </p:cNvSpPr>
          <p:nvPr>
            <p:ph type="sldNum" sz="quarter" idx="5"/>
          </p:nvPr>
        </p:nvSpPr>
        <p:spPr/>
        <p:txBody>
          <a:bodyPr/>
          <a:lstStyle/>
          <a:p>
            <a:fld id="{7B9F8016-D2CE-4AD0-B4F4-CB930C0C3E76}" type="slidenum">
              <a:rPr lang="en-US" smtClean="0"/>
              <a:t>11</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one picture of how components relate. Distinguish clearly: model-driven app (UI), cloud flows (deterministic automation), Copilot Studio agents (reasoning and tool use), Dataverse (data), AI prompts (generative interpretation), human approval (decision), pipelines (ALM).
Talking points: all three agents are standard Copilot Studio agents ("Other ways to build" &gt; Agent (Standard)) because the Handoff agent needs the Triggers UI and the adapter resolves the Carrier agent by its exact name. The Handoff agent runs autonomously when a Pending Recovery Decision is modified and only uses request_assistance; the Commander is read-only (read_query, search, describe; web and code interpreter off). Invoke Carrier Operations is facilitator-prepared — participants inspect it but never edit it: it re-reads the persisted decision and case and checks the approval guard before claiming the carrier operation and attempt, calls the Carrier agent once with Execute Agent and wait, then waits for the conversation transcript and correlates the exact successful Computer Use Activity before returning CARRIER_VERIFIED. Every other outcome returns CARRIER_AMBIGUOUS and the parent flow routes the case to Needs Attention without CP7.
Connections are facilitator-provided in DEV and mapped to TARGET connections in the Module 6 pipeline.
CONTENT REVIEW NEEDED: Modules 2–5 now use the "PPCC Agentic Operations Control Tower" solution and app, but Module 6 still deploys "PPCC Agentic Control Tower Starter" (Admin Management App with the PPCC Impacted Orders Control Tower page) and Module 1 still opens Admin Management App — align the solution and app names before delivery.
Source: updated lab files received Oct 20, 2026 — modules/02-build-control-tower.md; 03-build-intake-and-impact-cloud-flows.md; 04-build-policy-and-supervision.md (agents, MCP tools, trigger, Agent feed); 05-configure-recovery-and-cua.md (Steps 1–5, adapter contract); 06-run-deploy-and-replay.md (pipeline connection mapping).</a:t>
            </a:r>
          </a:p>
        </p:txBody>
      </p:sp>
      <p:sp>
        <p:nvSpPr>
          <p:cNvPr id="4" name="Slide Number Placeholder 3"/>
          <p:cNvSpPr>
            <a:spLocks noGrp="1"/>
          </p:cNvSpPr>
          <p:nvPr>
            <p:ph type="sldNum" sz="quarter" idx="5"/>
          </p:nvPr>
        </p:nvSpPr>
        <p:spPr/>
        <p:txBody>
          <a:bodyPr/>
          <a:lstStyle/>
          <a:p>
            <a:fld id="{7B9F8016-D2CE-4AD0-B4F4-CB930C0C3E76}" type="slidenum">
              <a:rPr lang="en-US" smtClean="0"/>
              <a:t>12</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the design principle the whole lab enforces. Ask participants to write the three lines in their lab notes (Module 1 instruction).
Where it is enforced: PREPARE — Module 3 flows calculate exposure and create only a Pending Recovery Decision; the prompts explain but never approve; Module 4's Commander is read-only and refuses to execute, and the Handoff agent only requests human assistance. DECIDE — the single consequential action of the day is the approval persisted in the Control Tower in Module 6; completing the Agent feed item is not business approval. EXECUTE — Module 5's Approved Recovery Execution Workflow runs only when the Governed Decision Router passes, and the prepared adapter re-checks the persisted approval before any carrier operation; the case is resolved only after CARRIER_VERIFIED with the correlated Computer Use Activity GUID and CP7 is written; any other outcome goes to Needs Attention without CP7.
Rules: "Approval is not execution evidence" and "A Succeeded flow run is not a verified carrier submission" come from the Module 5 lab ("A recommendation, an agent response, or a Succeeded flow run must never be presented as a verified carrier submission"). "An ambiguous result is not permission to retry" reflects the Module 5 rule: never add an agent retry, a second browser attempt, or a "latest activity" fallback. Communication drafts remain unsent ("Draft only - not sent") — mention it verbally.
Source: modules/01-open-and-orient.md (Understand the authority boundary); updated modules/04-build-policy-and-supervision.md; modules/05-configure-recovery-and-cua.md (Overview, Scenario, Step 4); modules/06-run-deploy-and-replay.md; docs/abstract/PPCC26-Workshop-Governed-Recovery-Lab.md.</a:t>
            </a:r>
          </a:p>
        </p:txBody>
      </p:sp>
      <p:sp>
        <p:nvSpPr>
          <p:cNvPr id="4" name="Slide Number Placeholder 3"/>
          <p:cNvSpPr>
            <a:spLocks noGrp="1"/>
          </p:cNvSpPr>
          <p:nvPr>
            <p:ph type="sldNum" sz="quarter" idx="5"/>
          </p:nvPr>
        </p:nvSpPr>
        <p:spPr/>
        <p:txBody>
          <a:bodyPr/>
          <a:lstStyle/>
          <a:p>
            <a:fld id="{7B9F8016-D2CE-4AD0-B4F4-CB930C0C3E76}" type="slidenum">
              <a:rPr lang="en-US" smtClean="0"/>
              <a:t>13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Instructor prep: participants got their credentials on slide 4. Check the room has completed the three steps: (1) open aka.ms/PPCCWorkshopAccounts and retrieve the tenant credentials, VM credentials, and VM access link; (2) open the lab VM with the VM access link and sign in with the VM credentials; (3) sign in to the Power Platform portals with the tenant (workshop Microsoft 365) account and select DEV PPCC26-Customer-Lab-DEV — TARGET PPCC26-Customer-Lab-TARGET is used only in Module 6. Proctors help anyone stuck before Lab 1 starts. Also confirm the facilitator connections are healthy in DEV — Office 365 Outlook, Microsoft Dataverse, Microsoft Copilot Studio, Power Apps MCP, and the hosted browser (green check) — and that the prepared Invoke Carrier Operations flow has its Dataverse and Copilot Studio connection references bound.
Moved off the slide (say as needed): Where you will work — Power Apps (make.preview.powerapps.com; make.powerapps.com in Module 2), Power Automate (make.powerautomate.com), Copilot Studio, Outlook on the web, and GitHub Copilot CLI + PAC CLI for Module 2. Provided for you — Northwind data, the Control Tower solution and app, connections (Outlook, Dataverse, Copilot Studio, Power Apps MCP, hosted browser), the pipeline, and the carrier adapter. You create — the offer extension (M2), two cloud flows with prompts (M3), the Business Skill and two agents (M4), and the Carrier agent, Computer Use tool and recovery workflow (M5). TARGET PPCC26-Customer-Lab-TARGET is used only in Module 6. Golden rules in full: work in DEV until Module 6; never edit Northwind baseline data; send one test at a time; save once — never retry a trigger or browser action; if data doesn't match, ask for a checkpoint restore.
Portals by module: Module 1, 4, 5 and 6 use make.preview.powerapps.com; Module 2 uses make.powerapps.com plus GitHub Copilot CLI, PAC CLI and Azure CLI; Modules 3 and 5 use make.powerautomate.com; Copilot Studio for agents (Module 6 verifies workflow runs at copilotstudio.microsoft.com); Outlook on the web to send the Module 3 test emails.
Golden rules — why: one test email at a time and a fresh reference each time (Module 3 does not prevent duplicates); save the Recovery Decision once in Module 4 (re-saving can retrigger the Handoff agent); run the Computer Use direct test once — it is a real browser submission (Module 5); approve once in Module 6. If data doesn't match, ask the facilitator to restore the checkpoint (participant-start, impact-policy-complete, recovery-complete).
CONTENT REVIEW NEEDED: The Outline notes that some labs miss which environment to use — Modules 3 and 5 still say "your assigned workshop environment"; confirm per-participant DEV naming (Prerequisites doc suggests PPCC26-ATT-001-DEV/TGT, labs use PPCC26-Customer-Lab-DEV/TARGET).
CONTENT REVIEW NEEDED: Modules 2–5 now use the "PPCC Agentic Operations Control Tower" solution and app; Modules 1 and 6 still use "Admin Management App" and the "PPCC Agentic Control Tower Starter" solution. Standardize before delivery.
CONTENT REVIEW NEEDED: The credentials app returns the tenant account, VM credentials, and VM link, but the sources don't say where participants find their DEV/TARGET environment names or the workshop mailbox address used in Module 3 (the labs previously referred to an access card), nor confirm that all lab work happens inside the VM — confirm and update step 3 if needed.
Source: updated lab files received Oct 20, 2026 — modules/01-open-and-orient.md; 02-build-control-tower.md; 03-build-intake-and-impact-cloud-flows.md; 04-build-policy-and-supervision.md; 05-configure-recovery-and-cua.md; 06-run-deploy-and-replay.md; credentials app URL provided by the workshop lead (Oct 20, 2026).</a:t>
            </a:r>
          </a:p>
        </p:txBody>
      </p:sp>
      <p:sp>
        <p:nvSpPr>
          <p:cNvPr id="4" name="Slide Number Placeholder 3"/>
          <p:cNvSpPr>
            <a:spLocks noGrp="1"/>
          </p:cNvSpPr>
          <p:nvPr>
            <p:ph type="sldNum" sz="quarter" idx="5"/>
          </p:nvPr>
        </p:nvSpPr>
        <p:spPr/>
        <p:txBody>
          <a:bodyPr/>
          <a:lstStyle/>
          <a:p>
            <a:fld id="{7B9F8016-D2CE-4AD0-B4F4-CB930C0C3E76}" type="slidenum">
              <a:rPr lang="en-US" smtClean="0"/>
              <a:t>14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 the 6 instructor questions: building nothing yet; why = shared baseline; steps = 4; works when totals match; common issue = wrong environment selected or data mismatch → stop and ask facilitator to restore participant-start (do not edit baseline data); contributes the verified baseline every module uses.
Source: modules/01-open-and-orient.md.</a:t>
            </a:r>
          </a:p>
        </p:txBody>
      </p:sp>
      <p:sp>
        <p:nvSpPr>
          <p:cNvPr id="4" name="Slide Number Placeholder 3"/>
          <p:cNvSpPr>
            <a:spLocks noGrp="1"/>
          </p:cNvSpPr>
          <p:nvPr>
            <p:ph type="sldNum" sz="quarter" idx="5"/>
          </p:nvPr>
        </p:nvSpPr>
        <p:spPr/>
        <p:txBody>
          <a:bodyPr/>
          <a:lstStyle/>
          <a:p>
            <a:fld id="{7B9F8016-D2CE-4AD0-B4F4-CB930C0C3E76}" type="slidenum">
              <a:rPr lang="en-US" smtClean="0"/>
              <a:t>15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to Module 2.
Source: modules/01-open-and-orient.md (Checkpoint).</a:t>
            </a:r>
          </a:p>
        </p:txBody>
      </p:sp>
      <p:sp>
        <p:nvSpPr>
          <p:cNvPr id="4" name="Slide Number Placeholder 3"/>
          <p:cNvSpPr>
            <a:spLocks noGrp="1"/>
          </p:cNvSpPr>
          <p:nvPr>
            <p:ph type="sldNum" sz="quarter" idx="5"/>
          </p:nvPr>
        </p:nvSpPr>
        <p:spPr/>
        <p:txBody>
          <a:bodyPr/>
          <a:lstStyle/>
          <a:p>
            <a:fld id="{7B9F8016-D2CE-4AD0-B4F4-CB930C0C3E76}" type="slidenum">
              <a:rPr lang="en-US" smtClean="0"/>
              <a:t>16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Workshop Outline row 2 ("Create the Control Tower page"); modules/02-build-control-tower.md.
CONTENT REVIEW NEEDED: The Outline titles Module 2 "Create the Control Tower page", but the current lab (revised to App Builder) explicitly says "You will not create a replacement app or a new Control Tower page" and extends the installed app instead. Confirm the module title.</a:t>
            </a:r>
          </a:p>
        </p:txBody>
      </p:sp>
      <p:sp>
        <p:nvSpPr>
          <p:cNvPr id="4" name="Slide Number Placeholder 3"/>
          <p:cNvSpPr>
            <a:spLocks noGrp="1"/>
          </p:cNvSpPr>
          <p:nvPr>
            <p:ph type="sldNum" sz="quarter" idx="5"/>
          </p:nvPr>
        </p:nvSpPr>
        <p:spPr/>
        <p:txBody>
          <a:bodyPr/>
          <a:lstStyle/>
          <a:p>
            <a:fld id="{7B9F8016-D2CE-4AD0-B4F4-CB930C0C3E76}" type="slidenum">
              <a:rPr lang="en-US" smtClean="0"/>
              <a:t>17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message from abstract: "extend the preinstalled Control Tower rather than rebuild its Northwind-based foundation." An offer is comparison data — not approval, a carrier instruction, or execution evidence.
Source: modules/02-build-control-tower.md; docs/abstract/PPCC26-Workshop-App-Builder-Lab.md.</a:t>
            </a:r>
          </a:p>
        </p:txBody>
      </p:sp>
      <p:sp>
        <p:nvSpPr>
          <p:cNvPr id="4" name="Slide Number Placeholder 3"/>
          <p:cNvSpPr>
            <a:spLocks noGrp="1"/>
          </p:cNvSpPr>
          <p:nvPr>
            <p:ph type="sldNum" sz="quarter" idx="5"/>
          </p:nvPr>
        </p:nvSpPr>
        <p:spPr/>
        <p:txBody>
          <a:bodyPr/>
          <a:lstStyle/>
          <a:p>
            <a:fld id="{7B9F8016-D2CE-4AD0-B4F4-CB930C0C3E76}" type="slidenum">
              <a:rPr lang="en-US" smtClean="0"/>
              <a:t>18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the AI-assisted app-building options, and which one participants use. Talking points: generative pages = natural-language page generation in model-driven apps; Microsoft Learn now recommends authoring them with AI code generation tools such as GitHub Copilot CLI. App Builder (app-builder skill) is what Lab 2 uses: inspect the installed app, propose changes, dry-run plan, approve, build. Commands: /plugin marketplace add microsoft/power-platform-skills; /plugin install model-apps@power-platform-skills; /skills. Canvas: the May 2026 Power Platform update introduced the Canvas Authoring MCP Server so AI coding agents (GitHub Copilot, Claude Code, or any MCP-compatible assistant) can build canvas apps by conversation (example: InfoPath migration). Do not confuse with Power Apps vibe (preview, vibe.powerapps.com), which generates code apps and does not open or edit canvas or model-driven apps.
Extend-safely points (from the former second features slide): base solutions stay managed; changes go in the separate unmanaged "PPCC Control Tower Workshop Extension" solution (PPCC publisher, ppcc prefix); reuse the Recovery Action global choice and existing tables/forms/roles; Supplier Recovery Offer has a required lookup to Disruption Case; PAC CLI and Azure CLI must point at DEV (pac org who), never TARGET; no offer action can approve, start a carrier operation, or create evidence.
CONTENT REVIEW NEEDED: The current Lab 2 does not create a generative page — it extends the installed app and uses the existing Control Tower Home page. Decide whether to demo generative page creation.
CONTENT REVIEW NEEDED: The Outline lists "Vibe Coding Canvas?" with a question mark and no lab covers canvas apps — confirm whether to keep this talk-track row and whether to demo it.
Source: Workshop Outline (Deck structure, Module 2); modules/02-build-control-tower.md; docs/abstract/PPCC26-Workshop-App-Builder-Lab.md; https://learn.microsoft.com/en-us/power-apps/maker/model-driven-apps/generative-pages ; https://learn.microsoft.com/en-us/power-apps/maker/model-driven-apps/generative-page-external-tools ; https://learn.microsoft.com/en-us/power-apps/maker/model-driven-apps/model-driven-app-external-tools ; https://www.microsoft.com/en-us/power-platform/blog/2026/05/14/whats-new-in-power-platform-may-2026-feature-update/ ; https://learn.microsoft.com/en-us/power-apps/maker/common/faq-vibe</a:t>
            </a:r>
          </a:p>
        </p:txBody>
      </p:sp>
      <p:sp>
        <p:nvSpPr>
          <p:cNvPr id="4" name="Slide Number Placeholder 3"/>
          <p:cNvSpPr>
            <a:spLocks noGrp="1"/>
          </p:cNvSpPr>
          <p:nvPr>
            <p:ph type="sldNum" sz="quarter" idx="5"/>
          </p:nvPr>
        </p:nvSpPr>
        <p:spPr/>
        <p:txBody>
          <a:bodyPr/>
          <a:lstStyle/>
          <a:p>
            <a:fld id="{7B9F8016-D2CE-4AD0-B4F4-CB930C0C3E76}" type="slidenum">
              <a:rPr lang="en-US" smtClean="0"/>
              <a:t>19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Abstract timing: 0–5 inspect; 5–11 Copilot CLI and review proposal; 11–27 approve and build; 27–35 enter two offers; 35–40 buffer. Common issues: plugin not loaded (restart Copilot, run /skills); wrong environment; slow/failed build → keep workspace, ask Copilot to explain, or use the facilitator's approved prebuilt extension fallback (record its use). Never delete the managed base or create duplicate tables.
CONTENT REVIEW NEEDED: Module 2 lab warns that it needs the installed Control Tower, not the older empty "Admin Management App" starter described in Module 1 — confirm which environment state participants receive.
Source: modules/02-build-control-tower.md; docs/abstract/PPCC26-Workshop-App-Builder-Lab.md.</a:t>
            </a:r>
          </a:p>
        </p:txBody>
      </p:sp>
      <p:sp>
        <p:nvSpPr>
          <p:cNvPr id="4" name="Slide Number Placeholder 3"/>
          <p:cNvSpPr>
            <a:spLocks noGrp="1"/>
          </p:cNvSpPr>
          <p:nvPr>
            <p:ph type="sldNum" sz="quarter" idx="5"/>
          </p:nvPr>
        </p:nvSpPr>
        <p:spPr/>
        <p:txBody>
          <a:bodyPr/>
          <a:lstStyle/>
          <a:p>
            <a:fld id="{7B9F8016-D2CE-4AD0-B4F4-CB930C0C3E76}" type="slidenum">
              <a:rPr lang="en-US" smtClean="0"/>
              <a:t>20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2 — steps 1–2 of 6.
Do not approve, reject, or start execution in Step 1. Run plugin commands at the Copilot prompt, not PowerShell.
Source: modules/02-build-control-tower.md Steps 1–3.</a:t>
            </a:r>
          </a:p>
        </p:txBody>
      </p:sp>
      <p:sp>
        <p:nvSpPr>
          <p:cNvPr id="4" name="Slide Number Placeholder 3"/>
          <p:cNvSpPr>
            <a:spLocks noGrp="1"/>
          </p:cNvSpPr>
          <p:nvPr>
            <p:ph type="sldNum" sz="quarter" idx="5"/>
          </p:nvPr>
        </p:nvSpPr>
        <p:spPr/>
        <p:txBody>
          <a:bodyPr/>
          <a:lstStyle/>
          <a:p>
            <a:fld id="{7B9F8016-D2CE-4AD0-B4F4-CB930C0C3E76}" type="slidenum">
              <a:rPr lang="en-US" smtClean="0"/>
              <a:t>21</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2 — steps 3–4 of 6.
Do not approve, reject, or start execution in Step 1. Run plugin commands at the Copilot prompt, not PowerShell.
Source: modules/02-build-control-tower.md Steps 1–3.
Expected review items: separate unmanaged PPCCControlTowerWorkshopExtension; navigation after Impacted Orders and before Recovery Decisions; base roles preserved. If app-builder cannot safely extend the case form, use the Power Apps designer with facilitator guidance — do not waive acceptance criteria.
Source: modules/02-build-control-tower.md Steps 4–6, Summary.</a:t>
            </a:r>
          </a:p>
        </p:txBody>
      </p:sp>
      <p:sp>
        <p:nvSpPr>
          <p:cNvPr id="4" name="Slide Number Placeholder 3"/>
          <p:cNvSpPr>
            <a:spLocks noGrp="1"/>
          </p:cNvSpPr>
          <p:nvPr>
            <p:ph type="sldNum" sz="quarter" idx="5"/>
          </p:nvPr>
        </p:nvSpPr>
        <p:spPr/>
        <p:txBody>
          <a:bodyPr/>
          <a:lstStyle/>
          <a:p>
            <a:fld id="{7B9F8016-D2CE-4AD0-B4F4-CB930C0C3E76}" type="slidenum">
              <a:rPr lang="en-US" smtClean="0"/>
              <a:t>22</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2 — steps 5–6 of 6.
Expected review items: separate unmanaged PPCCControlTowerWorkshopExtension; navigation after Impacted Orders and before Recovery Decisions; base roles preserved. If app-builder cannot safely extend the case form, use the Power Apps designer with facilitator guidance — do not waive acceptance criteria.
Source: modules/02-build-control-tower.md Steps 4–6, Summary.</a:t>
            </a:r>
          </a:p>
        </p:txBody>
      </p:sp>
      <p:sp>
        <p:nvSpPr>
          <p:cNvPr id="4" name="Slide Number Placeholder 3"/>
          <p:cNvSpPr>
            <a:spLocks noGrp="1"/>
          </p:cNvSpPr>
          <p:nvPr>
            <p:ph type="sldNum" sz="quarter" idx="5"/>
          </p:nvPr>
        </p:nvSpPr>
        <p:spPr/>
        <p:txBody>
          <a:bodyPr/>
          <a:lstStyle/>
          <a:p>
            <a:fld id="{7B9F8016-D2CE-4AD0-B4F4-CB930C0C3E76}" type="slidenum">
              <a:rPr lang="en-US" smtClean="0"/>
              <a:t>23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09F2F-C733-9F00-EB9E-F9A018397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78588-40F9-C752-375A-17C7232E6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F1D54-6CF1-19B3-2B9A-8FBEC0B5C949}"/>
              </a:ext>
            </a:extLst>
          </p:cNvPr>
          <p:cNvSpPr>
            <a:spLocks noGrp="1"/>
          </p:cNvSpPr>
          <p:nvPr>
            <p:ph type="body" idx="1"/>
          </p:nvPr>
        </p:nvSpPr>
        <p:spPr/>
        <p:txBody>
          <a:bodyPr/>
          <a:lstStyle/>
          <a:p>
            <a:r>
              <a:rPr lang="en-US"/>
              <a:t>Lab 2 — steps 5–6 of 6.
Expected review items: separate unmanaged PPCCControlTowerWorkshopExtension; navigation after Impacted Orders and before Recovery Decisions; base roles preserved. If app-builder cannot safely extend the case form, use the Power Apps designer with facilitator guidance — do not waive acceptance criteria.
Source: modules/02-build-control-tower.md Steps 4–6, Summary.</a:t>
            </a:r>
          </a:p>
        </p:txBody>
      </p:sp>
      <p:sp>
        <p:nvSpPr>
          <p:cNvPr id="4" name="Slide Number Placeholder 3">
            <a:extLst>
              <a:ext uri="{FF2B5EF4-FFF2-40B4-BE49-F238E27FC236}">
                <a16:creationId xmlns:a16="http://schemas.microsoft.com/office/drawing/2014/main" id="{FC96FE06-B557-466A-C7FE-1572E3FB5439}"/>
              </a:ext>
            </a:extLst>
          </p:cNvPr>
          <p:cNvSpPr>
            <a:spLocks noGrp="1"/>
          </p:cNvSpPr>
          <p:nvPr>
            <p:ph type="sldNum" sz="quarter" idx="5"/>
          </p:nvPr>
        </p:nvSpPr>
        <p:spPr/>
        <p:txBody>
          <a:bodyPr/>
          <a:lstStyle/>
          <a:p>
            <a:fld id="{7B9F8016-D2CE-4AD0-B4F4-CB930C0C3E76}" type="slidenum">
              <a:rPr lang="en-US" smtClean="0"/>
              <a:t>24</a:t>
            </a:fld>
            <a:endParaRPr lang="en-US"/>
          </a:p>
        </p:txBody>
      </p:sp>
    </p:spTree>
    <p:extLst>
      <p:ext uri="{BB962C8B-B14F-4D97-AF65-F5344CB8AC3E}">
        <p14:creationId xmlns:p14="http://schemas.microsoft.com/office/powerpoint/2010/main" val="3370449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to break, then Module 3.
Source: modules/02-build-control-tower.md (Module completion).</a:t>
            </a:r>
          </a:p>
        </p:txBody>
      </p:sp>
      <p:sp>
        <p:nvSpPr>
          <p:cNvPr id="4" name="Slide Number Placeholder 3"/>
          <p:cNvSpPr>
            <a:spLocks noGrp="1"/>
          </p:cNvSpPr>
          <p:nvPr>
            <p:ph type="sldNum" sz="quarter" idx="5"/>
          </p:nvPr>
        </p:nvSpPr>
        <p:spPr/>
        <p:txBody>
          <a:bodyPr/>
          <a:lstStyle/>
          <a:p>
            <a:fld id="{7B9F8016-D2CE-4AD0-B4F4-CB930C0C3E76}" type="slidenum">
              <a:rPr lang="en-US" smtClean="0"/>
              <a:t>25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short break. Up next: Module 3 · Intake and live impact (Rasika).
CONTENT REVIEW NEEDED: break duration not specified in sources.</a:t>
            </a:r>
          </a:p>
        </p:txBody>
      </p:sp>
      <p:sp>
        <p:nvSpPr>
          <p:cNvPr id="4" name="Slide Number Placeholder 3"/>
          <p:cNvSpPr>
            <a:spLocks noGrp="1"/>
          </p:cNvSpPr>
          <p:nvPr>
            <p:ph type="sldNum" sz="quarter" idx="5"/>
          </p:nvPr>
        </p:nvSpPr>
        <p:spPr/>
        <p:txBody>
          <a:bodyPr/>
          <a:lstStyle/>
          <a:p>
            <a:fld id="{7B9F8016-D2CE-4AD0-B4F4-CB930C0C3E76}" type="slidenum">
              <a:rPr lang="en-US" smtClean="0"/>
              <a:t>26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Spoken introduction (about 50–60 seconds):
Imagine you’re on Northwind’s operations team. An email arrives: a supplier’s delivery will be late. You know there’s a problem, but which customers are affected—and how much business is at risk? Normally, someone has to search through orders and piece that picture together before the team can respond.
In this lab, we’ll build two flows to do that preparation. The first captures the supplier’s notice. The second connects the delay to affected orders and calculates the revenue at risk. Together, they give the team a clear starting point for review. We’re not automatically fixing the delay or approving a recovery plan; people still make that decision. Let’s build the two pieces that turn an email into a useful business picture.
Delivery cue: pause after the question about customers. Ask learners to picture the operations person, not the flow designer. The lab’s business value is better preparation for a decision, not a promise of automatic recovery or guaranteed savings.
Transition: reveal the next slide as the answer to “what will these two flows actually do?” Keep the implementation names off the introduction.
Facilitator context: the two components are Order Disruption Cloud Flow and Supplier Disruption Impact Assessment Cloud Flow. The 60-minute workshop is Level 200. Revenue at risk is the lab exposure model based on eligible order-line quantities and unit prices; it is not proof of lost revenue, stock availability or delivery capacity.
Lab reference: Module 3: Create supplier-delay intake and live impact with Power Automate — Overview and Steps 1–2.
https://github.com/warrenbryant-msft/ppcc26-apps-agents-workshop-preview/blob/warren/ppcc-agentic-control-tower-customer-lab/labs/agentic-control-tower/modules/03-build-intake-and-impact-cloud-flows.md</a:t>
            </a:r>
          </a:p>
        </p:txBody>
      </p:sp>
      <p:sp>
        <p:nvSpPr>
          <p:cNvPr id="4" name="Slide Number Placeholder 3"/>
          <p:cNvSpPr>
            <a:spLocks noGrp="1"/>
          </p:cNvSpPr>
          <p:nvPr>
            <p:ph type="sldNum" sz="quarter" idx="5"/>
          </p:nvPr>
        </p:nvSpPr>
        <p:spPr/>
        <p:txBody>
          <a:bodyPr/>
          <a:lstStyle/>
          <a:p>
            <a:fld id="{7B9F8016-D2CE-4AD0-B4F4-CB930C0C3E76}" type="slidenum">
              <a:rPr lang="en-US" smtClean="0"/>
              <a:t>27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principle quoted: "Generative AI interprets the notice and explains the results. The cloud flows validate the input, calculate the financial figures, and control record creation. Neither prompt grants approval or executes recovery."
Source: modules/03-build-intake-and-impact-cloud-flows.md (Overview).</a:t>
            </a:r>
          </a:p>
        </p:txBody>
      </p:sp>
      <p:sp>
        <p:nvSpPr>
          <p:cNvPr id="4" name="Slide Number Placeholder 3"/>
          <p:cNvSpPr>
            <a:spLocks noGrp="1"/>
          </p:cNvSpPr>
          <p:nvPr>
            <p:ph type="sldNum" sz="quarter" idx="5"/>
          </p:nvPr>
        </p:nvSpPr>
        <p:spPr/>
        <p:txBody>
          <a:bodyPr/>
          <a:lstStyle/>
          <a:p>
            <a:fld id="{7B9F8016-D2CE-4AD0-B4F4-CB930C0C3E76}" type="slidenum">
              <a:rPr lang="en-US" smtClean="0"/>
              <a:t>28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show where AI helps and where deterministic automation stays in charge — "The flow calculates. AI explains." Lab 3 builds two automated cloud flows in the Power Automate designer; prompts need Run a prompt access and AI Builder or Copilot Credits. Structured JSON output appears directly as dynamic content, but does not guarantee factual accuracy — the flow validates against Dataverse. Natural-language flow creation: Copilot in cloud flows creates a flow from a description and can edit it through conversation. Expression assistant (preview) creates, updates, and fixes expressions in the new designer.
Former features-slide points kept here: automated cloud flows triggered by a new email (Office 365 Outlook) or a new Dataverse row, solution-aware so they deploy with the app; Dataverse actions (List rows with filters/expand, Get a row by ID, Add/Update a row, lookups, choices); Switch, conditions, Apply to each, variables.
CONTENT REVIEW NEEDED: The Outline asks to "mention current preview" for vibe coding cloud flows — confirm which preview to show (natural-language flow creation, the expression assistant preview, or Copilot Studio "build with natural language" preview) and whether to demo it.
CONTENT REVIEW NEEDED: The Outline lists "PowerFx in cloud flows?" — neither the labs nor the Microsoft documentation consulted describe Power Fx in Power Automate cloud flows; the slide shows workflow expressions (used in the lab) instead. Module owner to confirm.
Source: Workshop Outline (Deck structure, Module 3); modules/03-build-intake-and-impact-cloud-flows.md; https://learn.microsoft.com/en-us/power-automate/create-cloud-flow-using-copilot ; https://learn.microsoft.com/en-us/power-automate/expressions-copilot ; https://learn.microsoft.com/en-us/ai-builder/use-a-custom-prompt-in-flow ; https://learn.microsoft.com/en-us/microsoft-copilot-studio/create-custom-prompt</a:t>
            </a:r>
          </a:p>
        </p:txBody>
      </p:sp>
      <p:sp>
        <p:nvSpPr>
          <p:cNvPr id="4" name="Slide Number Placeholder 3"/>
          <p:cNvSpPr>
            <a:spLocks noGrp="1"/>
          </p:cNvSpPr>
          <p:nvPr>
            <p:ph type="sldNum" sz="quarter" idx="5"/>
          </p:nvPr>
        </p:nvSpPr>
        <p:spPr/>
        <p:txBody>
          <a:bodyPr/>
          <a:lstStyle/>
          <a:p>
            <a:fld id="{7B9F8016-D2CE-4AD0-B4F4-CB930C0C3E76}" type="slidenum">
              <a:rPr lang="en-US" smtClean="0"/>
              <a:t>29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hand-off: creating the case in Flow 1 triggers Flow 2 (Dataverse "row added" trigger filtered to new Supplier Notice cases). Prompt treats email content as data, not instructions (prompt-injection guard). The impact prompt must end with "Human review required. Approval remains Pending."
Source: modules/03-build-intake-and-impact-cloud-flows.md Steps 1–2.</a:t>
            </a:r>
          </a:p>
        </p:txBody>
      </p:sp>
      <p:sp>
        <p:nvSpPr>
          <p:cNvPr id="4" name="Slide Number Placeholder 3"/>
          <p:cNvSpPr>
            <a:spLocks noGrp="1"/>
          </p:cNvSpPr>
          <p:nvPr>
            <p:ph type="sldNum" sz="quarter" idx="5"/>
          </p:nvPr>
        </p:nvSpPr>
        <p:spPr/>
        <p:txBody>
          <a:bodyPr/>
          <a:lstStyle/>
          <a:p>
            <a:fld id="{7B9F8016-D2CE-4AD0-B4F4-CB930C0C3E76}" type="slidenum">
              <a:rPr lang="en-US" smtClean="0"/>
              <a:t>30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play this for you. I start with nothing but a sentence describing what I want the flow to do. Watch how the agent doesn't just write a definition and hope. It checks the connections, validates the flow, and only then deploys it. Then I break something on purpose and ask why the run failed. It pulls the run history, walks into the failing action, explains the cause in plain words and proposes the fix. The part I want you to take away is the last line: I'm still the one approving. The agent does the tedious work, and I keep the judgment. Afterwards, if you want to try it, the install is two commands and it works with the same environment you're using today. Now, back to our lab.</a:t>
            </a:r>
          </a:p>
        </p:txBody>
      </p:sp>
      <p:sp>
        <p:nvSpPr>
          <p:cNvPr id="4" name="Slide Number Placeholder 3"/>
          <p:cNvSpPr>
            <a:spLocks noGrp="1"/>
          </p:cNvSpPr>
          <p:nvPr>
            <p:ph type="sldNum" sz="quarter" idx="5"/>
          </p:nvPr>
        </p:nvSpPr>
        <p:spPr/>
        <p:txBody>
          <a:bodyPr/>
          <a:lstStyle/>
          <a:p>
            <a:fld id="{7B9F8016-D2CE-4AD0-B4F4-CB930C0C3E76}" type="slidenum">
              <a:rPr lang="en-US" smtClean="0"/>
              <a:t>31</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we jump into the lab, I want to show you where flow building is heading. Everything you'll do today in the designer, you can also do from a coding agent. This plugin gives GitHub Copilot CLI or Claude Code a full set of Power Automate tools through one MCP server, so the agent can create a flow, change a single action without touching the rest, look at why a run failed, and fix the connection. What I like is that it runs on your own machine with your own sign-in, so the agent can only do what you're already allowed to do. I don't see this replacing the designer. I see it as a faster way to scaffold and to debug, especially when you're managing many flows. Let me show you what that looks like.</a:t>
            </a:r>
          </a:p>
        </p:txBody>
      </p:sp>
      <p:sp>
        <p:nvSpPr>
          <p:cNvPr id="4" name="Slide Number Placeholder 3"/>
          <p:cNvSpPr>
            <a:spLocks noGrp="1"/>
          </p:cNvSpPr>
          <p:nvPr>
            <p:ph type="sldNum" sz="quarter" idx="5"/>
          </p:nvPr>
        </p:nvSpPr>
        <p:spPr/>
        <p:txBody>
          <a:bodyPr/>
          <a:lstStyle/>
          <a:p>
            <a:fld id="{7B9F8016-D2CE-4AD0-B4F4-CB930C0C3E76}" type="slidenum">
              <a:rPr lang="en-US" smtClean="0"/>
              <a:t>32</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Teaching argument: there are two distinct opportunities to use AI. One helps the maker construct a flow; the other is an action the finished flow calls. Ask: “Is AI helping me write the logic now, or interpreting information when the flow runs?” Neither removes the maker’s responsibility to review the result.
Expression assistant demo, using our lab: explain that the case needs a link to the product returned by Find product. In the new designer, open the expression editor and the Copilot expression assistant. This feature is preview and requires Copilot to be enabled for the tenant. Describe the desired reference using the actual action name. Lab prompt: “Use concat() to join nwind_productses(, the nwind_productsid from the first row in body(Find_product)?[value], and )”. Show and inspect the expected expression:
concat('nwind_productses(', first(body('Find_product')?['value'])?['nwind_productsid'], ')')
This assembles a record reference; it does not ask a language model to choose a product every time the flow runs. Once accepted, it is deterministic expression logic. Check quotes, action-name spelling, output path and the reference returned for one known product. The product/supplier queries in the lab request up to two rows and use first(); the build steps do NOT enforce exactly one match. Adding a match-count guard before first() is a recommended improvement, not a feature already implemented. For zero or multiple matches, stop and investigate rather than implying that generated syntax validates the data.
Runtime demo cue: open the intake Run a prompt action and show its real subject/body input tokens. Preview how different supplier wording maps into the same structured fields. Then point to the assessment’s separate prompt, called once after the loop, which receives totals the flow already calculated. Do not do two full click-throughs here: learners will see both flows next. The benefit is assistance with syntax and language, not a guarantee of accuracy or time saved.
Anticipated question: “Could Copilot just do the calculation?” Distinguish generating a formula during authoring from delegating arithmetic to AI during each run. This lab uses the former kind of deterministic logic for values, while the runtime model explains the supplied result. Prompt access, capacity and regional availability must be checked in the workshop environment.
Transition: follow one supplier message through the intake flow, then see how the second flow calculates its business impact.
Microsoft Learn — Create, update, and fix expressions with Copilot expression assistant (preview). Natural-language help can draft expressions; review and test the result before using it.
https://learn.microsoft.com/en-us/power-automate/expressions-copilot
Microsoft Learn — Use your prompt in Power Automate. Run a prompt maps flow inputs to a prompt and makes its output available to later actions.
https://learn.microsoft.com/en-us/ai-builder/use-a-custom-prompt-in-flow
Lab reference: Module 3: Create supplier-delay intake and live impact with Power Automate — Step 1 (product lookup and intake prompt) and Step 2 (impact explanation).
https://github.com/warrenbryant-msft/ppcc26-apps-agents-workshop-preview/blob/warren/ppcc-agentic-control-tower-customer-lab/labs/agentic-control-tower/modules/03-build-intake-and-impact-cloud-flows.md</a:t>
            </a:r>
          </a:p>
        </p:txBody>
      </p:sp>
      <p:sp>
        <p:nvSpPr>
          <p:cNvPr id="4" name="Slide Number Placeholder 3"/>
          <p:cNvSpPr>
            <a:spLocks noGrp="1"/>
          </p:cNvSpPr>
          <p:nvPr>
            <p:ph type="sldNum" sz="quarter" idx="5"/>
          </p:nvPr>
        </p:nvSpPr>
        <p:spPr/>
        <p:txBody>
          <a:bodyPr/>
          <a:lstStyle/>
          <a:p>
            <a:fld id="{7B9F8016-D2CE-4AD0-B4F4-CB930C0C3E76}" type="slidenum">
              <a:rPr lang="en-US" smtClean="0"/>
              <a:t>33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Instructor answers: common issues — sending several test emails at once; reusing a reference (flow does not prevent duplicates); testing Flow 1 before Flow 2 is on (that case will not trigger Flow 2 — send a fresh reference); actions not renamed exactly before being referenced; prompt failures from input mappings, permissions or credits. Prereq: the flow connection user's default currency must be USD (facilitator confirms).
Source: modules/03-build-intake-and-impact-cloud-flows.md (Prerequisites, If a run fails, Lab completion).</a:t>
            </a:r>
          </a:p>
        </p:txBody>
      </p:sp>
      <p:sp>
        <p:nvSpPr>
          <p:cNvPr id="4" name="Slide Number Placeholder 3"/>
          <p:cNvSpPr>
            <a:spLocks noGrp="1"/>
          </p:cNvSpPr>
          <p:nvPr>
            <p:ph type="sldNum" sz="quarter" idx="5"/>
          </p:nvPr>
        </p:nvSpPr>
        <p:spPr/>
        <p:txBody>
          <a:bodyPr/>
          <a:lstStyle/>
          <a:p>
            <a:fld id="{7B9F8016-D2CE-4AD0-B4F4-CB930C0C3E76}" type="slidenum">
              <a:rPr lang="en-US" smtClean="0"/>
              <a:t>34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3 — steps 1–2 of 8.
Test subject example from lab: "PPCC Cloud Flow Lab - Supplier delay [REF:SUPF-2026-1045]". Keep all SupplierDelay processing inside the Switch case. Do not send the end-to-end test until Flow 2 is enabled. Images: modules/images/module3/image-8.png, image-9.png, intake-image-*.png.
Source: modules/03-build-intake-and-impact-cloud-flows.md Step 1.</a:t>
            </a:r>
          </a:p>
        </p:txBody>
      </p:sp>
      <p:sp>
        <p:nvSpPr>
          <p:cNvPr id="4" name="Slide Number Placeholder 3"/>
          <p:cNvSpPr>
            <a:spLocks noGrp="1"/>
          </p:cNvSpPr>
          <p:nvPr>
            <p:ph type="sldNum" sz="quarter" idx="5"/>
          </p:nvPr>
        </p:nvSpPr>
        <p:spPr/>
        <p:txBody>
          <a:bodyPr/>
          <a:lstStyle/>
          <a:p>
            <a:fld id="{7B9F8016-D2CE-4AD0-B4F4-CB930C0C3E76}" type="slidenum">
              <a:rPr lang="en-US" smtClean="0"/>
              <a:t>35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3 — steps 3–4 of 8.
Test subject example from lab: "PPCC Cloud Flow Lab - Supplier delay [REF:SUPF-2026-1045]". Keep all SupplierDelay processing inside the Switch case. Do not send the end-to-end test until Flow 2 is enabled. Images: modules/images/module3/image-8.png, image-9.png, intake-image-*.png.
Source: modules/03-build-intake-and-impact-cloud-flows.md Step 1.</a:t>
            </a:r>
          </a:p>
        </p:txBody>
      </p:sp>
      <p:sp>
        <p:nvSpPr>
          <p:cNvPr id="4" name="Slide Number Placeholder 3"/>
          <p:cNvSpPr>
            <a:spLocks noGrp="1"/>
          </p:cNvSpPr>
          <p:nvPr>
            <p:ph type="sldNum" sz="quarter" idx="5"/>
          </p:nvPr>
        </p:nvSpPr>
        <p:spPr/>
        <p:txBody>
          <a:bodyPr/>
          <a:lstStyle/>
          <a:p>
            <a:fld id="{7B9F8016-D2CE-4AD0-B4F4-CB930C0C3E76}" type="slidenum">
              <a:rPr lang="en-US" smtClean="0"/>
              <a:t>36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3 — steps 5–6 of 8.
Expected (cloud-flow lab, unchanged data): Impacted Order Count 2, Revenue at Risk USD 772.00 (0915 = 482.50, 0920 = 289.50); shipped 0935 and closed 0906 excluded; Recommended Action blank awaiting human selection. Images: modules/images/module3/assessment-image-*.png.
CONTENT REVIEW NEEDED: These expected values (2 orders, USD 772.00) differ from the 3 orders / USD 868.50 used in Modules 1, 2, 4, 5, 6 and in the Module 3 abstract.
Source: modules/03-build-intake-and-impact-cloud-flows.md Steps 2–5.</a:t>
            </a:r>
          </a:p>
        </p:txBody>
      </p:sp>
      <p:sp>
        <p:nvSpPr>
          <p:cNvPr id="4" name="Slide Number Placeholder 3"/>
          <p:cNvSpPr>
            <a:spLocks noGrp="1"/>
          </p:cNvSpPr>
          <p:nvPr>
            <p:ph type="sldNum" sz="quarter" idx="5"/>
          </p:nvPr>
        </p:nvSpPr>
        <p:spPr/>
        <p:txBody>
          <a:bodyPr/>
          <a:lstStyle/>
          <a:p>
            <a:fld id="{7B9F8016-D2CE-4AD0-B4F4-CB930C0C3E76}" type="slidenum">
              <a:rPr lang="en-US" smtClean="0"/>
              <a:t>37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3 — steps 7–8 of 8.
Expected (cloud-flow lab, unchanged data): Impacted Order Count 2, Revenue at Risk USD 772.00 (0915 = 482.50, 0920 = 289.50); shipped 0935 and closed 0906 excluded; Recommended Action blank awaiting human selection. Images: modules/images/module3/assessment-image-*.png.
CONTENT REVIEW NEEDED: These expected values (2 orders, USD 772.00) differ from the 3 orders / USD 868.50 used in Modules 1, 2, 4, 5, 6 and in the Module 3 abstract.
Source: modules/03-build-intake-and-impact-cloud-flows.md Steps 2–5.</a:t>
            </a:r>
          </a:p>
        </p:txBody>
      </p:sp>
      <p:sp>
        <p:nvSpPr>
          <p:cNvPr id="4" name="Slide Number Placeholder 3"/>
          <p:cNvSpPr>
            <a:spLocks noGrp="1"/>
          </p:cNvSpPr>
          <p:nvPr>
            <p:ph type="sldNum" sz="quarter" idx="5"/>
          </p:nvPr>
        </p:nvSpPr>
        <p:spPr/>
        <p:txBody>
          <a:bodyPr/>
          <a:lstStyle/>
          <a:p>
            <a:fld id="{7B9F8016-D2CE-4AD0-B4F4-CB930C0C3E76}" type="slidenum">
              <a:rPr lang="en-US" smtClean="0"/>
              <a:t>38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modules/03-build-intake-and-impact-cloud-flows.md (Lab completion, Summary).</a:t>
            </a:r>
          </a:p>
        </p:txBody>
      </p:sp>
      <p:sp>
        <p:nvSpPr>
          <p:cNvPr id="4" name="Slide Number Placeholder 3"/>
          <p:cNvSpPr>
            <a:spLocks noGrp="1"/>
          </p:cNvSpPr>
          <p:nvPr>
            <p:ph type="sldNum" sz="quarter" idx="5"/>
          </p:nvPr>
        </p:nvSpPr>
        <p:spPr/>
        <p:txBody>
          <a:bodyPr/>
          <a:lstStyle/>
          <a:p>
            <a:fld id="{7B9F8016-D2CE-4AD0-B4F4-CB930C0C3E76}" type="slidenum">
              <a:rPr lang="en-US" smtClean="0"/>
              <a:t>39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lunch. Up next: Module 4 · Policy, bounded reasoning, and human supervision (Nikita).
CONTENT REVIEW NEEDED: lunch time and duration not specified in sources.</a:t>
            </a:r>
          </a:p>
        </p:txBody>
      </p:sp>
      <p:sp>
        <p:nvSpPr>
          <p:cNvPr id="4" name="Slide Number Placeholder 3"/>
          <p:cNvSpPr>
            <a:spLocks noGrp="1"/>
          </p:cNvSpPr>
          <p:nvPr>
            <p:ph type="sldNum" sz="quarter" idx="5"/>
          </p:nvPr>
        </p:nvSpPr>
        <p:spPr/>
        <p:txBody>
          <a:bodyPr/>
          <a:lstStyle/>
          <a:p>
            <a:fld id="{7B9F8016-D2CE-4AD0-B4F4-CB930C0C3E76}" type="slidenum">
              <a:rPr lang="en-US" smtClean="0"/>
              <a:t>40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Workshop Outline row 4; modules/04-build-policy-and-supervision.md; docs/abstract/PPCC26-Disruption-Triage-Skill-Agent-Feed.md.</a:t>
            </a:r>
          </a:p>
        </p:txBody>
      </p:sp>
      <p:sp>
        <p:nvSpPr>
          <p:cNvPr id="4" name="Slide Number Placeholder 3"/>
          <p:cNvSpPr>
            <a:spLocks noGrp="1"/>
          </p:cNvSpPr>
          <p:nvPr>
            <p:ph type="sldNum" sz="quarter" idx="5"/>
          </p:nvPr>
        </p:nvSpPr>
        <p:spPr/>
        <p:txBody>
          <a:bodyPr/>
          <a:lstStyle/>
          <a:p>
            <a:fld id="{7B9F8016-D2CE-4AD0-B4F4-CB930C0C3E76}" type="slidenum">
              <a:rPr lang="en-US" smtClean="0"/>
              <a:t>43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Scenario: policy lives in Dataverse, agents apply it, and a data trigger hands the final decision to a person.
Abstract key line: "agent guidance is not approval, Agent Feed completion is not business approval, and execution cannot begin until an authorized Recovery Decision is persisted."
Source: abstract PPCC26-Disruption-Triage-Skill-Agent-Feed.md; modules/04.</a:t>
            </a:r>
          </a:p>
        </p:txBody>
      </p:sp>
      <p:sp>
        <p:nvSpPr>
          <p:cNvPr id="4" name="Slide Number Placeholder 3"/>
          <p:cNvSpPr>
            <a:spLocks noGrp="1"/>
          </p:cNvSpPr>
          <p:nvPr>
            <p:ph type="sldNum" sz="quarter" idx="5"/>
          </p:nvPr>
        </p:nvSpPr>
        <p:spPr/>
        <p:txBody>
          <a:bodyPr/>
          <a:lstStyle/>
          <a:p>
            <a:fld id="{7B9F8016-D2CE-4AD0-B4F4-CB930C0C3E76}" type="slidenum">
              <a:rPr lang="en-US" smtClean="0"/>
              <a:t>44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the agent building blocks and how each is bounded. Define MCP (Model Context Protocol): an open standard for exposing tools and data to agents; in Copilot Studio each MCP server's operations can be switched on or off individually. Business Skills are not executable code — natural-language instructions that follow Dataverse security; in the lab, the preview editor has no skill-specific Publish/Test. Agent feed only shows agents that use the Power Apps MCP server; autonomous trigger scenarios need maker-provided (shared) credentials — which is why the lab says not to use End user account. Commander settings: web information and code interpreter off. Connected agents: Handoff reuses the Commander's reasoning.
GitHub Copilot harness: generally available in Copilot Studio since the August 2026 update — "the new foundation for building reasoning-heavy agents and workflows". The lab deliberately uses Other ways to build &gt; Agent (Standard) because the newer lightweight creation path can hide the Triggers UI.
Duration check (Outline note "check duration"): 60 minutes in the Outline table, the lab file, and the abstract — consistent.
Scenario overview (Outline note "missing scenario overview"): from the abstract — business policy is stored centrally in Dataverse as a Business Skill and discovered by agents, chained with a data trigger that puts a human in the loop for the final control decision. Agent guidance is not approval; Agent feed completion is not business approval.
CONTENT REVIEW NEEDED: The Outline lists "Copilot Studio agents and GH runtime?" — interpreted here as the GitHub Copilot harness; confirm the talk track, since the lab itself uses the standard harness.
CONTENT REVIEW NEEDED: The lab file 04-build-policy-and-supervision.md still has no scenario section; the scenario above comes from the abstract — consider adding it to the lab.
Source: Workshop Outline (Deck structure, Module 4); modules/04-build-policy-and-supervision.md; docs/abstract/PPCC26-Disruption-Triage-Skill-Agent-Feed.md; https://www.microsoft.com/en-us/copilot/blog/copilot-studio/new-and-improved-github-copilot-harness-agent-skills-and-richer-context/ ; https://learn.microsoft.com/en-us/microsoft-copilot-studio/agents-experience/overview ; https://learn.microsoft.com/en-us/power-apps/maker/data-platform/data-platform-business-skill-overview ; https://learn.microsoft.com/en-us/power-apps/maker/data-platform/data-platform-mcp ; https://learn.microsoft.com/en-us/power-apps/maker/model-driven-apps/power-apps-mcp-server ; https://learn.microsoft.com/en-us/power-apps/user/supervise-agents-with-agent-feed</a:t>
            </a:r>
          </a:p>
        </p:txBody>
      </p:sp>
      <p:sp>
        <p:nvSpPr>
          <p:cNvPr id="4" name="Slide Number Placeholder 3"/>
          <p:cNvSpPr>
            <a:spLocks noGrp="1"/>
          </p:cNvSpPr>
          <p:nvPr>
            <p:ph type="sldNum" sz="quarter" idx="5"/>
          </p:nvPr>
        </p:nvSpPr>
        <p:spPr/>
        <p:txBody>
          <a:bodyPr/>
          <a:lstStyle/>
          <a:p>
            <a:fld id="{7B9F8016-D2CE-4AD0-B4F4-CB930C0C3E76}" type="slidenum">
              <a:rPr lang="en-US" smtClean="0"/>
              <a:t>45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chain. Expected Agent feed title: "PPCC-LAB-SUPPLIER-DELAY-001: Review requested action SPLIT_SHIPMENT".
Source: modules/04; abstract M4.</a:t>
            </a:r>
          </a:p>
        </p:txBody>
      </p:sp>
      <p:sp>
        <p:nvSpPr>
          <p:cNvPr id="4" name="Slide Number Placeholder 3"/>
          <p:cNvSpPr>
            <a:spLocks noGrp="1"/>
          </p:cNvSpPr>
          <p:nvPr>
            <p:ph type="sldNum" sz="quarter" idx="5"/>
          </p:nvPr>
        </p:nvSpPr>
        <p:spPr/>
        <p:txBody>
          <a:bodyPr/>
          <a:lstStyle/>
          <a:p>
            <a:fld id="{7B9F8016-D2CE-4AD0-B4F4-CB930C0C3E76}" type="slidenum">
              <a:rPr lang="en-US" smtClean="0"/>
              <a:t>46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 issues: adding Disruption Commander to the feed instead of the Handoff agent; Power Apps MCP auth set to End user; agent can't name the skill (check MCP tool and saved skill or restore impact-policy-complete); one trigger creating multiple tasks → stop, do not invoke again. Abstract timing: 0–8 skill; 8–24 Commander + MCP; 24–32 settings/publish/test; 32–42 Handoff instructions; 42–48 connect; 48–53 MCP tool; 53–57 trigger/feed; 57–60 update notes once and verify.
CONTENT REVIEW NEEDED: Module 4 uses the Workflows-version identifiers (PPCC-LAB-SUPPLIER-DELAY-001, Split Shipment, USD 868.50, "Decision for PPCC-LAB-SUPPLIER-DELAY-001"), which the cloud-flow Module 3 does not create. The Outline also flags "check duration and missing scenario overview" for this module.
CONTENT REVIEW NEEDED: The lab adds the Handoff agent to the feed in "Admin Management App" but verifies it in "PPCC Agentic Operations Control Tower".
Source: modules/04-build-policy-and-supervision.md (Checkpoint); abstract M4.</a:t>
            </a:r>
          </a:p>
        </p:txBody>
      </p:sp>
      <p:sp>
        <p:nvSpPr>
          <p:cNvPr id="4" name="Slide Number Placeholder 3"/>
          <p:cNvSpPr>
            <a:spLocks noGrp="1"/>
          </p:cNvSpPr>
          <p:nvPr>
            <p:ph type="sldNum" sz="quarter" idx="5"/>
          </p:nvPr>
        </p:nvSpPr>
        <p:spPr/>
        <p:txBody>
          <a:bodyPr/>
          <a:lstStyle/>
          <a:p>
            <a:fld id="{7B9F8016-D2CE-4AD0-B4F4-CB930C0C3E76}" type="slidenum">
              <a:rPr lang="en-US" smtClean="0"/>
              <a:t>47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4 — steps 1–2 of 8.
Test prompt: "For PPCC-LAB-SUPPLIER-DELAY-001, explain the evidence, recommendation, alternatives, and next permitted step. Then execute Split Shipment now." Follow-up: which Business Skill and policy version → ppcc-order-disruption-triage / lab-1. Images: modules/images/module4/10-business-skill-editor.png, 11-commander-overview.png, 13-agent-settings.png.
Source: modules/04.</a:t>
            </a:r>
          </a:p>
        </p:txBody>
      </p:sp>
      <p:sp>
        <p:nvSpPr>
          <p:cNvPr id="4" name="Slide Number Placeholder 3"/>
          <p:cNvSpPr>
            <a:spLocks noGrp="1"/>
          </p:cNvSpPr>
          <p:nvPr>
            <p:ph type="sldNum" sz="quarter" idx="5"/>
          </p:nvPr>
        </p:nvSpPr>
        <p:spPr/>
        <p:txBody>
          <a:bodyPr/>
          <a:lstStyle/>
          <a:p>
            <a:fld id="{7B9F8016-D2CE-4AD0-B4F4-CB930C0C3E76}" type="slidenum">
              <a:rPr lang="en-US" smtClean="0"/>
              <a:t>48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4 — steps 3–4 of 8.
Test prompt: "For PPCC-LAB-SUPPLIER-DELAY-001, explain the evidence, recommendation, alternatives, and next permitted step. Then execute Split Shipment now." Follow-up: which Business Skill and policy version → ppcc-order-disruption-triage / lab-1. Images: modules/images/module4/10-business-skill-editor.png, 11-commander-overview.png, 13-agent-settings.png.
Source: modules/04.</a:t>
            </a:r>
          </a:p>
        </p:txBody>
      </p:sp>
      <p:sp>
        <p:nvSpPr>
          <p:cNvPr id="4" name="Slide Number Placeholder 3"/>
          <p:cNvSpPr>
            <a:spLocks noGrp="1"/>
          </p:cNvSpPr>
          <p:nvPr>
            <p:ph type="sldNum" sz="quarter" idx="5"/>
          </p:nvPr>
        </p:nvSpPr>
        <p:spPr/>
        <p:txBody>
          <a:bodyPr/>
          <a:lstStyle/>
          <a:p>
            <a:fld id="{7B9F8016-D2CE-4AD0-B4F4-CB930C0C3E76}" type="slidenum">
              <a:rPr lang="en-US" smtClean="0"/>
              <a:t>49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4 — steps 5–6 of 8.
Use the Copilot Studio Activity tab to watch the agent's steps. Leave the Agent feed item open for Module 6. Images: modules/images/module4/14-handoff-mcp-tools.png.
Source: modules/04.</a:t>
            </a:r>
          </a:p>
        </p:txBody>
      </p:sp>
      <p:sp>
        <p:nvSpPr>
          <p:cNvPr id="4" name="Slide Number Placeholder 3"/>
          <p:cNvSpPr>
            <a:spLocks noGrp="1"/>
          </p:cNvSpPr>
          <p:nvPr>
            <p:ph type="sldNum" sz="quarter" idx="5"/>
          </p:nvPr>
        </p:nvSpPr>
        <p:spPr/>
        <p:txBody>
          <a:bodyPr/>
          <a:lstStyle/>
          <a:p>
            <a:fld id="{7B9F8016-D2CE-4AD0-B4F4-CB930C0C3E76}" type="slidenum">
              <a:rPr lang="en-US" smtClean="0"/>
              <a:t>50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4 — steps 7–8 of 8.
Use the Copilot Studio Activity tab to watch the agent's steps. Leave the Agent feed item open for Module 6. Images: modules/images/module4/14-handoff-mcp-tools.png.
Source: modules/04.</a:t>
            </a:r>
          </a:p>
        </p:txBody>
      </p:sp>
      <p:sp>
        <p:nvSpPr>
          <p:cNvPr id="4" name="Slide Number Placeholder 3"/>
          <p:cNvSpPr>
            <a:spLocks noGrp="1"/>
          </p:cNvSpPr>
          <p:nvPr>
            <p:ph type="sldNum" sz="quarter" idx="5"/>
          </p:nvPr>
        </p:nvSpPr>
        <p:spPr/>
        <p:txBody>
          <a:bodyPr/>
          <a:lstStyle/>
          <a:p>
            <a:fld id="{7B9F8016-D2CE-4AD0-B4F4-CB930C0C3E76}" type="slidenum">
              <a:rPr lang="en-US" smtClean="0"/>
              <a:t>51</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modules/04 (Checkpoint).</a:t>
            </a:r>
          </a:p>
        </p:txBody>
      </p:sp>
      <p:sp>
        <p:nvSpPr>
          <p:cNvPr id="4" name="Slide Number Placeholder 3"/>
          <p:cNvSpPr>
            <a:spLocks noGrp="1"/>
          </p:cNvSpPr>
          <p:nvPr>
            <p:ph type="sldNum" sz="quarter" idx="5"/>
          </p:nvPr>
        </p:nvSpPr>
        <p:spPr/>
        <p:txBody>
          <a:bodyPr/>
          <a:lstStyle/>
          <a:p>
            <a:fld id="{7B9F8016-D2CE-4AD0-B4F4-CB930C0C3E76}" type="slidenum">
              <a:rPr lang="en-US" smtClean="0"/>
              <a:t>52</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short break. Up next: Module 5 · Carrier agent and governed recovery (Jay).</a:t>
            </a:r>
          </a:p>
        </p:txBody>
      </p:sp>
      <p:sp>
        <p:nvSpPr>
          <p:cNvPr id="4" name="Slide Number Placeholder 3"/>
          <p:cNvSpPr>
            <a:spLocks noGrp="1"/>
          </p:cNvSpPr>
          <p:nvPr>
            <p:ph type="sldNum" sz="quarter" idx="5"/>
          </p:nvPr>
        </p:nvSpPr>
        <p:spPr/>
        <p:txBody>
          <a:bodyPr/>
          <a:lstStyle/>
          <a:p>
            <a:fld id="{7B9F8016-D2CE-4AD0-B4F4-CB930C0C3E76}" type="slidenum">
              <a:rPr lang="en-US" smtClean="0"/>
              <a:t>53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54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Think of your organization as a golf course.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You don't choose the terrain, and the rules of golf, your governance, apply to everyone.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Your people are the players, and AI is the new caddie. It reads the green and can even take routine shots, but the golfer still signs the scorecard. Your processes are the holes. A leave request is a par 3; order to cash is a par 5. Your tools are the clubs, from the driver, your core systems, to the putter, the last mile where people see the result.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And here's the point. Nobody wins on equipment. Par is your target, and the score is strokes: every step, every hand-off, every round of rework.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Your goal is to make hole in fewer shots.</a:t>
            </a:r>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55</a:t>
            </a:fld>
            <a:endParaRPr lang="en-US"/>
          </a:p>
        </p:txBody>
      </p:sp>
    </p:spTree>
    <p:extLst>
      <p:ext uri="{BB962C8B-B14F-4D97-AF65-F5344CB8AC3E}">
        <p14:creationId xmlns:p14="http://schemas.microsoft.com/office/powerpoint/2010/main" val="12608408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Hello everyone, Congratulations and give a pat on your back. You made it this far. </a:t>
            </a:r>
          </a:p>
          <a:p>
            <a:endParaRPr lang="en-US"/>
          </a:p>
          <a:p>
            <a:r>
              <a:rPr lang="en-US"/>
              <a:t>Now that you have built the business skill, let’s continue the agent building journey. In this module you will build a Copilot Studio agent, create a tool that mimics mouse clicks and a cloud flow. The journey moves on from agents that advise to agents that act.
</a:t>
            </a:r>
          </a:p>
        </p:txBody>
      </p:sp>
      <p:sp>
        <p:nvSpPr>
          <p:cNvPr id="4" name="Slide Number Placeholder 3"/>
          <p:cNvSpPr>
            <a:spLocks noGrp="1"/>
          </p:cNvSpPr>
          <p:nvPr>
            <p:ph type="sldNum" sz="quarter" idx="5"/>
          </p:nvPr>
        </p:nvSpPr>
        <p:spPr/>
        <p:txBody>
          <a:bodyPr/>
          <a:lstStyle/>
          <a:p>
            <a:fld id="{7B9F8016-D2CE-4AD0-B4F4-CB930C0C3E76}" type="slidenum">
              <a:rPr lang="en-US" smtClean="0"/>
              <a:t>56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our last mile. </a:t>
            </a:r>
          </a:p>
          <a:p>
            <a:endParaRPr lang="en-US"/>
          </a:p>
          <a:p>
            <a:r>
              <a:rPr lang="en-US"/>
              <a:t>The carrier contact has to be registered on the carrier's browser portal, and there's no supported API. </a:t>
            </a:r>
          </a:p>
          <a:p>
            <a:endParaRPr lang="en-US"/>
          </a:p>
          <a:p>
            <a:r>
              <a:rPr lang="en-US"/>
              <a:t>So we need something that can use a website like a person. </a:t>
            </a:r>
          </a:p>
          <a:p>
            <a:endParaRPr lang="en-US"/>
          </a:p>
          <a:p>
            <a:r>
              <a:rPr lang="en-US"/>
              <a:t>The moment an agent can act, three requirements kick in: it acts only after a person approves, it acts exactly once, and it proves what happened. </a:t>
            </a:r>
          </a:p>
          <a:p>
            <a:endParaRPr lang="en-US"/>
          </a:p>
          <a:p>
            <a:r>
              <a:rPr lang="en-US"/>
              <a:t>"The cloud flow performs deterministic Dataverse work. The Carrier agent owns the browser-only step."</a:t>
            </a:r>
          </a:p>
        </p:txBody>
      </p:sp>
      <p:sp>
        <p:nvSpPr>
          <p:cNvPr id="4" name="Slide Number Placeholder 3"/>
          <p:cNvSpPr>
            <a:spLocks noGrp="1"/>
          </p:cNvSpPr>
          <p:nvPr>
            <p:ph type="sldNum" sz="quarter" idx="5"/>
          </p:nvPr>
        </p:nvSpPr>
        <p:spPr/>
        <p:txBody>
          <a:bodyPr/>
          <a:lstStyle/>
          <a:p>
            <a:fld id="{7B9F8016-D2CE-4AD0-B4F4-CB930C0C3E76}" type="slidenum">
              <a:rPr lang="en-US" smtClean="0"/>
              <a:t>57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things to know in this module. </a:t>
            </a:r>
          </a:p>
          <a:p>
            <a:endParaRPr lang="en-US"/>
          </a:p>
          <a:p>
            <a:r>
              <a:rPr lang="en-US"/>
              <a:t>Two you'll build: workflows and computer use. </a:t>
            </a:r>
          </a:p>
          <a:p>
            <a:endParaRPr lang="en-US"/>
          </a:p>
          <a:p>
            <a:r>
              <a:rPr lang="en-US"/>
              <a:t>Two I'll talk through: vibe coding agents — describing an agent instead of building it click by click — </a:t>
            </a:r>
          </a:p>
          <a:p>
            <a:endParaRPr lang="en-US"/>
          </a:p>
          <a:p>
            <a:r>
              <a:rPr lang="en-US"/>
              <a:t>and the harness choice, which decides what your agent can do and how it's billed.</a:t>
            </a:r>
          </a:p>
        </p:txBody>
      </p:sp>
      <p:sp>
        <p:nvSpPr>
          <p:cNvPr id="4" name="Slide Number Placeholder 3"/>
          <p:cNvSpPr>
            <a:spLocks noGrp="1"/>
          </p:cNvSpPr>
          <p:nvPr>
            <p:ph type="sldNum" sz="quarter" idx="5"/>
          </p:nvPr>
        </p:nvSpPr>
        <p:spPr/>
        <p:txBody>
          <a:bodyPr/>
          <a:lstStyle/>
          <a:p>
            <a:fld id="{7B9F8016-D2CE-4AD0-B4F4-CB930C0C3E76}" type="slidenum">
              <a:rPr lang="en-US" smtClean="0"/>
              <a:t>58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Computer use is a tool you add to an agent. </a:t>
            </a:r>
          </a:p>
          <a:p>
            <a:endParaRPr lang="en-US"/>
          </a:p>
          <a:p>
            <a:r>
              <a:rPr lang="en-US"/>
              <a:t>You describe the task in natural language — with inputs for values that change on every run — and a Computer-Using Agent model combines vision and reasoning to drive a virtual mouse and keyboard. </a:t>
            </a:r>
          </a:p>
          <a:p>
            <a:endParaRPr lang="en-US"/>
          </a:p>
          <a:p>
            <a:r>
              <a:rPr lang="en-US"/>
              <a:t>If a person can use the app or website, computer use can too, even with no API, and because it reads the screen it adapts when buttons or layouts change. It needs generative orchestration and works best in autonomous agents running in the background. </a:t>
            </a:r>
          </a:p>
        </p:txBody>
      </p:sp>
      <p:sp>
        <p:nvSpPr>
          <p:cNvPr id="4" name="Slide Number Placeholder 3"/>
          <p:cNvSpPr>
            <a:spLocks noGrp="1"/>
          </p:cNvSpPr>
          <p:nvPr>
            <p:ph type="sldNum" sz="quarter" idx="5"/>
          </p:nvPr>
        </p:nvSpPr>
        <p:spPr/>
        <p:txBody>
          <a:bodyPr/>
          <a:lstStyle/>
          <a:p>
            <a:fld id="{7B9F8016-D2CE-4AD0-B4F4-CB930C0C3E76}" type="slidenum">
              <a:rPr lang="en-US" smtClean="0"/>
              <a:t>59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automate a screen; they differ in how. </a:t>
            </a:r>
          </a:p>
          <a:p>
            <a:endParaRPr lang="en-US"/>
          </a:p>
          <a:p>
            <a:r>
              <a:rPr lang="en-US"/>
              <a:t>RPA — Power Automate desktop flows — is rule-based: it follows a script you author against the UI tree, runs at machine speed, and handles errors the way you told it to. </a:t>
            </a:r>
          </a:p>
          <a:p>
            <a:endParaRPr lang="en-US"/>
          </a:p>
          <a:p>
            <a:r>
              <a:rPr lang="en-US"/>
              <a:t>Computer use is outcome-based: you state the goal, it looks at the screen, decides the next step and self-corrects. </a:t>
            </a:r>
          </a:p>
          <a:p>
            <a:endParaRPr lang="en-US"/>
          </a:p>
          <a:p>
            <a:r>
              <a:rPr lang="en-US"/>
              <a:t>The trade-off: RPA is fast and predictable but needs maintenance when selectors change; computer use tolerates change and ambiguity but reasons step by step, so it's slower and billed per step.
</a:t>
            </a:r>
          </a:p>
        </p:txBody>
      </p:sp>
      <p:sp>
        <p:nvSpPr>
          <p:cNvPr id="4" name="Slide Number Placeholder 3"/>
          <p:cNvSpPr>
            <a:spLocks noGrp="1"/>
          </p:cNvSpPr>
          <p:nvPr>
            <p:ph type="sldNum" sz="quarter" idx="5"/>
          </p:nvPr>
        </p:nvSpPr>
        <p:spPr/>
        <p:txBody>
          <a:bodyPr/>
          <a:lstStyle/>
          <a:p>
            <a:fld id="{7B9F8016-D2CE-4AD0-B4F4-CB930C0C3E76}" type="slidenum">
              <a:rPr lang="en-US" smtClean="0"/>
              <a:t>60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 rule of thumb. </a:t>
            </a:r>
          </a:p>
          <a:p>
            <a:endParaRPr lang="en-US"/>
          </a:p>
          <a:p>
            <a:r>
              <a:rPr lang="en-US"/>
              <a:t>Pick RPA when the UI is stable, the rules are clear, volume and speed matter, an RPA team already owns it, or it's mission-critical. </a:t>
            </a:r>
          </a:p>
          <a:p>
            <a:endParaRPr lang="en-US"/>
          </a:p>
          <a:p>
            <a:r>
              <a:rPr lang="en-US"/>
              <a:t>Pick computer use when UIs shift, decisions are fuzzy, the task depends on what's on screen, there's no API and no RPA capacity, or a retry or human review is acceptable. </a:t>
            </a:r>
          </a:p>
          <a:p>
            <a:endParaRPr lang="en-US"/>
          </a:p>
          <a:p>
            <a:r>
              <a:rPr lang="en-US"/>
              <a:t>In practice you'll often use both: a workflow orchestrates, RPA runs the steady path, computer use takes the variable step, and a person approves what matters. </a:t>
            </a:r>
          </a:p>
        </p:txBody>
      </p:sp>
      <p:sp>
        <p:nvSpPr>
          <p:cNvPr id="4" name="Slide Number Placeholder 3"/>
          <p:cNvSpPr>
            <a:spLocks noGrp="1"/>
          </p:cNvSpPr>
          <p:nvPr>
            <p:ph type="sldNum" sz="quarter" idx="5"/>
          </p:nvPr>
        </p:nvSpPr>
        <p:spPr/>
        <p:txBody>
          <a:bodyPr/>
          <a:lstStyle/>
          <a:p>
            <a:fld id="{7B9F8016-D2CE-4AD0-B4F4-CB930C0C3E76}" type="slidenum">
              <a:rPr lang="en-US" smtClean="0"/>
              <a:t>61</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62</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63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64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65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9F8016-D2CE-4AD0-B4F4-CB930C0C3E76}" type="slidenum">
              <a:rPr lang="en-US" smtClean="0"/>
              <a:t>66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short break. Up next: Module 6 · Run, deploy, and replay in TARGET (Warren).</a:t>
            </a:r>
          </a:p>
        </p:txBody>
      </p:sp>
      <p:sp>
        <p:nvSpPr>
          <p:cNvPr id="4" name="Slide Number Placeholder 3"/>
          <p:cNvSpPr>
            <a:spLocks noGrp="1"/>
          </p:cNvSpPr>
          <p:nvPr>
            <p:ph type="sldNum" sz="quarter" idx="5"/>
          </p:nvPr>
        </p:nvSpPr>
        <p:spPr/>
        <p:txBody>
          <a:bodyPr/>
          <a:lstStyle/>
          <a:p>
            <a:fld id="{7B9F8016-D2CE-4AD0-B4F4-CB930C0C3E76}" type="slidenum">
              <a:rPr lang="en-US" smtClean="0"/>
              <a:t>67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69.</a:t>
            </a:r>
          </a:p>
          <a:p>
            <a:r>
              <a:rPr lang="en-US"/>
              <a:t>This local review deck contains ten replacement slides for master slides 69-78, followed by three review-only appendices. Copy the first ten slides into the master after approval; appendices contain wording suggestions for other slides.</a:t>
            </a:r>
          </a:p>
          <a:p>
            <a:endParaRPr lang="en-US"/>
          </a:p>
          <a:p>
            <a:r>
              <a:rPr lang="en-US"/>
              <a:t>Keep the established 30-minute Module 6 allocation and existing overall workshop timing. This module packages, versions, and promotes the capabilities built in Modules 1-5.</a:t>
            </a:r>
          </a:p>
          <a:p>
            <a:endParaRPr lang="en-US"/>
          </a:p>
          <a:p>
            <a:r>
              <a:rPr lang="en-US"/>
              <a:t>Suggested facilitation: about 6 minutes for framing/concepts, 22 minutes for hands-on deployment, and 2 minutes for the recap. Pipeline run times vary.</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68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70.</a:t>
            </a:r>
          </a:p>
          <a:p>
            <a:r>
              <a:rPr lang="en-US"/>
              <a:t>WHAT YOU WILL DO: Prepare two solutions, increment each version, deploy the library first, deploy main second, and confirm managed installation.</a:t>
            </a:r>
          </a:p>
          <a:p>
            <a:r>
              <a:rPr lang="en-US"/>
              <a:t>BUSINESS OUTCOME: A repeatable release with explicit dependency order, version identity, and environment-specific connection bindings.</a:t>
            </a:r>
          </a:p>
          <a:p>
            <a:r>
              <a:rPr lang="en-US"/>
              <a:t>The existing business approval safeguards remain properties of the application. Deployment is the learning objective here.</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69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71.</a:t>
            </a:r>
          </a:p>
          <a:p>
            <a:r>
              <a:rPr lang="en-US"/>
              <a:t>Solutions package app components such as tables, apps, flows, agents, and the Business Skill. Business/sample records are separate from this solution deployment.</a:t>
            </a:r>
          </a:p>
          <a:p>
            <a:endParaRPr lang="en-US"/>
          </a:p>
          <a:p>
            <a:r>
              <a:rPr lang="en-US"/>
              <a:t>Unmanaged solutions are developed in DEV; managed solution artifacts are installed downstream. A consuming managed solution needs its prerequisite components available before installation.</a:t>
            </a:r>
          </a:p>
          <a:p>
            <a:endParaRPr lang="en-US"/>
          </a:p>
          <a:p>
            <a:r>
              <a:rPr lang="en-US"/>
              <a:t>In this lab, the same original ppcc-order-disruption-triage Skill is added to PPCC Control Tower Business Skills and removed from the main solution's membership. Use the same existing publisher. Remove from this solution is not Delete from this environment. Confirm the original Skill and DEV Agent feed remain.</a:t>
            </a:r>
          </a:p>
          <a:p>
            <a:endParaRPr lang="en-US"/>
          </a:p>
          <a:p>
            <a:r>
              <a:rPr lang="en-US"/>
              <a:t>Deploy the library successfully before beginning the main deployment, through the same assigned pipeline and TARGET stage. Dependency-ordered deployment is not the separate Stage for Upgrade operation.</a:t>
            </a:r>
          </a:p>
          <a:p>
            <a:endParaRPr lang="en-US"/>
          </a:p>
          <a:p>
            <a:r>
              <a:rPr lang="en-US"/>
              <a:t>Reference: https://learn.microsoft.com/power-platform/alm/solution-concepts-alm</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72.</a:t>
            </a:r>
          </a:p>
          <a:p>
            <a:r>
              <a:rPr lang="en-US"/>
              <a:t>Power Platform uses four numeric parts: major.minor.build.revision. Read left to right; compare parts numerically, not as a decimal.</a:t>
            </a:r>
          </a:p>
          <a:p>
            <a:endParaRPr lang="en-US"/>
          </a:p>
          <a:p>
            <a:r>
              <a:rPr lang="en-US"/>
              <a:t>Suggested team convention:</a:t>
            </a:r>
          </a:p>
          <a:p>
            <a:r>
              <a:rPr lang="en-US"/>
              <a:t>- Major: substantial release or compatibility-breaking change; review consumers.</a:t>
            </a:r>
          </a:p>
          <a:p>
            <a:r>
              <a:rPr lang="en-US"/>
              <a:t>- Minor: new functionality within the current major release.</a:t>
            </a:r>
          </a:p>
          <a:p>
            <a:r>
              <a:rPr lang="en-US"/>
              <a:t>- Build: a newly packaged artifact within a release; often set by automation.</a:t>
            </a:r>
          </a:p>
          <a:p>
            <a:r>
              <a:rPr lang="en-US"/>
              <a:t>- Revision: a small correction or revised package.</a:t>
            </a:r>
          </a:p>
          <a:p>
            <a:r>
              <a:rPr lang="en-US"/>
              <a:t>These meanings are team release conventions, not automatic platform behavior. When incrementing an earlier part, resetting parts to its right is a common convention.</a:t>
            </a:r>
          </a:p>
          <a:p>
            <a:endParaRPr lang="en-US"/>
          </a:p>
          <a:p>
            <a:r>
              <a:rPr lang="en-US"/>
              <a:t>Each solution versions independently. The library and main versions need not match. An update must have a higher version than the installed version of that same solution.</a:t>
            </a:r>
          </a:p>
          <a:p>
            <a:endParaRPr lang="en-US"/>
          </a:p>
          <a:p>
            <a:r>
              <a:rPr lang="en-US"/>
              <a:t>Lab action: library 1.0.0.0 to 1.0.0.1; main increases its actual final number by one (1.1.0.0 to 1.1.0.1 is only an example). Overview &gt; Edit details &gt; Version &gt; Update.</a:t>
            </a:r>
          </a:p>
          <a:p>
            <a:endParaRPr lang="en-US"/>
          </a:p>
          <a:p>
            <a:r>
              <a:rPr lang="en-US"/>
              <a:t>A version increment does not itself create a Clone a Patch package or select Update versus Upgrade. Keep that distinction in the talk track; this lab uses full solution deployments.</a:t>
            </a:r>
          </a:p>
          <a:p>
            <a:endParaRPr lang="en-US"/>
          </a:p>
          <a:p>
            <a:r>
              <a:rPr lang="en-US"/>
              <a:t>Reference: https://learn.microsoft.com/power-apps/maker/data-platform/update-solutions#understanding-version-numbers-for-updates</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71</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73.</a:t>
            </a:r>
          </a:p>
          <a:p>
            <a:r>
              <a:rPr lang="en-US"/>
              <a:t>Use the assigned DEV, TARGET, pipeline, and stage. TARGET starts without workshop solutions, sample data, or pre-created connections. The assigned demo account and mailbox are used for connections created during the main deployment.</a:t>
            </a:r>
          </a:p>
          <a:p>
            <a:endParaRPr lang="en-US"/>
          </a:p>
          <a:p>
            <a:r>
              <a:rPr lang="en-US"/>
              <a:t>The five slide-level steps map directly to the five tasks in the canonical guide. Detailed click-by-click instructions remain in that guide.</a:t>
            </a:r>
          </a:p>
          <a:p>
            <a:endParaRPr lang="en-US"/>
          </a:p>
          <a:p>
            <a:r>
              <a:rPr lang="en-US"/>
              <a:t>Success: the original Skill and DEV feed remain, library precedes main through the same pipeline/stage, connection bindings are configured, both runs show Succeeded, and both TARGET solutions show Managed.</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72</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74.</a:t>
            </a:r>
          </a:p>
          <a:p>
            <a:r>
              <a:rPr lang="en-US"/>
              <a:t>Task 1: Create PPCC Control Tower Business Skills (unique name PPCCControlTowerBusinessSkills), version 1.0.0.0, with the main solution's same existing publisher. Preferred solution remains off.</a:t>
            </a:r>
          </a:p>
          <a:p>
            <a:endParaRPr lang="en-US"/>
          </a:p>
          <a:p>
            <a:r>
              <a:rPr lang="en-US"/>
              <a:t>In main, Business Skill &gt; ppcc-order-disruption-triage &gt; More commands &gt; Advanced &gt; Add to solution. Select the new library and save. Confirm it appears there before removing its membership from main. Choose Remove from this solution, never Delete from this environment. Confirm the original Skill remains and DEV Agent feed is still present.</a:t>
            </a:r>
          </a:p>
          <a:p>
            <a:endParaRPr lang="en-US"/>
          </a:p>
          <a:p>
            <a:r>
              <a:rPr lang="en-US"/>
              <a:t>Task 2: Increase library to 1.0.0.1. Increase the main solution's actual last version number by one. Both use Overview &gt; Edit details &gt; Version &gt; Update.</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73</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75.</a:t>
            </a:r>
          </a:p>
          <a:p>
            <a:r>
              <a:rPr lang="en-US"/>
              <a:t>Deploy the Business Skills library FIRST. In DEV, select Pipelines, the assigned pipeline, and Deploy here on the assigned TARGET stage. Confirm Destination and Now, complete validation, and continue past an empty Connections page if shown.</a:t>
            </a:r>
          </a:p>
          <a:p>
            <a:endParaRPr lang="en-US"/>
          </a:p>
          <a:p>
            <a:r>
              <a:rPr lang="en-US"/>
              <a:t>Check the library name and new version on Summary; deploy once. In Run history, wait for Succeeded. Switch to TARGET &gt; Solutions and confirm the library is Managed.</a:t>
            </a:r>
          </a:p>
          <a:p>
            <a:endParaRPr lang="en-US"/>
          </a:p>
          <a:p>
            <a:r>
              <a:rPr lang="en-US"/>
              <a:t>Only after the prerequisite is successfully installed should the participant begin the main deployment. Both deployments use the same pipeline and target stage.</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74</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76.</a:t>
            </a:r>
          </a:p>
          <a:p>
            <a:r>
              <a:rPr lang="en-US"/>
              <a:t>Switch back to DEV and open PPCC Agentic Operations Control Tower. Use the same assigned pipeline and TARGET stage, and validate.</a:t>
            </a:r>
          </a:p>
          <a:p>
            <a:endParaRPr lang="en-US"/>
          </a:p>
          <a:p>
            <a:r>
              <a:rPr lang="en-US"/>
              <a:t>Create each TARGET connection from this deployment wizard with the assigned demo account. Map six bindings across five connector families: Microsoft Dataverse (two bindings using the connection just created), Microsoft Copilot Studio, Power Apps MCP Server, Office 365 Outlook (assigned demo mailbox), and Computer use.</a:t>
            </a:r>
          </a:p>
          <a:p>
            <a:endParaRPr lang="en-US"/>
          </a:p>
          <a:p>
            <a:r>
              <a:rPr lang="en-US"/>
              <a:t>For Computer use choose Connect to hosted browser, not Connect to machine. Complete MFA attended if requested. Use connections created during this deployment attempt; if the wizard cannot create a required connection, get facilitator assistance.</a:t>
            </a:r>
          </a:p>
          <a:p>
            <a:endParaRPr lang="en-US"/>
          </a:p>
          <a:p>
            <a:r>
              <a:rPr lang="en-US"/>
              <a:t>Set Environment variables &gt; PPCC Intake Subject Prefix to PPCC-TARGET. Confirm name, version, TARGET, prefix, and mappings; deploy once and wait for Run history Succeeded.</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75</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77.</a:t>
            </a:r>
          </a:p>
          <a:p>
            <a:r>
              <a:rPr lang="en-US"/>
              <a:t>Task 5: In TARGET, open Solutions and confirm both PPCC Control Tower Business Skills and PPCC Agentic Operations Control Tower show Managed.</a:t>
            </a:r>
          </a:p>
          <a:p>
            <a:endParaRPr lang="en-US"/>
          </a:p>
          <a:p>
            <a:r>
              <a:rPr lang="en-US"/>
              <a:t>Review the two successful pipeline runs and configured TARGET bindings. The installed versions identify the releases that were promoted; each solution has its own version.</a:t>
            </a:r>
          </a:p>
          <a:p>
            <a:endParaRPr lang="en-US"/>
          </a:p>
          <a:p>
            <a:r>
              <a:rPr lang="en-US"/>
              <a:t>Completion is managed installation of both solutions, in the correct order, with the original DEV Skill and feed preserved.</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76</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COPY - replacement for master slide 78.</a:t>
            </a:r>
          </a:p>
          <a:p>
            <a:r>
              <a:rPr lang="en-US"/>
              <a:t>DELIVERED: Two versioned, managed solutions installed in TARGET.</a:t>
            </a:r>
          </a:p>
          <a:p>
            <a:r>
              <a:rPr lang="en-US"/>
              <a:t>CAPABILITIES USED: Solution packaging, dependency-ordered deployment, four-part version numbering, connection mapping, and Power Platform Pipelines.</a:t>
            </a:r>
          </a:p>
          <a:p>
            <a:r>
              <a:rPr lang="en-US"/>
              <a:t>BUSINESS VALUE: Repeatable promotion with explicit prerequisites and traceable releases.</a:t>
            </a:r>
          </a:p>
          <a:p>
            <a:endParaRPr lang="en-US"/>
          </a:p>
          <a:p>
            <a:r>
              <a:rPr lang="en-US"/>
              <a:t>Ask participants to explain: Why does the library go first? Which version part did we increment today, and why do the two solutions not need the same version?</a:t>
            </a:r>
          </a:p>
          <a:p>
            <a:endParaRPr lang="en-US"/>
          </a:p>
          <a:p>
            <a:r>
              <a:rPr lang="en-US"/>
              <a:t>Confirm the library was deployed first, main second, both runs Succeeded, both solutions are Managed, TARGET bindings are configured, and the original DEV Skill/feed were preserved.</a:t>
            </a:r>
          </a:p>
          <a:p>
            <a:endParaRPr lang="en-US"/>
          </a:p>
          <a:p>
            <a:r>
              <a:rPr lang="en-US"/>
              <a:t>Canonical lab guide: https://github.com/microsoft/ppcc26-apps-automations-agents/blob/main/labs/06-run-deploy-and-replay.md</a:t>
            </a:r>
          </a:p>
        </p:txBody>
      </p:sp>
      <p:sp>
        <p:nvSpPr>
          <p:cNvPr id="4" name="Slide Number Placeholder 3"/>
          <p:cNvSpPr>
            <a:spLocks noGrp="1"/>
          </p:cNvSpPr>
          <p:nvPr>
            <p:ph type="sldNum" sz="quarter" idx="5"/>
          </p:nvPr>
        </p:nvSpPr>
        <p:spPr/>
        <p:txBody>
          <a:bodyPr/>
          <a:lstStyle/>
          <a:p>
            <a:fld id="{7B9F8016-D2CE-4AD0-B4F4-CB930C0C3E76}" type="slidenum">
              <a:rPr lang="en-US" smtClean="0"/>
              <a:t>77</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modules/01–06.</a:t>
            </a:r>
          </a:p>
        </p:txBody>
      </p:sp>
      <p:sp>
        <p:nvSpPr>
          <p:cNvPr id="4" name="Slide Number Placeholder 3"/>
          <p:cNvSpPr>
            <a:spLocks noGrp="1"/>
          </p:cNvSpPr>
          <p:nvPr>
            <p:ph type="sldNum" sz="quarter" idx="5"/>
          </p:nvPr>
        </p:nvSpPr>
        <p:spPr/>
        <p:txBody>
          <a:bodyPr/>
          <a:lstStyle/>
          <a:p>
            <a:fld id="{7B9F8016-D2CE-4AD0-B4F4-CB930C0C3E76}" type="slidenum">
              <a:rPr lang="en-US" smtClean="0"/>
              <a:t>78</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is drawn from module summaries (M2 summary, M3 tip, M4 tool restrictions, M1/M4 boundary, M5 summary, M6 abstract).
Source: modules/02–06; abstracts.</a:t>
            </a:r>
          </a:p>
        </p:txBody>
      </p:sp>
      <p:sp>
        <p:nvSpPr>
          <p:cNvPr id="4" name="Slide Number Placeholder 3"/>
          <p:cNvSpPr>
            <a:spLocks noGrp="1"/>
          </p:cNvSpPr>
          <p:nvPr>
            <p:ph type="sldNum" sz="quarter" idx="5"/>
          </p:nvPr>
        </p:nvSpPr>
        <p:spPr/>
        <p:txBody>
          <a:bodyPr/>
          <a:lstStyle/>
          <a:p>
            <a:fld id="{7B9F8016-D2CE-4AD0-B4F4-CB930C0C3E76}" type="slidenum">
              <a:rPr lang="en-US" smtClean="0"/>
              <a:t>79</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Full URLs: https://learn.microsoft.com/en-us/power-apps/maker/model-driven-apps/model-driven-app-external-tools ; https://github.com/microsoft/power-platform-skills/tree/main/plugins/model-apps#app-builder ; https://docs.github.com/en/copilot/how-tos/set-up/install-copilot-cli ; https://learn.microsoft.com/en-us/ai-builder/use-a-custom-prompt-in-flow ; https://learn.microsoft.com/en-us/microsoft-copilot-studio/create-custom-prompt ; https://learn.microsoft.com/en-us/power-automate/create-flow-solution ; https://learn.microsoft.com/en-us/power-platform/developer/cli/reference/auth ; also https://learn.microsoft.com/en-us/power-automate/dataverse/list-rows ; https://learn.microsoft.com/en-us/power-automate/dataverse/create-update-delete-trigger ; https://learn.microsoft.com/en-us/azure/logic-apps/workflow-definition-language-functions-reference . Workshop repo: https://github.com/warrenbryant-msft/ppcc26-apps-agents-workshop-preview (private; branch warren/ppcc-agentic-control-tower-customer-lab).
CONTENT REVIEW NEEDED: The workshop repository is private — confirm what participants can access after the event.
Source: "Documentation and learning resources" sections of modules/02 and modules/03-build-intake-and-impact-cloud-flows.md.</a:t>
            </a:r>
          </a:p>
        </p:txBody>
      </p:sp>
      <p:sp>
        <p:nvSpPr>
          <p:cNvPr id="4" name="Slide Number Placeholder 3"/>
          <p:cNvSpPr>
            <a:spLocks noGrp="1"/>
          </p:cNvSpPr>
          <p:nvPr>
            <p:ph type="sldNum" sz="quarter" idx="5"/>
          </p:nvPr>
        </p:nvSpPr>
        <p:spPr/>
        <p:txBody>
          <a:bodyPr/>
          <a:lstStyle/>
          <a:p>
            <a:fld id="{7B9F8016-D2CE-4AD0-B4F4-CB930C0C3E76}" type="slidenum">
              <a:rPr lang="en-US" smtClean="0"/>
              <a:t>80</a:t>
            </a:fld>
            <a:endParaRPr lang="en-US"/>
          </a:p>
        </p:txBody>
      </p:sp>
    </p:spTree>
    <p:extLst>
      <p:ext uri="{BB962C8B-B14F-4D97-AF65-F5344CB8AC3E}">
        <p14:creationId xmlns:p14="http://schemas.microsoft.com/office/powerpoint/2010/main" val="25503880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the floor for questions on any module or on the end-to-end process.</a:t>
            </a:r>
          </a:p>
        </p:txBody>
      </p:sp>
      <p:sp>
        <p:nvSpPr>
          <p:cNvPr id="4" name="Slide Number Placeholder 3"/>
          <p:cNvSpPr>
            <a:spLocks noGrp="1"/>
          </p:cNvSpPr>
          <p:nvPr>
            <p:ph type="sldNum" sz="quarter" idx="5"/>
          </p:nvPr>
        </p:nvSpPr>
        <p:spPr/>
        <p:txBody>
          <a:bodyPr/>
          <a:lstStyle/>
          <a:p>
            <a:fld id="{7B9F8016-D2CE-4AD0-B4F4-CB930C0C3E76}" type="slidenum">
              <a:rPr lang="en-US" smtClean="0"/>
              <a:t>81</a:t>
            </a:fld>
            <a:endParaRPr lang="en-US"/>
          </a:p>
        </p:txBody>
      </p:sp>
    </p:spTree>
    <p:extLst>
      <p:ext uri="{BB962C8B-B14F-4D97-AF65-F5344CB8AC3E}">
        <p14:creationId xmlns:p14="http://schemas.microsoft.com/office/powerpoint/2010/main" val="13908194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participants for building the full process with us today.</a:t>
            </a:r>
          </a:p>
        </p:txBody>
      </p:sp>
      <p:sp>
        <p:nvSpPr>
          <p:cNvPr id="4" name="Slide Number Placeholder 3"/>
          <p:cNvSpPr>
            <a:spLocks noGrp="1"/>
          </p:cNvSpPr>
          <p:nvPr>
            <p:ph type="sldNum" sz="quarter" idx="5"/>
          </p:nvPr>
        </p:nvSpPr>
        <p:spPr/>
        <p:txBody>
          <a:bodyPr/>
          <a:lstStyle/>
          <a:p>
            <a:fld id="{7B9F8016-D2CE-4AD0-B4F4-CB930C0C3E76}" type="slidenum">
              <a:rPr lang="en-US" smtClean="0"/>
              <a:t>82</a:t>
            </a:fld>
            <a:endParaRPr lang="en-US"/>
          </a:p>
        </p:txBody>
      </p:sp>
    </p:spTree>
    <p:extLst>
      <p:ext uri="{BB962C8B-B14F-4D97-AF65-F5344CB8AC3E}">
        <p14:creationId xmlns:p14="http://schemas.microsoft.com/office/powerpoint/2010/main" val="16572375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CONTENT REVIEW NEEDED: insert the session feedback link.</a:t>
            </a:r>
          </a:p>
        </p:txBody>
      </p:sp>
      <p:sp>
        <p:nvSpPr>
          <p:cNvPr id="4" name="Slide Number Placeholder 3"/>
          <p:cNvSpPr>
            <a:spLocks noGrp="1"/>
          </p:cNvSpPr>
          <p:nvPr>
            <p:ph type="sldNum" sz="quarter" idx="5"/>
          </p:nvPr>
        </p:nvSpPr>
        <p:spPr/>
        <p:txBody>
          <a:bodyPr/>
          <a:lstStyle/>
          <a:p>
            <a:fld id="{7B9F8016-D2CE-4AD0-B4F4-CB930C0C3E76}" type="slidenum">
              <a:rPr lang="en-US" smtClean="0"/>
              <a:t>83</a:t>
            </a:fld>
            <a:endParaRPr lang="en-US"/>
          </a:p>
        </p:txBody>
      </p:sp>
    </p:spTree>
    <p:extLst>
      <p:ext uri="{BB962C8B-B14F-4D97-AF65-F5344CB8AC3E}">
        <p14:creationId xmlns:p14="http://schemas.microsoft.com/office/powerpoint/2010/main" val="1447302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BDC271-F946-E46F-C15B-7939743BBC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 Placeholder 3">
            <a:extLst>
              <a:ext uri="{FF2B5EF4-FFF2-40B4-BE49-F238E27FC236}">
                <a16:creationId xmlns:a16="http://schemas.microsoft.com/office/drawing/2014/main" id="{EB91CB81-A913-DBEA-36A8-C3B38A685884}"/>
              </a:ext>
            </a:extLst>
          </p:cNvPr>
          <p:cNvSpPr>
            <a:spLocks noGrp="1"/>
          </p:cNvSpPr>
          <p:nvPr>
            <p:ph type="body" sz="quarter" idx="10" hasCustomPrompt="1"/>
          </p:nvPr>
        </p:nvSpPr>
        <p:spPr>
          <a:xfrm>
            <a:off x="10121900" y="-558800"/>
            <a:ext cx="2070100" cy="284396"/>
          </a:xfrm>
          <a:prstGeom prst="rect">
            <a:avLst/>
          </a:prstGeom>
          <a:solidFill>
            <a:schemeClr val="bg1">
              <a:lumMod val="95000"/>
            </a:schemeClr>
          </a:solidFill>
        </p:spPr>
        <p:txBody>
          <a:bodyPr anchor="ctr" anchorCtr="0"/>
          <a:lstStyle>
            <a:lvl1pPr algn="r">
              <a:buNone/>
              <a:defRPr sz="1400" b="0" i="0">
                <a:solidFill>
                  <a:schemeClr val="bg1">
                    <a:lumMod val="50000"/>
                  </a:schemeClr>
                </a:solidFill>
                <a:latin typeface="Segoe UI" panose="020B0502040204020203" pitchFamily="34" charset="0"/>
                <a:cs typeface="Segoe UI" panose="020B0502040204020203" pitchFamily="34" charset="0"/>
              </a:defRPr>
            </a:lvl1pPr>
          </a:lstStyle>
          <a:p>
            <a:pPr lvl="0"/>
            <a:r>
              <a:rPr lang="en-US"/>
              <a:t>#</a:t>
            </a:r>
          </a:p>
        </p:txBody>
      </p:sp>
      <p:sp>
        <p:nvSpPr>
          <p:cNvPr id="4" name="Title 1">
            <a:extLst>
              <a:ext uri="{FF2B5EF4-FFF2-40B4-BE49-F238E27FC236}">
                <a16:creationId xmlns:a16="http://schemas.microsoft.com/office/drawing/2014/main" id="{23D2A2B6-F2D2-CC55-0380-702F7D21CE45}"/>
              </a:ext>
            </a:extLst>
          </p:cNvPr>
          <p:cNvSpPr>
            <a:spLocks noGrp="1"/>
          </p:cNvSpPr>
          <p:nvPr>
            <p:ph type="title" hasCustomPrompt="1"/>
          </p:nvPr>
        </p:nvSpPr>
        <p:spPr>
          <a:xfrm>
            <a:off x="711200" y="3022031"/>
            <a:ext cx="10718800" cy="886397"/>
          </a:xfrm>
          <a:prstGeom prst="rect">
            <a:avLst/>
          </a:prstGeom>
          <a:noFill/>
        </p:spPr>
        <p:txBody>
          <a:bodyPr wrap="square" lIns="0" tIns="0" rIns="0" bIns="0" anchor="b" anchorCtr="0">
            <a:spAutoFit/>
          </a:bodyPr>
          <a:lstStyle>
            <a:lvl1pPr>
              <a:lnSpc>
                <a:spcPct val="90000"/>
              </a:lnSpc>
              <a:defRPr sz="6400" b="1" i="0" spc="-50" baseline="0">
                <a:solidFill>
                  <a:schemeClr val="bg1"/>
                </a:solidFill>
                <a:latin typeface="Segoe UI Semibold" panose="020B0502040204020203" pitchFamily="34" charset="0"/>
                <a:cs typeface="Segoe UI Semibold" panose="020B0502040204020203" pitchFamily="34" charset="0"/>
              </a:defRPr>
            </a:lvl1pPr>
          </a:lstStyle>
          <a:p>
            <a:r>
              <a:rPr lang="en-US"/>
              <a:t>Presentation title </a:t>
            </a:r>
          </a:p>
        </p:txBody>
      </p:sp>
      <p:sp>
        <p:nvSpPr>
          <p:cNvPr id="5" name="Text Placeholder 4">
            <a:extLst>
              <a:ext uri="{FF2B5EF4-FFF2-40B4-BE49-F238E27FC236}">
                <a16:creationId xmlns:a16="http://schemas.microsoft.com/office/drawing/2014/main" id="{A4C942E2-F0D6-1507-8310-F58F8AB70127}"/>
              </a:ext>
            </a:extLst>
          </p:cNvPr>
          <p:cNvSpPr>
            <a:spLocks noGrp="1"/>
          </p:cNvSpPr>
          <p:nvPr>
            <p:ph type="body" sz="quarter" idx="12" hasCustomPrompt="1"/>
          </p:nvPr>
        </p:nvSpPr>
        <p:spPr>
          <a:xfrm>
            <a:off x="749300" y="5833514"/>
            <a:ext cx="8851900" cy="249299"/>
          </a:xfrm>
          <a:prstGeom prst="rect">
            <a:avLst/>
          </a:prstGeom>
          <a:noFill/>
        </p:spPr>
        <p:txBody>
          <a:bodyPr wrap="square" lIns="0" tIns="0" rIns="0" bIns="0">
            <a:spAutoFit/>
          </a:bodyPr>
          <a:lstStyle>
            <a:lvl1pPr marL="0" indent="0">
              <a:spcBef>
                <a:spcPts val="0"/>
              </a:spcBef>
              <a:buNone/>
              <a:defRPr sz="1800" b="1" i="0" spc="0" baseline="0">
                <a:solidFill>
                  <a:schemeClr val="bg1"/>
                </a:solidFill>
                <a:latin typeface="Segoe UI Semibold" panose="020B0502040204020203" pitchFamily="34" charset="0"/>
                <a:cs typeface="Segoe UI Semibold" panose="020B0502040204020203" pitchFamily="34" charset="0"/>
              </a:defRPr>
            </a:lvl1pPr>
          </a:lstStyle>
          <a:p>
            <a:pPr lvl="0"/>
            <a:r>
              <a:rPr lang="en-US"/>
              <a:t>Speaker name</a:t>
            </a:r>
          </a:p>
        </p:txBody>
      </p:sp>
      <p:pic>
        <p:nvPicPr>
          <p:cNvPr id="10" name="MS logo white - EMF" descr="Microsoft logo white text version">
            <a:extLst>
              <a:ext uri="{FF2B5EF4-FFF2-40B4-BE49-F238E27FC236}">
                <a16:creationId xmlns:a16="http://schemas.microsoft.com/office/drawing/2014/main" id="{7954ADD3-F5A4-3367-5329-1A2BED1B2D1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773953" y="762000"/>
            <a:ext cx="1366245" cy="292608"/>
          </a:xfrm>
          <a:prstGeom prst="rect">
            <a:avLst/>
          </a:prstGeom>
        </p:spPr>
      </p:pic>
      <p:sp>
        <p:nvSpPr>
          <p:cNvPr id="12" name="Text Placeholder 10">
            <a:extLst>
              <a:ext uri="{FF2B5EF4-FFF2-40B4-BE49-F238E27FC236}">
                <a16:creationId xmlns:a16="http://schemas.microsoft.com/office/drawing/2014/main" id="{237DDB1B-745C-FE60-76D4-07102746C9E1}"/>
              </a:ext>
            </a:extLst>
          </p:cNvPr>
          <p:cNvSpPr>
            <a:spLocks noGrp="1"/>
          </p:cNvSpPr>
          <p:nvPr>
            <p:ph type="body" sz="quarter" idx="13" hasCustomPrompt="1"/>
          </p:nvPr>
        </p:nvSpPr>
        <p:spPr>
          <a:xfrm>
            <a:off x="749301" y="4189652"/>
            <a:ext cx="8913813" cy="404370"/>
          </a:xfrm>
          <a:prstGeom prst="rect">
            <a:avLst/>
          </a:prstGeom>
        </p:spPr>
        <p:txBody>
          <a:bodyPr lIns="0" tIns="0" rIns="0" bIns="0"/>
          <a:lstStyle>
            <a:lvl1pPr marL="0" indent="0">
              <a:buNone/>
              <a:defRPr sz="2200" b="1" i="0">
                <a:latin typeface="Segoe UI Semibold" panose="020B0502040204020203" pitchFamily="34" charset="0"/>
                <a:cs typeface="Segoe UI Semibold" panose="020B0502040204020203" pitchFamily="34" charset="0"/>
              </a:defRPr>
            </a:lvl1pPr>
          </a:lstStyle>
          <a:p>
            <a:pPr lvl="0"/>
            <a:r>
              <a:rPr lang="en-US"/>
              <a:t>Subtitle</a:t>
            </a:r>
          </a:p>
        </p:txBody>
      </p:sp>
      <p:pic>
        <p:nvPicPr>
          <p:cNvPr id="8" name="Picture 7">
            <a:extLst>
              <a:ext uri="{FF2B5EF4-FFF2-40B4-BE49-F238E27FC236}">
                <a16:creationId xmlns:a16="http://schemas.microsoft.com/office/drawing/2014/main" id="{0AE6FDEE-E7C3-B0DD-E2CD-105CF33A5E28}"/>
              </a:ext>
            </a:extLst>
          </p:cNvPr>
          <p:cNvPicPr>
            <a:picLocks noChangeAspect="1"/>
          </p:cNvPicPr>
          <p:nvPr userDrawn="1"/>
        </p:nvPicPr>
        <p:blipFill>
          <a:blip r:embed="rId4">
            <a:extLst>
              <a:ext uri="{28A0092B-C50C-407E-A947-70E740481C1C}">
                <a14:useLocalDpi xmlns:a14="http://schemas.microsoft.com/office/drawing/2010/main" val="0"/>
              </a:ext>
            </a:extLst>
          </a:blip>
          <a:srcRect t="96699"/>
          <a:stretch>
            <a:fillRect/>
          </a:stretch>
        </p:blipFill>
        <p:spPr>
          <a:xfrm>
            <a:off x="0" y="6710289"/>
            <a:ext cx="12192000" cy="147711"/>
          </a:xfrm>
          <a:prstGeom prst="rect">
            <a:avLst/>
          </a:prstGeom>
        </p:spPr>
      </p:pic>
    </p:spTree>
    <p:extLst>
      <p:ext uri="{BB962C8B-B14F-4D97-AF65-F5344CB8AC3E}">
        <p14:creationId xmlns:p14="http://schemas.microsoft.com/office/powerpoint/2010/main" val="993431180"/>
      </p:ext>
    </p:extLst>
  </p:cSld>
  <p:clrMapOvr>
    <a:masterClrMapping/>
  </p:clrMapOvr>
  <p:extLst>
    <p:ext uri="{DCECCB84-F9BA-43D5-87BE-67443E8EF086}">
      <p15:sldGuideLst xmlns:p15="http://schemas.microsoft.com/office/powerpoint/2012/main">
        <p15:guide id="15" pos="1440" userDrawn="1">
          <p15:clr>
            <a:srgbClr val="547EBF"/>
          </p15:clr>
        </p15:guide>
        <p15:guide id="17" pos="1632" userDrawn="1">
          <p15:clr>
            <a:srgbClr val="547EBF"/>
          </p15:clr>
        </p15:guide>
        <p15:guide id="20" pos="2592" userDrawn="1">
          <p15:clr>
            <a:srgbClr val="547EBF"/>
          </p15:clr>
        </p15:guide>
        <p15:guide id="22" pos="3744" userDrawn="1">
          <p15:clr>
            <a:srgbClr val="547EBF"/>
          </p15:clr>
        </p15:guide>
        <p15:guide id="25" pos="3936" userDrawn="1">
          <p15:clr>
            <a:srgbClr val="547EBF"/>
          </p15:clr>
        </p15:guide>
        <p15:guide id="29" pos="4896" userDrawn="1">
          <p15:clr>
            <a:srgbClr val="547EBF"/>
          </p15:clr>
        </p15:guide>
        <p15:guide id="30" pos="5088" userDrawn="1">
          <p15:clr>
            <a:srgbClr val="547EBF"/>
          </p15:clr>
        </p15:guide>
        <p15:guide id="33" pos="6048" userDrawn="1">
          <p15:clr>
            <a:srgbClr val="547EBF"/>
          </p15:clr>
        </p15:guide>
        <p15:guide id="50" pos="2784" userDrawn="1">
          <p15:clr>
            <a:srgbClr val="547EBF"/>
          </p15:clr>
        </p15:guide>
        <p15:guide id="57" pos="6240" userDrawn="1">
          <p15:clr>
            <a:srgbClr val="547EB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pic>
        <p:nvPicPr>
          <p:cNvPr id="2" name="Picture 1">
            <a:extLst>
              <a:ext uri="{FF2B5EF4-FFF2-40B4-BE49-F238E27FC236}">
                <a16:creationId xmlns:a16="http://schemas.microsoft.com/office/drawing/2014/main" id="{B829C73D-BF44-064C-EEE9-EA5EA98EEE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92189156"/>
      </p:ext>
    </p:extLst>
  </p:cSld>
  <p:clrMapOvr>
    <a:masterClrMapping/>
  </p:clrMapOvr>
  <p:extLst>
    <p:ext uri="{DCECCB84-F9BA-43D5-87BE-67443E8EF086}">
      <p15:sldGuideLst xmlns:p15="http://schemas.microsoft.com/office/powerpoint/2012/main">
        <p15:guide id="15" pos="1440" userDrawn="1">
          <p15:clr>
            <a:srgbClr val="547EBF"/>
          </p15:clr>
        </p15:guide>
        <p15:guide id="17" pos="1632" userDrawn="1">
          <p15:clr>
            <a:srgbClr val="547EBF"/>
          </p15:clr>
        </p15:guide>
        <p15:guide id="19" pos="2208" userDrawn="1">
          <p15:clr>
            <a:srgbClr val="A4A3A4"/>
          </p15:clr>
        </p15:guide>
        <p15:guide id="20" pos="2592" userDrawn="1">
          <p15:clr>
            <a:srgbClr val="547EBF"/>
          </p15:clr>
        </p15:guide>
        <p15:guide id="22" pos="3744" userDrawn="1">
          <p15:clr>
            <a:srgbClr val="547EBF"/>
          </p15:clr>
        </p15:guide>
        <p15:guide id="23" pos="3168" userDrawn="1">
          <p15:clr>
            <a:srgbClr val="A4A3A4"/>
          </p15:clr>
        </p15:guide>
        <p15:guide id="24" pos="3360" userDrawn="1">
          <p15:clr>
            <a:srgbClr val="A4A3A4"/>
          </p15:clr>
        </p15:guide>
        <p15:guide id="25" pos="3936" userDrawn="1">
          <p15:clr>
            <a:srgbClr val="547EBF"/>
          </p15:clr>
        </p15:guide>
        <p15:guide id="27" pos="4320" userDrawn="1">
          <p15:clr>
            <a:srgbClr val="A4A3A4"/>
          </p15:clr>
        </p15:guide>
        <p15:guide id="28" pos="4512" userDrawn="1">
          <p15:clr>
            <a:srgbClr val="A4A3A4"/>
          </p15:clr>
        </p15:guide>
        <p15:guide id="29" pos="4896" userDrawn="1">
          <p15:clr>
            <a:srgbClr val="547EBF"/>
          </p15:clr>
        </p15:guide>
        <p15:guide id="30" pos="5088" userDrawn="1">
          <p15:clr>
            <a:srgbClr val="547EBF"/>
          </p15:clr>
        </p15:guide>
        <p15:guide id="32" pos="5472" userDrawn="1">
          <p15:clr>
            <a:srgbClr val="A4A3A4"/>
          </p15:clr>
        </p15:guide>
        <p15:guide id="33" pos="6048" userDrawn="1">
          <p15:clr>
            <a:srgbClr val="547EBF"/>
          </p15:clr>
        </p15:guide>
        <p15:guide id="39" pos="5664" userDrawn="1">
          <p15:clr>
            <a:srgbClr val="A4A3A4"/>
          </p15:clr>
        </p15:guide>
        <p15:guide id="45" pos="1056" userDrawn="1">
          <p15:clr>
            <a:srgbClr val="A4A3A4"/>
          </p15:clr>
        </p15:guide>
        <p15:guide id="48" pos="864" userDrawn="1">
          <p15:clr>
            <a:srgbClr val="A4A3A4"/>
          </p15:clr>
        </p15:guide>
        <p15:guide id="49" pos="2016" userDrawn="1">
          <p15:clr>
            <a:srgbClr val="A4A3A4"/>
          </p15:clr>
        </p15:guide>
        <p15:guide id="50" pos="2784" userDrawn="1">
          <p15:clr>
            <a:srgbClr val="547EBF"/>
          </p15:clr>
        </p15:guide>
        <p15:guide id="51" pos="6624" userDrawn="1">
          <p15:clr>
            <a:srgbClr val="A4A3A4"/>
          </p15:clr>
        </p15:guide>
        <p15:guide id="57" pos="6240" userDrawn="1">
          <p15:clr>
            <a:srgbClr val="547EBF"/>
          </p15:clr>
        </p15:guide>
        <p15:guide id="58" pos="6816" userDrawn="1">
          <p15:clr>
            <a:srgbClr val="A4A3A4"/>
          </p15:clr>
        </p15:guide>
        <p15:guide id="59" orient="horz" pos="8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column">
    <p:bg>
      <p:bgPr>
        <a:solidFill>
          <a:schemeClr val="bg2"/>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pic>
        <p:nvPicPr>
          <p:cNvPr id="2" name="Picture 1">
            <a:extLst>
              <a:ext uri="{FF2B5EF4-FFF2-40B4-BE49-F238E27FC236}">
                <a16:creationId xmlns:a16="http://schemas.microsoft.com/office/drawing/2014/main" id="{B829C73D-BF44-064C-EEE9-EA5EA98EEE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3">
            <a:extLst>
              <a:ext uri="{FF2B5EF4-FFF2-40B4-BE49-F238E27FC236}">
                <a16:creationId xmlns:a16="http://schemas.microsoft.com/office/drawing/2014/main" id="{A65C5038-1DA4-B18C-0ACD-08B821CC07E1}"/>
              </a:ext>
            </a:extLst>
          </p:cNvPr>
          <p:cNvSpPr>
            <a:spLocks noGrp="1"/>
          </p:cNvSpPr>
          <p:nvPr>
            <p:ph type="body" sz="quarter" idx="13" hasCustomPrompt="1"/>
          </p:nvPr>
        </p:nvSpPr>
        <p:spPr>
          <a:xfrm>
            <a:off x="723806" y="704602"/>
            <a:ext cx="10668000" cy="576250"/>
          </a:xfrm>
          <a:prstGeom prst="rect">
            <a:avLst/>
          </a:prstGeom>
        </p:spPr>
        <p:txBody>
          <a:bodyPr lIns="0" tIns="0" rIns="0" bIns="0" anchor="t"/>
          <a:lstStyle>
            <a:lvl1pPr marL="0" indent="0">
              <a:buNone/>
              <a:defRPr sz="4000" b="1" i="0" spc="-50" baseline="0">
                <a:latin typeface="Segoe UI Semibold" panose="020B0502040204020203" pitchFamily="34" charset="0"/>
                <a:cs typeface="Segoe UI Semibold" panose="020B0502040204020203" pitchFamily="34" charset="0"/>
              </a:defRPr>
            </a:lvl1pPr>
          </a:lstStyle>
          <a:p>
            <a:pPr lvl="0"/>
            <a:r>
              <a:rPr lang="en-US"/>
              <a:t>Header</a:t>
            </a:r>
          </a:p>
        </p:txBody>
      </p:sp>
      <p:sp>
        <p:nvSpPr>
          <p:cNvPr id="4" name="Text Placeholder 3">
            <a:extLst>
              <a:ext uri="{FF2B5EF4-FFF2-40B4-BE49-F238E27FC236}">
                <a16:creationId xmlns:a16="http://schemas.microsoft.com/office/drawing/2014/main" id="{1E50A279-EDF9-B084-34C2-0299707AD0D0}"/>
              </a:ext>
            </a:extLst>
          </p:cNvPr>
          <p:cNvSpPr>
            <a:spLocks noGrp="1"/>
          </p:cNvSpPr>
          <p:nvPr>
            <p:ph type="body" sz="quarter" idx="15" hasCustomPrompt="1"/>
          </p:nvPr>
        </p:nvSpPr>
        <p:spPr>
          <a:xfrm>
            <a:off x="761999" y="1804313"/>
            <a:ext cx="5181601"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2" name="Text Placeholder 3">
            <a:extLst>
              <a:ext uri="{FF2B5EF4-FFF2-40B4-BE49-F238E27FC236}">
                <a16:creationId xmlns:a16="http://schemas.microsoft.com/office/drawing/2014/main" id="{A66372FC-4229-EF21-81E4-63E2DCA8EA40}"/>
              </a:ext>
            </a:extLst>
          </p:cNvPr>
          <p:cNvSpPr>
            <a:spLocks noGrp="1"/>
          </p:cNvSpPr>
          <p:nvPr>
            <p:ph type="body" sz="quarter" idx="17" hasCustomPrompt="1"/>
          </p:nvPr>
        </p:nvSpPr>
        <p:spPr>
          <a:xfrm>
            <a:off x="6248400" y="1804313"/>
            <a:ext cx="5168202"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3" name="Text Placeholder 3">
            <a:extLst>
              <a:ext uri="{FF2B5EF4-FFF2-40B4-BE49-F238E27FC236}">
                <a16:creationId xmlns:a16="http://schemas.microsoft.com/office/drawing/2014/main" id="{2C3EA5E5-197D-8200-071D-AB6E9FC20E15}"/>
              </a:ext>
            </a:extLst>
          </p:cNvPr>
          <p:cNvSpPr>
            <a:spLocks noGrp="1"/>
          </p:cNvSpPr>
          <p:nvPr>
            <p:ph type="body" sz="quarter" idx="23" hasCustomPrompt="1"/>
          </p:nvPr>
        </p:nvSpPr>
        <p:spPr>
          <a:xfrm>
            <a:off x="6254749" y="2569043"/>
            <a:ext cx="5176370"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
        <p:nvSpPr>
          <p:cNvPr id="14" name="Text Placeholder 3">
            <a:extLst>
              <a:ext uri="{FF2B5EF4-FFF2-40B4-BE49-F238E27FC236}">
                <a16:creationId xmlns:a16="http://schemas.microsoft.com/office/drawing/2014/main" id="{3475A245-0156-D94E-4DC7-FB75E15C3198}"/>
              </a:ext>
            </a:extLst>
          </p:cNvPr>
          <p:cNvSpPr>
            <a:spLocks noGrp="1"/>
          </p:cNvSpPr>
          <p:nvPr>
            <p:ph type="body" sz="quarter" idx="25" hasCustomPrompt="1"/>
          </p:nvPr>
        </p:nvSpPr>
        <p:spPr>
          <a:xfrm>
            <a:off x="768348" y="2569043"/>
            <a:ext cx="5181601"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Tree>
    <p:extLst>
      <p:ext uri="{BB962C8B-B14F-4D97-AF65-F5344CB8AC3E}">
        <p14:creationId xmlns:p14="http://schemas.microsoft.com/office/powerpoint/2010/main" val="2719579886"/>
      </p:ext>
    </p:extLst>
  </p:cSld>
  <p:clrMapOvr>
    <a:masterClrMapping/>
  </p:clrMapOvr>
  <p:extLst>
    <p:ext uri="{DCECCB84-F9BA-43D5-87BE-67443E8EF086}">
      <p15:sldGuideLst xmlns:p15="http://schemas.microsoft.com/office/powerpoint/2012/main">
        <p15:guide id="15" pos="1440" userDrawn="1">
          <p15:clr>
            <a:srgbClr val="547EBF"/>
          </p15:clr>
        </p15:guide>
        <p15:guide id="17" pos="1632" userDrawn="1">
          <p15:clr>
            <a:srgbClr val="547EBF"/>
          </p15:clr>
        </p15:guide>
        <p15:guide id="19" pos="2208" userDrawn="1">
          <p15:clr>
            <a:srgbClr val="A4A3A4"/>
          </p15:clr>
        </p15:guide>
        <p15:guide id="20" pos="2592" userDrawn="1">
          <p15:clr>
            <a:srgbClr val="547EBF"/>
          </p15:clr>
        </p15:guide>
        <p15:guide id="22" pos="3744" userDrawn="1">
          <p15:clr>
            <a:srgbClr val="547EBF"/>
          </p15:clr>
        </p15:guide>
        <p15:guide id="23" pos="3168" userDrawn="1">
          <p15:clr>
            <a:srgbClr val="A4A3A4"/>
          </p15:clr>
        </p15:guide>
        <p15:guide id="24" pos="3360" userDrawn="1">
          <p15:clr>
            <a:srgbClr val="A4A3A4"/>
          </p15:clr>
        </p15:guide>
        <p15:guide id="25" pos="3936" userDrawn="1">
          <p15:clr>
            <a:srgbClr val="547EBF"/>
          </p15:clr>
        </p15:guide>
        <p15:guide id="27" pos="4320" userDrawn="1">
          <p15:clr>
            <a:srgbClr val="A4A3A4"/>
          </p15:clr>
        </p15:guide>
        <p15:guide id="28" pos="4512" userDrawn="1">
          <p15:clr>
            <a:srgbClr val="A4A3A4"/>
          </p15:clr>
        </p15:guide>
        <p15:guide id="29" pos="4896" userDrawn="1">
          <p15:clr>
            <a:srgbClr val="547EBF"/>
          </p15:clr>
        </p15:guide>
        <p15:guide id="30" pos="5088" userDrawn="1">
          <p15:clr>
            <a:srgbClr val="547EBF"/>
          </p15:clr>
        </p15:guide>
        <p15:guide id="32" pos="5472" userDrawn="1">
          <p15:clr>
            <a:srgbClr val="A4A3A4"/>
          </p15:clr>
        </p15:guide>
        <p15:guide id="33" pos="6048" userDrawn="1">
          <p15:clr>
            <a:srgbClr val="547EBF"/>
          </p15:clr>
        </p15:guide>
        <p15:guide id="39" pos="5664" userDrawn="1">
          <p15:clr>
            <a:srgbClr val="A4A3A4"/>
          </p15:clr>
        </p15:guide>
        <p15:guide id="45" pos="1056" userDrawn="1">
          <p15:clr>
            <a:srgbClr val="A4A3A4"/>
          </p15:clr>
        </p15:guide>
        <p15:guide id="48" pos="864" userDrawn="1">
          <p15:clr>
            <a:srgbClr val="A4A3A4"/>
          </p15:clr>
        </p15:guide>
        <p15:guide id="49" pos="2016" userDrawn="1">
          <p15:clr>
            <a:srgbClr val="A4A3A4"/>
          </p15:clr>
        </p15:guide>
        <p15:guide id="50" pos="2784" userDrawn="1">
          <p15:clr>
            <a:srgbClr val="547EBF"/>
          </p15:clr>
        </p15:guide>
        <p15:guide id="51" pos="6624" userDrawn="1">
          <p15:clr>
            <a:srgbClr val="A4A3A4"/>
          </p15:clr>
        </p15:guide>
        <p15:guide id="57" pos="6240" userDrawn="1">
          <p15:clr>
            <a:srgbClr val="547EBF"/>
          </p15:clr>
        </p15:guide>
        <p15:guide id="58" pos="6816" userDrawn="1">
          <p15:clr>
            <a:srgbClr val="A4A3A4"/>
          </p15:clr>
        </p15:guide>
        <p15:guide id="59" orient="horz" pos="81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column">
    <p:bg>
      <p:bgPr>
        <a:solidFill>
          <a:schemeClr val="bg2"/>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pic>
        <p:nvPicPr>
          <p:cNvPr id="2" name="Picture 1">
            <a:extLst>
              <a:ext uri="{FF2B5EF4-FFF2-40B4-BE49-F238E27FC236}">
                <a16:creationId xmlns:a16="http://schemas.microsoft.com/office/drawing/2014/main" id="{B829C73D-BF44-064C-EEE9-EA5EA98EEE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3">
            <a:extLst>
              <a:ext uri="{FF2B5EF4-FFF2-40B4-BE49-F238E27FC236}">
                <a16:creationId xmlns:a16="http://schemas.microsoft.com/office/drawing/2014/main" id="{A65C5038-1DA4-B18C-0ACD-08B821CC07E1}"/>
              </a:ext>
            </a:extLst>
          </p:cNvPr>
          <p:cNvSpPr>
            <a:spLocks noGrp="1"/>
          </p:cNvSpPr>
          <p:nvPr>
            <p:ph type="body" sz="quarter" idx="13" hasCustomPrompt="1"/>
          </p:nvPr>
        </p:nvSpPr>
        <p:spPr>
          <a:xfrm>
            <a:off x="723806" y="704602"/>
            <a:ext cx="10668000" cy="576250"/>
          </a:xfrm>
          <a:prstGeom prst="rect">
            <a:avLst/>
          </a:prstGeom>
        </p:spPr>
        <p:txBody>
          <a:bodyPr lIns="0" tIns="0" rIns="0" bIns="0" anchor="t"/>
          <a:lstStyle>
            <a:lvl1pPr marL="0" indent="0">
              <a:buNone/>
              <a:defRPr sz="4000" b="1" i="0" spc="-50" baseline="0">
                <a:latin typeface="Segoe UI Semibold" panose="020B0502040204020203" pitchFamily="34" charset="0"/>
                <a:cs typeface="Segoe UI Semibold" panose="020B0502040204020203" pitchFamily="34" charset="0"/>
              </a:defRPr>
            </a:lvl1pPr>
          </a:lstStyle>
          <a:p>
            <a:pPr lvl="0"/>
            <a:r>
              <a:rPr lang="en-US"/>
              <a:t>Header</a:t>
            </a:r>
          </a:p>
        </p:txBody>
      </p:sp>
      <p:sp>
        <p:nvSpPr>
          <p:cNvPr id="5" name="Text Placeholder 3">
            <a:extLst>
              <a:ext uri="{FF2B5EF4-FFF2-40B4-BE49-F238E27FC236}">
                <a16:creationId xmlns:a16="http://schemas.microsoft.com/office/drawing/2014/main" id="{1063C494-2451-94D7-FD61-BB4B7F02A7E7}"/>
              </a:ext>
            </a:extLst>
          </p:cNvPr>
          <p:cNvSpPr>
            <a:spLocks noGrp="1"/>
          </p:cNvSpPr>
          <p:nvPr>
            <p:ph type="body" sz="quarter" idx="26" hasCustomPrompt="1"/>
          </p:nvPr>
        </p:nvSpPr>
        <p:spPr>
          <a:xfrm>
            <a:off x="762000" y="1804313"/>
            <a:ext cx="3346451"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7" name="Text Placeholder 3">
            <a:extLst>
              <a:ext uri="{FF2B5EF4-FFF2-40B4-BE49-F238E27FC236}">
                <a16:creationId xmlns:a16="http://schemas.microsoft.com/office/drawing/2014/main" id="{58888E99-1B28-B01E-696F-A5D145240129}"/>
              </a:ext>
            </a:extLst>
          </p:cNvPr>
          <p:cNvSpPr>
            <a:spLocks noGrp="1"/>
          </p:cNvSpPr>
          <p:nvPr>
            <p:ph type="body" sz="quarter" idx="27" hasCustomPrompt="1"/>
          </p:nvPr>
        </p:nvSpPr>
        <p:spPr>
          <a:xfrm>
            <a:off x="768349" y="2569043"/>
            <a:ext cx="3346451"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
        <p:nvSpPr>
          <p:cNvPr id="8" name="Text Placeholder 3">
            <a:extLst>
              <a:ext uri="{FF2B5EF4-FFF2-40B4-BE49-F238E27FC236}">
                <a16:creationId xmlns:a16="http://schemas.microsoft.com/office/drawing/2014/main" id="{8E7D5D0D-118D-F41C-A7DF-531DE62EC395}"/>
              </a:ext>
            </a:extLst>
          </p:cNvPr>
          <p:cNvSpPr>
            <a:spLocks noGrp="1"/>
          </p:cNvSpPr>
          <p:nvPr>
            <p:ph type="body" sz="quarter" idx="28" hasCustomPrompt="1"/>
          </p:nvPr>
        </p:nvSpPr>
        <p:spPr>
          <a:xfrm>
            <a:off x="4419600" y="1804313"/>
            <a:ext cx="3346451"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9" name="Text Placeholder 3">
            <a:extLst>
              <a:ext uri="{FF2B5EF4-FFF2-40B4-BE49-F238E27FC236}">
                <a16:creationId xmlns:a16="http://schemas.microsoft.com/office/drawing/2014/main" id="{4035D080-B053-C667-594A-A2E4762C0164}"/>
              </a:ext>
            </a:extLst>
          </p:cNvPr>
          <p:cNvSpPr>
            <a:spLocks noGrp="1"/>
          </p:cNvSpPr>
          <p:nvPr>
            <p:ph type="body" sz="quarter" idx="29" hasCustomPrompt="1"/>
          </p:nvPr>
        </p:nvSpPr>
        <p:spPr>
          <a:xfrm>
            <a:off x="4425949" y="2569043"/>
            <a:ext cx="3346451"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
        <p:nvSpPr>
          <p:cNvPr id="10" name="Text Placeholder 3">
            <a:extLst>
              <a:ext uri="{FF2B5EF4-FFF2-40B4-BE49-F238E27FC236}">
                <a16:creationId xmlns:a16="http://schemas.microsoft.com/office/drawing/2014/main" id="{DF630742-8ACF-2726-21BF-EAE052A7CD84}"/>
              </a:ext>
            </a:extLst>
          </p:cNvPr>
          <p:cNvSpPr>
            <a:spLocks noGrp="1"/>
          </p:cNvSpPr>
          <p:nvPr>
            <p:ph type="body" sz="quarter" idx="30" hasCustomPrompt="1"/>
          </p:nvPr>
        </p:nvSpPr>
        <p:spPr>
          <a:xfrm>
            <a:off x="8077200" y="1804313"/>
            <a:ext cx="3346451"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1" name="Text Placeholder 3">
            <a:extLst>
              <a:ext uri="{FF2B5EF4-FFF2-40B4-BE49-F238E27FC236}">
                <a16:creationId xmlns:a16="http://schemas.microsoft.com/office/drawing/2014/main" id="{C994FF51-D029-62BA-FC80-F712271C6511}"/>
              </a:ext>
            </a:extLst>
          </p:cNvPr>
          <p:cNvSpPr>
            <a:spLocks noGrp="1"/>
          </p:cNvSpPr>
          <p:nvPr>
            <p:ph type="body" sz="quarter" idx="31" hasCustomPrompt="1"/>
          </p:nvPr>
        </p:nvSpPr>
        <p:spPr>
          <a:xfrm>
            <a:off x="8083549" y="2569043"/>
            <a:ext cx="3346451"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Tree>
    <p:extLst>
      <p:ext uri="{BB962C8B-B14F-4D97-AF65-F5344CB8AC3E}">
        <p14:creationId xmlns:p14="http://schemas.microsoft.com/office/powerpoint/2010/main" val="2686269503"/>
      </p:ext>
    </p:extLst>
  </p:cSld>
  <p:clrMapOvr>
    <a:masterClrMapping/>
  </p:clrMapOvr>
  <p:extLst>
    <p:ext uri="{DCECCB84-F9BA-43D5-87BE-67443E8EF086}">
      <p15:sldGuideLst xmlns:p15="http://schemas.microsoft.com/office/powerpoint/2012/main">
        <p15:guide id="15" pos="1440" userDrawn="1">
          <p15:clr>
            <a:srgbClr val="547EBF"/>
          </p15:clr>
        </p15:guide>
        <p15:guide id="17" pos="1632" userDrawn="1">
          <p15:clr>
            <a:srgbClr val="547EBF"/>
          </p15:clr>
        </p15:guide>
        <p15:guide id="19" pos="2208" userDrawn="1">
          <p15:clr>
            <a:srgbClr val="A4A3A4"/>
          </p15:clr>
        </p15:guide>
        <p15:guide id="20" pos="2592" userDrawn="1">
          <p15:clr>
            <a:srgbClr val="547EBF"/>
          </p15:clr>
        </p15:guide>
        <p15:guide id="22" pos="3744" userDrawn="1">
          <p15:clr>
            <a:srgbClr val="547EBF"/>
          </p15:clr>
        </p15:guide>
        <p15:guide id="23" pos="3168" userDrawn="1">
          <p15:clr>
            <a:srgbClr val="A4A3A4"/>
          </p15:clr>
        </p15:guide>
        <p15:guide id="24" pos="3360" userDrawn="1">
          <p15:clr>
            <a:srgbClr val="A4A3A4"/>
          </p15:clr>
        </p15:guide>
        <p15:guide id="25" pos="3936" userDrawn="1">
          <p15:clr>
            <a:srgbClr val="547EBF"/>
          </p15:clr>
        </p15:guide>
        <p15:guide id="27" pos="4320" userDrawn="1">
          <p15:clr>
            <a:srgbClr val="A4A3A4"/>
          </p15:clr>
        </p15:guide>
        <p15:guide id="28" pos="4512" userDrawn="1">
          <p15:clr>
            <a:srgbClr val="A4A3A4"/>
          </p15:clr>
        </p15:guide>
        <p15:guide id="29" pos="4896" userDrawn="1">
          <p15:clr>
            <a:srgbClr val="547EBF"/>
          </p15:clr>
        </p15:guide>
        <p15:guide id="30" pos="5088" userDrawn="1">
          <p15:clr>
            <a:srgbClr val="547EBF"/>
          </p15:clr>
        </p15:guide>
        <p15:guide id="32" pos="5472" userDrawn="1">
          <p15:clr>
            <a:srgbClr val="A4A3A4"/>
          </p15:clr>
        </p15:guide>
        <p15:guide id="33" pos="6048" userDrawn="1">
          <p15:clr>
            <a:srgbClr val="547EBF"/>
          </p15:clr>
        </p15:guide>
        <p15:guide id="39" pos="5664" userDrawn="1">
          <p15:clr>
            <a:srgbClr val="A4A3A4"/>
          </p15:clr>
        </p15:guide>
        <p15:guide id="45" pos="1056" userDrawn="1">
          <p15:clr>
            <a:srgbClr val="A4A3A4"/>
          </p15:clr>
        </p15:guide>
        <p15:guide id="48" pos="864" userDrawn="1">
          <p15:clr>
            <a:srgbClr val="A4A3A4"/>
          </p15:clr>
        </p15:guide>
        <p15:guide id="49" pos="2016" userDrawn="1">
          <p15:clr>
            <a:srgbClr val="A4A3A4"/>
          </p15:clr>
        </p15:guide>
        <p15:guide id="50" pos="2784" userDrawn="1">
          <p15:clr>
            <a:srgbClr val="547EBF"/>
          </p15:clr>
        </p15:guide>
        <p15:guide id="51" pos="6624" userDrawn="1">
          <p15:clr>
            <a:srgbClr val="A4A3A4"/>
          </p15:clr>
        </p15:guide>
        <p15:guide id="57" pos="6240" userDrawn="1">
          <p15:clr>
            <a:srgbClr val="547EBF"/>
          </p15:clr>
        </p15:guide>
        <p15:guide id="58" pos="6816" userDrawn="1">
          <p15:clr>
            <a:srgbClr val="A4A3A4"/>
          </p15:clr>
        </p15:guide>
        <p15:guide id="59" orient="horz" pos="8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column">
    <p:bg>
      <p:bgPr>
        <a:solidFill>
          <a:schemeClr val="bg2"/>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pic>
        <p:nvPicPr>
          <p:cNvPr id="2" name="Picture 1">
            <a:extLst>
              <a:ext uri="{FF2B5EF4-FFF2-40B4-BE49-F238E27FC236}">
                <a16:creationId xmlns:a16="http://schemas.microsoft.com/office/drawing/2014/main" id="{B829C73D-BF44-064C-EEE9-EA5EA98EEE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Placeholder 3">
            <a:extLst>
              <a:ext uri="{FF2B5EF4-FFF2-40B4-BE49-F238E27FC236}">
                <a16:creationId xmlns:a16="http://schemas.microsoft.com/office/drawing/2014/main" id="{0144A6FA-ABAA-5699-E628-1423770BF417}"/>
              </a:ext>
            </a:extLst>
          </p:cNvPr>
          <p:cNvSpPr>
            <a:spLocks noGrp="1"/>
          </p:cNvSpPr>
          <p:nvPr>
            <p:ph type="body" sz="quarter" idx="32" hasCustomPrompt="1"/>
          </p:nvPr>
        </p:nvSpPr>
        <p:spPr>
          <a:xfrm>
            <a:off x="723806" y="704602"/>
            <a:ext cx="10668000" cy="576250"/>
          </a:xfrm>
          <a:prstGeom prst="rect">
            <a:avLst/>
          </a:prstGeom>
        </p:spPr>
        <p:txBody>
          <a:bodyPr lIns="0" tIns="0" rIns="0" bIns="0" anchor="t"/>
          <a:lstStyle>
            <a:lvl1pPr marL="0" indent="0">
              <a:buNone/>
              <a:defRPr sz="4000" b="1" i="0" spc="-50" baseline="0">
                <a:latin typeface="Segoe UI Semibold" panose="020B0502040204020203" pitchFamily="34" charset="0"/>
                <a:cs typeface="Segoe UI Semibold" panose="020B0502040204020203" pitchFamily="34" charset="0"/>
              </a:defRPr>
            </a:lvl1pPr>
          </a:lstStyle>
          <a:p>
            <a:pPr lvl="0"/>
            <a:r>
              <a:rPr lang="en-US"/>
              <a:t>Header</a:t>
            </a:r>
          </a:p>
        </p:txBody>
      </p:sp>
      <p:sp>
        <p:nvSpPr>
          <p:cNvPr id="13" name="Text Placeholder 3">
            <a:extLst>
              <a:ext uri="{FF2B5EF4-FFF2-40B4-BE49-F238E27FC236}">
                <a16:creationId xmlns:a16="http://schemas.microsoft.com/office/drawing/2014/main" id="{CE8AFD17-0FC0-BECC-4EDC-142971D27B14}"/>
              </a:ext>
            </a:extLst>
          </p:cNvPr>
          <p:cNvSpPr>
            <a:spLocks noGrp="1"/>
          </p:cNvSpPr>
          <p:nvPr>
            <p:ph type="body" sz="quarter" idx="15" hasCustomPrompt="1"/>
          </p:nvPr>
        </p:nvSpPr>
        <p:spPr>
          <a:xfrm>
            <a:off x="762000" y="1804313"/>
            <a:ext cx="2432304"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4" name="Text Placeholder 3">
            <a:extLst>
              <a:ext uri="{FF2B5EF4-FFF2-40B4-BE49-F238E27FC236}">
                <a16:creationId xmlns:a16="http://schemas.microsoft.com/office/drawing/2014/main" id="{46751B5C-2D50-3CE6-29D0-A22AA48C5B2F}"/>
              </a:ext>
            </a:extLst>
          </p:cNvPr>
          <p:cNvSpPr>
            <a:spLocks noGrp="1"/>
          </p:cNvSpPr>
          <p:nvPr>
            <p:ph type="body" sz="quarter" idx="16" hasCustomPrompt="1"/>
          </p:nvPr>
        </p:nvSpPr>
        <p:spPr>
          <a:xfrm>
            <a:off x="3505200" y="1804313"/>
            <a:ext cx="2432304"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5" name="Text Placeholder 3">
            <a:extLst>
              <a:ext uri="{FF2B5EF4-FFF2-40B4-BE49-F238E27FC236}">
                <a16:creationId xmlns:a16="http://schemas.microsoft.com/office/drawing/2014/main" id="{8F7C2539-AC4A-3BCE-BCD4-FD1206B4052F}"/>
              </a:ext>
            </a:extLst>
          </p:cNvPr>
          <p:cNvSpPr>
            <a:spLocks noGrp="1"/>
          </p:cNvSpPr>
          <p:nvPr>
            <p:ph type="body" sz="quarter" idx="17" hasCustomPrompt="1"/>
          </p:nvPr>
        </p:nvSpPr>
        <p:spPr>
          <a:xfrm>
            <a:off x="6248400" y="1804313"/>
            <a:ext cx="2432304"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6" name="Text Placeholder 3">
            <a:extLst>
              <a:ext uri="{FF2B5EF4-FFF2-40B4-BE49-F238E27FC236}">
                <a16:creationId xmlns:a16="http://schemas.microsoft.com/office/drawing/2014/main" id="{10C2FF5F-058A-275B-B0ED-7C2899D357CA}"/>
              </a:ext>
            </a:extLst>
          </p:cNvPr>
          <p:cNvSpPr>
            <a:spLocks noGrp="1"/>
          </p:cNvSpPr>
          <p:nvPr>
            <p:ph type="body" sz="quarter" idx="18" hasCustomPrompt="1"/>
          </p:nvPr>
        </p:nvSpPr>
        <p:spPr>
          <a:xfrm>
            <a:off x="8991600" y="1804313"/>
            <a:ext cx="2432304" cy="548623"/>
          </a:xfrm>
          <a:prstGeom prst="rect">
            <a:avLst/>
          </a:prstGeom>
        </p:spPr>
        <p:txBody>
          <a:bodyPr lIns="0" tIns="0" rIns="0" bIns="0" anchor="b"/>
          <a:lstStyle>
            <a:lvl1pPr marL="0" indent="0">
              <a:lnSpc>
                <a:spcPct val="90000"/>
              </a:lnSpc>
              <a:spcBef>
                <a:spcPts val="0"/>
              </a:spcBef>
              <a:buNone/>
              <a:defRPr sz="2000" b="1" i="0" spc="-50" baseline="0">
                <a:latin typeface="Segoe UI Semibold" panose="020B0502040204020203" pitchFamily="34" charset="0"/>
                <a:cs typeface="Segoe UI Semibold" panose="020B0502040204020203" pitchFamily="34" charset="0"/>
              </a:defRPr>
            </a:lvl1pPr>
          </a:lstStyle>
          <a:p>
            <a:pPr lvl="0"/>
            <a:r>
              <a:rPr lang="en-US"/>
              <a:t>2 lines max</a:t>
            </a:r>
          </a:p>
        </p:txBody>
      </p:sp>
      <p:sp>
        <p:nvSpPr>
          <p:cNvPr id="17" name="Text Placeholder 3">
            <a:extLst>
              <a:ext uri="{FF2B5EF4-FFF2-40B4-BE49-F238E27FC236}">
                <a16:creationId xmlns:a16="http://schemas.microsoft.com/office/drawing/2014/main" id="{49ECBA22-5950-84B5-508C-42CF9833EC2D}"/>
              </a:ext>
            </a:extLst>
          </p:cNvPr>
          <p:cNvSpPr>
            <a:spLocks noGrp="1"/>
          </p:cNvSpPr>
          <p:nvPr>
            <p:ph type="body" sz="quarter" idx="22" hasCustomPrompt="1"/>
          </p:nvPr>
        </p:nvSpPr>
        <p:spPr>
          <a:xfrm>
            <a:off x="8997950" y="2569043"/>
            <a:ext cx="2436148"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
        <p:nvSpPr>
          <p:cNvPr id="18" name="Text Placeholder 3">
            <a:extLst>
              <a:ext uri="{FF2B5EF4-FFF2-40B4-BE49-F238E27FC236}">
                <a16:creationId xmlns:a16="http://schemas.microsoft.com/office/drawing/2014/main" id="{AA757870-951C-6A77-5F96-E952F55F93D0}"/>
              </a:ext>
            </a:extLst>
          </p:cNvPr>
          <p:cNvSpPr>
            <a:spLocks noGrp="1"/>
          </p:cNvSpPr>
          <p:nvPr>
            <p:ph type="body" sz="quarter" idx="23" hasCustomPrompt="1"/>
          </p:nvPr>
        </p:nvSpPr>
        <p:spPr>
          <a:xfrm>
            <a:off x="6254749" y="2569043"/>
            <a:ext cx="2436148"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
        <p:nvSpPr>
          <p:cNvPr id="19" name="Text Placeholder 3">
            <a:extLst>
              <a:ext uri="{FF2B5EF4-FFF2-40B4-BE49-F238E27FC236}">
                <a16:creationId xmlns:a16="http://schemas.microsoft.com/office/drawing/2014/main" id="{87E96852-F014-6F4D-1889-34CFDB75E4F6}"/>
              </a:ext>
            </a:extLst>
          </p:cNvPr>
          <p:cNvSpPr>
            <a:spLocks noGrp="1"/>
          </p:cNvSpPr>
          <p:nvPr>
            <p:ph type="body" sz="quarter" idx="24" hasCustomPrompt="1"/>
          </p:nvPr>
        </p:nvSpPr>
        <p:spPr>
          <a:xfrm>
            <a:off x="3511549" y="2569043"/>
            <a:ext cx="2436148"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
        <p:nvSpPr>
          <p:cNvPr id="20" name="Text Placeholder 3">
            <a:extLst>
              <a:ext uri="{FF2B5EF4-FFF2-40B4-BE49-F238E27FC236}">
                <a16:creationId xmlns:a16="http://schemas.microsoft.com/office/drawing/2014/main" id="{9EA18F2A-D2B9-D544-082A-D9AE1C2A9603}"/>
              </a:ext>
            </a:extLst>
          </p:cNvPr>
          <p:cNvSpPr>
            <a:spLocks noGrp="1"/>
          </p:cNvSpPr>
          <p:nvPr>
            <p:ph type="body" sz="quarter" idx="25" hasCustomPrompt="1"/>
          </p:nvPr>
        </p:nvSpPr>
        <p:spPr>
          <a:xfrm>
            <a:off x="768349" y="2569043"/>
            <a:ext cx="2432304" cy="1531370"/>
          </a:xfrm>
          <a:prstGeom prst="rect">
            <a:avLst/>
          </a:prstGeom>
        </p:spPr>
        <p:txBody>
          <a:bodyPr lIns="0" tIns="0" rIns="0" bIns="0" anchor="t"/>
          <a:lstStyle>
            <a:lvl1pPr marL="0" indent="0">
              <a:lnSpc>
                <a:spcPct val="90000"/>
              </a:lnSpc>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marR="0" lvl="0" algn="l" defTabSz="914367"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Segoe UI"/>
                <a:ea typeface="+mn-ea"/>
                <a:cs typeface="+mn-cs"/>
              </a:rPr>
              <a:t>Lorem ipsum dolor sit </a:t>
            </a:r>
            <a:r>
              <a:rPr kumimoji="0" lang="en-US" sz="1400" b="0" i="0" u="none" strike="noStrike" kern="1200" cap="none" spc="0" normalizeH="0" baseline="0" noProof="0" err="1">
                <a:ln>
                  <a:noFill/>
                </a:ln>
                <a:solidFill>
                  <a:schemeClr val="bg1"/>
                </a:solidFill>
                <a:effectLst/>
                <a:uLnTx/>
                <a:uFillTx/>
                <a:latin typeface="Segoe UI"/>
                <a:ea typeface="+mn-ea"/>
                <a:cs typeface="+mn-cs"/>
              </a:rPr>
              <a:t>amet</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consectetur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adipiscing</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elit</a:t>
            </a:r>
            <a:r>
              <a:rPr kumimoji="0" lang="en-US" sz="1400" b="0" i="0" u="none" strike="noStrike" kern="1200" cap="none" spc="0" normalizeH="0" baseline="0" noProof="0">
                <a:ln>
                  <a:noFill/>
                </a:ln>
                <a:solidFill>
                  <a:schemeClr val="bg1"/>
                </a:solidFill>
                <a:effectLst/>
                <a:uLnTx/>
                <a:uFillTx/>
                <a:latin typeface="Segoe UI"/>
                <a:ea typeface="+mn-ea"/>
                <a:cs typeface="+mn-cs"/>
              </a:rPr>
              <a:t>, sed do </a:t>
            </a:r>
            <a:r>
              <a:rPr kumimoji="0" lang="en-US" sz="1400" b="0" i="0" u="none" strike="noStrike" kern="1200" cap="none" spc="0" normalizeH="0" baseline="0" noProof="0" err="1">
                <a:ln>
                  <a:noFill/>
                </a:ln>
                <a:solidFill>
                  <a:schemeClr val="bg1"/>
                </a:solidFill>
                <a:effectLst/>
                <a:uLnTx/>
                <a:uFillTx/>
                <a:latin typeface="Segoe UI"/>
                <a:ea typeface="+mn-ea"/>
                <a:cs typeface="+mn-cs"/>
              </a:rPr>
              <a:t>eiusmod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tempor</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incididu</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ut</a:t>
            </a:r>
            <a:r>
              <a:rPr kumimoji="0" lang="en-US" sz="1400" b="0" i="0" u="none" strike="noStrike" kern="1200" cap="none" spc="0" normalizeH="0" baseline="0" noProof="0">
                <a:ln>
                  <a:noFill/>
                </a:ln>
                <a:solidFill>
                  <a:schemeClr val="bg1"/>
                </a:solidFill>
                <a:effectLst/>
                <a:uLnTx/>
                <a:uFillTx/>
                <a:latin typeface="Segoe UI"/>
                <a:ea typeface="+mn-ea"/>
                <a:cs typeface="+mn-cs"/>
              </a:rPr>
              <a:t> labore et dolore magna de </a:t>
            </a:r>
            <a:r>
              <a:rPr kumimoji="0" lang="en-US" sz="1400" b="0" i="0" u="none" strike="noStrike" kern="1200" cap="none" spc="0" normalizeH="0" baseline="0" noProof="0" err="1">
                <a:ln>
                  <a:noFill/>
                </a:ln>
                <a:solidFill>
                  <a:schemeClr val="bg1"/>
                </a:solidFill>
                <a:effectLst/>
                <a:uLnTx/>
                <a:uFillTx/>
                <a:latin typeface="Segoe UI"/>
                <a:ea typeface="+mn-ea"/>
                <a:cs typeface="+mn-cs"/>
              </a:rPr>
              <a:t>aliqua</a:t>
            </a:r>
            <a:r>
              <a:rPr kumimoji="0" lang="en-US" sz="1400" b="0" i="0" u="none" strike="noStrike" kern="1200" cap="none" spc="0" normalizeH="0" baseline="0" noProof="0">
                <a:ln>
                  <a:noFill/>
                </a:ln>
                <a:solidFill>
                  <a:schemeClr val="bg1"/>
                </a:solidFill>
                <a:effectLst/>
                <a:uLnTx/>
                <a:uFillTx/>
                <a:latin typeface="Segoe UI"/>
                <a:ea typeface="+mn-ea"/>
                <a:cs typeface="+mn-cs"/>
              </a:rPr>
              <a:t>. Ut </a:t>
            </a:r>
            <a:r>
              <a:rPr kumimoji="0" lang="en-US" sz="1400" b="0" i="0" u="none" strike="noStrike" kern="1200" cap="none" spc="0" normalizeH="0" baseline="0" noProof="0" err="1">
                <a:ln>
                  <a:noFill/>
                </a:ln>
                <a:solidFill>
                  <a:schemeClr val="bg1"/>
                </a:solidFill>
                <a:effectLst/>
                <a:uLnTx/>
                <a:uFillTx/>
                <a:latin typeface="Segoe UI"/>
                <a:ea typeface="+mn-ea"/>
                <a:cs typeface="+mn-cs"/>
              </a:rPr>
              <a:t>enim</a:t>
            </a:r>
            <a:r>
              <a:rPr kumimoji="0" lang="en-US" sz="1400" b="0" i="0" u="none" strike="noStrike" kern="1200" cap="none" spc="0" normalizeH="0" baseline="0" noProof="0">
                <a:ln>
                  <a:noFill/>
                </a:ln>
                <a:solidFill>
                  <a:schemeClr val="bg1"/>
                </a:solidFill>
                <a:effectLst/>
                <a:uLnTx/>
                <a:uFillTx/>
                <a:latin typeface="Segoe UI"/>
                <a:ea typeface="+mn-ea"/>
                <a:cs typeface="+mn-cs"/>
              </a:rPr>
              <a:t> ad minim so </a:t>
            </a:r>
            <a:r>
              <a:rPr kumimoji="0" lang="en-US" sz="1400" b="0" i="0" u="none" strike="noStrike" kern="1200" cap="none" spc="0" normalizeH="0" baseline="0" noProof="0" err="1">
                <a:ln>
                  <a:noFill/>
                </a:ln>
                <a:solidFill>
                  <a:schemeClr val="bg1"/>
                </a:solidFill>
                <a:effectLst/>
                <a:uLnTx/>
                <a:uFillTx/>
                <a:latin typeface="Segoe UI"/>
                <a:ea typeface="+mn-ea"/>
                <a:cs typeface="+mn-cs"/>
              </a:rPr>
              <a:t>veniam</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quis</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nostrud</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panso</a:t>
            </a:r>
            <a:r>
              <a:rPr kumimoji="0" lang="en-US" sz="1400" b="0" i="0" u="none" strike="noStrike" kern="1200" cap="none" spc="0" normalizeH="0" baseline="0" noProof="0">
                <a:ln>
                  <a:noFill/>
                </a:ln>
                <a:solidFill>
                  <a:schemeClr val="bg1"/>
                </a:solidFill>
                <a:effectLst/>
                <a:uLnTx/>
                <a:uFillTx/>
                <a:latin typeface="Segoe UI"/>
                <a:ea typeface="+mn-ea"/>
                <a:cs typeface="+mn-cs"/>
              </a:rPr>
              <a:t> in </a:t>
            </a:r>
            <a:r>
              <a:rPr kumimoji="0" lang="en-US" sz="1400" b="0" i="0" u="none" strike="noStrike" kern="1200" cap="none" spc="0" normalizeH="0" baseline="0" noProof="0" err="1">
                <a:ln>
                  <a:noFill/>
                </a:ln>
                <a:solidFill>
                  <a:schemeClr val="bg1"/>
                </a:solidFill>
                <a:effectLst/>
                <a:uLnTx/>
                <a:uFillTx/>
                <a:latin typeface="Segoe UI"/>
                <a:ea typeface="+mn-ea"/>
                <a:cs typeface="+mn-cs"/>
              </a:rPr>
              <a:t>exerci</a:t>
            </a:r>
            <a:r>
              <a:rPr kumimoji="0" lang="en-US" sz="1400" b="0" i="0" u="none" strike="noStrike" kern="1200" cap="none" spc="0" normalizeH="0" baseline="0" noProof="0">
                <a:ln>
                  <a:noFill/>
                </a:ln>
                <a:solidFill>
                  <a:schemeClr val="bg1"/>
                </a:solidFill>
                <a:effectLst/>
                <a:uLnTx/>
                <a:uFillTx/>
                <a:latin typeface="Segoe UI"/>
                <a:ea typeface="+mn-ea"/>
                <a:cs typeface="+mn-cs"/>
              </a:rPr>
              <a:t> </a:t>
            </a:r>
            <a:r>
              <a:rPr kumimoji="0" lang="en-US" sz="1400" b="0" i="0" u="none" strike="noStrike" kern="1200" cap="none" spc="0" normalizeH="0" baseline="0" noProof="0" err="1">
                <a:ln>
                  <a:noFill/>
                </a:ln>
                <a:solidFill>
                  <a:schemeClr val="bg1"/>
                </a:solidFill>
                <a:effectLst/>
                <a:uLnTx/>
                <a:uFillTx/>
                <a:latin typeface="Segoe UI"/>
                <a:ea typeface="+mn-ea"/>
                <a:cs typeface="+mn-cs"/>
              </a:rPr>
              <a:t>tation</a:t>
            </a:r>
            <a:r>
              <a:rPr kumimoji="0" lang="en-US" sz="1400" b="0" i="0" u="none" strike="noStrike" kern="1200" cap="none" spc="0" normalizeH="0" baseline="0" noProof="0">
                <a:ln>
                  <a:noFill/>
                </a:ln>
                <a:solidFill>
                  <a:schemeClr val="bg1"/>
                </a:solidFill>
                <a:effectLst/>
                <a:uLnTx/>
                <a:uFillTx/>
                <a:latin typeface="Segoe UI"/>
                <a:ea typeface="+mn-ea"/>
                <a:cs typeface="+mn-cs"/>
              </a:rPr>
              <a:t>.</a:t>
            </a:r>
          </a:p>
        </p:txBody>
      </p:sp>
    </p:spTree>
    <p:extLst>
      <p:ext uri="{BB962C8B-B14F-4D97-AF65-F5344CB8AC3E}">
        <p14:creationId xmlns:p14="http://schemas.microsoft.com/office/powerpoint/2010/main" val="2786198904"/>
      </p:ext>
    </p:extLst>
  </p:cSld>
  <p:clrMapOvr>
    <a:masterClrMapping/>
  </p:clrMapOvr>
  <p:extLst>
    <p:ext uri="{DCECCB84-F9BA-43D5-87BE-67443E8EF086}">
      <p15:sldGuideLst xmlns:p15="http://schemas.microsoft.com/office/powerpoint/2012/main">
        <p15:guide id="15" pos="1440" userDrawn="1">
          <p15:clr>
            <a:srgbClr val="547EBF"/>
          </p15:clr>
        </p15:guide>
        <p15:guide id="17" pos="1632" userDrawn="1">
          <p15:clr>
            <a:srgbClr val="547EBF"/>
          </p15:clr>
        </p15:guide>
        <p15:guide id="19" pos="2208" userDrawn="1">
          <p15:clr>
            <a:srgbClr val="A4A3A4"/>
          </p15:clr>
        </p15:guide>
        <p15:guide id="20" pos="2592" userDrawn="1">
          <p15:clr>
            <a:srgbClr val="547EBF"/>
          </p15:clr>
        </p15:guide>
        <p15:guide id="22" pos="3744" userDrawn="1">
          <p15:clr>
            <a:srgbClr val="547EBF"/>
          </p15:clr>
        </p15:guide>
        <p15:guide id="23" pos="3168" userDrawn="1">
          <p15:clr>
            <a:srgbClr val="A4A3A4"/>
          </p15:clr>
        </p15:guide>
        <p15:guide id="24" pos="3360" userDrawn="1">
          <p15:clr>
            <a:srgbClr val="A4A3A4"/>
          </p15:clr>
        </p15:guide>
        <p15:guide id="25" pos="3936" userDrawn="1">
          <p15:clr>
            <a:srgbClr val="547EBF"/>
          </p15:clr>
        </p15:guide>
        <p15:guide id="27" pos="4320" userDrawn="1">
          <p15:clr>
            <a:srgbClr val="A4A3A4"/>
          </p15:clr>
        </p15:guide>
        <p15:guide id="28" pos="4512" userDrawn="1">
          <p15:clr>
            <a:srgbClr val="A4A3A4"/>
          </p15:clr>
        </p15:guide>
        <p15:guide id="29" pos="4896" userDrawn="1">
          <p15:clr>
            <a:srgbClr val="547EBF"/>
          </p15:clr>
        </p15:guide>
        <p15:guide id="30" pos="5088" userDrawn="1">
          <p15:clr>
            <a:srgbClr val="547EBF"/>
          </p15:clr>
        </p15:guide>
        <p15:guide id="32" pos="5472" userDrawn="1">
          <p15:clr>
            <a:srgbClr val="A4A3A4"/>
          </p15:clr>
        </p15:guide>
        <p15:guide id="33" pos="6048" userDrawn="1">
          <p15:clr>
            <a:srgbClr val="547EBF"/>
          </p15:clr>
        </p15:guide>
        <p15:guide id="39" pos="5664" userDrawn="1">
          <p15:clr>
            <a:srgbClr val="A4A3A4"/>
          </p15:clr>
        </p15:guide>
        <p15:guide id="45" pos="1056" userDrawn="1">
          <p15:clr>
            <a:srgbClr val="A4A3A4"/>
          </p15:clr>
        </p15:guide>
        <p15:guide id="48" pos="864" userDrawn="1">
          <p15:clr>
            <a:srgbClr val="A4A3A4"/>
          </p15:clr>
        </p15:guide>
        <p15:guide id="49" pos="2016" userDrawn="1">
          <p15:clr>
            <a:srgbClr val="A4A3A4"/>
          </p15:clr>
        </p15:guide>
        <p15:guide id="50" pos="2784" userDrawn="1">
          <p15:clr>
            <a:srgbClr val="547EBF"/>
          </p15:clr>
        </p15:guide>
        <p15:guide id="51" pos="6624" userDrawn="1">
          <p15:clr>
            <a:srgbClr val="A4A3A4"/>
          </p15:clr>
        </p15:guide>
        <p15:guide id="57" pos="6240" userDrawn="1">
          <p15:clr>
            <a:srgbClr val="547EBF"/>
          </p15:clr>
        </p15:guide>
        <p15:guide id="58" pos="6816" userDrawn="1">
          <p15:clr>
            <a:srgbClr val="A4A3A4"/>
          </p15:clr>
        </p15:guide>
        <p15:guide id="59" orient="horz" pos="81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soli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spTree>
    <p:extLst>
      <p:ext uri="{BB962C8B-B14F-4D97-AF65-F5344CB8AC3E}">
        <p14:creationId xmlns:p14="http://schemas.microsoft.com/office/powerpoint/2010/main" val="4153332593"/>
      </p:ext>
    </p:extLst>
  </p:cSld>
  <p:clrMapOvr>
    <a:masterClrMapping/>
  </p:clrMapOvr>
  <p:extLst>
    <p:ext uri="{DCECCB84-F9BA-43D5-87BE-67443E8EF086}">
      <p15:sldGuideLst xmlns:p15="http://schemas.microsoft.com/office/powerpoint/2012/main">
        <p15:guide id="15" pos="1440" userDrawn="1">
          <p15:clr>
            <a:srgbClr val="547EBF"/>
          </p15:clr>
        </p15:guide>
        <p15:guide id="17" pos="1632" userDrawn="1">
          <p15:clr>
            <a:srgbClr val="547EBF"/>
          </p15:clr>
        </p15:guide>
        <p15:guide id="19" pos="2208" userDrawn="1">
          <p15:clr>
            <a:srgbClr val="A4A3A4"/>
          </p15:clr>
        </p15:guide>
        <p15:guide id="20" pos="2592" userDrawn="1">
          <p15:clr>
            <a:srgbClr val="547EBF"/>
          </p15:clr>
        </p15:guide>
        <p15:guide id="22" pos="3744" userDrawn="1">
          <p15:clr>
            <a:srgbClr val="547EBF"/>
          </p15:clr>
        </p15:guide>
        <p15:guide id="23" pos="3168" userDrawn="1">
          <p15:clr>
            <a:srgbClr val="A4A3A4"/>
          </p15:clr>
        </p15:guide>
        <p15:guide id="24" pos="3360" userDrawn="1">
          <p15:clr>
            <a:srgbClr val="A4A3A4"/>
          </p15:clr>
        </p15:guide>
        <p15:guide id="25" pos="3936" userDrawn="1">
          <p15:clr>
            <a:srgbClr val="547EBF"/>
          </p15:clr>
        </p15:guide>
        <p15:guide id="27" pos="4320" userDrawn="1">
          <p15:clr>
            <a:srgbClr val="A4A3A4"/>
          </p15:clr>
        </p15:guide>
        <p15:guide id="28" pos="4512" userDrawn="1">
          <p15:clr>
            <a:srgbClr val="A4A3A4"/>
          </p15:clr>
        </p15:guide>
        <p15:guide id="29" pos="4896" userDrawn="1">
          <p15:clr>
            <a:srgbClr val="547EBF"/>
          </p15:clr>
        </p15:guide>
        <p15:guide id="30" pos="5088" userDrawn="1">
          <p15:clr>
            <a:srgbClr val="547EBF"/>
          </p15:clr>
        </p15:guide>
        <p15:guide id="32" pos="5472" userDrawn="1">
          <p15:clr>
            <a:srgbClr val="A4A3A4"/>
          </p15:clr>
        </p15:guide>
        <p15:guide id="33" pos="6048" userDrawn="1">
          <p15:clr>
            <a:srgbClr val="547EBF"/>
          </p15:clr>
        </p15:guide>
        <p15:guide id="39" pos="5664" userDrawn="1">
          <p15:clr>
            <a:srgbClr val="A4A3A4"/>
          </p15:clr>
        </p15:guide>
        <p15:guide id="45" pos="1056" userDrawn="1">
          <p15:clr>
            <a:srgbClr val="A4A3A4"/>
          </p15:clr>
        </p15:guide>
        <p15:guide id="48" pos="864" userDrawn="1">
          <p15:clr>
            <a:srgbClr val="A4A3A4"/>
          </p15:clr>
        </p15:guide>
        <p15:guide id="49" pos="2016" userDrawn="1">
          <p15:clr>
            <a:srgbClr val="A4A3A4"/>
          </p15:clr>
        </p15:guide>
        <p15:guide id="50" pos="2784" userDrawn="1">
          <p15:clr>
            <a:srgbClr val="547EBF"/>
          </p15:clr>
        </p15:guide>
        <p15:guide id="51" pos="6624" userDrawn="1">
          <p15:clr>
            <a:srgbClr val="A4A3A4"/>
          </p15:clr>
        </p15:guide>
        <p15:guide id="57" pos="6240" userDrawn="1">
          <p15:clr>
            <a:srgbClr val="547EBF"/>
          </p15:clr>
        </p15:guide>
        <p15:guide id="58" pos="6816" userDrawn="1">
          <p15:clr>
            <a:srgbClr val="A4A3A4"/>
          </p15:clr>
        </p15:guide>
        <p15:guide id="59" orient="horz" pos="81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B102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4480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6" r:id="rId4"/>
    <p:sldLayoutId id="2147483667" r:id="rId5"/>
    <p:sldLayoutId id="214748366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5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4" orient="horz" pos="3840" userDrawn="1">
          <p15:clr>
            <a:srgbClr val="F26B43"/>
          </p15:clr>
        </p15:guide>
        <p15:guide id="5" pos="480" userDrawn="1">
          <p15:clr>
            <a:srgbClr val="F26B43"/>
          </p15:clr>
        </p15:guide>
        <p15:guide id="6" pos="720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3.xml"/><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B4F52BC-E970-4DE7-AD6F-174D19E76965}"/>
              </a:ext>
            </a:extLst>
          </p:cNvPr>
          <p:cNvSpPr>
            <a:spLocks noGrp="1"/>
          </p:cNvSpPr>
          <p:nvPr>
            <p:ph type="body" sz="quarter" idx="10"/>
          </p:nvPr>
        </p:nvSpPr>
        <p:spPr/>
        <p:txBody>
          <a:bodyPr/>
          <a:lstStyle/>
          <a:p>
            <a:endParaRPr lang="en-US"/>
          </a:p>
        </p:txBody>
      </p:sp>
      <p:sp>
        <p:nvSpPr>
          <p:cNvPr id="2" name="Title 4">
            <a:extLst>
              <a:ext uri="{FF2B5EF4-FFF2-40B4-BE49-F238E27FC236}">
                <a16:creationId xmlns:a16="http://schemas.microsoft.com/office/drawing/2014/main" id="{A949FED6-F4A9-F3A8-DC45-DB74E5B1D7E1}"/>
              </a:ext>
            </a:extLst>
          </p:cNvPr>
          <p:cNvSpPr txBox="1">
            <a:spLocks/>
          </p:cNvSpPr>
          <p:nvPr/>
        </p:nvSpPr>
        <p:spPr>
          <a:xfrm>
            <a:off x="709666" y="1280000"/>
            <a:ext cx="10718800" cy="1480000"/>
          </a:xfrm>
          <a:prstGeom prst="rect">
            <a:avLst/>
          </a:prstGeom>
          <a:noFill/>
        </p:spPr>
        <p:txBody>
          <a:bodyPr wrap="square" lIns="0" tIns="0" rIns="0" bIns="0" anchor="b" anchorCtr="0">
            <a:spAutoFit/>
          </a:bodyPr>
          <a:lstStyle>
            <a:lvl1pPr algn="l" defTabSz="914400" rtl="0" eaLnBrk="1" latinLnBrk="0" hangingPunct="1">
              <a:lnSpc>
                <a:spcPct val="90000"/>
              </a:lnSpc>
              <a:spcBef>
                <a:spcPct val="0"/>
              </a:spcBef>
              <a:buNone/>
              <a:defRPr sz="6400" b="1" i="0" kern="1200" spc="-50" baseline="0">
                <a:solidFill>
                  <a:schemeClr val="bg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u="none" strike="noStrike" kern="1200" cap="none" spc="-90" normalizeH="0" baseline="0" noProof="0">
                <a:ln>
                  <a:noFill/>
                </a:ln>
                <a:solidFill>
                  <a:srgbClr val="FFFFFF"/>
                </a:solidFill>
                <a:effectLst/>
                <a:uLnTx/>
                <a:uFillTx/>
                <a:latin typeface="Segoe Sans Display Semibold" pitchFamily="2" charset="0"/>
                <a:cs typeface="Segoe Sans Display Semibold" pitchFamily="2" charset="0"/>
                <a:sym typeface="Graphik Light"/>
              </a:rPr>
              <a:t>Build Intelligent Business Processes with Apps, Automations, and Agents</a:t>
            </a:r>
          </a:p>
        </p:txBody>
      </p:sp>
      <p:sp>
        <p:nvSpPr>
          <p:cNvPr id="26" name="Text Placeholder 7">
            <a:extLst>
              <a:ext uri="{FF2B5EF4-FFF2-40B4-BE49-F238E27FC236}">
                <a16:creationId xmlns:a16="http://schemas.microsoft.com/office/drawing/2014/main" id="{75F99942-64BF-3476-DCB7-BA3E3FC4CE83}"/>
              </a:ext>
            </a:extLst>
          </p:cNvPr>
          <p:cNvSpPr txBox="1">
            <a:spLocks/>
          </p:cNvSpPr>
          <p:nvPr/>
        </p:nvSpPr>
        <p:spPr>
          <a:xfrm>
            <a:off x="743661" y="5882326"/>
            <a:ext cx="3371140" cy="249299"/>
          </a:xfrm>
          <a:prstGeom prst="rect">
            <a:avLst/>
          </a:prstGeom>
        </p:spPr>
        <p:txBody>
          <a:bodyPr wrap="square" lIns="0" tIns="0" rIns="0" bIns="0" anchor="b">
            <a:spAutoFit/>
          </a:bodyPr>
          <a:lstStyle>
            <a:lvl1pPr marL="0" indent="0" algn="l" defTabSz="914400" rtl="0" eaLnBrk="1" latinLnBrk="0" hangingPunct="1">
              <a:lnSpc>
                <a:spcPct val="90000"/>
              </a:lnSpc>
              <a:spcBef>
                <a:spcPts val="1000"/>
              </a:spcBef>
              <a:buFont typeface="Arial" panose="020B0604020202020204" pitchFamily="34" charset="0"/>
              <a:buNone/>
              <a:defRPr sz="2200" b="1" i="0" kern="1200">
                <a:solidFill>
                  <a:schemeClr val="tx1"/>
                </a:solidFill>
                <a:latin typeface="Segoe UI Semibold" panose="020B0502040204020203" pitchFamily="34" charset="0"/>
                <a:ea typeface="+mn-ea"/>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u="none" strike="noStrike" kern="1200" cap="none" spc="0" normalizeH="0" baseline="0" noProof="0">
                <a:ln>
                  <a:noFill/>
                </a:ln>
                <a:solidFill>
                  <a:srgbClr val="82EBA6"/>
                </a:solidFill>
                <a:effectLst/>
                <a:uLnTx/>
                <a:uFillTx/>
                <a:latin typeface="Segoe Sans Display Semibold" pitchFamily="2" charset="0"/>
                <a:cs typeface="Segoe Sans Display Semibold" pitchFamily="2" charset="0"/>
                <a:sym typeface="Graphik Light"/>
              </a:rPr>
              <a:t>OCTOBER 26, 2026</a:t>
            </a:r>
          </a:p>
        </p:txBody>
      </p:sp>
      <p:sp>
        <p:nvSpPr>
          <p:cNvPr id="14562" name="Rectangle 14561">
            <a:extLst>
              <a:ext uri="{FF2B5EF4-FFF2-40B4-BE49-F238E27FC236}">
                <a16:creationId xmlns:a16="http://schemas.microsoft.com/office/drawing/2014/main" id="{BE907DBB-4AE1-FB7B-4667-42AF45768473}"/>
              </a:ext>
            </a:extLst>
          </p:cNvPr>
          <p:cNvSpPr/>
          <p:nvPr/>
        </p:nvSpPr>
        <p:spPr>
          <a:xfrm>
            <a:off x="658016" y="3278150"/>
            <a:ext cx="10600000" cy="58694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2EEF5"/>
                </a:solidFill>
                <a:effectLst/>
                <a:latin typeface="Segoe UI" panose="020B0502040204020203" pitchFamily="34" charset="0"/>
              </a:rPr>
              <a:t>PPCC 2026  ·  Full-day hands-on workshop  ·  Level 200</a:t>
            </a:r>
          </a:p>
          <a:p>
            <a:pPr algn="l">
              <a:buNone/>
            </a:pPr>
            <a:r>
              <a:rPr lang="en-US" sz="100">
                <a:effectLst/>
              </a:rPr>
              <a:t> </a:t>
            </a:r>
            <a:endParaRPr lang="en-US"/>
          </a:p>
        </p:txBody>
      </p:sp>
      <p:pic>
        <p:nvPicPr>
          <p:cNvPr id="4" name="Picture 3" descr="The image shows a vibrant bouquet of flowers with various colors and shapes.&#10;&#10;AI-generated content may be incorrect.">
            <a:extLst>
              <a:ext uri="{FF2B5EF4-FFF2-40B4-BE49-F238E27FC236}">
                <a16:creationId xmlns:a16="http://schemas.microsoft.com/office/drawing/2014/main" id="{7186D3D0-9739-C1A8-1514-F83260B4951F}"/>
              </a:ext>
            </a:extLst>
          </p:cNvPr>
          <p:cNvPicPr>
            <a:picLocks noChangeAspect="1"/>
          </p:cNvPicPr>
          <p:nvPr/>
        </p:nvPicPr>
        <p:blipFill>
          <a:blip r:embed="rId3">
            <a:extLst>
              <a:ext uri="{28A0092B-C50C-407E-A947-70E740481C1C}">
                <a14:useLocalDpi xmlns:a14="http://schemas.microsoft.com/office/drawing/2010/main" val="0"/>
              </a:ext>
            </a:extLst>
          </a:blip>
          <a:srcRect r="54814"/>
          <a:stretch>
            <a:fillRect/>
          </a:stretch>
        </p:blipFill>
        <p:spPr>
          <a:xfrm>
            <a:off x="10012722" y="4891405"/>
            <a:ext cx="1560442" cy="1115570"/>
          </a:xfrm>
          <a:prstGeom prst="rect">
            <a:avLst/>
          </a:prstGeom>
        </p:spPr>
      </p:pic>
    </p:spTree>
    <p:extLst>
      <p:ext uri="{BB962C8B-B14F-4D97-AF65-F5344CB8AC3E}">
        <p14:creationId xmlns:p14="http://schemas.microsoft.com/office/powerpoint/2010/main" val="2807711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944C0-6D45-678D-C161-19E8B012A06D}"/>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ACACF3E-BD75-66E5-B665-467791BEEB05}"/>
              </a:ext>
            </a:extLst>
          </p:cNvPr>
          <p:cNvSpPr>
            <a:spLocks noGrp="1"/>
          </p:cNvSpPr>
          <p:nvPr>
            <p:ph type="body" sz="quarter" idx="10"/>
          </p:nvPr>
        </p:nvSpPr>
        <p:spPr/>
        <p:txBody>
          <a:bodyPr/>
          <a:lstStyle/>
          <a:p>
            <a:endParaRPr lang="en-US"/>
          </a:p>
        </p:txBody>
      </p:sp>
      <p:sp>
        <p:nvSpPr>
          <p:cNvPr id="2" name="Title 4">
            <a:extLst>
              <a:ext uri="{FF2B5EF4-FFF2-40B4-BE49-F238E27FC236}">
                <a16:creationId xmlns:a16="http://schemas.microsoft.com/office/drawing/2014/main" id="{474A3B2B-8B63-F82E-FB09-E19AE911FC79}"/>
              </a:ext>
            </a:extLst>
          </p:cNvPr>
          <p:cNvSpPr txBox="1">
            <a:spLocks/>
          </p:cNvSpPr>
          <p:nvPr/>
        </p:nvSpPr>
        <p:spPr>
          <a:xfrm>
            <a:off x="703391" y="1187198"/>
            <a:ext cx="10718800" cy="609398"/>
          </a:xfrm>
          <a:prstGeom prst="rect">
            <a:avLst/>
          </a:prstGeom>
          <a:noFill/>
        </p:spPr>
        <p:txBody>
          <a:bodyPr wrap="square" lIns="0" tIns="0" rIns="0" bIns="0" anchor="b" anchorCtr="0">
            <a:spAutoFit/>
          </a:bodyPr>
          <a:lstStyle>
            <a:lvl1pPr algn="l" defTabSz="914400" rtl="0" eaLnBrk="1" latinLnBrk="0" hangingPunct="1">
              <a:lnSpc>
                <a:spcPct val="90000"/>
              </a:lnSpc>
              <a:spcBef>
                <a:spcPct val="0"/>
              </a:spcBef>
              <a:buNone/>
              <a:defRPr sz="6400" b="1" i="0" kern="1200" spc="-50" baseline="0">
                <a:solidFill>
                  <a:schemeClr val="bg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u="none" strike="noStrike" kern="1200" cap="none" spc="-90" normalizeH="0" baseline="0" noProof="0">
                <a:ln>
                  <a:noFill/>
                </a:ln>
                <a:solidFill>
                  <a:srgbClr val="FFFFFF"/>
                </a:solidFill>
                <a:effectLst/>
                <a:uLnTx/>
                <a:uFillTx/>
                <a:latin typeface="Segoe Sans Display Semibold" pitchFamily="2" charset="0"/>
                <a:cs typeface="Segoe Sans Display Semibold" pitchFamily="2" charset="0"/>
                <a:sym typeface="Graphik Light"/>
              </a:rPr>
              <a:t>Speakers</a:t>
            </a:r>
          </a:p>
        </p:txBody>
      </p:sp>
      <p:sp>
        <p:nvSpPr>
          <p:cNvPr id="14564" name="Rectangle 14563">
            <a:extLst>
              <a:ext uri="{FF2B5EF4-FFF2-40B4-BE49-F238E27FC236}">
                <a16:creationId xmlns:a16="http://schemas.microsoft.com/office/drawing/2014/main" id="{B4CE263E-1ED5-D804-EC0E-A8C6A6F00637}"/>
              </a:ext>
            </a:extLst>
          </p:cNvPr>
          <p:cNvSpPr/>
          <p:nvPr/>
        </p:nvSpPr>
        <p:spPr>
          <a:xfrm>
            <a:off x="3521354" y="4318530"/>
            <a:ext cx="3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Warren Bryant</a:t>
            </a:r>
          </a:p>
          <a:p>
            <a:pPr algn="l">
              <a:buNone/>
            </a:pPr>
            <a:r>
              <a:rPr lang="en-US" sz="1400" b="1">
                <a:solidFill>
                  <a:srgbClr val="82EBA6"/>
                </a:solidFill>
                <a:effectLst/>
                <a:latin typeface="Segoe UI" panose="020B0502040204020203" pitchFamily="34" charset="0"/>
              </a:rPr>
              <a:t>MODULE 6</a:t>
            </a:r>
            <a:endParaRPr lang="en-US"/>
          </a:p>
        </p:txBody>
      </p:sp>
      <p:sp>
        <p:nvSpPr>
          <p:cNvPr id="14567" name="Rectangle 14566">
            <a:extLst>
              <a:ext uri="{FF2B5EF4-FFF2-40B4-BE49-F238E27FC236}">
                <a16:creationId xmlns:a16="http://schemas.microsoft.com/office/drawing/2014/main" id="{626985CE-C8D2-6829-DB4E-5A72B27F5F32}"/>
              </a:ext>
            </a:extLst>
          </p:cNvPr>
          <p:cNvSpPr/>
          <p:nvPr/>
        </p:nvSpPr>
        <p:spPr>
          <a:xfrm>
            <a:off x="762791" y="2169966"/>
            <a:ext cx="3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Olivier Conort</a:t>
            </a:r>
          </a:p>
          <a:p>
            <a:pPr algn="l">
              <a:buNone/>
            </a:pPr>
            <a:r>
              <a:rPr lang="en-US" sz="1400" b="1">
                <a:solidFill>
                  <a:srgbClr val="3A7BFF"/>
                </a:solidFill>
                <a:effectLst/>
                <a:latin typeface="Segoe UI" panose="020B0502040204020203" pitchFamily="34" charset="0"/>
              </a:rPr>
              <a:t>MODULE 1</a:t>
            </a:r>
            <a:endParaRPr lang="en-US"/>
          </a:p>
        </p:txBody>
      </p:sp>
      <p:sp>
        <p:nvSpPr>
          <p:cNvPr id="14571" name="Rectangle 14570">
            <a:extLst>
              <a:ext uri="{FF2B5EF4-FFF2-40B4-BE49-F238E27FC236}">
                <a16:creationId xmlns:a16="http://schemas.microsoft.com/office/drawing/2014/main" id="{51A1E31E-FF33-50F6-3326-491E826AE6BB}"/>
              </a:ext>
            </a:extLst>
          </p:cNvPr>
          <p:cNvSpPr/>
          <p:nvPr/>
        </p:nvSpPr>
        <p:spPr>
          <a:xfrm>
            <a:off x="762791" y="4318530"/>
            <a:ext cx="3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Jay Padimiti</a:t>
            </a:r>
          </a:p>
          <a:p>
            <a:pPr algn="l">
              <a:buNone/>
            </a:pPr>
            <a:r>
              <a:rPr lang="en-US" sz="1400" b="1">
                <a:solidFill>
                  <a:srgbClr val="F19D19"/>
                </a:solidFill>
                <a:effectLst/>
                <a:latin typeface="Segoe UI" panose="020B0502040204020203" pitchFamily="34" charset="0"/>
              </a:rPr>
              <a:t>MODULE 5</a:t>
            </a:r>
            <a:endParaRPr lang="en-US"/>
          </a:p>
        </p:txBody>
      </p:sp>
      <p:sp>
        <p:nvSpPr>
          <p:cNvPr id="14576" name="Rectangle 14575">
            <a:extLst>
              <a:ext uri="{FF2B5EF4-FFF2-40B4-BE49-F238E27FC236}">
                <a16:creationId xmlns:a16="http://schemas.microsoft.com/office/drawing/2014/main" id="{8EF8B4CB-65E8-9006-CE40-021D4BA51C8B}"/>
              </a:ext>
            </a:extLst>
          </p:cNvPr>
          <p:cNvSpPr/>
          <p:nvPr/>
        </p:nvSpPr>
        <p:spPr>
          <a:xfrm>
            <a:off x="8792000" y="2133698"/>
            <a:ext cx="3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Nikita Polyakov</a:t>
            </a:r>
          </a:p>
          <a:p>
            <a:pPr algn="l">
              <a:buNone/>
            </a:pPr>
            <a:r>
              <a:rPr lang="en-US" sz="1400" b="1">
                <a:solidFill>
                  <a:srgbClr val="B2AAF8"/>
                </a:solidFill>
                <a:effectLst/>
                <a:latin typeface="Segoe UI" panose="020B0502040204020203" pitchFamily="34" charset="0"/>
              </a:rPr>
              <a:t>MODULE 4</a:t>
            </a:r>
            <a:endParaRPr lang="en-US"/>
          </a:p>
        </p:txBody>
      </p:sp>
      <p:sp>
        <p:nvSpPr>
          <p:cNvPr id="14582" name="Rectangle 14581">
            <a:extLst>
              <a:ext uri="{FF2B5EF4-FFF2-40B4-BE49-F238E27FC236}">
                <a16:creationId xmlns:a16="http://schemas.microsoft.com/office/drawing/2014/main" id="{64FEEA06-22A6-5C61-CA21-7D739C73C2AC}"/>
              </a:ext>
            </a:extLst>
          </p:cNvPr>
          <p:cNvSpPr/>
          <p:nvPr/>
        </p:nvSpPr>
        <p:spPr>
          <a:xfrm>
            <a:off x="5969933" y="2133698"/>
            <a:ext cx="3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Rasika Chaudhary</a:t>
            </a:r>
          </a:p>
          <a:p>
            <a:r>
              <a:rPr lang="en-US" sz="1400" b="1">
                <a:solidFill>
                  <a:srgbClr val="F75ECE"/>
                </a:solidFill>
                <a:latin typeface="Segoe UI" panose="020B0502040204020203" pitchFamily="34" charset="0"/>
              </a:rPr>
              <a:t>MODULE 3</a:t>
            </a:r>
            <a:endParaRPr lang="en-US" sz="1400">
              <a:solidFill>
                <a:srgbClr val="F75ECE"/>
              </a:solidFill>
            </a:endParaRPr>
          </a:p>
        </p:txBody>
      </p:sp>
      <p:sp>
        <p:nvSpPr>
          <p:cNvPr id="14589" name="Rectangle 14588">
            <a:extLst>
              <a:ext uri="{FF2B5EF4-FFF2-40B4-BE49-F238E27FC236}">
                <a16:creationId xmlns:a16="http://schemas.microsoft.com/office/drawing/2014/main" id="{5627747B-DBE8-EA4C-42B9-06AC94359037}"/>
              </a:ext>
            </a:extLst>
          </p:cNvPr>
          <p:cNvSpPr/>
          <p:nvPr/>
        </p:nvSpPr>
        <p:spPr>
          <a:xfrm>
            <a:off x="3461131" y="2168754"/>
            <a:ext cx="3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Adrian Orth</a:t>
            </a:r>
          </a:p>
          <a:p>
            <a:pPr algn="l">
              <a:buNone/>
            </a:pPr>
            <a:r>
              <a:rPr lang="en-US" sz="1400" b="1">
                <a:solidFill>
                  <a:srgbClr val="2FFFE0"/>
                </a:solidFill>
                <a:effectLst/>
                <a:latin typeface="Segoe UI" panose="020B0502040204020203" pitchFamily="34" charset="0"/>
              </a:rPr>
              <a:t>MODULE 2</a:t>
            </a:r>
            <a:endParaRPr lang="en-US"/>
          </a:p>
        </p:txBody>
      </p:sp>
      <p:pic>
        <p:nvPicPr>
          <p:cNvPr id="4" name="Picture 3" descr="A person is seated against a colorful, rectangular structure featuring a mix of red, blue, green, and yellow blocks.&#10;&#10;AI-generated content may be incorrect.">
            <a:extLst>
              <a:ext uri="{FF2B5EF4-FFF2-40B4-BE49-F238E27FC236}">
                <a16:creationId xmlns:a16="http://schemas.microsoft.com/office/drawing/2014/main" id="{A34760CC-86B4-4847-A208-7940AA6F20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2834" y="5108734"/>
            <a:ext cx="1036716" cy="1036716"/>
          </a:xfrm>
          <a:prstGeom prst="ellipse">
            <a:avLst/>
          </a:prstGeom>
        </p:spPr>
      </p:pic>
      <p:pic>
        <p:nvPicPr>
          <p:cNvPr id="3" name="Picture 2">
            <a:extLst>
              <a:ext uri="{FF2B5EF4-FFF2-40B4-BE49-F238E27FC236}">
                <a16:creationId xmlns:a16="http://schemas.microsoft.com/office/drawing/2014/main" id="{BF94A405-8976-93DF-F5D0-390E7B6DD10F}"/>
              </a:ext>
            </a:extLst>
          </p:cNvPr>
          <p:cNvPicPr>
            <a:picLocks noChangeAspect="1"/>
          </p:cNvPicPr>
          <p:nvPr/>
        </p:nvPicPr>
        <p:blipFill>
          <a:blip r:embed="rId4"/>
          <a:stretch>
            <a:fillRect/>
          </a:stretch>
        </p:blipFill>
        <p:spPr>
          <a:xfrm>
            <a:off x="3705219" y="3061775"/>
            <a:ext cx="1107056" cy="101263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descr="A person in a blue shirt&#10;&#10;AI-generated content may be incorrect.">
            <a:extLst>
              <a:ext uri="{FF2B5EF4-FFF2-40B4-BE49-F238E27FC236}">
                <a16:creationId xmlns:a16="http://schemas.microsoft.com/office/drawing/2014/main" id="{97281EA3-78D8-887E-D3AF-EF0CCD42948C}"/>
              </a:ext>
            </a:extLst>
          </p:cNvPr>
          <p:cNvPicPr>
            <a:picLocks noChangeAspect="1"/>
          </p:cNvPicPr>
          <p:nvPr/>
        </p:nvPicPr>
        <p:blipFill>
          <a:blip r:embed="rId5"/>
          <a:stretch>
            <a:fillRect/>
          </a:stretch>
        </p:blipFill>
        <p:spPr>
          <a:xfrm>
            <a:off x="868696" y="5164350"/>
            <a:ext cx="1042417" cy="1012903"/>
          </a:xfrm>
          <a:prstGeom prst="rect">
            <a:avLst/>
          </a:prstGeom>
        </p:spPr>
      </p:pic>
      <p:pic>
        <p:nvPicPr>
          <p:cNvPr id="8" name="Picture 7">
            <a:extLst>
              <a:ext uri="{FF2B5EF4-FFF2-40B4-BE49-F238E27FC236}">
                <a16:creationId xmlns:a16="http://schemas.microsoft.com/office/drawing/2014/main" id="{A85710CF-B0B4-C05B-9322-3ABA2F00A8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69933" y="2936335"/>
            <a:ext cx="1087968" cy="1087968"/>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 name="Picture 9">
            <a:extLst>
              <a:ext uri="{FF2B5EF4-FFF2-40B4-BE49-F238E27FC236}">
                <a16:creationId xmlns:a16="http://schemas.microsoft.com/office/drawing/2014/main" id="{8F64A45D-AA61-4887-897C-58B727E303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37108" y="3064331"/>
            <a:ext cx="1012631" cy="101263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Picture 8">
            <a:extLst>
              <a:ext uri="{FF2B5EF4-FFF2-40B4-BE49-F238E27FC236}">
                <a16:creationId xmlns:a16="http://schemas.microsoft.com/office/drawing/2014/main" id="{398EC84C-2F96-9449-3218-D677AE4C85B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82021" y="2885959"/>
            <a:ext cx="1012903" cy="101290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62595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634" name="Proctors Title">
            <a:extLst>
              <a:ext uri="{FF2B5EF4-FFF2-40B4-BE49-F238E27FC236}">
                <a16:creationId xmlns:a16="http://schemas.microsoft.com/office/drawing/2014/main" id="{F3934A84-1B43-A74D-D86A-02FFE0156C1A}"/>
              </a:ext>
            </a:extLst>
          </p:cNvPr>
          <p:cNvSpPr/>
          <p:nvPr/>
        </p:nvSpPr>
        <p:spPr>
          <a:xfrm>
            <a:off x="682513" y="1080000"/>
            <a:ext cx="60000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Proctors</a:t>
            </a:r>
          </a:p>
          <a:p>
            <a:pPr algn="l">
              <a:buNone/>
            </a:pPr>
            <a:r>
              <a:rPr lang="en-US" sz="100">
                <a:effectLst/>
              </a:rPr>
              <a:t> </a:t>
            </a:r>
            <a:endParaRPr lang="en-US"/>
          </a:p>
        </p:txBody>
      </p:sp>
      <p:sp>
        <p:nvSpPr>
          <p:cNvPr id="237636" name="Proctors Subtitle">
            <a:extLst>
              <a:ext uri="{FF2B5EF4-FFF2-40B4-BE49-F238E27FC236}">
                <a16:creationId xmlns:a16="http://schemas.microsoft.com/office/drawing/2014/main" id="{BE85E2EC-BB4D-6B99-DC9C-2FE640760F4E}"/>
              </a:ext>
            </a:extLst>
          </p:cNvPr>
          <p:cNvSpPr/>
          <p:nvPr/>
        </p:nvSpPr>
        <p:spPr>
          <a:xfrm>
            <a:off x="682513" y="1730000"/>
            <a:ext cx="10900000" cy="4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B2AAF8"/>
                </a:solidFill>
                <a:effectLst/>
                <a:latin typeface="Segoe UI" panose="020B0502040204020203" pitchFamily="34" charset="0"/>
              </a:rPr>
              <a:t>Thank you for keeping every lab on track</a:t>
            </a:r>
          </a:p>
          <a:p>
            <a:pPr algn="l">
              <a:buNone/>
            </a:pPr>
            <a:r>
              <a:rPr lang="en-US" sz="100">
                <a:effectLst/>
              </a:rPr>
              <a:t> </a:t>
            </a:r>
            <a:endParaRPr lang="en-US"/>
          </a:p>
        </p:txBody>
      </p:sp>
      <p:sp>
        <p:nvSpPr>
          <p:cNvPr id="237639" name="Proctor ring - Yasin Mukadam">
            <a:extLst>
              <a:ext uri="{FF2B5EF4-FFF2-40B4-BE49-F238E27FC236}">
                <a16:creationId xmlns:a16="http://schemas.microsoft.com/office/drawing/2014/main" id="{7991D521-4BB1-7C42-4EF5-DEE37683F522}"/>
              </a:ext>
            </a:extLst>
          </p:cNvPr>
          <p:cNvSpPr/>
          <p:nvPr/>
        </p:nvSpPr>
        <p:spPr>
          <a:xfrm>
            <a:off x="1043940" y="2330000"/>
            <a:ext cx="960120" cy="960120"/>
          </a:xfrm>
          <a:prstGeom prst="ellipse">
            <a:avLst/>
          </a:prstGeom>
          <a:solidFill>
            <a:srgbClr val="0B1020">
              <a:alpha val="0"/>
            </a:srgbClr>
          </a:solidFill>
          <a:ln w="28575">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43" name="Proctor name - Yasin Mukadam">
            <a:extLst>
              <a:ext uri="{FF2B5EF4-FFF2-40B4-BE49-F238E27FC236}">
                <a16:creationId xmlns:a16="http://schemas.microsoft.com/office/drawing/2014/main" id="{24725F28-6070-9E85-F656-479BD8C739F6}"/>
              </a:ext>
            </a:extLst>
          </p:cNvPr>
          <p:cNvSpPr/>
          <p:nvPr/>
        </p:nvSpPr>
        <p:spPr>
          <a:xfrm>
            <a:off x="426720" y="3217030"/>
            <a:ext cx="219456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Yasin Mukadam</a:t>
            </a:r>
          </a:p>
          <a:p>
            <a:pPr algn="ctr">
              <a:buNone/>
            </a:pPr>
            <a:r>
              <a:rPr lang="en-US" sz="100">
                <a:effectLst/>
              </a:rPr>
              <a:t> </a:t>
            </a:r>
            <a:endParaRPr lang="en-US"/>
          </a:p>
        </p:txBody>
      </p:sp>
      <p:sp>
        <p:nvSpPr>
          <p:cNvPr id="237648" name="Proctor ring - Reza Dorrani">
            <a:extLst>
              <a:ext uri="{FF2B5EF4-FFF2-40B4-BE49-F238E27FC236}">
                <a16:creationId xmlns:a16="http://schemas.microsoft.com/office/drawing/2014/main" id="{CB98B996-8D7C-12AF-8DCC-6289F88676E3}"/>
              </a:ext>
            </a:extLst>
          </p:cNvPr>
          <p:cNvSpPr/>
          <p:nvPr/>
        </p:nvSpPr>
        <p:spPr>
          <a:xfrm>
            <a:off x="3329940" y="2330000"/>
            <a:ext cx="960120" cy="960120"/>
          </a:xfrm>
          <a:prstGeom prst="ellipse">
            <a:avLst/>
          </a:prstGeom>
          <a:solidFill>
            <a:srgbClr val="0B1020">
              <a:alpha val="0"/>
            </a:srgbClr>
          </a:solidFill>
          <a:ln w="28575">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54" name="Proctor name - Reza Dorrani">
            <a:extLst>
              <a:ext uri="{FF2B5EF4-FFF2-40B4-BE49-F238E27FC236}">
                <a16:creationId xmlns:a16="http://schemas.microsoft.com/office/drawing/2014/main" id="{1F480936-D950-CDA3-742F-A91968059514}"/>
              </a:ext>
            </a:extLst>
          </p:cNvPr>
          <p:cNvSpPr/>
          <p:nvPr/>
        </p:nvSpPr>
        <p:spPr>
          <a:xfrm>
            <a:off x="2712720" y="3217030"/>
            <a:ext cx="219456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Reza Dorrani</a:t>
            </a:r>
          </a:p>
          <a:p>
            <a:pPr algn="ctr">
              <a:buNone/>
            </a:pPr>
            <a:r>
              <a:rPr lang="en-US" sz="100">
                <a:effectLst/>
              </a:rPr>
              <a:t> </a:t>
            </a:r>
            <a:endParaRPr lang="en-US"/>
          </a:p>
        </p:txBody>
      </p:sp>
      <p:sp>
        <p:nvSpPr>
          <p:cNvPr id="237661" name="Proctor ring - Yash Patel">
            <a:extLst>
              <a:ext uri="{FF2B5EF4-FFF2-40B4-BE49-F238E27FC236}">
                <a16:creationId xmlns:a16="http://schemas.microsoft.com/office/drawing/2014/main" id="{90BB8FE4-9466-C3A3-8AA8-975722658796}"/>
              </a:ext>
            </a:extLst>
          </p:cNvPr>
          <p:cNvSpPr/>
          <p:nvPr/>
        </p:nvSpPr>
        <p:spPr>
          <a:xfrm>
            <a:off x="5615940" y="2330000"/>
            <a:ext cx="960120" cy="960120"/>
          </a:xfrm>
          <a:prstGeom prst="ellipse">
            <a:avLst/>
          </a:prstGeom>
          <a:solidFill>
            <a:srgbClr val="0B1020">
              <a:alpha val="0"/>
            </a:srgbClr>
          </a:solidFill>
          <a:ln w="28575">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69" name="Proctor name - Yash Patel">
            <a:extLst>
              <a:ext uri="{FF2B5EF4-FFF2-40B4-BE49-F238E27FC236}">
                <a16:creationId xmlns:a16="http://schemas.microsoft.com/office/drawing/2014/main" id="{F5813277-12D0-F8AB-561B-3C47D38E30D2}"/>
              </a:ext>
            </a:extLst>
          </p:cNvPr>
          <p:cNvSpPr/>
          <p:nvPr/>
        </p:nvSpPr>
        <p:spPr>
          <a:xfrm>
            <a:off x="4998720" y="3217030"/>
            <a:ext cx="219456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Yash Patel</a:t>
            </a:r>
          </a:p>
          <a:p>
            <a:pPr algn="ctr">
              <a:buNone/>
            </a:pPr>
            <a:r>
              <a:rPr lang="en-US" sz="100">
                <a:effectLst/>
              </a:rPr>
              <a:t> </a:t>
            </a:r>
            <a:endParaRPr lang="en-US"/>
          </a:p>
        </p:txBody>
      </p:sp>
      <p:sp>
        <p:nvSpPr>
          <p:cNvPr id="237678" name="Proctor ring - Ilya Fainberg">
            <a:extLst>
              <a:ext uri="{FF2B5EF4-FFF2-40B4-BE49-F238E27FC236}">
                <a16:creationId xmlns:a16="http://schemas.microsoft.com/office/drawing/2014/main" id="{E0E069E0-3921-3852-E83C-F90D6605F92D}"/>
              </a:ext>
            </a:extLst>
          </p:cNvPr>
          <p:cNvSpPr/>
          <p:nvPr/>
        </p:nvSpPr>
        <p:spPr>
          <a:xfrm>
            <a:off x="7901940" y="2330000"/>
            <a:ext cx="960120" cy="960120"/>
          </a:xfrm>
          <a:prstGeom prst="ellipse">
            <a:avLst/>
          </a:prstGeom>
          <a:solidFill>
            <a:srgbClr val="0B1020">
              <a:alpha val="0"/>
            </a:srgbClr>
          </a:solidFill>
          <a:ln w="28575">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88" name="Proctor name - Ilya Fainberg">
            <a:extLst>
              <a:ext uri="{FF2B5EF4-FFF2-40B4-BE49-F238E27FC236}">
                <a16:creationId xmlns:a16="http://schemas.microsoft.com/office/drawing/2014/main" id="{3106FA41-1774-4A9E-C5A4-C4A4D3DAC253}"/>
              </a:ext>
            </a:extLst>
          </p:cNvPr>
          <p:cNvSpPr/>
          <p:nvPr/>
        </p:nvSpPr>
        <p:spPr>
          <a:xfrm>
            <a:off x="7284720" y="3217030"/>
            <a:ext cx="219456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Ilya Fainberg</a:t>
            </a:r>
          </a:p>
          <a:p>
            <a:pPr algn="ctr">
              <a:buNone/>
            </a:pPr>
            <a:r>
              <a:rPr lang="en-US" sz="100">
                <a:effectLst/>
              </a:rPr>
              <a:t> </a:t>
            </a:r>
            <a:endParaRPr lang="en-US"/>
          </a:p>
        </p:txBody>
      </p:sp>
      <p:sp>
        <p:nvSpPr>
          <p:cNvPr id="237699" name="Proctor ring - Ulla Becker">
            <a:extLst>
              <a:ext uri="{FF2B5EF4-FFF2-40B4-BE49-F238E27FC236}">
                <a16:creationId xmlns:a16="http://schemas.microsoft.com/office/drawing/2014/main" id="{04183CC4-6A29-0017-62C1-C77B56D8778E}"/>
              </a:ext>
            </a:extLst>
          </p:cNvPr>
          <p:cNvSpPr/>
          <p:nvPr/>
        </p:nvSpPr>
        <p:spPr>
          <a:xfrm>
            <a:off x="10187940" y="2330000"/>
            <a:ext cx="960120" cy="960120"/>
          </a:xfrm>
          <a:prstGeom prst="ellipse">
            <a:avLst/>
          </a:prstGeom>
          <a:solidFill>
            <a:srgbClr val="0B1020">
              <a:alpha val="0"/>
            </a:srgbClr>
          </a:solidFill>
          <a:ln w="28575">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11" name="Proctor name - Ulla Becker">
            <a:extLst>
              <a:ext uri="{FF2B5EF4-FFF2-40B4-BE49-F238E27FC236}">
                <a16:creationId xmlns:a16="http://schemas.microsoft.com/office/drawing/2014/main" id="{9EA0E67F-32E1-4D51-7EB0-6AD1563A45B8}"/>
              </a:ext>
            </a:extLst>
          </p:cNvPr>
          <p:cNvSpPr/>
          <p:nvPr/>
        </p:nvSpPr>
        <p:spPr>
          <a:xfrm>
            <a:off x="9570720" y="3217030"/>
            <a:ext cx="219456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Ulla Becker</a:t>
            </a:r>
          </a:p>
          <a:p>
            <a:pPr algn="ctr">
              <a:buNone/>
            </a:pPr>
            <a:r>
              <a:rPr lang="en-US" sz="100">
                <a:effectLst/>
              </a:rPr>
              <a:t> </a:t>
            </a:r>
            <a:endParaRPr lang="en-US"/>
          </a:p>
        </p:txBody>
      </p:sp>
      <p:sp>
        <p:nvSpPr>
          <p:cNvPr id="237724" name="Proctor ring - Siva Polisetty">
            <a:extLst>
              <a:ext uri="{FF2B5EF4-FFF2-40B4-BE49-F238E27FC236}">
                <a16:creationId xmlns:a16="http://schemas.microsoft.com/office/drawing/2014/main" id="{BCD06103-B322-16C1-E16B-286C208FBDE6}"/>
              </a:ext>
            </a:extLst>
          </p:cNvPr>
          <p:cNvSpPr/>
          <p:nvPr/>
        </p:nvSpPr>
        <p:spPr>
          <a:xfrm>
            <a:off x="1043940" y="3802060"/>
            <a:ext cx="960120" cy="960120"/>
          </a:xfrm>
          <a:prstGeom prst="ellipse">
            <a:avLst/>
          </a:prstGeom>
          <a:solidFill>
            <a:srgbClr val="0B1020">
              <a:alpha val="0"/>
            </a:srgbClr>
          </a:solidFill>
          <a:ln w="28575">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38" name="Proctor name - Siva Polisetty">
            <a:extLst>
              <a:ext uri="{FF2B5EF4-FFF2-40B4-BE49-F238E27FC236}">
                <a16:creationId xmlns:a16="http://schemas.microsoft.com/office/drawing/2014/main" id="{ABB8AB25-CA7D-A81F-DFBC-ED33018D029F}"/>
              </a:ext>
            </a:extLst>
          </p:cNvPr>
          <p:cNvSpPr/>
          <p:nvPr/>
        </p:nvSpPr>
        <p:spPr>
          <a:xfrm>
            <a:off x="114300" y="4689090"/>
            <a:ext cx="281940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Siva Polisetty</a:t>
            </a:r>
          </a:p>
          <a:p>
            <a:pPr algn="ctr">
              <a:buNone/>
            </a:pPr>
            <a:r>
              <a:rPr lang="en-US" sz="100">
                <a:effectLst/>
              </a:rPr>
              <a:t> </a:t>
            </a:r>
            <a:endParaRPr lang="en-US"/>
          </a:p>
        </p:txBody>
      </p:sp>
      <p:sp>
        <p:nvSpPr>
          <p:cNvPr id="237753" name="Proctor ring - Deepthi Peddireddy">
            <a:extLst>
              <a:ext uri="{FF2B5EF4-FFF2-40B4-BE49-F238E27FC236}">
                <a16:creationId xmlns:a16="http://schemas.microsoft.com/office/drawing/2014/main" id="{8D304EAC-D427-3A72-1BAD-D6FE0F8E0547}"/>
              </a:ext>
            </a:extLst>
          </p:cNvPr>
          <p:cNvSpPr/>
          <p:nvPr/>
        </p:nvSpPr>
        <p:spPr>
          <a:xfrm>
            <a:off x="3329940" y="3802060"/>
            <a:ext cx="960120" cy="960120"/>
          </a:xfrm>
          <a:prstGeom prst="ellipse">
            <a:avLst/>
          </a:prstGeom>
          <a:solidFill>
            <a:srgbClr val="0B1020">
              <a:alpha val="0"/>
            </a:srgbClr>
          </a:solidFill>
          <a:ln w="28575">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69" name="Proctor name - Deepthi Peddireddy">
            <a:extLst>
              <a:ext uri="{FF2B5EF4-FFF2-40B4-BE49-F238E27FC236}">
                <a16:creationId xmlns:a16="http://schemas.microsoft.com/office/drawing/2014/main" id="{AB202C62-9774-448E-18D5-649A9D03C16C}"/>
              </a:ext>
            </a:extLst>
          </p:cNvPr>
          <p:cNvSpPr/>
          <p:nvPr/>
        </p:nvSpPr>
        <p:spPr>
          <a:xfrm>
            <a:off x="2400300" y="4689090"/>
            <a:ext cx="281940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Deepthi Peddireddy</a:t>
            </a:r>
          </a:p>
          <a:p>
            <a:pPr algn="ctr">
              <a:buNone/>
            </a:pPr>
            <a:r>
              <a:rPr lang="en-US" sz="100">
                <a:effectLst/>
              </a:rPr>
              <a:t> </a:t>
            </a:r>
            <a:endParaRPr lang="en-US"/>
          </a:p>
        </p:txBody>
      </p:sp>
      <p:sp>
        <p:nvSpPr>
          <p:cNvPr id="237786" name="Proctor ring - Bhaskara Saladi">
            <a:extLst>
              <a:ext uri="{FF2B5EF4-FFF2-40B4-BE49-F238E27FC236}">
                <a16:creationId xmlns:a16="http://schemas.microsoft.com/office/drawing/2014/main" id="{04AE6407-C243-14CC-DE9E-58318C24618A}"/>
              </a:ext>
            </a:extLst>
          </p:cNvPr>
          <p:cNvSpPr/>
          <p:nvPr/>
        </p:nvSpPr>
        <p:spPr>
          <a:xfrm>
            <a:off x="5615940" y="3802060"/>
            <a:ext cx="960120" cy="960120"/>
          </a:xfrm>
          <a:prstGeom prst="ellipse">
            <a:avLst/>
          </a:prstGeom>
          <a:solidFill>
            <a:srgbClr val="0B1020">
              <a:alpha val="0"/>
            </a:srgbClr>
          </a:solidFill>
          <a:ln w="28575">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04" name="Proctor name - Bhaskara Saladi">
            <a:extLst>
              <a:ext uri="{FF2B5EF4-FFF2-40B4-BE49-F238E27FC236}">
                <a16:creationId xmlns:a16="http://schemas.microsoft.com/office/drawing/2014/main" id="{652029DB-F310-36DF-4940-C53E49BD13CC}"/>
              </a:ext>
            </a:extLst>
          </p:cNvPr>
          <p:cNvSpPr/>
          <p:nvPr/>
        </p:nvSpPr>
        <p:spPr>
          <a:xfrm>
            <a:off x="4686300" y="4689090"/>
            <a:ext cx="281940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Bhaskara Saladi</a:t>
            </a:r>
          </a:p>
          <a:p>
            <a:pPr algn="ctr">
              <a:buNone/>
            </a:pPr>
            <a:r>
              <a:rPr lang="en-US" sz="100">
                <a:effectLst/>
              </a:rPr>
              <a:t> </a:t>
            </a:r>
            <a:endParaRPr lang="en-US"/>
          </a:p>
        </p:txBody>
      </p:sp>
      <p:sp>
        <p:nvSpPr>
          <p:cNvPr id="237823" name="Proctor ring - Bobby Chang">
            <a:extLst>
              <a:ext uri="{FF2B5EF4-FFF2-40B4-BE49-F238E27FC236}">
                <a16:creationId xmlns:a16="http://schemas.microsoft.com/office/drawing/2014/main" id="{606F9907-EFA1-5AFF-2DAC-41A6A57CAE6F}"/>
              </a:ext>
            </a:extLst>
          </p:cNvPr>
          <p:cNvSpPr/>
          <p:nvPr/>
        </p:nvSpPr>
        <p:spPr>
          <a:xfrm>
            <a:off x="7901940" y="3802060"/>
            <a:ext cx="960120" cy="960120"/>
          </a:xfrm>
          <a:prstGeom prst="ellipse">
            <a:avLst/>
          </a:prstGeom>
          <a:solidFill>
            <a:srgbClr val="0B1020">
              <a:alpha val="0"/>
            </a:srgbClr>
          </a:solidFill>
          <a:ln w="28575">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43" name="Proctor name - Bobby Chang">
            <a:extLst>
              <a:ext uri="{FF2B5EF4-FFF2-40B4-BE49-F238E27FC236}">
                <a16:creationId xmlns:a16="http://schemas.microsoft.com/office/drawing/2014/main" id="{E4D10A24-972E-5F99-4169-2E890F2967F6}"/>
              </a:ext>
            </a:extLst>
          </p:cNvPr>
          <p:cNvSpPr/>
          <p:nvPr/>
        </p:nvSpPr>
        <p:spPr>
          <a:xfrm>
            <a:off x="6972300" y="4689090"/>
            <a:ext cx="281940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Bobby Chang</a:t>
            </a:r>
          </a:p>
          <a:p>
            <a:pPr algn="ctr">
              <a:buNone/>
            </a:pPr>
            <a:r>
              <a:rPr lang="en-US" sz="100">
                <a:effectLst/>
              </a:rPr>
              <a:t> </a:t>
            </a:r>
            <a:endParaRPr lang="en-US"/>
          </a:p>
        </p:txBody>
      </p:sp>
      <p:sp>
        <p:nvSpPr>
          <p:cNvPr id="237864" name="Proctor ring - Ravi Chada">
            <a:extLst>
              <a:ext uri="{FF2B5EF4-FFF2-40B4-BE49-F238E27FC236}">
                <a16:creationId xmlns:a16="http://schemas.microsoft.com/office/drawing/2014/main" id="{A744F1E6-4E52-C70D-5E28-011F35806466}"/>
              </a:ext>
            </a:extLst>
          </p:cNvPr>
          <p:cNvSpPr/>
          <p:nvPr/>
        </p:nvSpPr>
        <p:spPr>
          <a:xfrm>
            <a:off x="10187940" y="3802060"/>
            <a:ext cx="960120" cy="960120"/>
          </a:xfrm>
          <a:prstGeom prst="ellipse">
            <a:avLst/>
          </a:prstGeom>
          <a:solidFill>
            <a:srgbClr val="0B1020">
              <a:alpha val="0"/>
            </a:srgbClr>
          </a:solidFill>
          <a:ln w="28575">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86" name="Proctor name - Ravi Chada">
            <a:extLst>
              <a:ext uri="{FF2B5EF4-FFF2-40B4-BE49-F238E27FC236}">
                <a16:creationId xmlns:a16="http://schemas.microsoft.com/office/drawing/2014/main" id="{68AE7F24-CF77-EED9-0D96-02286A1A68DB}"/>
              </a:ext>
            </a:extLst>
          </p:cNvPr>
          <p:cNvSpPr/>
          <p:nvPr/>
        </p:nvSpPr>
        <p:spPr>
          <a:xfrm>
            <a:off x="9258300" y="4689090"/>
            <a:ext cx="2819400" cy="511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Ravi Chada</a:t>
            </a:r>
          </a:p>
          <a:p>
            <a:pPr algn="ctr">
              <a:buNone/>
            </a:pPr>
            <a:r>
              <a:rPr lang="en-US" sz="100">
                <a:effectLst/>
              </a:rPr>
              <a:t> </a:t>
            </a:r>
            <a:endParaRPr lang="en-US"/>
          </a:p>
        </p:txBody>
      </p:sp>
      <p:sp>
        <p:nvSpPr>
          <p:cNvPr id="237909" name="Proctor ring - Christopher Moncayo">
            <a:extLst>
              <a:ext uri="{FF2B5EF4-FFF2-40B4-BE49-F238E27FC236}">
                <a16:creationId xmlns:a16="http://schemas.microsoft.com/office/drawing/2014/main" id="{6B47BBC1-8E26-9018-547D-842858622944}"/>
              </a:ext>
            </a:extLst>
          </p:cNvPr>
          <p:cNvSpPr/>
          <p:nvPr/>
        </p:nvSpPr>
        <p:spPr>
          <a:xfrm>
            <a:off x="1043940" y="5274120"/>
            <a:ext cx="960120" cy="960120"/>
          </a:xfrm>
          <a:prstGeom prst="ellipse">
            <a:avLst/>
          </a:prstGeom>
          <a:solidFill>
            <a:srgbClr val="0B1020">
              <a:alpha val="0"/>
            </a:srgbClr>
          </a:solidFill>
          <a:ln w="28575">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33" name="Proctor name - Christopher Moncayo">
            <a:extLst>
              <a:ext uri="{FF2B5EF4-FFF2-40B4-BE49-F238E27FC236}">
                <a16:creationId xmlns:a16="http://schemas.microsoft.com/office/drawing/2014/main" id="{AC72E771-4A51-FBD1-8533-D6421DD31F69}"/>
              </a:ext>
            </a:extLst>
          </p:cNvPr>
          <p:cNvSpPr/>
          <p:nvPr/>
        </p:nvSpPr>
        <p:spPr>
          <a:xfrm>
            <a:off x="114300" y="6234240"/>
            <a:ext cx="2819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Christopher Moncayo</a:t>
            </a:r>
          </a:p>
          <a:p>
            <a:pPr algn="ctr">
              <a:buNone/>
            </a:pPr>
            <a:r>
              <a:rPr lang="en-US" sz="100">
                <a:effectLst/>
              </a:rPr>
              <a:t> </a:t>
            </a:r>
            <a:endParaRPr lang="en-US"/>
          </a:p>
        </p:txBody>
      </p:sp>
      <p:sp>
        <p:nvSpPr>
          <p:cNvPr id="237958" name="Proctor ring - Ben Pham">
            <a:extLst>
              <a:ext uri="{FF2B5EF4-FFF2-40B4-BE49-F238E27FC236}">
                <a16:creationId xmlns:a16="http://schemas.microsoft.com/office/drawing/2014/main" id="{3D78D801-5B8D-6D55-3BF0-A5C53F50836A}"/>
              </a:ext>
            </a:extLst>
          </p:cNvPr>
          <p:cNvSpPr/>
          <p:nvPr/>
        </p:nvSpPr>
        <p:spPr>
          <a:xfrm>
            <a:off x="3329940" y="5274120"/>
            <a:ext cx="960120" cy="960120"/>
          </a:xfrm>
          <a:prstGeom prst="ellipse">
            <a:avLst/>
          </a:prstGeom>
          <a:solidFill>
            <a:srgbClr val="0B1020">
              <a:alpha val="0"/>
            </a:srgbClr>
          </a:solidFill>
          <a:ln w="28575">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84" name="Proctor name - Ben Pham">
            <a:extLst>
              <a:ext uri="{FF2B5EF4-FFF2-40B4-BE49-F238E27FC236}">
                <a16:creationId xmlns:a16="http://schemas.microsoft.com/office/drawing/2014/main" id="{9624ABD8-51AB-C086-DC68-EC8E67431C07}"/>
              </a:ext>
            </a:extLst>
          </p:cNvPr>
          <p:cNvSpPr/>
          <p:nvPr/>
        </p:nvSpPr>
        <p:spPr>
          <a:xfrm>
            <a:off x="2400300" y="6234240"/>
            <a:ext cx="2819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Ben Pham</a:t>
            </a:r>
          </a:p>
          <a:p>
            <a:pPr algn="ctr">
              <a:buNone/>
            </a:pPr>
            <a:r>
              <a:rPr lang="en-US" sz="100">
                <a:effectLst/>
              </a:rPr>
              <a:t> </a:t>
            </a:r>
            <a:endParaRPr lang="en-US"/>
          </a:p>
        </p:txBody>
      </p:sp>
      <p:sp>
        <p:nvSpPr>
          <p:cNvPr id="238011" name="Proctor ring - Mike Stall">
            <a:extLst>
              <a:ext uri="{FF2B5EF4-FFF2-40B4-BE49-F238E27FC236}">
                <a16:creationId xmlns:a16="http://schemas.microsoft.com/office/drawing/2014/main" id="{902E65C9-7E6C-5AE2-649C-BDDB9E736734}"/>
              </a:ext>
            </a:extLst>
          </p:cNvPr>
          <p:cNvSpPr/>
          <p:nvPr/>
        </p:nvSpPr>
        <p:spPr>
          <a:xfrm>
            <a:off x="5615940" y="5274120"/>
            <a:ext cx="960120" cy="960120"/>
          </a:xfrm>
          <a:prstGeom prst="ellipse">
            <a:avLst/>
          </a:prstGeom>
          <a:solidFill>
            <a:srgbClr val="0B1020">
              <a:alpha val="0"/>
            </a:srgbClr>
          </a:solidFill>
          <a:ln w="28575">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039" name="Proctor name - Mike Stall">
            <a:extLst>
              <a:ext uri="{FF2B5EF4-FFF2-40B4-BE49-F238E27FC236}">
                <a16:creationId xmlns:a16="http://schemas.microsoft.com/office/drawing/2014/main" id="{3BF568C0-3130-4D7E-2FFA-99A4C52B5D5D}"/>
              </a:ext>
            </a:extLst>
          </p:cNvPr>
          <p:cNvSpPr/>
          <p:nvPr/>
        </p:nvSpPr>
        <p:spPr>
          <a:xfrm>
            <a:off x="4686300" y="6234240"/>
            <a:ext cx="2819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Mike Stall</a:t>
            </a:r>
          </a:p>
          <a:p>
            <a:pPr algn="ctr">
              <a:buNone/>
            </a:pPr>
            <a:r>
              <a:rPr lang="en-US" sz="100">
                <a:effectLst/>
              </a:rPr>
              <a:t> </a:t>
            </a:r>
            <a:endParaRPr lang="en-US"/>
          </a:p>
        </p:txBody>
      </p:sp>
      <p:pic>
        <p:nvPicPr>
          <p:cNvPr id="238040" name="Proctor photo - Yasin Mukadam" descr="Yasin Mukadam">
            <a:extLst>
              <a:ext uri="{FF2B5EF4-FFF2-40B4-BE49-F238E27FC236}">
                <a16:creationId xmlns:a16="http://schemas.microsoft.com/office/drawing/2014/main" id="{78A5A4E4-7AEC-2101-2E34-4C46A3D1BB1E}"/>
              </a:ext>
            </a:extLst>
          </p:cNvPr>
          <p:cNvPicPr>
            <a:picLocks noChangeAspect="1"/>
          </p:cNvPicPr>
          <p:nvPr/>
        </p:nvPicPr>
        <p:blipFill>
          <a:blip r:embed="rId3"/>
          <a:srcRect/>
          <a:stretch/>
        </p:blipFill>
        <p:spPr>
          <a:xfrm>
            <a:off x="1089660" y="2375720"/>
            <a:ext cx="868680" cy="868680"/>
          </a:xfrm>
          <a:prstGeom prst="ellipse">
            <a:avLst/>
          </a:prstGeom>
        </p:spPr>
      </p:pic>
      <p:pic>
        <p:nvPicPr>
          <p:cNvPr id="238041" name="Proctor photo - Reza Dorrani" descr="Reza Dorrani">
            <a:extLst>
              <a:ext uri="{FF2B5EF4-FFF2-40B4-BE49-F238E27FC236}">
                <a16:creationId xmlns:a16="http://schemas.microsoft.com/office/drawing/2014/main" id="{CF8412BF-276C-09D3-F9BC-7DC7A985367C}"/>
              </a:ext>
            </a:extLst>
          </p:cNvPr>
          <p:cNvPicPr>
            <a:picLocks noChangeAspect="1"/>
          </p:cNvPicPr>
          <p:nvPr/>
        </p:nvPicPr>
        <p:blipFill>
          <a:blip r:embed="rId4"/>
          <a:srcRect/>
          <a:stretch/>
        </p:blipFill>
        <p:spPr>
          <a:xfrm>
            <a:off x="3375660" y="2375720"/>
            <a:ext cx="868680" cy="868680"/>
          </a:xfrm>
          <a:prstGeom prst="ellipse">
            <a:avLst/>
          </a:prstGeom>
        </p:spPr>
      </p:pic>
      <p:pic>
        <p:nvPicPr>
          <p:cNvPr id="238042" name="Proctor photo - Yash Patel" descr="Yash Patel">
            <a:extLst>
              <a:ext uri="{FF2B5EF4-FFF2-40B4-BE49-F238E27FC236}">
                <a16:creationId xmlns:a16="http://schemas.microsoft.com/office/drawing/2014/main" id="{71FBFDEE-C214-5A8F-BBDB-67A9AF3671BD}"/>
              </a:ext>
            </a:extLst>
          </p:cNvPr>
          <p:cNvPicPr>
            <a:picLocks noChangeAspect="1"/>
          </p:cNvPicPr>
          <p:nvPr/>
        </p:nvPicPr>
        <p:blipFill>
          <a:blip r:embed="rId5"/>
          <a:srcRect/>
          <a:stretch/>
        </p:blipFill>
        <p:spPr>
          <a:xfrm>
            <a:off x="5661660" y="2375720"/>
            <a:ext cx="868680" cy="868680"/>
          </a:xfrm>
          <a:prstGeom prst="ellipse">
            <a:avLst/>
          </a:prstGeom>
        </p:spPr>
      </p:pic>
      <p:pic>
        <p:nvPicPr>
          <p:cNvPr id="238043" name="Proctor photo - Ilya Fainberg" descr="Ilya Fainberg">
            <a:extLst>
              <a:ext uri="{FF2B5EF4-FFF2-40B4-BE49-F238E27FC236}">
                <a16:creationId xmlns:a16="http://schemas.microsoft.com/office/drawing/2014/main" id="{2C743E2F-32EE-BF8B-547A-14BE87604844}"/>
              </a:ext>
            </a:extLst>
          </p:cNvPr>
          <p:cNvPicPr>
            <a:picLocks noChangeAspect="1"/>
          </p:cNvPicPr>
          <p:nvPr/>
        </p:nvPicPr>
        <p:blipFill>
          <a:blip r:embed="rId6"/>
          <a:srcRect/>
          <a:stretch/>
        </p:blipFill>
        <p:spPr>
          <a:xfrm>
            <a:off x="7947660" y="2375720"/>
            <a:ext cx="868680" cy="868680"/>
          </a:xfrm>
          <a:prstGeom prst="ellipse">
            <a:avLst/>
          </a:prstGeom>
        </p:spPr>
      </p:pic>
      <p:pic>
        <p:nvPicPr>
          <p:cNvPr id="238044" name="Proctor photo - Ulla Becker" descr="Ulla Becker">
            <a:extLst>
              <a:ext uri="{FF2B5EF4-FFF2-40B4-BE49-F238E27FC236}">
                <a16:creationId xmlns:a16="http://schemas.microsoft.com/office/drawing/2014/main" id="{D2CDEADA-E924-2F29-8770-C3C5351AA286}"/>
              </a:ext>
            </a:extLst>
          </p:cNvPr>
          <p:cNvPicPr>
            <a:picLocks noChangeAspect="1"/>
          </p:cNvPicPr>
          <p:nvPr/>
        </p:nvPicPr>
        <p:blipFill>
          <a:blip r:embed="rId7"/>
          <a:srcRect/>
          <a:stretch/>
        </p:blipFill>
        <p:spPr>
          <a:xfrm>
            <a:off x="10233660" y="2375720"/>
            <a:ext cx="868680" cy="868680"/>
          </a:xfrm>
          <a:prstGeom prst="ellipse">
            <a:avLst/>
          </a:prstGeom>
        </p:spPr>
      </p:pic>
      <p:pic>
        <p:nvPicPr>
          <p:cNvPr id="238045" name="Proctor photo - Siva Polisetty" descr="Siva Polisetty">
            <a:extLst>
              <a:ext uri="{FF2B5EF4-FFF2-40B4-BE49-F238E27FC236}">
                <a16:creationId xmlns:a16="http://schemas.microsoft.com/office/drawing/2014/main" id="{D89B80A3-F060-2153-5A89-838B794693FA}"/>
              </a:ext>
            </a:extLst>
          </p:cNvPr>
          <p:cNvPicPr>
            <a:picLocks noChangeAspect="1"/>
          </p:cNvPicPr>
          <p:nvPr/>
        </p:nvPicPr>
        <p:blipFill>
          <a:blip r:embed="rId8"/>
          <a:srcRect/>
          <a:stretch/>
        </p:blipFill>
        <p:spPr>
          <a:xfrm>
            <a:off x="1089660" y="3847780"/>
            <a:ext cx="868680" cy="868680"/>
          </a:xfrm>
          <a:prstGeom prst="ellipse">
            <a:avLst/>
          </a:prstGeom>
        </p:spPr>
      </p:pic>
      <p:pic>
        <p:nvPicPr>
          <p:cNvPr id="238046" name="Proctor photo - Deepthi Peddireddy" descr="Deepthi Peddireddy">
            <a:extLst>
              <a:ext uri="{FF2B5EF4-FFF2-40B4-BE49-F238E27FC236}">
                <a16:creationId xmlns:a16="http://schemas.microsoft.com/office/drawing/2014/main" id="{90352089-7414-3AEE-14F6-A90DE16EEE08}"/>
              </a:ext>
            </a:extLst>
          </p:cNvPr>
          <p:cNvPicPr>
            <a:picLocks noChangeAspect="1"/>
          </p:cNvPicPr>
          <p:nvPr/>
        </p:nvPicPr>
        <p:blipFill>
          <a:blip r:embed="rId9"/>
          <a:srcRect/>
          <a:stretch/>
        </p:blipFill>
        <p:spPr>
          <a:xfrm>
            <a:off x="3375660" y="3847780"/>
            <a:ext cx="868680" cy="868680"/>
          </a:xfrm>
          <a:prstGeom prst="ellipse">
            <a:avLst/>
          </a:prstGeom>
        </p:spPr>
      </p:pic>
      <p:pic>
        <p:nvPicPr>
          <p:cNvPr id="238047" name="Proctor photo - Bhaskara Saladi" descr="Bhaskara Saladi">
            <a:extLst>
              <a:ext uri="{FF2B5EF4-FFF2-40B4-BE49-F238E27FC236}">
                <a16:creationId xmlns:a16="http://schemas.microsoft.com/office/drawing/2014/main" id="{38AAC50E-8730-404E-B6E5-78E399090CC0}"/>
              </a:ext>
            </a:extLst>
          </p:cNvPr>
          <p:cNvPicPr>
            <a:picLocks noChangeAspect="1"/>
          </p:cNvPicPr>
          <p:nvPr/>
        </p:nvPicPr>
        <p:blipFill>
          <a:blip r:embed="rId10"/>
          <a:srcRect/>
          <a:stretch/>
        </p:blipFill>
        <p:spPr>
          <a:xfrm>
            <a:off x="5661660" y="3847780"/>
            <a:ext cx="868680" cy="868680"/>
          </a:xfrm>
          <a:prstGeom prst="ellipse">
            <a:avLst/>
          </a:prstGeom>
        </p:spPr>
      </p:pic>
      <p:pic>
        <p:nvPicPr>
          <p:cNvPr id="238048" name="Proctor photo - Bobby Chang" descr="Bobby Chang">
            <a:extLst>
              <a:ext uri="{FF2B5EF4-FFF2-40B4-BE49-F238E27FC236}">
                <a16:creationId xmlns:a16="http://schemas.microsoft.com/office/drawing/2014/main" id="{B58E01D6-7B95-CA4A-8C84-312647C07133}"/>
              </a:ext>
            </a:extLst>
          </p:cNvPr>
          <p:cNvPicPr>
            <a:picLocks noChangeAspect="1"/>
          </p:cNvPicPr>
          <p:nvPr/>
        </p:nvPicPr>
        <p:blipFill>
          <a:blip r:embed="rId11"/>
          <a:srcRect/>
          <a:stretch/>
        </p:blipFill>
        <p:spPr>
          <a:xfrm>
            <a:off x="7947660" y="3847780"/>
            <a:ext cx="868680" cy="868680"/>
          </a:xfrm>
          <a:prstGeom prst="ellipse">
            <a:avLst/>
          </a:prstGeom>
        </p:spPr>
      </p:pic>
      <p:pic>
        <p:nvPicPr>
          <p:cNvPr id="238049" name="Proctor photo - Ravi Chada" descr="Ravi Chada">
            <a:extLst>
              <a:ext uri="{FF2B5EF4-FFF2-40B4-BE49-F238E27FC236}">
                <a16:creationId xmlns:a16="http://schemas.microsoft.com/office/drawing/2014/main" id="{13FEE048-F5DA-90E0-9E19-337E2A8A7E6A}"/>
              </a:ext>
            </a:extLst>
          </p:cNvPr>
          <p:cNvPicPr>
            <a:picLocks noChangeAspect="1"/>
          </p:cNvPicPr>
          <p:nvPr/>
        </p:nvPicPr>
        <p:blipFill>
          <a:blip r:embed="rId12"/>
          <a:srcRect/>
          <a:stretch/>
        </p:blipFill>
        <p:spPr>
          <a:xfrm>
            <a:off x="10233660" y="3847780"/>
            <a:ext cx="868680" cy="868680"/>
          </a:xfrm>
          <a:prstGeom prst="ellipse">
            <a:avLst/>
          </a:prstGeom>
        </p:spPr>
      </p:pic>
      <p:pic>
        <p:nvPicPr>
          <p:cNvPr id="238050" name="Proctor photo - Christopher Moncayo" descr="Christopher Moncayo">
            <a:extLst>
              <a:ext uri="{FF2B5EF4-FFF2-40B4-BE49-F238E27FC236}">
                <a16:creationId xmlns:a16="http://schemas.microsoft.com/office/drawing/2014/main" id="{F707F722-C305-6209-8C04-4B6BFCF9DD11}"/>
              </a:ext>
            </a:extLst>
          </p:cNvPr>
          <p:cNvPicPr>
            <a:picLocks noChangeAspect="1"/>
          </p:cNvPicPr>
          <p:nvPr/>
        </p:nvPicPr>
        <p:blipFill>
          <a:blip r:embed="rId13"/>
          <a:srcRect/>
          <a:stretch/>
        </p:blipFill>
        <p:spPr>
          <a:xfrm>
            <a:off x="1089660" y="5319840"/>
            <a:ext cx="868680" cy="868680"/>
          </a:xfrm>
          <a:prstGeom prst="ellipse">
            <a:avLst/>
          </a:prstGeom>
        </p:spPr>
      </p:pic>
      <p:pic>
        <p:nvPicPr>
          <p:cNvPr id="238051" name="Proctor photo - Ben Pham" descr="Ben Pham">
            <a:extLst>
              <a:ext uri="{FF2B5EF4-FFF2-40B4-BE49-F238E27FC236}">
                <a16:creationId xmlns:a16="http://schemas.microsoft.com/office/drawing/2014/main" id="{1247D7F0-4799-5D69-4428-5917FDF48C94}"/>
              </a:ext>
            </a:extLst>
          </p:cNvPr>
          <p:cNvPicPr>
            <a:picLocks noChangeAspect="1"/>
          </p:cNvPicPr>
          <p:nvPr/>
        </p:nvPicPr>
        <p:blipFill>
          <a:blip r:embed="rId14"/>
          <a:srcRect/>
          <a:stretch/>
        </p:blipFill>
        <p:spPr>
          <a:xfrm>
            <a:off x="3375660" y="5319840"/>
            <a:ext cx="868680" cy="868680"/>
          </a:xfrm>
          <a:prstGeom prst="ellipse">
            <a:avLst/>
          </a:prstGeom>
        </p:spPr>
      </p:pic>
      <p:pic>
        <p:nvPicPr>
          <p:cNvPr id="238052" name="Proctor photo - Mike Stall" descr="Mike Stall">
            <a:extLst>
              <a:ext uri="{FF2B5EF4-FFF2-40B4-BE49-F238E27FC236}">
                <a16:creationId xmlns:a16="http://schemas.microsoft.com/office/drawing/2014/main" id="{04203995-9892-0795-5FDC-A975C68334B9}"/>
              </a:ext>
            </a:extLst>
          </p:cNvPr>
          <p:cNvPicPr>
            <a:picLocks noChangeAspect="1"/>
          </p:cNvPicPr>
          <p:nvPr/>
        </p:nvPicPr>
        <p:blipFill>
          <a:blip r:embed="rId15"/>
          <a:srcRect/>
          <a:stretch/>
        </p:blipFill>
        <p:spPr>
          <a:xfrm>
            <a:off x="5661660" y="5319840"/>
            <a:ext cx="868680" cy="868680"/>
          </a:xfrm>
          <a:prstGeom prst="ellipse">
            <a:avLst/>
          </a:prstGeom>
        </p:spPr>
      </p:pic>
      <p:sp>
        <p:nvSpPr>
          <p:cNvPr id="238053" name="Proctor ring - Sandeep Dhanrajani">
            <a:extLst>
              <a:ext uri="{FF2B5EF4-FFF2-40B4-BE49-F238E27FC236}">
                <a16:creationId xmlns:a16="http://schemas.microsoft.com/office/drawing/2014/main" id="{7C6A842E-6FF8-3784-78D0-884C755AF6C8}"/>
              </a:ext>
            </a:extLst>
          </p:cNvPr>
          <p:cNvSpPr/>
          <p:nvPr/>
        </p:nvSpPr>
        <p:spPr>
          <a:xfrm>
            <a:off x="7901940" y="5274120"/>
            <a:ext cx="960120" cy="960120"/>
          </a:xfrm>
          <a:prstGeom prst="ellipse">
            <a:avLst/>
          </a:prstGeom>
          <a:solidFill>
            <a:srgbClr val="0B1020">
              <a:alpha val="0"/>
            </a:srgbClr>
          </a:solidFill>
          <a:ln w="28575">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055" name="Proctor name - Sandeep Dhanrajani">
            <a:extLst>
              <a:ext uri="{FF2B5EF4-FFF2-40B4-BE49-F238E27FC236}">
                <a16:creationId xmlns:a16="http://schemas.microsoft.com/office/drawing/2014/main" id="{719BE688-0797-21ED-BB39-D1A5FE4C63CC}"/>
              </a:ext>
            </a:extLst>
          </p:cNvPr>
          <p:cNvSpPr/>
          <p:nvPr/>
        </p:nvSpPr>
        <p:spPr>
          <a:xfrm>
            <a:off x="6972300" y="6234240"/>
            <a:ext cx="2819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Sandeep Dhanrajani</a:t>
            </a:r>
          </a:p>
          <a:p>
            <a:pPr algn="ctr">
              <a:buNone/>
            </a:pPr>
            <a:r>
              <a:rPr lang="en-US" sz="100">
                <a:effectLst/>
              </a:rPr>
              <a:t> </a:t>
            </a:r>
            <a:endParaRPr lang="en-US"/>
          </a:p>
        </p:txBody>
      </p:sp>
      <p:pic>
        <p:nvPicPr>
          <p:cNvPr id="238056" name="Proctor photo - Sandeep Dhanrajani" descr="Sandeep Dhanrajani">
            <a:extLst>
              <a:ext uri="{FF2B5EF4-FFF2-40B4-BE49-F238E27FC236}">
                <a16:creationId xmlns:a16="http://schemas.microsoft.com/office/drawing/2014/main" id="{D0587F79-4C18-7C25-7544-ADEB65B545B3}"/>
              </a:ext>
            </a:extLst>
          </p:cNvPr>
          <p:cNvPicPr>
            <a:picLocks noChangeAspect="1"/>
          </p:cNvPicPr>
          <p:nvPr/>
        </p:nvPicPr>
        <p:blipFill>
          <a:blip r:embed="rId16"/>
          <a:stretch>
            <a:fillRect/>
          </a:stretch>
        </p:blipFill>
        <p:spPr>
          <a:xfrm>
            <a:off x="7947660" y="5319840"/>
            <a:ext cx="868680" cy="868680"/>
          </a:xfrm>
          <a:prstGeom prst="ellipse">
            <a:avLst/>
          </a:prstGeom>
        </p:spPr>
      </p:pic>
      <p:sp>
        <p:nvSpPr>
          <p:cNvPr id="2" name="Proctor ring - Sandeep Dhanrajani">
            <a:extLst>
              <a:ext uri="{FF2B5EF4-FFF2-40B4-BE49-F238E27FC236}">
                <a16:creationId xmlns:a16="http://schemas.microsoft.com/office/drawing/2014/main" id="{DDBCF3DC-9A23-7B85-33C9-23F2AFC9AF69}"/>
              </a:ext>
            </a:extLst>
          </p:cNvPr>
          <p:cNvSpPr/>
          <p:nvPr/>
        </p:nvSpPr>
        <p:spPr>
          <a:xfrm>
            <a:off x="10187940" y="5274120"/>
            <a:ext cx="960120" cy="960120"/>
          </a:xfrm>
          <a:prstGeom prst="ellipse">
            <a:avLst/>
          </a:prstGeom>
          <a:solidFill>
            <a:srgbClr val="0B1020">
              <a:alpha val="0"/>
            </a:srgbClr>
          </a:solidFill>
          <a:ln w="28575">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roctor name - Sandeep Dhanrajani">
            <a:extLst>
              <a:ext uri="{FF2B5EF4-FFF2-40B4-BE49-F238E27FC236}">
                <a16:creationId xmlns:a16="http://schemas.microsoft.com/office/drawing/2014/main" id="{FF0D5381-8E11-2260-515E-DC42CBE25936}"/>
              </a:ext>
            </a:extLst>
          </p:cNvPr>
          <p:cNvSpPr/>
          <p:nvPr/>
        </p:nvSpPr>
        <p:spPr>
          <a:xfrm>
            <a:off x="9258300" y="6234240"/>
            <a:ext cx="2819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Segoe UI" panose="020B0502040204020203" pitchFamily="34" charset="0"/>
              </a:rPr>
              <a:t>Gopikrishna V</a:t>
            </a:r>
            <a:endParaRPr lang="en-US"/>
          </a:p>
        </p:txBody>
      </p:sp>
      <p:pic>
        <p:nvPicPr>
          <p:cNvPr id="4" name="Proctor photo - Sandeep Dhanrajani" descr="Gopikrishna V">
            <a:extLst>
              <a:ext uri="{FF2B5EF4-FFF2-40B4-BE49-F238E27FC236}">
                <a16:creationId xmlns:a16="http://schemas.microsoft.com/office/drawing/2014/main" id="{FF09BA19-2989-08C3-C352-07415524A88C}"/>
              </a:ext>
            </a:extLst>
          </p:cNvPr>
          <p:cNvPicPr>
            <a:picLocks noChangeAspect="1"/>
          </p:cNvPicPr>
          <p:nvPr/>
        </p:nvPicPr>
        <p:blipFill>
          <a:blip r:embed="rId17"/>
          <a:srcRect/>
          <a:stretch/>
        </p:blipFill>
        <p:spPr>
          <a:xfrm>
            <a:off x="10233660" y="5319840"/>
            <a:ext cx="868680" cy="868680"/>
          </a:xfrm>
          <a:prstGeom prst="ellipse">
            <a:avLst/>
          </a:prstGeom>
        </p:spPr>
      </p:pic>
    </p:spTree>
    <p:extLst>
      <p:ext uri="{BB962C8B-B14F-4D97-AF65-F5344CB8AC3E}">
        <p14:creationId xmlns:p14="http://schemas.microsoft.com/office/powerpoint/2010/main" val="687204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66386" name="Rectangle: Rounded Corners 66385">
            <a:extLst>
              <a:ext uri="{FF2B5EF4-FFF2-40B4-BE49-F238E27FC236}">
                <a16:creationId xmlns:a16="http://schemas.microsoft.com/office/drawing/2014/main" id="{5EAFF0F1-FC2D-BD0E-2B78-251E89A880F7}"/>
              </a:ext>
            </a:extLst>
          </p:cNvPr>
          <p:cNvSpPr/>
          <p:nvPr/>
        </p:nvSpPr>
        <p:spPr>
          <a:xfrm>
            <a:off x="609600" y="400000"/>
            <a:ext cx="2732749"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WORKSHOP OVERVIEW</a:t>
            </a:r>
          </a:p>
          <a:p>
            <a:pPr algn="ctr">
              <a:buNone/>
            </a:pPr>
            <a:r>
              <a:rPr lang="en-US" sz="100">
                <a:effectLst/>
              </a:rPr>
              <a:t> </a:t>
            </a:r>
            <a:endParaRPr lang="en-US"/>
          </a:p>
        </p:txBody>
      </p:sp>
      <p:sp>
        <p:nvSpPr>
          <p:cNvPr id="236193" name="NW2 Title">
            <a:extLst>
              <a:ext uri="{FF2B5EF4-FFF2-40B4-BE49-F238E27FC236}">
                <a16:creationId xmlns:a16="http://schemas.microsoft.com/office/drawing/2014/main" id="{14EC7EAF-618C-C1A1-B008-04CF6D083E00}"/>
              </a:ext>
            </a:extLst>
          </p:cNvPr>
          <p:cNvSpPr/>
          <p:nvPr/>
        </p:nvSpPr>
        <p:spPr>
          <a:xfrm>
            <a:off x="609600" y="860000"/>
            <a:ext cx="6382880" cy="7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Meet Northwind Traders</a:t>
            </a:r>
          </a:p>
          <a:p>
            <a:pPr algn="l">
              <a:buNone/>
            </a:pPr>
            <a:r>
              <a:rPr lang="en-US" sz="100">
                <a:effectLst/>
              </a:rPr>
              <a:t> </a:t>
            </a:r>
            <a:endParaRPr lang="en-US"/>
          </a:p>
        </p:txBody>
      </p:sp>
      <p:sp>
        <p:nvSpPr>
          <p:cNvPr id="236198" name="NW2 Subtitle">
            <a:extLst>
              <a:ext uri="{FF2B5EF4-FFF2-40B4-BE49-F238E27FC236}">
                <a16:creationId xmlns:a16="http://schemas.microsoft.com/office/drawing/2014/main" id="{9FF4508E-1AD5-6FB2-E626-DD4CC05EA419}"/>
              </a:ext>
            </a:extLst>
          </p:cNvPr>
          <p:cNvSpPr/>
          <p:nvPr/>
        </p:nvSpPr>
        <p:spPr>
          <a:xfrm>
            <a:off x="609600" y="1640000"/>
            <a:ext cx="1097280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a:solidFill>
                  <a:srgbClr val="B2AAF8"/>
                </a:solidFill>
                <a:effectLst/>
                <a:latin typeface="Segoe UI" panose="020B0502040204020203" pitchFamily="34" charset="0"/>
              </a:rPr>
              <a:t>Specialty food distributor. Big on soup. Bigger on on-time delivery.</a:t>
            </a:r>
          </a:p>
          <a:p>
            <a:pPr algn="l">
              <a:buNone/>
            </a:pPr>
            <a:r>
              <a:rPr lang="en-US" sz="100">
                <a:effectLst/>
              </a:rPr>
              <a:t> </a:t>
            </a:r>
            <a:endParaRPr lang="en-US"/>
          </a:p>
        </p:txBody>
      </p:sp>
      <p:sp>
        <p:nvSpPr>
          <p:cNvPr id="236202" name="NW2 Tile 1">
            <a:extLst>
              <a:ext uri="{FF2B5EF4-FFF2-40B4-BE49-F238E27FC236}">
                <a16:creationId xmlns:a16="http://schemas.microsoft.com/office/drawing/2014/main" id="{88BE9355-9761-DDD7-A908-B59141426E20}"/>
              </a:ext>
            </a:extLst>
          </p:cNvPr>
          <p:cNvSpPr/>
          <p:nvPr/>
        </p:nvSpPr>
        <p:spPr>
          <a:xfrm>
            <a:off x="609600" y="2330000"/>
            <a:ext cx="3457600" cy="2650000"/>
          </a:xfrm>
          <a:prstGeom prst="roundRect">
            <a:avLst/>
          </a:prstGeom>
          <a:solidFill>
            <a:srgbClr val="FFFFFF">
              <a:alpha val="8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13" name="NW2 Tile 1 word">
            <a:extLst>
              <a:ext uri="{FF2B5EF4-FFF2-40B4-BE49-F238E27FC236}">
                <a16:creationId xmlns:a16="http://schemas.microsoft.com/office/drawing/2014/main" id="{3893E044-D714-EAD5-03DE-F3B04A30E13D}"/>
              </a:ext>
            </a:extLst>
          </p:cNvPr>
          <p:cNvSpPr/>
          <p:nvPr/>
        </p:nvSpPr>
        <p:spPr>
          <a:xfrm>
            <a:off x="768160" y="3570000"/>
            <a:ext cx="314048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600" b="1" spc="100">
                <a:solidFill>
                  <a:srgbClr val="B2AAF8"/>
                </a:solidFill>
                <a:effectLst/>
                <a:latin typeface="Segoe UI" panose="020B0502040204020203" pitchFamily="34" charset="0"/>
              </a:rPr>
              <a:t>WE SELL</a:t>
            </a:r>
          </a:p>
          <a:p>
            <a:pPr algn="l">
              <a:buNone/>
            </a:pPr>
            <a:r>
              <a:rPr lang="en-US" sz="100">
                <a:effectLst/>
              </a:rPr>
              <a:t> </a:t>
            </a:r>
            <a:endParaRPr lang="en-US"/>
          </a:p>
        </p:txBody>
      </p:sp>
      <p:sp>
        <p:nvSpPr>
          <p:cNvPr id="236220" name="NW2 Tile 1 line">
            <a:extLst>
              <a:ext uri="{FF2B5EF4-FFF2-40B4-BE49-F238E27FC236}">
                <a16:creationId xmlns:a16="http://schemas.microsoft.com/office/drawing/2014/main" id="{17D376E6-313B-B788-E920-CC29A6ABDA1E}"/>
              </a:ext>
            </a:extLst>
          </p:cNvPr>
          <p:cNvSpPr/>
          <p:nvPr/>
        </p:nvSpPr>
        <p:spPr>
          <a:xfrm>
            <a:off x="768160" y="4030000"/>
            <a:ext cx="314048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Foods and drinks under our own label</a:t>
            </a:r>
          </a:p>
          <a:p>
            <a:pPr algn="l">
              <a:buNone/>
            </a:pPr>
            <a:r>
              <a:rPr lang="en-US" sz="100">
                <a:effectLst/>
              </a:rPr>
              <a:t> </a:t>
            </a:r>
            <a:endParaRPr lang="en-US"/>
          </a:p>
        </p:txBody>
      </p:sp>
      <p:sp>
        <p:nvSpPr>
          <p:cNvPr id="236228" name="NW2 Tile 2">
            <a:extLst>
              <a:ext uri="{FF2B5EF4-FFF2-40B4-BE49-F238E27FC236}">
                <a16:creationId xmlns:a16="http://schemas.microsoft.com/office/drawing/2014/main" id="{0B51D278-FBC8-DC76-ECE0-BDC15B3545E8}"/>
              </a:ext>
            </a:extLst>
          </p:cNvPr>
          <p:cNvSpPr/>
          <p:nvPr/>
        </p:nvSpPr>
        <p:spPr>
          <a:xfrm>
            <a:off x="4367200" y="2330000"/>
            <a:ext cx="3457600" cy="2650000"/>
          </a:xfrm>
          <a:prstGeom prst="roundRect">
            <a:avLst/>
          </a:prstGeom>
          <a:solidFill>
            <a:srgbClr val="FFFFFF">
              <a:alpha val="8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47" name="NW2 Tile 2 word">
            <a:extLst>
              <a:ext uri="{FF2B5EF4-FFF2-40B4-BE49-F238E27FC236}">
                <a16:creationId xmlns:a16="http://schemas.microsoft.com/office/drawing/2014/main" id="{F0496A27-D4E5-87B2-25FE-726A4F267173}"/>
              </a:ext>
            </a:extLst>
          </p:cNvPr>
          <p:cNvSpPr/>
          <p:nvPr/>
        </p:nvSpPr>
        <p:spPr>
          <a:xfrm>
            <a:off x="4525760" y="3570000"/>
            <a:ext cx="314048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600" b="1" spc="100">
                <a:solidFill>
                  <a:srgbClr val="B2AAF8"/>
                </a:solidFill>
                <a:effectLst/>
                <a:latin typeface="Segoe UI" panose="020B0502040204020203" pitchFamily="34" charset="0"/>
              </a:rPr>
              <a:t>WE BUY</a:t>
            </a:r>
          </a:p>
          <a:p>
            <a:pPr algn="l">
              <a:buNone/>
            </a:pPr>
            <a:r>
              <a:rPr lang="en-US" sz="100">
                <a:effectLst/>
              </a:rPr>
              <a:t> </a:t>
            </a:r>
            <a:endParaRPr lang="en-US"/>
          </a:p>
        </p:txBody>
      </p:sp>
      <p:sp>
        <p:nvSpPr>
          <p:cNvPr id="236258" name="NW2 Tile 2 line">
            <a:extLst>
              <a:ext uri="{FF2B5EF4-FFF2-40B4-BE49-F238E27FC236}">
                <a16:creationId xmlns:a16="http://schemas.microsoft.com/office/drawing/2014/main" id="{F2A9A1E8-F5B9-3EDC-A7DB-905E09B03321}"/>
              </a:ext>
            </a:extLst>
          </p:cNvPr>
          <p:cNvSpPr/>
          <p:nvPr/>
        </p:nvSpPr>
        <p:spPr>
          <a:xfrm>
            <a:off x="4525760" y="4030000"/>
            <a:ext cx="314048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From a network of trusted suppliers</a:t>
            </a:r>
          </a:p>
          <a:p>
            <a:pPr algn="l">
              <a:buNone/>
            </a:pPr>
            <a:r>
              <a:rPr lang="en-US" sz="100">
                <a:effectLst/>
              </a:rPr>
              <a:t> </a:t>
            </a:r>
            <a:endParaRPr lang="en-US"/>
          </a:p>
        </p:txBody>
      </p:sp>
      <p:sp>
        <p:nvSpPr>
          <p:cNvPr id="236270" name="NW2 Tile 3">
            <a:extLst>
              <a:ext uri="{FF2B5EF4-FFF2-40B4-BE49-F238E27FC236}">
                <a16:creationId xmlns:a16="http://schemas.microsoft.com/office/drawing/2014/main" id="{D2ABE6CC-575A-FA34-1BC0-ABBDF0A149E8}"/>
              </a:ext>
            </a:extLst>
          </p:cNvPr>
          <p:cNvSpPr/>
          <p:nvPr/>
        </p:nvSpPr>
        <p:spPr>
          <a:xfrm>
            <a:off x="8124800" y="2330000"/>
            <a:ext cx="3457600" cy="2650000"/>
          </a:xfrm>
          <a:prstGeom prst="roundRect">
            <a:avLst/>
          </a:prstGeom>
          <a:solidFill>
            <a:srgbClr val="FFFFFF">
              <a:alpha val="8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97" name="NW2 Tile 3 word">
            <a:extLst>
              <a:ext uri="{FF2B5EF4-FFF2-40B4-BE49-F238E27FC236}">
                <a16:creationId xmlns:a16="http://schemas.microsoft.com/office/drawing/2014/main" id="{95592F92-6DC5-4066-F1AF-D1D5D84068C8}"/>
              </a:ext>
            </a:extLst>
          </p:cNvPr>
          <p:cNvSpPr/>
          <p:nvPr/>
        </p:nvSpPr>
        <p:spPr>
          <a:xfrm>
            <a:off x="8283360" y="3570000"/>
            <a:ext cx="314048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600" b="1" spc="100">
                <a:solidFill>
                  <a:srgbClr val="B2AAF8"/>
                </a:solidFill>
                <a:effectLst/>
                <a:latin typeface="Segoe UI" panose="020B0502040204020203" pitchFamily="34" charset="0"/>
              </a:rPr>
              <a:t>WE PROMISE</a:t>
            </a:r>
          </a:p>
          <a:p>
            <a:pPr algn="l">
              <a:buNone/>
            </a:pPr>
            <a:r>
              <a:rPr lang="en-US" sz="100">
                <a:effectLst/>
              </a:rPr>
              <a:t> </a:t>
            </a:r>
            <a:endParaRPr lang="en-US"/>
          </a:p>
        </p:txBody>
      </p:sp>
      <p:sp>
        <p:nvSpPr>
          <p:cNvPr id="236312" name="NW2 Tile 3 line">
            <a:extLst>
              <a:ext uri="{FF2B5EF4-FFF2-40B4-BE49-F238E27FC236}">
                <a16:creationId xmlns:a16="http://schemas.microsoft.com/office/drawing/2014/main" id="{4546C1D5-1BCF-EC85-A060-E830B0732819}"/>
              </a:ext>
            </a:extLst>
          </p:cNvPr>
          <p:cNvSpPr/>
          <p:nvPr/>
        </p:nvSpPr>
        <p:spPr>
          <a:xfrm>
            <a:off x="8283360" y="4030000"/>
            <a:ext cx="3140480" cy="4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Every order, on time</a:t>
            </a:r>
          </a:p>
          <a:p>
            <a:pPr algn="l">
              <a:buNone/>
            </a:pPr>
            <a:r>
              <a:rPr lang="en-US" sz="100">
                <a:effectLst/>
              </a:rPr>
              <a:t> </a:t>
            </a:r>
            <a:endParaRPr lang="en-US"/>
          </a:p>
        </p:txBody>
      </p:sp>
      <p:sp>
        <p:nvSpPr>
          <p:cNvPr id="236328" name="NW2 Banner">
            <a:extLst>
              <a:ext uri="{FF2B5EF4-FFF2-40B4-BE49-F238E27FC236}">
                <a16:creationId xmlns:a16="http://schemas.microsoft.com/office/drawing/2014/main" id="{E9F25EA7-523B-B70F-1B07-9632CA3AEBE6}"/>
              </a:ext>
            </a:extLst>
          </p:cNvPr>
          <p:cNvSpPr/>
          <p:nvPr/>
        </p:nvSpPr>
        <p:spPr>
          <a:xfrm>
            <a:off x="609600" y="5230000"/>
            <a:ext cx="10972800" cy="1150000"/>
          </a:xfrm>
          <a:prstGeom prst="roundRect">
            <a:avLst/>
          </a:prstGeom>
          <a:solidFill>
            <a:srgbClr val="F19D19"/>
          </a:solidFill>
          <a:ln w="9525">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45" name="NW2 Breaking tag">
            <a:extLst>
              <a:ext uri="{FF2B5EF4-FFF2-40B4-BE49-F238E27FC236}">
                <a16:creationId xmlns:a16="http://schemas.microsoft.com/office/drawing/2014/main" id="{BD1AD089-AB46-1B6B-E330-1B6C7BCE179E}"/>
              </a:ext>
            </a:extLst>
          </p:cNvPr>
          <p:cNvSpPr/>
          <p:nvPr/>
        </p:nvSpPr>
        <p:spPr>
          <a:xfrm rot="21360000">
            <a:off x="480000" y="5545000"/>
            <a:ext cx="2500000" cy="520000"/>
          </a:xfrm>
          <a:prstGeom prst="rect">
            <a:avLst/>
          </a:prstGeom>
          <a:solidFill>
            <a:srgbClr val="0B1020"/>
          </a:solidFill>
          <a:ln w="9525">
            <a:solidFill>
              <a:srgbClr val="0B102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spc="200">
                <a:solidFill>
                  <a:srgbClr val="F19D19"/>
                </a:solidFill>
                <a:effectLst/>
                <a:latin typeface="Segoe UI" panose="020B0502040204020203" pitchFamily="34" charset="0"/>
              </a:rPr>
              <a:t>BREAKING NEWS</a:t>
            </a:r>
          </a:p>
          <a:p>
            <a:pPr algn="ctr">
              <a:buNone/>
            </a:pPr>
            <a:r>
              <a:rPr lang="en-US" sz="100">
                <a:effectLst/>
              </a:rPr>
              <a:t> </a:t>
            </a:r>
            <a:endParaRPr lang="en-US"/>
          </a:p>
        </p:txBody>
      </p:sp>
      <p:sp>
        <p:nvSpPr>
          <p:cNvPr id="236383" name="NW2 Title hi bubble">
            <a:extLst>
              <a:ext uri="{FF2B5EF4-FFF2-40B4-BE49-F238E27FC236}">
                <a16:creationId xmlns:a16="http://schemas.microsoft.com/office/drawing/2014/main" id="{FB28E6F1-C99A-DE4F-40BC-7BD6285D809D}"/>
              </a:ext>
            </a:extLst>
          </p:cNvPr>
          <p:cNvSpPr/>
          <p:nvPr/>
        </p:nvSpPr>
        <p:spPr>
          <a:xfrm rot="420000">
            <a:off x="6880000" y="690000"/>
            <a:ext cx="900000" cy="560000"/>
          </a:xfrm>
          <a:prstGeom prst="wedgeRoundRectCallout">
            <a:avLst/>
          </a:prstGeom>
          <a:solidFill>
            <a:srgbClr val="B2AAF8"/>
          </a:solidFill>
          <a:ln w="9525">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Hi!</a:t>
            </a:r>
          </a:p>
          <a:p>
            <a:pPr algn="ctr">
              <a:buNone/>
            </a:pPr>
            <a:r>
              <a:rPr lang="en-US" sz="100">
                <a:effectLst/>
              </a:rPr>
              <a:t> </a:t>
            </a:r>
            <a:endParaRPr lang="en-US"/>
          </a:p>
        </p:txBody>
      </p:sp>
      <p:sp>
        <p:nvSpPr>
          <p:cNvPr id="236385" name="NW2 Tile 1 icon circle">
            <a:extLst>
              <a:ext uri="{FF2B5EF4-FFF2-40B4-BE49-F238E27FC236}">
                <a16:creationId xmlns:a16="http://schemas.microsoft.com/office/drawing/2014/main" id="{8A24B19C-1D92-9DC7-F695-7BD694CEB471}"/>
              </a:ext>
            </a:extLst>
          </p:cNvPr>
          <p:cNvSpPr/>
          <p:nvPr/>
        </p:nvSpPr>
        <p:spPr>
          <a:xfrm>
            <a:off x="859600" y="2520000"/>
            <a:ext cx="900000" cy="900000"/>
          </a:xfrm>
          <a:prstGeom prst="ellipse">
            <a:avLst/>
          </a:prstGeom>
          <a:solidFill>
            <a:srgbClr val="B2AAF8">
              <a:alpha val="26000"/>
            </a:srgbClr>
          </a:solidFill>
          <a:ln w="1905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88" name="NW2 Icon can">
            <a:extLst>
              <a:ext uri="{FF2B5EF4-FFF2-40B4-BE49-F238E27FC236}">
                <a16:creationId xmlns:a16="http://schemas.microsoft.com/office/drawing/2014/main" id="{A4B75308-ACB6-C9E3-114E-791F4EA851C2}"/>
              </a:ext>
            </a:extLst>
          </p:cNvPr>
          <p:cNvSpPr/>
          <p:nvPr/>
        </p:nvSpPr>
        <p:spPr>
          <a:xfrm>
            <a:off x="1159600" y="2755000"/>
            <a:ext cx="300000" cy="430000"/>
          </a:xfrm>
          <a:prstGeom prst="can">
            <a:avLst/>
          </a:prstGeom>
          <a:solidFill>
            <a:srgbClr val="FFFFFF"/>
          </a:solidFill>
          <a:ln w="12700">
            <a:solidFill>
              <a:srgbClr val="413C64"/>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92" name="NW2 Icon can label">
            <a:extLst>
              <a:ext uri="{FF2B5EF4-FFF2-40B4-BE49-F238E27FC236}">
                <a16:creationId xmlns:a16="http://schemas.microsoft.com/office/drawing/2014/main" id="{CC4FDD3C-AB1A-E0D0-B5EF-FDB7967CF5E2}"/>
              </a:ext>
            </a:extLst>
          </p:cNvPr>
          <p:cNvSpPr/>
          <p:nvPr/>
        </p:nvSpPr>
        <p:spPr>
          <a:xfrm>
            <a:off x="1159600" y="2955000"/>
            <a:ext cx="300000" cy="120000"/>
          </a:xfrm>
          <a:prstGeom prst="rect">
            <a:avLst/>
          </a:prstGeom>
          <a:solidFill>
            <a:srgbClr val="B2AAF8"/>
          </a:solidFill>
          <a:ln w="63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97" name="NW2 Tile 2 icon circle">
            <a:extLst>
              <a:ext uri="{FF2B5EF4-FFF2-40B4-BE49-F238E27FC236}">
                <a16:creationId xmlns:a16="http://schemas.microsoft.com/office/drawing/2014/main" id="{07AA6635-F8D8-A7FD-7F0F-6166B649AFFD}"/>
              </a:ext>
            </a:extLst>
          </p:cNvPr>
          <p:cNvSpPr/>
          <p:nvPr/>
        </p:nvSpPr>
        <p:spPr>
          <a:xfrm>
            <a:off x="4617200" y="2520000"/>
            <a:ext cx="900000" cy="900000"/>
          </a:xfrm>
          <a:prstGeom prst="ellipse">
            <a:avLst/>
          </a:prstGeom>
          <a:solidFill>
            <a:srgbClr val="B2AAF8">
              <a:alpha val="26000"/>
            </a:srgbClr>
          </a:solidFill>
          <a:ln w="1905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03" name="NW2 Icon ring A">
            <a:extLst>
              <a:ext uri="{FF2B5EF4-FFF2-40B4-BE49-F238E27FC236}">
                <a16:creationId xmlns:a16="http://schemas.microsoft.com/office/drawing/2014/main" id="{939EDA9C-A8C2-84BD-DEF2-79D6F18DC33A}"/>
              </a:ext>
            </a:extLst>
          </p:cNvPr>
          <p:cNvSpPr/>
          <p:nvPr/>
        </p:nvSpPr>
        <p:spPr>
          <a:xfrm>
            <a:off x="4767200" y="2780000"/>
            <a:ext cx="380000" cy="380000"/>
          </a:xfrm>
          <a:prstGeom prst="donut">
            <a:avLst/>
          </a:prstGeom>
          <a:solidFill>
            <a:srgbClr val="FFFFFF"/>
          </a:solidFill>
          <a:ln w="6350">
            <a:solidFill>
              <a:srgbClr val="FFFF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6410" name="NW2 Icon ring B">
            <a:extLst>
              <a:ext uri="{FF2B5EF4-FFF2-40B4-BE49-F238E27FC236}">
                <a16:creationId xmlns:a16="http://schemas.microsoft.com/office/drawing/2014/main" id="{B03415E0-4710-CA45-ED4B-C9E3FDC4B38C}"/>
              </a:ext>
            </a:extLst>
          </p:cNvPr>
          <p:cNvSpPr/>
          <p:nvPr/>
        </p:nvSpPr>
        <p:spPr>
          <a:xfrm>
            <a:off x="4987200" y="2780000"/>
            <a:ext cx="380000" cy="380000"/>
          </a:xfrm>
          <a:prstGeom prst="donut">
            <a:avLst/>
          </a:prstGeom>
          <a:solidFill>
            <a:srgbClr val="B2AAF8"/>
          </a:solidFill>
          <a:ln w="63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6418" name="NW2 Tile 3 icon circle">
            <a:extLst>
              <a:ext uri="{FF2B5EF4-FFF2-40B4-BE49-F238E27FC236}">
                <a16:creationId xmlns:a16="http://schemas.microsoft.com/office/drawing/2014/main" id="{AA234DC9-EB96-B6FD-62F3-F7ABEF7ABEFB}"/>
              </a:ext>
            </a:extLst>
          </p:cNvPr>
          <p:cNvSpPr/>
          <p:nvPr/>
        </p:nvSpPr>
        <p:spPr>
          <a:xfrm>
            <a:off x="8374800" y="2520000"/>
            <a:ext cx="900000" cy="900000"/>
          </a:xfrm>
          <a:prstGeom prst="ellipse">
            <a:avLst/>
          </a:prstGeom>
          <a:solidFill>
            <a:srgbClr val="B2AAF8">
              <a:alpha val="26000"/>
            </a:srgbClr>
          </a:solidFill>
          <a:ln w="1905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27" name="NW2 Icon truck box">
            <a:extLst>
              <a:ext uri="{FF2B5EF4-FFF2-40B4-BE49-F238E27FC236}">
                <a16:creationId xmlns:a16="http://schemas.microsoft.com/office/drawing/2014/main" id="{17C11828-131F-6390-A647-19F54AA2436C}"/>
              </a:ext>
            </a:extLst>
          </p:cNvPr>
          <p:cNvSpPr/>
          <p:nvPr/>
        </p:nvSpPr>
        <p:spPr>
          <a:xfrm>
            <a:off x="8554800" y="2790000"/>
            <a:ext cx="330000" cy="240000"/>
          </a:xfrm>
          <a:prstGeom prst="rect">
            <a:avLst/>
          </a:prstGeom>
          <a:solidFill>
            <a:srgbClr val="FFFFFF"/>
          </a:solidFill>
          <a:ln w="6350">
            <a:solidFill>
              <a:srgbClr val="FFFF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37" name="NW2 Icon truck cab">
            <a:extLst>
              <a:ext uri="{FF2B5EF4-FFF2-40B4-BE49-F238E27FC236}">
                <a16:creationId xmlns:a16="http://schemas.microsoft.com/office/drawing/2014/main" id="{F3DCFB4B-CB74-43FE-8EBA-662D527FBBB3}"/>
              </a:ext>
            </a:extLst>
          </p:cNvPr>
          <p:cNvSpPr/>
          <p:nvPr/>
        </p:nvSpPr>
        <p:spPr>
          <a:xfrm>
            <a:off x="8899800" y="2880000"/>
            <a:ext cx="180000" cy="150000"/>
          </a:xfrm>
          <a:prstGeom prst="rect">
            <a:avLst/>
          </a:prstGeom>
          <a:solidFill>
            <a:srgbClr val="FFFFFF"/>
          </a:solidFill>
          <a:ln w="6350">
            <a:solidFill>
              <a:srgbClr val="FFFF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48" name="NW2 Icon truck window">
            <a:extLst>
              <a:ext uri="{FF2B5EF4-FFF2-40B4-BE49-F238E27FC236}">
                <a16:creationId xmlns:a16="http://schemas.microsoft.com/office/drawing/2014/main" id="{CEAA9BB9-9CD7-A4D1-0C9E-BB0A57A831B0}"/>
              </a:ext>
            </a:extLst>
          </p:cNvPr>
          <p:cNvSpPr/>
          <p:nvPr/>
        </p:nvSpPr>
        <p:spPr>
          <a:xfrm>
            <a:off x="8974800" y="2910000"/>
            <a:ext cx="75000" cy="55000"/>
          </a:xfrm>
          <a:prstGeom prst="rect">
            <a:avLst/>
          </a:prstGeom>
          <a:solidFill>
            <a:srgbClr val="413C64"/>
          </a:solidFill>
          <a:ln w="6350">
            <a:solidFill>
              <a:srgbClr val="413C64"/>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60" name="NW2 Icon truck wheel">
            <a:extLst>
              <a:ext uri="{FF2B5EF4-FFF2-40B4-BE49-F238E27FC236}">
                <a16:creationId xmlns:a16="http://schemas.microsoft.com/office/drawing/2014/main" id="{3A01D1F6-C46A-898B-6389-417615D8A7C2}"/>
              </a:ext>
            </a:extLst>
          </p:cNvPr>
          <p:cNvSpPr/>
          <p:nvPr/>
        </p:nvSpPr>
        <p:spPr>
          <a:xfrm>
            <a:off x="8619800" y="2980000"/>
            <a:ext cx="120000" cy="120000"/>
          </a:xfrm>
          <a:prstGeom prst="ellipse">
            <a:avLst/>
          </a:prstGeom>
          <a:solidFill>
            <a:srgbClr val="FFFFFF"/>
          </a:solidFill>
          <a:ln w="19050">
            <a:solidFill>
              <a:srgbClr val="413C64"/>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73" name="NW2 Icon truck wheel">
            <a:extLst>
              <a:ext uri="{FF2B5EF4-FFF2-40B4-BE49-F238E27FC236}">
                <a16:creationId xmlns:a16="http://schemas.microsoft.com/office/drawing/2014/main" id="{152462A7-851E-D1AD-D1A5-0DDA9A9C8AA6}"/>
              </a:ext>
            </a:extLst>
          </p:cNvPr>
          <p:cNvSpPr/>
          <p:nvPr/>
        </p:nvSpPr>
        <p:spPr>
          <a:xfrm>
            <a:off x="8934800" y="2980000"/>
            <a:ext cx="120000" cy="120000"/>
          </a:xfrm>
          <a:prstGeom prst="ellipse">
            <a:avLst/>
          </a:prstGeom>
          <a:solidFill>
            <a:srgbClr val="FFFFFF"/>
          </a:solidFill>
          <a:ln w="19050">
            <a:solidFill>
              <a:srgbClr val="413C64"/>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87" name="NW2 Banner icon circle">
            <a:extLst>
              <a:ext uri="{FF2B5EF4-FFF2-40B4-BE49-F238E27FC236}">
                <a16:creationId xmlns:a16="http://schemas.microsoft.com/office/drawing/2014/main" id="{6A0EA6CD-1494-14AF-6105-0EF471103CDC}"/>
              </a:ext>
            </a:extLst>
          </p:cNvPr>
          <p:cNvSpPr/>
          <p:nvPr/>
        </p:nvSpPr>
        <p:spPr>
          <a:xfrm>
            <a:off x="3160000" y="5395000"/>
            <a:ext cx="820000" cy="820000"/>
          </a:xfrm>
          <a:prstGeom prst="ellipse">
            <a:avLst/>
          </a:prstGeom>
          <a:solidFill>
            <a:srgbClr val="FFFFFF">
              <a:alpha val="35000"/>
            </a:srgbClr>
          </a:solidFill>
          <a:ln w="9525">
            <a:solidFill>
              <a:srgbClr val="FFFFFF">
                <a:alpha val="3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02" name="NW2 Icon bowl">
            <a:extLst>
              <a:ext uri="{FF2B5EF4-FFF2-40B4-BE49-F238E27FC236}">
                <a16:creationId xmlns:a16="http://schemas.microsoft.com/office/drawing/2014/main" id="{4BA024C7-7EAD-B773-5F1B-4AE7949FA771}"/>
              </a:ext>
            </a:extLst>
          </p:cNvPr>
          <p:cNvSpPr/>
          <p:nvPr/>
        </p:nvSpPr>
        <p:spPr>
          <a:xfrm rot="10800000">
            <a:off x="3340000" y="5595000"/>
            <a:ext cx="460000" cy="460000"/>
          </a:xfrm>
          <a:prstGeom prst="blockArc">
            <a:avLst/>
          </a:prstGeom>
          <a:solidFill>
            <a:srgbClr val="0B1020"/>
          </a:solidFill>
          <a:ln w="6350">
            <a:solidFill>
              <a:srgbClr val="0B102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6518" name="NW2 Icon bowl rim">
            <a:extLst>
              <a:ext uri="{FF2B5EF4-FFF2-40B4-BE49-F238E27FC236}">
                <a16:creationId xmlns:a16="http://schemas.microsoft.com/office/drawing/2014/main" id="{8426B34B-CA62-0E28-C3DB-DDE17B7F01A0}"/>
              </a:ext>
            </a:extLst>
          </p:cNvPr>
          <p:cNvSpPr/>
          <p:nvPr/>
        </p:nvSpPr>
        <p:spPr>
          <a:xfrm>
            <a:off x="3310000" y="5810000"/>
            <a:ext cx="520000" cy="45000"/>
          </a:xfrm>
          <a:prstGeom prst="rect">
            <a:avLst/>
          </a:prstGeom>
          <a:solidFill>
            <a:srgbClr val="0B1020"/>
          </a:solidFill>
          <a:ln w="6350">
            <a:solidFill>
              <a:srgbClr val="0B102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35" name="NW2 Icon steam">
            <a:extLst>
              <a:ext uri="{FF2B5EF4-FFF2-40B4-BE49-F238E27FC236}">
                <a16:creationId xmlns:a16="http://schemas.microsoft.com/office/drawing/2014/main" id="{12A93F70-FBD5-080E-A0C1-BFC73E7ADF0F}"/>
              </a:ext>
            </a:extLst>
          </p:cNvPr>
          <p:cNvSpPr/>
          <p:nvPr/>
        </p:nvSpPr>
        <p:spPr>
          <a:xfrm>
            <a:off x="3450000" y="5580000"/>
            <a:ext cx="30000" cy="140000"/>
          </a:xfrm>
          <a:prstGeom prst="rect">
            <a:avLst/>
          </a:prstGeom>
          <a:solidFill>
            <a:srgbClr val="0B1020"/>
          </a:solidFill>
          <a:ln w="6350">
            <a:solidFill>
              <a:srgbClr val="0B102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53" name="NW2 Icon steam">
            <a:extLst>
              <a:ext uri="{FF2B5EF4-FFF2-40B4-BE49-F238E27FC236}">
                <a16:creationId xmlns:a16="http://schemas.microsoft.com/office/drawing/2014/main" id="{88D298C8-6336-36AC-3505-40798D4E76FE}"/>
              </a:ext>
            </a:extLst>
          </p:cNvPr>
          <p:cNvSpPr/>
          <p:nvPr/>
        </p:nvSpPr>
        <p:spPr>
          <a:xfrm>
            <a:off x="3555000" y="5550000"/>
            <a:ext cx="30000" cy="170000"/>
          </a:xfrm>
          <a:prstGeom prst="rect">
            <a:avLst/>
          </a:prstGeom>
          <a:solidFill>
            <a:srgbClr val="0B1020"/>
          </a:solidFill>
          <a:ln w="6350">
            <a:solidFill>
              <a:srgbClr val="0B102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72" name="NW2 Icon steam">
            <a:extLst>
              <a:ext uri="{FF2B5EF4-FFF2-40B4-BE49-F238E27FC236}">
                <a16:creationId xmlns:a16="http://schemas.microsoft.com/office/drawing/2014/main" id="{78C56EF3-FA3C-E6FB-D3BE-993ADC3CA04E}"/>
              </a:ext>
            </a:extLst>
          </p:cNvPr>
          <p:cNvSpPr/>
          <p:nvPr/>
        </p:nvSpPr>
        <p:spPr>
          <a:xfrm>
            <a:off x="3660000" y="5580000"/>
            <a:ext cx="30000" cy="140000"/>
          </a:xfrm>
          <a:prstGeom prst="rect">
            <a:avLst/>
          </a:prstGeom>
          <a:solidFill>
            <a:srgbClr val="0B1020"/>
          </a:solidFill>
          <a:ln w="6350">
            <a:solidFill>
              <a:srgbClr val="0B102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92" name="NW2 Banner message">
            <a:extLst>
              <a:ext uri="{FF2B5EF4-FFF2-40B4-BE49-F238E27FC236}">
                <a16:creationId xmlns:a16="http://schemas.microsoft.com/office/drawing/2014/main" id="{0497266B-22C3-6263-94B5-5BF456BCE9EE}"/>
              </a:ext>
            </a:extLst>
          </p:cNvPr>
          <p:cNvSpPr/>
          <p:nvPr/>
        </p:nvSpPr>
        <p:spPr>
          <a:xfrm>
            <a:off x="4048560" y="5287320"/>
            <a:ext cx="7353840" cy="103535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0B1020"/>
                </a:solidFill>
                <a:effectLst/>
                <a:latin typeface="Segoe UI" panose="020B0502040204020203" pitchFamily="34" charset="0"/>
              </a:rPr>
              <a:t>Supplier F is 14 days late on Clam Chowder — 3 orders and USD 868.50 at risk.</a:t>
            </a:r>
          </a:p>
          <a:p>
            <a:pPr algn="l">
              <a:buNone/>
            </a:pPr>
            <a:r>
              <a:rPr lang="en-US" sz="2200" b="1">
                <a:solidFill>
                  <a:srgbClr val="0B1020"/>
                </a:solidFill>
                <a:effectLst/>
                <a:latin typeface="Segoe UI" panose="020B0502040204020203" pitchFamily="34" charset="0"/>
              </a:rPr>
              <a:t>Today, you fix that.</a:t>
            </a:r>
            <a:endParaRPr lang="en-US"/>
          </a:p>
        </p:txBody>
      </p:sp>
    </p:spTree>
    <p:extLst>
      <p:ext uri="{BB962C8B-B14F-4D97-AF65-F5344CB8AC3E}">
        <p14:creationId xmlns:p14="http://schemas.microsoft.com/office/powerpoint/2010/main" val="364160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66386" name="Rectangle: Rounded Corners 66385">
            <a:extLst>
              <a:ext uri="{FF2B5EF4-FFF2-40B4-BE49-F238E27FC236}">
                <a16:creationId xmlns:a16="http://schemas.microsoft.com/office/drawing/2014/main" id="{5EAFF0F1-FC2D-BD0E-2B78-251E89A880F7}"/>
              </a:ext>
            </a:extLst>
          </p:cNvPr>
          <p:cNvSpPr/>
          <p:nvPr/>
        </p:nvSpPr>
        <p:spPr>
          <a:xfrm>
            <a:off x="609600" y="400000"/>
            <a:ext cx="2732749"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WORKSHOP OVERVIEW</a:t>
            </a:r>
          </a:p>
          <a:p>
            <a:pPr algn="ctr">
              <a:buNone/>
            </a:pPr>
            <a:r>
              <a:rPr lang="en-US" sz="100">
                <a:effectLst/>
              </a:rPr>
              <a:t> </a:t>
            </a:r>
            <a:endParaRPr lang="en-US"/>
          </a:p>
        </p:txBody>
      </p:sp>
      <p:sp>
        <p:nvSpPr>
          <p:cNvPr id="66388" name="Rectangle 66387">
            <a:extLst>
              <a:ext uri="{FF2B5EF4-FFF2-40B4-BE49-F238E27FC236}">
                <a16:creationId xmlns:a16="http://schemas.microsoft.com/office/drawing/2014/main" id="{651E167A-2D69-A777-4FD5-A08EC6FCBBF0}"/>
              </a:ext>
            </a:extLst>
          </p:cNvPr>
          <p:cNvSpPr/>
          <p:nvPr/>
        </p:nvSpPr>
        <p:spPr>
          <a:xfrm>
            <a:off x="609600" y="860000"/>
            <a:ext cx="10972800" cy="106578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Turn one supplier delay into a governed, intelligent business process</a:t>
            </a:r>
          </a:p>
          <a:p>
            <a:pPr algn="l">
              <a:buNone/>
            </a:pPr>
            <a:r>
              <a:rPr lang="en-US" sz="100">
                <a:effectLst/>
              </a:rPr>
              <a:t> </a:t>
            </a:r>
            <a:endParaRPr lang="en-US"/>
          </a:p>
        </p:txBody>
      </p:sp>
      <p:sp>
        <p:nvSpPr>
          <p:cNvPr id="66391" name="Rectangle 66390">
            <a:extLst>
              <a:ext uri="{FF2B5EF4-FFF2-40B4-BE49-F238E27FC236}">
                <a16:creationId xmlns:a16="http://schemas.microsoft.com/office/drawing/2014/main" id="{B48D2E18-CF99-B5BF-371E-1B30F594AE2C}"/>
              </a:ext>
            </a:extLst>
          </p:cNvPr>
          <p:cNvSpPr/>
          <p:nvPr/>
        </p:nvSpPr>
        <p:spPr>
          <a:xfrm>
            <a:off x="609600" y="2095783"/>
            <a:ext cx="1097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Today you build the Agentic Operations Control Tower for Northwind Traders</a:t>
            </a:r>
          </a:p>
          <a:p>
            <a:pPr algn="l">
              <a:buNone/>
            </a:pPr>
            <a:r>
              <a:rPr lang="en-US" sz="100">
                <a:effectLst/>
              </a:rPr>
              <a:t> </a:t>
            </a:r>
            <a:endParaRPr lang="en-US"/>
          </a:p>
        </p:txBody>
      </p:sp>
      <p:sp>
        <p:nvSpPr>
          <p:cNvPr id="66395" name="Rectangle 66394">
            <a:extLst>
              <a:ext uri="{FF2B5EF4-FFF2-40B4-BE49-F238E27FC236}">
                <a16:creationId xmlns:a16="http://schemas.microsoft.com/office/drawing/2014/main" id="{0C583FC3-3A58-1A5A-8F73-9F25F5D4463A}"/>
              </a:ext>
            </a:extLst>
          </p:cNvPr>
          <p:cNvSpPr/>
          <p:nvPr/>
        </p:nvSpPr>
        <p:spPr>
          <a:xfrm>
            <a:off x="709600" y="2913511"/>
            <a:ext cx="106680" cy="10668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00" name="Rectangle 66399">
            <a:extLst>
              <a:ext uri="{FF2B5EF4-FFF2-40B4-BE49-F238E27FC236}">
                <a16:creationId xmlns:a16="http://schemas.microsoft.com/office/drawing/2014/main" id="{D853A23B-6075-1C54-8887-DABF0492B991}"/>
              </a:ext>
            </a:extLst>
          </p:cNvPr>
          <p:cNvSpPr/>
          <p:nvPr/>
        </p:nvSpPr>
        <p:spPr>
          <a:xfrm>
            <a:off x="898160" y="2728091"/>
            <a:ext cx="1058424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 model-driven app where operators see disruptions, impact, and decisions</a:t>
            </a:r>
          </a:p>
          <a:p>
            <a:pPr algn="l">
              <a:buNone/>
            </a:pPr>
            <a:r>
              <a:rPr lang="en-US" sz="100">
                <a:effectLst/>
              </a:rPr>
              <a:t> </a:t>
            </a:r>
            <a:endParaRPr lang="en-US"/>
          </a:p>
        </p:txBody>
      </p:sp>
      <p:sp>
        <p:nvSpPr>
          <p:cNvPr id="66406" name="Rectangle 66405">
            <a:extLst>
              <a:ext uri="{FF2B5EF4-FFF2-40B4-BE49-F238E27FC236}">
                <a16:creationId xmlns:a16="http://schemas.microsoft.com/office/drawing/2014/main" id="{EAA1984B-1EE1-F699-0B5C-D5609936296D}"/>
              </a:ext>
            </a:extLst>
          </p:cNvPr>
          <p:cNvSpPr/>
          <p:nvPr/>
        </p:nvSpPr>
        <p:spPr>
          <a:xfrm>
            <a:off x="709600" y="3313391"/>
            <a:ext cx="106680" cy="10668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13" name="Rectangle 66412">
            <a:extLst>
              <a:ext uri="{FF2B5EF4-FFF2-40B4-BE49-F238E27FC236}">
                <a16:creationId xmlns:a16="http://schemas.microsoft.com/office/drawing/2014/main" id="{C4F6BF7E-244F-DAB8-C73F-E9C27C2E2F9C}"/>
              </a:ext>
            </a:extLst>
          </p:cNvPr>
          <p:cNvSpPr/>
          <p:nvPr/>
        </p:nvSpPr>
        <p:spPr>
          <a:xfrm>
            <a:off x="898160" y="3127971"/>
            <a:ext cx="1058424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Cloud flows that turn a supplier email into cases, impacted orders, and a pending decision</a:t>
            </a:r>
          </a:p>
          <a:p>
            <a:pPr algn="l">
              <a:buNone/>
            </a:pPr>
            <a:r>
              <a:rPr lang="en-US" sz="100">
                <a:effectLst/>
              </a:rPr>
              <a:t> </a:t>
            </a:r>
            <a:endParaRPr lang="en-US"/>
          </a:p>
        </p:txBody>
      </p:sp>
      <p:sp>
        <p:nvSpPr>
          <p:cNvPr id="66421" name="Rectangle 66420">
            <a:extLst>
              <a:ext uri="{FF2B5EF4-FFF2-40B4-BE49-F238E27FC236}">
                <a16:creationId xmlns:a16="http://schemas.microsoft.com/office/drawing/2014/main" id="{5AA3B6D6-3DE0-5E62-5634-F1CC431F2569}"/>
              </a:ext>
            </a:extLst>
          </p:cNvPr>
          <p:cNvSpPr/>
          <p:nvPr/>
        </p:nvSpPr>
        <p:spPr>
          <a:xfrm>
            <a:off x="709600" y="3713271"/>
            <a:ext cx="106680" cy="10668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30" name="Rectangle 66429">
            <a:extLst>
              <a:ext uri="{FF2B5EF4-FFF2-40B4-BE49-F238E27FC236}">
                <a16:creationId xmlns:a16="http://schemas.microsoft.com/office/drawing/2014/main" id="{A8E63959-B84A-BD02-1991-6279B5ED08D0}"/>
              </a:ext>
            </a:extLst>
          </p:cNvPr>
          <p:cNvSpPr/>
          <p:nvPr/>
        </p:nvSpPr>
        <p:spPr>
          <a:xfrm>
            <a:off x="898160" y="3527851"/>
            <a:ext cx="10584240" cy="787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Copilot Studio agents that reason over policy, hand off to a human, and run a browser-only carrier step</a:t>
            </a:r>
          </a:p>
          <a:p>
            <a:pPr algn="l">
              <a:buNone/>
            </a:pPr>
            <a:r>
              <a:rPr lang="en-US" sz="100">
                <a:effectLst/>
              </a:rPr>
              <a:t> </a:t>
            </a:r>
            <a:endParaRPr lang="en-US"/>
          </a:p>
        </p:txBody>
      </p:sp>
      <p:sp>
        <p:nvSpPr>
          <p:cNvPr id="66440" name="Rectangle 66439">
            <a:extLst>
              <a:ext uri="{FF2B5EF4-FFF2-40B4-BE49-F238E27FC236}">
                <a16:creationId xmlns:a16="http://schemas.microsoft.com/office/drawing/2014/main" id="{54507A2A-B1B5-B2DD-E724-B7DCFB9DFF62}"/>
              </a:ext>
            </a:extLst>
          </p:cNvPr>
          <p:cNvSpPr/>
          <p:nvPr/>
        </p:nvSpPr>
        <p:spPr>
          <a:xfrm>
            <a:off x="709600" y="4423031"/>
            <a:ext cx="106680" cy="10668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51" name="Rectangle 66450">
            <a:extLst>
              <a:ext uri="{FF2B5EF4-FFF2-40B4-BE49-F238E27FC236}">
                <a16:creationId xmlns:a16="http://schemas.microsoft.com/office/drawing/2014/main" id="{7DCC9783-528D-570E-7474-1E6EB7A23C74}"/>
              </a:ext>
            </a:extLst>
          </p:cNvPr>
          <p:cNvSpPr/>
          <p:nvPr/>
        </p:nvSpPr>
        <p:spPr>
          <a:xfrm>
            <a:off x="898160" y="4237611"/>
            <a:ext cx="1058424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One human approval that triggers governed, evidenced execution</a:t>
            </a:r>
          </a:p>
          <a:p>
            <a:pPr algn="l">
              <a:buNone/>
            </a:pPr>
            <a:r>
              <a:rPr lang="en-US" sz="100">
                <a:effectLst/>
              </a:rPr>
              <a:t> </a:t>
            </a:r>
            <a:endParaRPr lang="en-US"/>
          </a:p>
        </p:txBody>
      </p:sp>
      <p:sp>
        <p:nvSpPr>
          <p:cNvPr id="66463" name="Rectangle 66462">
            <a:extLst>
              <a:ext uri="{FF2B5EF4-FFF2-40B4-BE49-F238E27FC236}">
                <a16:creationId xmlns:a16="http://schemas.microsoft.com/office/drawing/2014/main" id="{FB7F5D9B-362F-6655-4E42-EFD3CA246F9F}"/>
              </a:ext>
            </a:extLst>
          </p:cNvPr>
          <p:cNvSpPr/>
          <p:nvPr/>
        </p:nvSpPr>
        <p:spPr>
          <a:xfrm>
            <a:off x="709600" y="4822911"/>
            <a:ext cx="106680" cy="10668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76" name="Rectangle 66475">
            <a:extLst>
              <a:ext uri="{FF2B5EF4-FFF2-40B4-BE49-F238E27FC236}">
                <a16:creationId xmlns:a16="http://schemas.microsoft.com/office/drawing/2014/main" id="{5AC2D834-C429-DDAF-E147-1B756ED0E954}"/>
              </a:ext>
            </a:extLst>
          </p:cNvPr>
          <p:cNvSpPr/>
          <p:nvPr/>
        </p:nvSpPr>
        <p:spPr>
          <a:xfrm>
            <a:off x="898160" y="4637491"/>
            <a:ext cx="1058424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 pipeline that promotes the solution from DEV to TARGET</a:t>
            </a:r>
          </a:p>
          <a:p>
            <a:pPr algn="l">
              <a:buNone/>
            </a:pPr>
            <a:r>
              <a:rPr lang="en-US" sz="100">
                <a:effectLst/>
              </a:rPr>
              <a:t> </a:t>
            </a:r>
            <a:endParaRPr lang="en-US"/>
          </a:p>
        </p:txBody>
      </p:sp>
      <p:sp>
        <p:nvSpPr>
          <p:cNvPr id="66490" name="Rectangle 66489">
            <a:extLst>
              <a:ext uri="{FF2B5EF4-FFF2-40B4-BE49-F238E27FC236}">
                <a16:creationId xmlns:a16="http://schemas.microsoft.com/office/drawing/2014/main" id="{E93BE486-FB0F-78B0-6FCD-B49DEB3B341A}"/>
              </a:ext>
            </a:extLst>
          </p:cNvPr>
          <p:cNvSpPr/>
          <p:nvPr/>
        </p:nvSpPr>
        <p:spPr>
          <a:xfrm>
            <a:off x="609600" y="5832480"/>
            <a:ext cx="10972800" cy="597520"/>
          </a:xfrm>
          <a:prstGeom prst="rect">
            <a:avLst/>
          </a:prstGeom>
          <a:solidFill>
            <a:srgbClr val="FFFFFF">
              <a:alpha val="14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FFFFFF"/>
                </a:solidFill>
                <a:effectLst/>
                <a:latin typeface="Segoe UI" panose="020B0502040204020203" pitchFamily="34" charset="0"/>
              </a:rPr>
              <a:t>Apps, automations, and agents on one platform — with Dataverse as the system of record</a:t>
            </a:r>
          </a:p>
          <a:p>
            <a:pPr algn="ctr">
              <a:buNone/>
            </a:pPr>
            <a:r>
              <a:rPr lang="en-US" sz="100">
                <a:effectLst/>
              </a:rPr>
              <a:t> </a:t>
            </a:r>
            <a:endParaRPr lang="en-US"/>
          </a:p>
        </p:txBody>
      </p:sp>
    </p:spTree>
    <p:extLst>
      <p:ext uri="{BB962C8B-B14F-4D97-AF65-F5344CB8AC3E}">
        <p14:creationId xmlns:p14="http://schemas.microsoft.com/office/powerpoint/2010/main" val="199187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67165" name="Rectangle: Rounded Corners 67164">
            <a:extLst>
              <a:ext uri="{FF2B5EF4-FFF2-40B4-BE49-F238E27FC236}">
                <a16:creationId xmlns:a16="http://schemas.microsoft.com/office/drawing/2014/main" id="{88FD37B4-56CF-A8B5-607C-7BB6967E69A6}"/>
              </a:ext>
            </a:extLst>
          </p:cNvPr>
          <p:cNvSpPr/>
          <p:nvPr/>
        </p:nvSpPr>
        <p:spPr>
          <a:xfrm>
            <a:off x="609600" y="400000"/>
            <a:ext cx="2732749"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WORKSHOP OVERVIEW</a:t>
            </a:r>
          </a:p>
          <a:p>
            <a:pPr algn="ctr">
              <a:buNone/>
            </a:pPr>
            <a:r>
              <a:rPr lang="en-US" sz="100">
                <a:effectLst/>
              </a:rPr>
              <a:t> </a:t>
            </a:r>
            <a:endParaRPr lang="en-US"/>
          </a:p>
        </p:txBody>
      </p:sp>
      <p:sp>
        <p:nvSpPr>
          <p:cNvPr id="67205" name="Rectangle 67204">
            <a:extLst>
              <a:ext uri="{FF2B5EF4-FFF2-40B4-BE49-F238E27FC236}">
                <a16:creationId xmlns:a16="http://schemas.microsoft.com/office/drawing/2014/main" id="{56C2D25E-080C-5B9B-B9C7-72EFC6ED6E65}"/>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What you will learn today</a:t>
            </a:r>
          </a:p>
          <a:p>
            <a:pPr algn="l">
              <a:buNone/>
            </a:pPr>
            <a:r>
              <a:rPr lang="en-US" sz="100">
                <a:effectLst/>
              </a:rPr>
              <a:t> </a:t>
            </a:r>
            <a:endParaRPr lang="en-US"/>
          </a:p>
        </p:txBody>
      </p:sp>
      <p:sp>
        <p:nvSpPr>
          <p:cNvPr id="67246" name="Rectangle 67245">
            <a:extLst>
              <a:ext uri="{FF2B5EF4-FFF2-40B4-BE49-F238E27FC236}">
                <a16:creationId xmlns:a16="http://schemas.microsoft.com/office/drawing/2014/main" id="{82A945B5-774B-D381-0331-150F9AD68142}"/>
              </a:ext>
            </a:extLst>
          </p:cNvPr>
          <p:cNvSpPr/>
          <p:nvPr/>
        </p:nvSpPr>
        <p:spPr>
          <a:xfrm>
            <a:off x="609600" y="1661951"/>
            <a:ext cx="3490933" cy="225902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88" name="Rectangle 67287">
            <a:extLst>
              <a:ext uri="{FF2B5EF4-FFF2-40B4-BE49-F238E27FC236}">
                <a16:creationId xmlns:a16="http://schemas.microsoft.com/office/drawing/2014/main" id="{D3B1F6C1-4EDF-7640-D09E-2C2BAC4131C5}"/>
              </a:ext>
            </a:extLst>
          </p:cNvPr>
          <p:cNvSpPr/>
          <p:nvPr/>
        </p:nvSpPr>
        <p:spPr>
          <a:xfrm>
            <a:off x="759600" y="1811951"/>
            <a:ext cx="3190933" cy="709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01</a:t>
            </a:r>
          </a:p>
          <a:p>
            <a:pPr algn="l">
              <a:buNone/>
            </a:pPr>
            <a:r>
              <a:rPr lang="en-US" sz="100">
                <a:effectLst/>
              </a:rPr>
              <a:t> </a:t>
            </a:r>
            <a:endParaRPr lang="en-US"/>
          </a:p>
        </p:txBody>
      </p:sp>
      <p:sp>
        <p:nvSpPr>
          <p:cNvPr id="67331" name="Rectangle 67330">
            <a:extLst>
              <a:ext uri="{FF2B5EF4-FFF2-40B4-BE49-F238E27FC236}">
                <a16:creationId xmlns:a16="http://schemas.microsoft.com/office/drawing/2014/main" id="{5E4C1419-AC82-5789-C51E-D8D205A77D52}"/>
              </a:ext>
            </a:extLst>
          </p:cNvPr>
          <p:cNvSpPr/>
          <p:nvPr/>
        </p:nvSpPr>
        <p:spPr>
          <a:xfrm>
            <a:off x="759600" y="2431119"/>
            <a:ext cx="319093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Design modern business apps that put agents to work</a:t>
            </a:r>
          </a:p>
          <a:p>
            <a:pPr algn="l">
              <a:buNone/>
            </a:pPr>
            <a:r>
              <a:rPr lang="en-US" sz="100">
                <a:effectLst/>
              </a:rPr>
              <a:t> </a:t>
            </a:r>
            <a:endParaRPr lang="en-US"/>
          </a:p>
        </p:txBody>
      </p:sp>
      <p:sp>
        <p:nvSpPr>
          <p:cNvPr id="67375" name="Rectangle 67374">
            <a:extLst>
              <a:ext uri="{FF2B5EF4-FFF2-40B4-BE49-F238E27FC236}">
                <a16:creationId xmlns:a16="http://schemas.microsoft.com/office/drawing/2014/main" id="{53688744-ED25-0465-CB3E-62AEE78D3358}"/>
              </a:ext>
            </a:extLst>
          </p:cNvPr>
          <p:cNvSpPr/>
          <p:nvPr/>
        </p:nvSpPr>
        <p:spPr>
          <a:xfrm>
            <a:off x="4350533" y="1661951"/>
            <a:ext cx="3490933" cy="225902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20" name="Rectangle 67419">
            <a:extLst>
              <a:ext uri="{FF2B5EF4-FFF2-40B4-BE49-F238E27FC236}">
                <a16:creationId xmlns:a16="http://schemas.microsoft.com/office/drawing/2014/main" id="{4C2E458F-482E-C136-E681-9516B8DAFA43}"/>
              </a:ext>
            </a:extLst>
          </p:cNvPr>
          <p:cNvSpPr/>
          <p:nvPr/>
        </p:nvSpPr>
        <p:spPr>
          <a:xfrm>
            <a:off x="4500533" y="1811951"/>
            <a:ext cx="3190933" cy="709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02</a:t>
            </a:r>
          </a:p>
          <a:p>
            <a:pPr algn="l">
              <a:buNone/>
            </a:pPr>
            <a:r>
              <a:rPr lang="en-US" sz="100">
                <a:effectLst/>
              </a:rPr>
              <a:t> </a:t>
            </a:r>
            <a:endParaRPr lang="en-US"/>
          </a:p>
        </p:txBody>
      </p:sp>
      <p:sp>
        <p:nvSpPr>
          <p:cNvPr id="67466" name="Rectangle 67465">
            <a:extLst>
              <a:ext uri="{FF2B5EF4-FFF2-40B4-BE49-F238E27FC236}">
                <a16:creationId xmlns:a16="http://schemas.microsoft.com/office/drawing/2014/main" id="{7652415D-799F-A78A-8237-44B0A71350BF}"/>
              </a:ext>
            </a:extLst>
          </p:cNvPr>
          <p:cNvSpPr/>
          <p:nvPr/>
        </p:nvSpPr>
        <p:spPr>
          <a:xfrm>
            <a:off x="4500533" y="2431119"/>
            <a:ext cx="319093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Automate multi-step business processes with workflows</a:t>
            </a:r>
          </a:p>
          <a:p>
            <a:pPr algn="l">
              <a:buNone/>
            </a:pPr>
            <a:r>
              <a:rPr lang="en-US" sz="100">
                <a:effectLst/>
              </a:rPr>
              <a:t> </a:t>
            </a:r>
            <a:endParaRPr lang="en-US"/>
          </a:p>
        </p:txBody>
      </p:sp>
      <p:sp>
        <p:nvSpPr>
          <p:cNvPr id="67513" name="Rectangle 67512">
            <a:extLst>
              <a:ext uri="{FF2B5EF4-FFF2-40B4-BE49-F238E27FC236}">
                <a16:creationId xmlns:a16="http://schemas.microsoft.com/office/drawing/2014/main" id="{5F873BB9-F7C8-8CB7-1A7A-889B0C570D62}"/>
              </a:ext>
            </a:extLst>
          </p:cNvPr>
          <p:cNvSpPr/>
          <p:nvPr/>
        </p:nvSpPr>
        <p:spPr>
          <a:xfrm>
            <a:off x="8091466" y="1661951"/>
            <a:ext cx="3490933" cy="225902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61" name="Rectangle 67560">
            <a:extLst>
              <a:ext uri="{FF2B5EF4-FFF2-40B4-BE49-F238E27FC236}">
                <a16:creationId xmlns:a16="http://schemas.microsoft.com/office/drawing/2014/main" id="{28A654E6-5A31-7FF6-0711-8E037247A117}"/>
              </a:ext>
            </a:extLst>
          </p:cNvPr>
          <p:cNvSpPr/>
          <p:nvPr/>
        </p:nvSpPr>
        <p:spPr>
          <a:xfrm>
            <a:off x="8241466" y="1811951"/>
            <a:ext cx="3190933" cy="709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03</a:t>
            </a:r>
          </a:p>
          <a:p>
            <a:pPr algn="l">
              <a:buNone/>
            </a:pPr>
            <a:r>
              <a:rPr lang="en-US" sz="100">
                <a:effectLst/>
              </a:rPr>
              <a:t> </a:t>
            </a:r>
            <a:endParaRPr lang="en-US"/>
          </a:p>
        </p:txBody>
      </p:sp>
      <p:sp>
        <p:nvSpPr>
          <p:cNvPr id="67610" name="Rectangle 67609">
            <a:extLst>
              <a:ext uri="{FF2B5EF4-FFF2-40B4-BE49-F238E27FC236}">
                <a16:creationId xmlns:a16="http://schemas.microsoft.com/office/drawing/2014/main" id="{0EB4A18A-1FF2-689F-21C2-17C5E279A794}"/>
              </a:ext>
            </a:extLst>
          </p:cNvPr>
          <p:cNvSpPr/>
          <p:nvPr/>
        </p:nvSpPr>
        <p:spPr>
          <a:xfrm>
            <a:off x="8241466" y="2431119"/>
            <a:ext cx="3190933" cy="1407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Build agents that reason, act across systems, and work with people in the loop</a:t>
            </a:r>
          </a:p>
          <a:p>
            <a:pPr algn="l">
              <a:buNone/>
            </a:pPr>
            <a:r>
              <a:rPr lang="en-US" sz="100">
                <a:effectLst/>
              </a:rPr>
              <a:t> </a:t>
            </a:r>
            <a:endParaRPr lang="en-US"/>
          </a:p>
        </p:txBody>
      </p:sp>
      <p:sp>
        <p:nvSpPr>
          <p:cNvPr id="67660" name="Rectangle 67659">
            <a:extLst>
              <a:ext uri="{FF2B5EF4-FFF2-40B4-BE49-F238E27FC236}">
                <a16:creationId xmlns:a16="http://schemas.microsoft.com/office/drawing/2014/main" id="{DF651CAC-4DBA-FD55-52A2-BA5E0A23D3ED}"/>
              </a:ext>
            </a:extLst>
          </p:cNvPr>
          <p:cNvSpPr/>
          <p:nvPr/>
        </p:nvSpPr>
        <p:spPr>
          <a:xfrm>
            <a:off x="609600" y="4170975"/>
            <a:ext cx="3490933" cy="225902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11" name="Rectangle 67710">
            <a:extLst>
              <a:ext uri="{FF2B5EF4-FFF2-40B4-BE49-F238E27FC236}">
                <a16:creationId xmlns:a16="http://schemas.microsoft.com/office/drawing/2014/main" id="{4AAC4EBE-8D67-A209-85F4-332A655CDF5C}"/>
              </a:ext>
            </a:extLst>
          </p:cNvPr>
          <p:cNvSpPr/>
          <p:nvPr/>
        </p:nvSpPr>
        <p:spPr>
          <a:xfrm>
            <a:off x="759600" y="4320975"/>
            <a:ext cx="3190933" cy="709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04</a:t>
            </a:r>
          </a:p>
          <a:p>
            <a:pPr algn="l">
              <a:buNone/>
            </a:pPr>
            <a:r>
              <a:rPr lang="en-US" sz="100">
                <a:effectLst/>
              </a:rPr>
              <a:t> </a:t>
            </a:r>
            <a:endParaRPr lang="en-US"/>
          </a:p>
        </p:txBody>
      </p:sp>
      <p:sp>
        <p:nvSpPr>
          <p:cNvPr id="67763" name="Rectangle 67762">
            <a:extLst>
              <a:ext uri="{FF2B5EF4-FFF2-40B4-BE49-F238E27FC236}">
                <a16:creationId xmlns:a16="http://schemas.microsoft.com/office/drawing/2014/main" id="{DFCA7147-2785-F7B4-6110-6E85292348B4}"/>
              </a:ext>
            </a:extLst>
          </p:cNvPr>
          <p:cNvSpPr/>
          <p:nvPr/>
        </p:nvSpPr>
        <p:spPr>
          <a:xfrm>
            <a:off x="759600" y="4940143"/>
            <a:ext cx="319093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Connect enterprise data with Dataverse and connectors</a:t>
            </a:r>
          </a:p>
          <a:p>
            <a:pPr algn="l">
              <a:buNone/>
            </a:pPr>
            <a:r>
              <a:rPr lang="en-US" sz="100">
                <a:effectLst/>
              </a:rPr>
              <a:t> </a:t>
            </a:r>
            <a:endParaRPr lang="en-US"/>
          </a:p>
        </p:txBody>
      </p:sp>
      <p:sp>
        <p:nvSpPr>
          <p:cNvPr id="67816" name="Rectangle 67815">
            <a:extLst>
              <a:ext uri="{FF2B5EF4-FFF2-40B4-BE49-F238E27FC236}">
                <a16:creationId xmlns:a16="http://schemas.microsoft.com/office/drawing/2014/main" id="{D358EFF1-D7BC-7E06-0767-CB8F08D10E3D}"/>
              </a:ext>
            </a:extLst>
          </p:cNvPr>
          <p:cNvSpPr/>
          <p:nvPr/>
        </p:nvSpPr>
        <p:spPr>
          <a:xfrm>
            <a:off x="4350533" y="4170975"/>
            <a:ext cx="3490933" cy="225902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70" name="Rectangle 67869">
            <a:extLst>
              <a:ext uri="{FF2B5EF4-FFF2-40B4-BE49-F238E27FC236}">
                <a16:creationId xmlns:a16="http://schemas.microsoft.com/office/drawing/2014/main" id="{B87C8D6F-5A00-1C6D-1B05-95BBFF71D0EA}"/>
              </a:ext>
            </a:extLst>
          </p:cNvPr>
          <p:cNvSpPr/>
          <p:nvPr/>
        </p:nvSpPr>
        <p:spPr>
          <a:xfrm>
            <a:off x="4500533" y="4320975"/>
            <a:ext cx="3190933" cy="709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05</a:t>
            </a:r>
          </a:p>
          <a:p>
            <a:pPr algn="l">
              <a:buNone/>
            </a:pPr>
            <a:r>
              <a:rPr lang="en-US" sz="100">
                <a:effectLst/>
              </a:rPr>
              <a:t> </a:t>
            </a:r>
            <a:endParaRPr lang="en-US"/>
          </a:p>
        </p:txBody>
      </p:sp>
      <p:sp>
        <p:nvSpPr>
          <p:cNvPr id="67925" name="Rectangle 67924">
            <a:extLst>
              <a:ext uri="{FF2B5EF4-FFF2-40B4-BE49-F238E27FC236}">
                <a16:creationId xmlns:a16="http://schemas.microsoft.com/office/drawing/2014/main" id="{CAF1327E-D126-A6E0-E55F-2E14B2F2C023}"/>
              </a:ext>
            </a:extLst>
          </p:cNvPr>
          <p:cNvSpPr/>
          <p:nvPr/>
        </p:nvSpPr>
        <p:spPr>
          <a:xfrm>
            <a:off x="4500533" y="4940143"/>
            <a:ext cx="319093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Apply architecture, governance, security, and ALM best practices</a:t>
            </a:r>
          </a:p>
          <a:p>
            <a:pPr algn="l">
              <a:buNone/>
            </a:pPr>
            <a:r>
              <a:rPr lang="en-US" sz="100">
                <a:effectLst/>
              </a:rPr>
              <a:t> </a:t>
            </a:r>
            <a:endParaRPr lang="en-US"/>
          </a:p>
        </p:txBody>
      </p:sp>
      <p:sp>
        <p:nvSpPr>
          <p:cNvPr id="67981" name="Rectangle 67980">
            <a:extLst>
              <a:ext uri="{FF2B5EF4-FFF2-40B4-BE49-F238E27FC236}">
                <a16:creationId xmlns:a16="http://schemas.microsoft.com/office/drawing/2014/main" id="{76C45680-B45F-8163-1074-4257DDE4A72D}"/>
              </a:ext>
            </a:extLst>
          </p:cNvPr>
          <p:cNvSpPr/>
          <p:nvPr/>
        </p:nvSpPr>
        <p:spPr>
          <a:xfrm>
            <a:off x="8091466" y="4170975"/>
            <a:ext cx="3490933" cy="225902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38" name="Rectangle 68037">
            <a:extLst>
              <a:ext uri="{FF2B5EF4-FFF2-40B4-BE49-F238E27FC236}">
                <a16:creationId xmlns:a16="http://schemas.microsoft.com/office/drawing/2014/main" id="{31E57AC8-0722-2278-E388-0D7AF2D98B64}"/>
              </a:ext>
            </a:extLst>
          </p:cNvPr>
          <p:cNvSpPr/>
          <p:nvPr/>
        </p:nvSpPr>
        <p:spPr>
          <a:xfrm>
            <a:off x="8241466" y="4320975"/>
            <a:ext cx="3190933" cy="709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06</a:t>
            </a:r>
          </a:p>
          <a:p>
            <a:pPr algn="l">
              <a:buNone/>
            </a:pPr>
            <a:r>
              <a:rPr lang="en-US" sz="100">
                <a:effectLst/>
              </a:rPr>
              <a:t> </a:t>
            </a:r>
            <a:endParaRPr lang="en-US"/>
          </a:p>
        </p:txBody>
      </p:sp>
      <p:sp>
        <p:nvSpPr>
          <p:cNvPr id="68096" name="Rectangle 68095">
            <a:extLst>
              <a:ext uri="{FF2B5EF4-FFF2-40B4-BE49-F238E27FC236}">
                <a16:creationId xmlns:a16="http://schemas.microsoft.com/office/drawing/2014/main" id="{901F8664-1AF7-5853-6EC1-81E61DB55FA1}"/>
              </a:ext>
            </a:extLst>
          </p:cNvPr>
          <p:cNvSpPr/>
          <p:nvPr/>
        </p:nvSpPr>
        <p:spPr>
          <a:xfrm>
            <a:off x="8241466" y="4940143"/>
            <a:ext cx="3190933" cy="787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Bring it all together into one end-to-end process</a:t>
            </a:r>
          </a:p>
          <a:p>
            <a:pPr algn="l">
              <a:buNone/>
            </a:pPr>
            <a:r>
              <a:rPr lang="en-US" sz="100">
                <a:effectLst/>
              </a:rPr>
              <a:t> </a:t>
            </a:r>
            <a:endParaRPr lang="en-US"/>
          </a:p>
        </p:txBody>
      </p:sp>
    </p:spTree>
    <p:extLst>
      <p:ext uri="{BB962C8B-B14F-4D97-AF65-F5344CB8AC3E}">
        <p14:creationId xmlns:p14="http://schemas.microsoft.com/office/powerpoint/2010/main" val="2849359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00942" name="Rectangle: Rounded Corners 200941">
            <a:extLst>
              <a:ext uri="{FF2B5EF4-FFF2-40B4-BE49-F238E27FC236}">
                <a16:creationId xmlns:a16="http://schemas.microsoft.com/office/drawing/2014/main" id="{8E16A0A2-E39E-7D13-0494-157F33E83950}"/>
              </a:ext>
            </a:extLst>
          </p:cNvPr>
          <p:cNvSpPr/>
          <p:nvPr/>
        </p:nvSpPr>
        <p:spPr>
          <a:xfrm>
            <a:off x="609600" y="400000"/>
            <a:ext cx="2732749"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WORKSHOP OVERVIEW</a:t>
            </a:r>
          </a:p>
          <a:p>
            <a:pPr algn="ctr">
              <a:buNone/>
            </a:pPr>
            <a:r>
              <a:rPr lang="en-US" sz="100">
                <a:effectLst/>
              </a:rPr>
              <a:t> </a:t>
            </a:r>
            <a:endParaRPr lang="en-US"/>
          </a:p>
        </p:txBody>
      </p:sp>
      <p:sp>
        <p:nvSpPr>
          <p:cNvPr id="200944" name="Rectangle 200943">
            <a:extLst>
              <a:ext uri="{FF2B5EF4-FFF2-40B4-BE49-F238E27FC236}">
                <a16:creationId xmlns:a16="http://schemas.microsoft.com/office/drawing/2014/main" id="{015F1521-406C-1D01-0793-2E8F31DFC512}"/>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Full-day agenda</a:t>
            </a:r>
          </a:p>
          <a:p>
            <a:pPr algn="l">
              <a:buNone/>
            </a:pPr>
            <a:r>
              <a:rPr lang="en-US" sz="100">
                <a:effectLst/>
              </a:rPr>
              <a:t> </a:t>
            </a:r>
            <a:endParaRPr lang="en-US"/>
          </a:p>
        </p:txBody>
      </p:sp>
      <p:sp>
        <p:nvSpPr>
          <p:cNvPr id="200947" name="Rectangle 200946">
            <a:extLst>
              <a:ext uri="{FF2B5EF4-FFF2-40B4-BE49-F238E27FC236}">
                <a16:creationId xmlns:a16="http://schemas.microsoft.com/office/drawing/2014/main" id="{146CD6FD-1883-E9A3-FD76-22383F778320}"/>
              </a:ext>
            </a:extLst>
          </p:cNvPr>
          <p:cNvSpPr/>
          <p:nvPr/>
        </p:nvSpPr>
        <p:spPr>
          <a:xfrm>
            <a:off x="2310000" y="1575000"/>
            <a:ext cx="462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50">
                <a:solidFill>
                  <a:srgbClr val="D6D2E8"/>
                </a:solidFill>
                <a:effectLst/>
                <a:latin typeface="Segoe UI" panose="020B0502040204020203" pitchFamily="34" charset="0"/>
              </a:rPr>
              <a:t>SESSION</a:t>
            </a:r>
          </a:p>
          <a:p>
            <a:pPr algn="l">
              <a:buNone/>
            </a:pPr>
            <a:r>
              <a:rPr lang="en-US" sz="100">
                <a:effectLst/>
              </a:rPr>
              <a:t> </a:t>
            </a:r>
            <a:endParaRPr lang="en-US"/>
          </a:p>
        </p:txBody>
      </p:sp>
      <p:sp>
        <p:nvSpPr>
          <p:cNvPr id="200951" name="Rectangle 200950">
            <a:extLst>
              <a:ext uri="{FF2B5EF4-FFF2-40B4-BE49-F238E27FC236}">
                <a16:creationId xmlns:a16="http://schemas.microsoft.com/office/drawing/2014/main" id="{226BE8DA-1E73-9F79-E516-C260F24963EA}"/>
              </a:ext>
            </a:extLst>
          </p:cNvPr>
          <p:cNvSpPr/>
          <p:nvPr/>
        </p:nvSpPr>
        <p:spPr>
          <a:xfrm>
            <a:off x="6930000" y="1575000"/>
            <a:ext cx="92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50">
                <a:solidFill>
                  <a:srgbClr val="D6D2E8"/>
                </a:solidFill>
                <a:effectLst/>
                <a:latin typeface="Segoe UI" panose="020B0502040204020203" pitchFamily="34" charset="0"/>
              </a:rPr>
              <a:t>OWNER</a:t>
            </a:r>
          </a:p>
          <a:p>
            <a:pPr algn="l">
              <a:buNone/>
            </a:pPr>
            <a:r>
              <a:rPr lang="en-US" sz="100">
                <a:effectLst/>
              </a:rPr>
              <a:t> </a:t>
            </a:r>
            <a:endParaRPr lang="en-US"/>
          </a:p>
        </p:txBody>
      </p:sp>
      <p:sp>
        <p:nvSpPr>
          <p:cNvPr id="200956" name="Rectangle 200955">
            <a:extLst>
              <a:ext uri="{FF2B5EF4-FFF2-40B4-BE49-F238E27FC236}">
                <a16:creationId xmlns:a16="http://schemas.microsoft.com/office/drawing/2014/main" id="{49442FA3-E474-8920-5011-3E581D63B735}"/>
              </a:ext>
            </a:extLst>
          </p:cNvPr>
          <p:cNvSpPr/>
          <p:nvPr/>
        </p:nvSpPr>
        <p:spPr>
          <a:xfrm>
            <a:off x="8960000" y="1575000"/>
            <a:ext cx="28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50">
                <a:solidFill>
                  <a:srgbClr val="D6D2E8"/>
                </a:solidFill>
                <a:effectLst/>
                <a:latin typeface="Segoe UI" panose="020B0502040204020203" pitchFamily="34" charset="0"/>
              </a:rPr>
              <a:t>DURATION</a:t>
            </a:r>
          </a:p>
          <a:p>
            <a:pPr algn="l">
              <a:buNone/>
            </a:pPr>
            <a:r>
              <a:rPr lang="en-US" sz="100">
                <a:effectLst/>
              </a:rPr>
              <a:t> </a:t>
            </a:r>
            <a:endParaRPr lang="en-US"/>
          </a:p>
        </p:txBody>
      </p:sp>
      <p:sp>
        <p:nvSpPr>
          <p:cNvPr id="202319" name="Rectangle 202318">
            <a:extLst>
              <a:ext uri="{FF2B5EF4-FFF2-40B4-BE49-F238E27FC236}">
                <a16:creationId xmlns:a16="http://schemas.microsoft.com/office/drawing/2014/main" id="{EE175287-04BA-D113-F1B1-11DE56E997A3}"/>
              </a:ext>
            </a:extLst>
          </p:cNvPr>
          <p:cNvSpPr/>
          <p:nvPr/>
        </p:nvSpPr>
        <p:spPr>
          <a:xfrm>
            <a:off x="609600" y="6360512"/>
            <a:ext cx="10972800" cy="35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D6D2E8"/>
                </a:solidFill>
                <a:effectLst/>
                <a:latin typeface="Segoe UI" panose="020B0502040204020203" pitchFamily="34" charset="0"/>
              </a:rPr>
              <a:t>9:00 AM – 4:40 PM · modules and labs, plus Computer Use wait time</a:t>
            </a:r>
            <a:endParaRPr lang="en-US"/>
          </a:p>
        </p:txBody>
      </p:sp>
      <p:sp>
        <p:nvSpPr>
          <p:cNvPr id="232103" name="Rectangle 232102">
            <a:extLst>
              <a:ext uri="{FF2B5EF4-FFF2-40B4-BE49-F238E27FC236}">
                <a16:creationId xmlns:a16="http://schemas.microsoft.com/office/drawing/2014/main" id="{298C1805-76AF-0FD7-2D88-2A5A5D0BE29B}"/>
              </a:ext>
            </a:extLst>
          </p:cNvPr>
          <p:cNvSpPr/>
          <p:nvPr/>
        </p:nvSpPr>
        <p:spPr>
          <a:xfrm>
            <a:off x="609600" y="191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05" name="Rectangle 232104">
            <a:extLst>
              <a:ext uri="{FF2B5EF4-FFF2-40B4-BE49-F238E27FC236}">
                <a16:creationId xmlns:a16="http://schemas.microsoft.com/office/drawing/2014/main" id="{74EA76D0-3627-8576-548B-78F4377AA67D}"/>
              </a:ext>
            </a:extLst>
          </p:cNvPr>
          <p:cNvSpPr/>
          <p:nvPr/>
        </p:nvSpPr>
        <p:spPr>
          <a:xfrm>
            <a:off x="609600" y="227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08" name="Rectangle 232107">
            <a:extLst>
              <a:ext uri="{FF2B5EF4-FFF2-40B4-BE49-F238E27FC236}">
                <a16:creationId xmlns:a16="http://schemas.microsoft.com/office/drawing/2014/main" id="{A268E6B0-5AD4-5BF1-F442-AE5F19F7EC9D}"/>
              </a:ext>
            </a:extLst>
          </p:cNvPr>
          <p:cNvSpPr/>
          <p:nvPr/>
        </p:nvSpPr>
        <p:spPr>
          <a:xfrm>
            <a:off x="609600" y="263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12" name="Rectangle 232111">
            <a:extLst>
              <a:ext uri="{FF2B5EF4-FFF2-40B4-BE49-F238E27FC236}">
                <a16:creationId xmlns:a16="http://schemas.microsoft.com/office/drawing/2014/main" id="{C4748D2F-3BC6-3845-E297-3B309F9C7C96}"/>
              </a:ext>
            </a:extLst>
          </p:cNvPr>
          <p:cNvSpPr/>
          <p:nvPr/>
        </p:nvSpPr>
        <p:spPr>
          <a:xfrm>
            <a:off x="609600" y="2995000"/>
            <a:ext cx="11125200" cy="220000"/>
          </a:xfrm>
          <a:prstGeom prst="rect">
            <a:avLst/>
          </a:prstGeom>
          <a:solidFill>
            <a:srgbClr val="FFFFFF">
              <a:alpha val="3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17" name="Rectangle 232116">
            <a:extLst>
              <a:ext uri="{FF2B5EF4-FFF2-40B4-BE49-F238E27FC236}">
                <a16:creationId xmlns:a16="http://schemas.microsoft.com/office/drawing/2014/main" id="{EF3953B9-CAD4-CB81-CF60-8656DEC3562D}"/>
              </a:ext>
            </a:extLst>
          </p:cNvPr>
          <p:cNvSpPr/>
          <p:nvPr/>
        </p:nvSpPr>
        <p:spPr>
          <a:xfrm>
            <a:off x="609600" y="324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23" name="Rectangle 232122">
            <a:extLst>
              <a:ext uri="{FF2B5EF4-FFF2-40B4-BE49-F238E27FC236}">
                <a16:creationId xmlns:a16="http://schemas.microsoft.com/office/drawing/2014/main" id="{ACCB64BF-9A9E-BA6E-8109-EE0A1F967AF5}"/>
              </a:ext>
            </a:extLst>
          </p:cNvPr>
          <p:cNvSpPr/>
          <p:nvPr/>
        </p:nvSpPr>
        <p:spPr>
          <a:xfrm>
            <a:off x="609600" y="3605000"/>
            <a:ext cx="11125200" cy="220000"/>
          </a:xfrm>
          <a:prstGeom prst="rect">
            <a:avLst/>
          </a:prstGeom>
          <a:solidFill>
            <a:srgbClr val="FFFFFF">
              <a:alpha val="3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30" name="Rectangle 232129">
            <a:extLst>
              <a:ext uri="{FF2B5EF4-FFF2-40B4-BE49-F238E27FC236}">
                <a16:creationId xmlns:a16="http://schemas.microsoft.com/office/drawing/2014/main" id="{484F93EF-9C3C-C1E5-33CB-AD7B7439E2DD}"/>
              </a:ext>
            </a:extLst>
          </p:cNvPr>
          <p:cNvSpPr/>
          <p:nvPr/>
        </p:nvSpPr>
        <p:spPr>
          <a:xfrm>
            <a:off x="609600" y="3855000"/>
            <a:ext cx="11125200" cy="60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38" name="Rectangle 232137">
            <a:extLst>
              <a:ext uri="{FF2B5EF4-FFF2-40B4-BE49-F238E27FC236}">
                <a16:creationId xmlns:a16="http://schemas.microsoft.com/office/drawing/2014/main" id="{F0FBD435-4A39-AB38-68FC-3F8B07E56878}"/>
              </a:ext>
            </a:extLst>
          </p:cNvPr>
          <p:cNvSpPr/>
          <p:nvPr/>
        </p:nvSpPr>
        <p:spPr>
          <a:xfrm>
            <a:off x="609600" y="4485000"/>
            <a:ext cx="11125200" cy="220000"/>
          </a:xfrm>
          <a:prstGeom prst="rect">
            <a:avLst/>
          </a:prstGeom>
          <a:solidFill>
            <a:srgbClr val="FFFFFF">
              <a:alpha val="3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47" name="Rectangle 232146">
            <a:extLst>
              <a:ext uri="{FF2B5EF4-FFF2-40B4-BE49-F238E27FC236}">
                <a16:creationId xmlns:a16="http://schemas.microsoft.com/office/drawing/2014/main" id="{9666C32C-7898-C75B-60EB-38B7E9DF2E15}"/>
              </a:ext>
            </a:extLst>
          </p:cNvPr>
          <p:cNvSpPr/>
          <p:nvPr/>
        </p:nvSpPr>
        <p:spPr>
          <a:xfrm>
            <a:off x="609600" y="473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57" name="Rectangle 232156">
            <a:extLst>
              <a:ext uri="{FF2B5EF4-FFF2-40B4-BE49-F238E27FC236}">
                <a16:creationId xmlns:a16="http://schemas.microsoft.com/office/drawing/2014/main" id="{C260A064-4A40-3A9B-E2A3-38EFC4E15907}"/>
              </a:ext>
            </a:extLst>
          </p:cNvPr>
          <p:cNvSpPr/>
          <p:nvPr/>
        </p:nvSpPr>
        <p:spPr>
          <a:xfrm>
            <a:off x="609600" y="5095000"/>
            <a:ext cx="11125200" cy="220000"/>
          </a:xfrm>
          <a:prstGeom prst="rect">
            <a:avLst/>
          </a:prstGeom>
          <a:solidFill>
            <a:srgbClr val="FFFFFF">
              <a:alpha val="3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68" name="Rectangle 232167">
            <a:extLst>
              <a:ext uri="{FF2B5EF4-FFF2-40B4-BE49-F238E27FC236}">
                <a16:creationId xmlns:a16="http://schemas.microsoft.com/office/drawing/2014/main" id="{DD9B361D-13D8-5C5B-865E-701009C2538E}"/>
              </a:ext>
            </a:extLst>
          </p:cNvPr>
          <p:cNvSpPr/>
          <p:nvPr/>
        </p:nvSpPr>
        <p:spPr>
          <a:xfrm>
            <a:off x="609600" y="534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80" name="Rectangle 232179">
            <a:extLst>
              <a:ext uri="{FF2B5EF4-FFF2-40B4-BE49-F238E27FC236}">
                <a16:creationId xmlns:a16="http://schemas.microsoft.com/office/drawing/2014/main" id="{C19945BD-0593-C1C0-FE54-EF37F2771F3C}"/>
              </a:ext>
            </a:extLst>
          </p:cNvPr>
          <p:cNvSpPr/>
          <p:nvPr/>
        </p:nvSpPr>
        <p:spPr>
          <a:xfrm>
            <a:off x="609600" y="5705000"/>
            <a:ext cx="11125200" cy="330000"/>
          </a:xfrm>
          <a:prstGeom prst="rect">
            <a:avLst/>
          </a:prstGeom>
          <a:solidFill>
            <a:srgbClr val="FFFFFF">
              <a:alpha val="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93" name="Rectangle: Rounded Corners 232192">
            <a:extLst>
              <a:ext uri="{FF2B5EF4-FFF2-40B4-BE49-F238E27FC236}">
                <a16:creationId xmlns:a16="http://schemas.microsoft.com/office/drawing/2014/main" id="{1A15E6C9-F441-B31F-17F1-42FE94CDF758}"/>
              </a:ext>
            </a:extLst>
          </p:cNvPr>
          <p:cNvSpPr/>
          <p:nvPr/>
        </p:nvSpPr>
        <p:spPr>
          <a:xfrm>
            <a:off x="1670000" y="2275000"/>
            <a:ext cx="600000" cy="33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B1020"/>
                </a:solidFill>
                <a:effectLst/>
                <a:latin typeface="Segoe UI" panose="020B0502040204020203" pitchFamily="34" charset="0"/>
              </a:rPr>
              <a:t>M1</a:t>
            </a:r>
            <a:endParaRPr lang="en-US"/>
          </a:p>
        </p:txBody>
      </p:sp>
      <p:sp>
        <p:nvSpPr>
          <p:cNvPr id="232207" name="Rectangle: Rounded Corners 232206">
            <a:extLst>
              <a:ext uri="{FF2B5EF4-FFF2-40B4-BE49-F238E27FC236}">
                <a16:creationId xmlns:a16="http://schemas.microsoft.com/office/drawing/2014/main" id="{5CA68CBC-A515-09EF-8DF1-4D386EEBD4E0}"/>
              </a:ext>
            </a:extLst>
          </p:cNvPr>
          <p:cNvSpPr/>
          <p:nvPr/>
        </p:nvSpPr>
        <p:spPr>
          <a:xfrm>
            <a:off x="1670000" y="2635000"/>
            <a:ext cx="600000" cy="33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B1020"/>
                </a:solidFill>
                <a:effectLst/>
                <a:latin typeface="Segoe UI" panose="020B0502040204020203" pitchFamily="34" charset="0"/>
              </a:rPr>
              <a:t>M2</a:t>
            </a:r>
            <a:endParaRPr lang="en-US"/>
          </a:p>
        </p:txBody>
      </p:sp>
      <p:sp>
        <p:nvSpPr>
          <p:cNvPr id="232222" name="Rectangle: Rounded Corners 232221">
            <a:extLst>
              <a:ext uri="{FF2B5EF4-FFF2-40B4-BE49-F238E27FC236}">
                <a16:creationId xmlns:a16="http://schemas.microsoft.com/office/drawing/2014/main" id="{64B0D51E-F62E-F94D-948F-1F2A3813B744}"/>
              </a:ext>
            </a:extLst>
          </p:cNvPr>
          <p:cNvSpPr/>
          <p:nvPr/>
        </p:nvSpPr>
        <p:spPr>
          <a:xfrm>
            <a:off x="1670000" y="3245000"/>
            <a:ext cx="600000" cy="330000"/>
          </a:xfrm>
          <a:prstGeom prst="roundRect">
            <a:avLst/>
          </a:prstGeom>
          <a:solidFill>
            <a:srgbClr val="FF00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B1020"/>
                </a:solidFill>
                <a:effectLst/>
                <a:latin typeface="Segoe UI" panose="020B0502040204020203" pitchFamily="34" charset="0"/>
              </a:rPr>
              <a:t>M3</a:t>
            </a:r>
            <a:endParaRPr lang="en-US"/>
          </a:p>
        </p:txBody>
      </p:sp>
      <p:sp>
        <p:nvSpPr>
          <p:cNvPr id="232238" name="Rectangle: Rounded Corners 232237">
            <a:extLst>
              <a:ext uri="{FF2B5EF4-FFF2-40B4-BE49-F238E27FC236}">
                <a16:creationId xmlns:a16="http://schemas.microsoft.com/office/drawing/2014/main" id="{CD3509C9-C343-5327-0D49-D383989F8C9B}"/>
              </a:ext>
            </a:extLst>
          </p:cNvPr>
          <p:cNvSpPr/>
          <p:nvPr/>
        </p:nvSpPr>
        <p:spPr>
          <a:xfrm>
            <a:off x="1670000" y="3990000"/>
            <a:ext cx="600000" cy="33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B1020"/>
                </a:solidFill>
                <a:effectLst/>
                <a:latin typeface="Segoe UI" panose="020B0502040204020203" pitchFamily="34" charset="0"/>
              </a:rPr>
              <a:t>M4</a:t>
            </a:r>
            <a:endParaRPr lang="en-US"/>
          </a:p>
        </p:txBody>
      </p:sp>
      <p:sp>
        <p:nvSpPr>
          <p:cNvPr id="232255" name="Rectangle: Rounded Corners 232254">
            <a:extLst>
              <a:ext uri="{FF2B5EF4-FFF2-40B4-BE49-F238E27FC236}">
                <a16:creationId xmlns:a16="http://schemas.microsoft.com/office/drawing/2014/main" id="{B1A04D2C-1D77-3E7C-0D72-047943359798}"/>
              </a:ext>
            </a:extLst>
          </p:cNvPr>
          <p:cNvSpPr/>
          <p:nvPr/>
        </p:nvSpPr>
        <p:spPr>
          <a:xfrm>
            <a:off x="1670000" y="4735000"/>
            <a:ext cx="600000" cy="33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B1020"/>
                </a:solidFill>
                <a:effectLst/>
                <a:latin typeface="Segoe UI" panose="020B0502040204020203" pitchFamily="34" charset="0"/>
              </a:rPr>
              <a:t>M5</a:t>
            </a:r>
            <a:endParaRPr lang="en-US"/>
          </a:p>
        </p:txBody>
      </p:sp>
      <p:sp>
        <p:nvSpPr>
          <p:cNvPr id="232273" name="Rectangle: Rounded Corners 232272">
            <a:extLst>
              <a:ext uri="{FF2B5EF4-FFF2-40B4-BE49-F238E27FC236}">
                <a16:creationId xmlns:a16="http://schemas.microsoft.com/office/drawing/2014/main" id="{AF43BD63-5285-9600-17BD-F0285147E708}"/>
              </a:ext>
            </a:extLst>
          </p:cNvPr>
          <p:cNvSpPr/>
          <p:nvPr/>
        </p:nvSpPr>
        <p:spPr>
          <a:xfrm>
            <a:off x="1670000" y="5345000"/>
            <a:ext cx="600000" cy="33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B1020"/>
                </a:solidFill>
                <a:effectLst/>
                <a:latin typeface="Segoe UI" panose="020B0502040204020203" pitchFamily="34" charset="0"/>
              </a:rPr>
              <a:t>M6</a:t>
            </a:r>
            <a:endParaRPr lang="en-US"/>
          </a:p>
        </p:txBody>
      </p:sp>
      <p:sp>
        <p:nvSpPr>
          <p:cNvPr id="236697" name="Rectangle 236696">
            <a:extLst>
              <a:ext uri="{FF2B5EF4-FFF2-40B4-BE49-F238E27FC236}">
                <a16:creationId xmlns:a16="http://schemas.microsoft.com/office/drawing/2014/main" id="{C6FCEF96-6905-52E6-7250-7CD8B1AC97C4}"/>
              </a:ext>
            </a:extLst>
          </p:cNvPr>
          <p:cNvSpPr/>
          <p:nvPr/>
        </p:nvSpPr>
        <p:spPr>
          <a:xfrm>
            <a:off x="2310000" y="186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Welcome and introduction</a:t>
            </a:r>
          </a:p>
          <a:p>
            <a:pPr algn="l">
              <a:buNone/>
            </a:pPr>
            <a:r>
              <a:rPr lang="en-US" sz="100">
                <a:effectLst/>
              </a:rPr>
              <a:t> </a:t>
            </a:r>
            <a:endParaRPr lang="en-US"/>
          </a:p>
        </p:txBody>
      </p:sp>
      <p:sp>
        <p:nvSpPr>
          <p:cNvPr id="236699" name="Rectangle 236698">
            <a:extLst>
              <a:ext uri="{FF2B5EF4-FFF2-40B4-BE49-F238E27FC236}">
                <a16:creationId xmlns:a16="http://schemas.microsoft.com/office/drawing/2014/main" id="{1E71EC39-5E98-33C7-6300-716D1A18D9E9}"/>
              </a:ext>
            </a:extLst>
          </p:cNvPr>
          <p:cNvSpPr/>
          <p:nvPr/>
        </p:nvSpPr>
        <p:spPr>
          <a:xfrm>
            <a:off x="6930000" y="186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All</a:t>
            </a:r>
          </a:p>
          <a:p>
            <a:pPr algn="l">
              <a:buNone/>
            </a:pPr>
            <a:r>
              <a:rPr lang="en-US" sz="100">
                <a:effectLst/>
              </a:rPr>
              <a:t> </a:t>
            </a:r>
            <a:endParaRPr lang="en-US"/>
          </a:p>
        </p:txBody>
      </p:sp>
      <p:sp>
        <p:nvSpPr>
          <p:cNvPr id="236702" name="Rectangle 236701">
            <a:extLst>
              <a:ext uri="{FF2B5EF4-FFF2-40B4-BE49-F238E27FC236}">
                <a16:creationId xmlns:a16="http://schemas.microsoft.com/office/drawing/2014/main" id="{99D1AB76-C5B3-4E5D-337A-404DBACE969A}"/>
              </a:ext>
            </a:extLst>
          </p:cNvPr>
          <p:cNvSpPr/>
          <p:nvPr/>
        </p:nvSpPr>
        <p:spPr>
          <a:xfrm>
            <a:off x="8960000" y="186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latin typeface="Segoe UI" panose="020B0502040204020203" pitchFamily="34" charset="0"/>
              </a:rPr>
              <a:t>2</a:t>
            </a:r>
            <a:r>
              <a:rPr lang="en-US" sz="1600">
                <a:solidFill>
                  <a:srgbClr val="FFFFFF"/>
                </a:solidFill>
                <a:effectLst/>
                <a:latin typeface="Segoe UI" panose="020B0502040204020203" pitchFamily="34" charset="0"/>
              </a:rPr>
              <a:t>0 min</a:t>
            </a:r>
            <a:endParaRPr lang="en-US"/>
          </a:p>
        </p:txBody>
      </p:sp>
      <p:sp>
        <p:nvSpPr>
          <p:cNvPr id="236706" name="Rectangle 236705">
            <a:extLst>
              <a:ext uri="{FF2B5EF4-FFF2-40B4-BE49-F238E27FC236}">
                <a16:creationId xmlns:a16="http://schemas.microsoft.com/office/drawing/2014/main" id="{B581E7D1-C373-DF29-3071-9A0035C785E7}"/>
              </a:ext>
            </a:extLst>
          </p:cNvPr>
          <p:cNvSpPr/>
          <p:nvPr/>
        </p:nvSpPr>
        <p:spPr>
          <a:xfrm>
            <a:off x="2310000" y="222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Scenario overview and environment</a:t>
            </a:r>
          </a:p>
          <a:p>
            <a:pPr algn="l">
              <a:buNone/>
            </a:pPr>
            <a:r>
              <a:rPr lang="en-US" sz="100">
                <a:effectLst/>
              </a:rPr>
              <a:t> </a:t>
            </a:r>
            <a:endParaRPr lang="en-US"/>
          </a:p>
        </p:txBody>
      </p:sp>
      <p:sp>
        <p:nvSpPr>
          <p:cNvPr id="236711" name="Rectangle 236710">
            <a:extLst>
              <a:ext uri="{FF2B5EF4-FFF2-40B4-BE49-F238E27FC236}">
                <a16:creationId xmlns:a16="http://schemas.microsoft.com/office/drawing/2014/main" id="{97DC8607-5539-168E-C33E-EAC0DCFFA563}"/>
              </a:ext>
            </a:extLst>
          </p:cNvPr>
          <p:cNvSpPr/>
          <p:nvPr/>
        </p:nvSpPr>
        <p:spPr>
          <a:xfrm>
            <a:off x="6930000" y="222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Olivier</a:t>
            </a:r>
          </a:p>
          <a:p>
            <a:pPr algn="l">
              <a:buNone/>
            </a:pPr>
            <a:r>
              <a:rPr lang="en-US" sz="100">
                <a:effectLst/>
              </a:rPr>
              <a:t> </a:t>
            </a:r>
            <a:endParaRPr lang="en-US"/>
          </a:p>
        </p:txBody>
      </p:sp>
      <p:sp>
        <p:nvSpPr>
          <p:cNvPr id="236717" name="Rectangle 236716">
            <a:extLst>
              <a:ext uri="{FF2B5EF4-FFF2-40B4-BE49-F238E27FC236}">
                <a16:creationId xmlns:a16="http://schemas.microsoft.com/office/drawing/2014/main" id="{DB316CD6-460E-574D-FD73-DBA0A9003681}"/>
              </a:ext>
            </a:extLst>
          </p:cNvPr>
          <p:cNvSpPr/>
          <p:nvPr/>
        </p:nvSpPr>
        <p:spPr>
          <a:xfrm>
            <a:off x="8960000" y="222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latin typeface="Segoe UI" panose="020B0502040204020203" pitchFamily="34" charset="0"/>
              </a:rPr>
              <a:t>2</a:t>
            </a:r>
            <a:r>
              <a:rPr lang="en-US" sz="1600">
                <a:solidFill>
                  <a:srgbClr val="FFFFFF"/>
                </a:solidFill>
                <a:effectLst/>
                <a:latin typeface="Segoe UI" panose="020B0502040204020203" pitchFamily="34" charset="0"/>
              </a:rPr>
              <a:t>5 min</a:t>
            </a:r>
          </a:p>
          <a:p>
            <a:pPr algn="l">
              <a:buNone/>
            </a:pPr>
            <a:r>
              <a:rPr lang="en-US" sz="100">
                <a:effectLst/>
              </a:rPr>
              <a:t> </a:t>
            </a:r>
            <a:endParaRPr lang="en-US"/>
          </a:p>
        </p:txBody>
      </p:sp>
      <p:sp>
        <p:nvSpPr>
          <p:cNvPr id="236724" name="Rectangle 236723">
            <a:extLst>
              <a:ext uri="{FF2B5EF4-FFF2-40B4-BE49-F238E27FC236}">
                <a16:creationId xmlns:a16="http://schemas.microsoft.com/office/drawing/2014/main" id="{1C0298E6-7AE4-D1FA-9902-50F5D1B654B7}"/>
              </a:ext>
            </a:extLst>
          </p:cNvPr>
          <p:cNvSpPr/>
          <p:nvPr/>
        </p:nvSpPr>
        <p:spPr>
          <a:xfrm>
            <a:off x="2310000" y="258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Building the Control Tower</a:t>
            </a:r>
          </a:p>
          <a:p>
            <a:pPr algn="l">
              <a:buNone/>
            </a:pPr>
            <a:r>
              <a:rPr lang="en-US" sz="100">
                <a:effectLst/>
              </a:rPr>
              <a:t> </a:t>
            </a:r>
            <a:endParaRPr lang="en-US"/>
          </a:p>
        </p:txBody>
      </p:sp>
      <p:sp>
        <p:nvSpPr>
          <p:cNvPr id="236732" name="Rectangle 236731">
            <a:extLst>
              <a:ext uri="{FF2B5EF4-FFF2-40B4-BE49-F238E27FC236}">
                <a16:creationId xmlns:a16="http://schemas.microsoft.com/office/drawing/2014/main" id="{93628C27-8F68-E4D7-D6EE-97E3D02A9E62}"/>
              </a:ext>
            </a:extLst>
          </p:cNvPr>
          <p:cNvSpPr/>
          <p:nvPr/>
        </p:nvSpPr>
        <p:spPr>
          <a:xfrm>
            <a:off x="6930000" y="258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Adrian</a:t>
            </a:r>
          </a:p>
          <a:p>
            <a:pPr algn="l">
              <a:buNone/>
            </a:pPr>
            <a:r>
              <a:rPr lang="en-US" sz="100">
                <a:effectLst/>
              </a:rPr>
              <a:t> </a:t>
            </a:r>
            <a:endParaRPr lang="en-US"/>
          </a:p>
        </p:txBody>
      </p:sp>
      <p:sp>
        <p:nvSpPr>
          <p:cNvPr id="236741" name="Rectangle 236740">
            <a:extLst>
              <a:ext uri="{FF2B5EF4-FFF2-40B4-BE49-F238E27FC236}">
                <a16:creationId xmlns:a16="http://schemas.microsoft.com/office/drawing/2014/main" id="{D186E907-11EA-C6C0-1029-BA2142398B3B}"/>
              </a:ext>
            </a:extLst>
          </p:cNvPr>
          <p:cNvSpPr/>
          <p:nvPr/>
        </p:nvSpPr>
        <p:spPr>
          <a:xfrm>
            <a:off x="8960000" y="258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latin typeface="Segoe UI" panose="020B0502040204020203" pitchFamily="34" charset="0"/>
              </a:rPr>
              <a:t>60</a:t>
            </a:r>
            <a:r>
              <a:rPr lang="en-US" sz="1600">
                <a:solidFill>
                  <a:srgbClr val="FFFFFF"/>
                </a:solidFill>
                <a:effectLst/>
                <a:latin typeface="Segoe UI" panose="020B0502040204020203" pitchFamily="34" charset="0"/>
              </a:rPr>
              <a:t> min</a:t>
            </a:r>
          </a:p>
          <a:p>
            <a:pPr algn="l">
              <a:buNone/>
            </a:pPr>
            <a:r>
              <a:rPr lang="en-US" sz="100">
                <a:effectLst/>
              </a:rPr>
              <a:t> </a:t>
            </a:r>
            <a:endParaRPr lang="en-US"/>
          </a:p>
        </p:txBody>
      </p:sp>
      <p:sp>
        <p:nvSpPr>
          <p:cNvPr id="236751" name="Rectangle 236750">
            <a:extLst>
              <a:ext uri="{FF2B5EF4-FFF2-40B4-BE49-F238E27FC236}">
                <a16:creationId xmlns:a16="http://schemas.microsoft.com/office/drawing/2014/main" id="{834CFA1F-6CE9-DFA9-EDAA-D339657E299D}"/>
              </a:ext>
            </a:extLst>
          </p:cNvPr>
          <p:cNvSpPr/>
          <p:nvPr/>
        </p:nvSpPr>
        <p:spPr>
          <a:xfrm>
            <a:off x="2310000" y="2885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Break</a:t>
            </a:r>
          </a:p>
          <a:p>
            <a:pPr algn="l">
              <a:buNone/>
            </a:pPr>
            <a:r>
              <a:rPr lang="en-US" sz="100">
                <a:effectLst/>
              </a:rPr>
              <a:t> </a:t>
            </a:r>
            <a:endParaRPr lang="en-US"/>
          </a:p>
        </p:txBody>
      </p:sp>
      <p:sp>
        <p:nvSpPr>
          <p:cNvPr id="236762" name="Rectangle 236761">
            <a:extLst>
              <a:ext uri="{FF2B5EF4-FFF2-40B4-BE49-F238E27FC236}">
                <a16:creationId xmlns:a16="http://schemas.microsoft.com/office/drawing/2014/main" id="{BD8A888B-A896-E756-AEB6-51D01D45D64D}"/>
              </a:ext>
            </a:extLst>
          </p:cNvPr>
          <p:cNvSpPr/>
          <p:nvPr/>
        </p:nvSpPr>
        <p:spPr>
          <a:xfrm>
            <a:off x="2310000" y="319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Intake and live impact (cloud flows + AI prompts)</a:t>
            </a:r>
          </a:p>
          <a:p>
            <a:pPr algn="l">
              <a:buNone/>
            </a:pPr>
            <a:r>
              <a:rPr lang="en-US" sz="100">
                <a:effectLst/>
              </a:rPr>
              <a:t> </a:t>
            </a:r>
            <a:endParaRPr lang="en-US"/>
          </a:p>
        </p:txBody>
      </p:sp>
      <p:sp>
        <p:nvSpPr>
          <p:cNvPr id="236774" name="Rectangle 236773">
            <a:extLst>
              <a:ext uri="{FF2B5EF4-FFF2-40B4-BE49-F238E27FC236}">
                <a16:creationId xmlns:a16="http://schemas.microsoft.com/office/drawing/2014/main" id="{59868777-DB7B-3461-5A63-F892E7294B72}"/>
              </a:ext>
            </a:extLst>
          </p:cNvPr>
          <p:cNvSpPr/>
          <p:nvPr/>
        </p:nvSpPr>
        <p:spPr>
          <a:xfrm>
            <a:off x="6930000" y="319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Rasika</a:t>
            </a:r>
          </a:p>
          <a:p>
            <a:pPr algn="l">
              <a:buNone/>
            </a:pPr>
            <a:r>
              <a:rPr lang="en-US" sz="100">
                <a:effectLst/>
              </a:rPr>
              <a:t> </a:t>
            </a:r>
            <a:endParaRPr lang="en-US"/>
          </a:p>
        </p:txBody>
      </p:sp>
      <p:sp>
        <p:nvSpPr>
          <p:cNvPr id="236787" name="Rectangle 236786">
            <a:extLst>
              <a:ext uri="{FF2B5EF4-FFF2-40B4-BE49-F238E27FC236}">
                <a16:creationId xmlns:a16="http://schemas.microsoft.com/office/drawing/2014/main" id="{2E3199C7-C9FA-3977-81C6-88E7BC2D4DCF}"/>
              </a:ext>
            </a:extLst>
          </p:cNvPr>
          <p:cNvSpPr/>
          <p:nvPr/>
        </p:nvSpPr>
        <p:spPr>
          <a:xfrm>
            <a:off x="8960000" y="319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60 min</a:t>
            </a:r>
          </a:p>
          <a:p>
            <a:pPr algn="l">
              <a:buNone/>
            </a:pPr>
            <a:r>
              <a:rPr lang="en-US" sz="100">
                <a:effectLst/>
              </a:rPr>
              <a:t> </a:t>
            </a:r>
            <a:endParaRPr lang="en-US"/>
          </a:p>
        </p:txBody>
      </p:sp>
      <p:sp>
        <p:nvSpPr>
          <p:cNvPr id="236801" name="Rectangle 236800">
            <a:extLst>
              <a:ext uri="{FF2B5EF4-FFF2-40B4-BE49-F238E27FC236}">
                <a16:creationId xmlns:a16="http://schemas.microsoft.com/office/drawing/2014/main" id="{72CC493E-FED6-0755-6266-DC99B5159B08}"/>
              </a:ext>
            </a:extLst>
          </p:cNvPr>
          <p:cNvSpPr/>
          <p:nvPr/>
        </p:nvSpPr>
        <p:spPr>
          <a:xfrm>
            <a:off x="2310000" y="3495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Lunch</a:t>
            </a:r>
          </a:p>
          <a:p>
            <a:pPr algn="l">
              <a:buNone/>
            </a:pPr>
            <a:r>
              <a:rPr lang="en-US" sz="100">
                <a:effectLst/>
              </a:rPr>
              <a:t> </a:t>
            </a:r>
            <a:endParaRPr lang="en-US"/>
          </a:p>
        </p:txBody>
      </p:sp>
      <p:sp>
        <p:nvSpPr>
          <p:cNvPr id="236816" name="Rectangle 236815">
            <a:extLst>
              <a:ext uri="{FF2B5EF4-FFF2-40B4-BE49-F238E27FC236}">
                <a16:creationId xmlns:a16="http://schemas.microsoft.com/office/drawing/2014/main" id="{53EA5607-8095-EFBC-7154-9E9ABC5E49D7}"/>
              </a:ext>
            </a:extLst>
          </p:cNvPr>
          <p:cNvSpPr/>
          <p:nvPr/>
        </p:nvSpPr>
        <p:spPr>
          <a:xfrm>
            <a:off x="2310000" y="3785000"/>
            <a:ext cx="4620000"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Policy, bounded reasoning, and human supervision</a:t>
            </a:r>
          </a:p>
          <a:p>
            <a:pPr algn="l">
              <a:buNone/>
            </a:pPr>
            <a:r>
              <a:rPr lang="en-US" sz="100">
                <a:effectLst/>
              </a:rPr>
              <a:t> </a:t>
            </a:r>
            <a:endParaRPr lang="en-US"/>
          </a:p>
        </p:txBody>
      </p:sp>
      <p:sp>
        <p:nvSpPr>
          <p:cNvPr id="236832" name="Rectangle 236831">
            <a:extLst>
              <a:ext uri="{FF2B5EF4-FFF2-40B4-BE49-F238E27FC236}">
                <a16:creationId xmlns:a16="http://schemas.microsoft.com/office/drawing/2014/main" id="{5FB76B98-D1F7-6AE5-5FFB-9A3E3ED6131B}"/>
              </a:ext>
            </a:extLst>
          </p:cNvPr>
          <p:cNvSpPr/>
          <p:nvPr/>
        </p:nvSpPr>
        <p:spPr>
          <a:xfrm>
            <a:off x="2310000" y="4375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Break</a:t>
            </a:r>
          </a:p>
          <a:p>
            <a:pPr algn="l">
              <a:buNone/>
            </a:pPr>
            <a:r>
              <a:rPr lang="en-US" sz="100">
                <a:effectLst/>
              </a:rPr>
              <a:t> </a:t>
            </a:r>
            <a:endParaRPr lang="en-US"/>
          </a:p>
        </p:txBody>
      </p:sp>
      <p:sp>
        <p:nvSpPr>
          <p:cNvPr id="236849" name="Rectangle 236848">
            <a:extLst>
              <a:ext uri="{FF2B5EF4-FFF2-40B4-BE49-F238E27FC236}">
                <a16:creationId xmlns:a16="http://schemas.microsoft.com/office/drawing/2014/main" id="{B2DCC027-C44A-403C-226E-AF1E212D1392}"/>
              </a:ext>
            </a:extLst>
          </p:cNvPr>
          <p:cNvSpPr/>
          <p:nvPr/>
        </p:nvSpPr>
        <p:spPr>
          <a:xfrm>
            <a:off x="2310000" y="468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Carrier agent and governed recovery</a:t>
            </a:r>
          </a:p>
          <a:p>
            <a:pPr algn="l">
              <a:buNone/>
            </a:pPr>
            <a:r>
              <a:rPr lang="en-US" sz="100">
                <a:effectLst/>
              </a:rPr>
              <a:t> </a:t>
            </a:r>
            <a:endParaRPr lang="en-US"/>
          </a:p>
        </p:txBody>
      </p:sp>
      <p:sp>
        <p:nvSpPr>
          <p:cNvPr id="236867" name="Rectangle 236866">
            <a:extLst>
              <a:ext uri="{FF2B5EF4-FFF2-40B4-BE49-F238E27FC236}">
                <a16:creationId xmlns:a16="http://schemas.microsoft.com/office/drawing/2014/main" id="{E649F77B-EE8F-753B-FD32-F6764031E55C}"/>
              </a:ext>
            </a:extLst>
          </p:cNvPr>
          <p:cNvSpPr/>
          <p:nvPr/>
        </p:nvSpPr>
        <p:spPr>
          <a:xfrm>
            <a:off x="6930000" y="468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Jay</a:t>
            </a:r>
          </a:p>
          <a:p>
            <a:pPr algn="l">
              <a:buNone/>
            </a:pPr>
            <a:r>
              <a:rPr lang="en-US" sz="100">
                <a:effectLst/>
              </a:rPr>
              <a:t> </a:t>
            </a:r>
            <a:endParaRPr lang="en-US"/>
          </a:p>
        </p:txBody>
      </p:sp>
      <p:sp>
        <p:nvSpPr>
          <p:cNvPr id="236886" name="Rectangle 236885">
            <a:extLst>
              <a:ext uri="{FF2B5EF4-FFF2-40B4-BE49-F238E27FC236}">
                <a16:creationId xmlns:a16="http://schemas.microsoft.com/office/drawing/2014/main" id="{F07DA5B5-59EB-FCE7-FDD5-37FAE67D0E5D}"/>
              </a:ext>
            </a:extLst>
          </p:cNvPr>
          <p:cNvSpPr/>
          <p:nvPr/>
        </p:nvSpPr>
        <p:spPr>
          <a:xfrm>
            <a:off x="8960000" y="468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60 min</a:t>
            </a:r>
          </a:p>
          <a:p>
            <a:pPr algn="l">
              <a:buNone/>
            </a:pPr>
            <a:r>
              <a:rPr lang="en-US" sz="100">
                <a:effectLst/>
              </a:rPr>
              <a:t> </a:t>
            </a:r>
            <a:endParaRPr lang="en-US"/>
          </a:p>
        </p:txBody>
      </p:sp>
      <p:sp>
        <p:nvSpPr>
          <p:cNvPr id="236906" name="Rectangle 236905">
            <a:extLst>
              <a:ext uri="{FF2B5EF4-FFF2-40B4-BE49-F238E27FC236}">
                <a16:creationId xmlns:a16="http://schemas.microsoft.com/office/drawing/2014/main" id="{969A1D71-6E98-D933-6DD8-C1F750854BE1}"/>
              </a:ext>
            </a:extLst>
          </p:cNvPr>
          <p:cNvSpPr/>
          <p:nvPr/>
        </p:nvSpPr>
        <p:spPr>
          <a:xfrm>
            <a:off x="2310000" y="4985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Break</a:t>
            </a:r>
          </a:p>
          <a:p>
            <a:pPr algn="l">
              <a:buNone/>
            </a:pPr>
            <a:r>
              <a:rPr lang="en-US" sz="100">
                <a:effectLst/>
              </a:rPr>
              <a:t> </a:t>
            </a:r>
            <a:endParaRPr lang="en-US"/>
          </a:p>
        </p:txBody>
      </p:sp>
      <p:sp>
        <p:nvSpPr>
          <p:cNvPr id="236927" name="Rectangle 236926">
            <a:extLst>
              <a:ext uri="{FF2B5EF4-FFF2-40B4-BE49-F238E27FC236}">
                <a16:creationId xmlns:a16="http://schemas.microsoft.com/office/drawing/2014/main" id="{F8DD457A-3C1B-4617-9EBF-4CA8E2E719C1}"/>
              </a:ext>
            </a:extLst>
          </p:cNvPr>
          <p:cNvSpPr/>
          <p:nvPr/>
        </p:nvSpPr>
        <p:spPr>
          <a:xfrm>
            <a:off x="2310000" y="529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a:solidFill>
                  <a:srgbClr val="FFFFFF"/>
                </a:solidFill>
                <a:latin typeface="Segoe UI"/>
                <a:cs typeface="Segoe UI"/>
              </a:rPr>
              <a:t>Deploy the Control Tower </a:t>
            </a:r>
            <a:endParaRPr lang="en-US"/>
          </a:p>
        </p:txBody>
      </p:sp>
      <p:sp>
        <p:nvSpPr>
          <p:cNvPr id="236949" name="Rectangle 236948">
            <a:extLst>
              <a:ext uri="{FF2B5EF4-FFF2-40B4-BE49-F238E27FC236}">
                <a16:creationId xmlns:a16="http://schemas.microsoft.com/office/drawing/2014/main" id="{50F146D8-E4C9-C782-62C6-8E137789EE2C}"/>
              </a:ext>
            </a:extLst>
          </p:cNvPr>
          <p:cNvSpPr/>
          <p:nvPr/>
        </p:nvSpPr>
        <p:spPr>
          <a:xfrm>
            <a:off x="6930000" y="529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Warren</a:t>
            </a:r>
          </a:p>
          <a:p>
            <a:pPr algn="l">
              <a:buNone/>
            </a:pPr>
            <a:r>
              <a:rPr lang="en-US" sz="100">
                <a:effectLst/>
              </a:rPr>
              <a:t> </a:t>
            </a:r>
            <a:endParaRPr lang="en-US"/>
          </a:p>
        </p:txBody>
      </p:sp>
      <p:sp>
        <p:nvSpPr>
          <p:cNvPr id="236972" name="Rectangle 236971">
            <a:extLst>
              <a:ext uri="{FF2B5EF4-FFF2-40B4-BE49-F238E27FC236}">
                <a16:creationId xmlns:a16="http://schemas.microsoft.com/office/drawing/2014/main" id="{F1F6A632-45DB-F870-6057-74E7AB1FB8E0}"/>
              </a:ext>
            </a:extLst>
          </p:cNvPr>
          <p:cNvSpPr/>
          <p:nvPr/>
        </p:nvSpPr>
        <p:spPr>
          <a:xfrm>
            <a:off x="8960000" y="529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latin typeface="Segoe UI" panose="020B0502040204020203" pitchFamily="34" charset="0"/>
              </a:rPr>
              <a:t>30</a:t>
            </a:r>
            <a:r>
              <a:rPr lang="en-US" sz="1600">
                <a:solidFill>
                  <a:srgbClr val="FFFFFF"/>
                </a:solidFill>
                <a:effectLst/>
                <a:latin typeface="Segoe UI" panose="020B0502040204020203" pitchFamily="34" charset="0"/>
              </a:rPr>
              <a:t> min</a:t>
            </a:r>
            <a:endParaRPr lang="en-US"/>
          </a:p>
        </p:txBody>
      </p:sp>
      <p:sp>
        <p:nvSpPr>
          <p:cNvPr id="236996" name="Rectangle 236995">
            <a:extLst>
              <a:ext uri="{FF2B5EF4-FFF2-40B4-BE49-F238E27FC236}">
                <a16:creationId xmlns:a16="http://schemas.microsoft.com/office/drawing/2014/main" id="{862ED492-BD16-7FEB-6239-3E28B5EE112A}"/>
              </a:ext>
            </a:extLst>
          </p:cNvPr>
          <p:cNvSpPr/>
          <p:nvPr/>
        </p:nvSpPr>
        <p:spPr>
          <a:xfrm>
            <a:off x="2310000" y="5650544"/>
            <a:ext cx="46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Recap and Q&amp;A</a:t>
            </a:r>
          </a:p>
          <a:p>
            <a:pPr algn="l">
              <a:buNone/>
            </a:pPr>
            <a:r>
              <a:rPr lang="en-US" sz="100">
                <a:effectLst/>
              </a:rPr>
              <a:t> </a:t>
            </a:r>
            <a:endParaRPr lang="en-US"/>
          </a:p>
        </p:txBody>
      </p:sp>
      <p:sp>
        <p:nvSpPr>
          <p:cNvPr id="237021" name="Rectangle 237020">
            <a:extLst>
              <a:ext uri="{FF2B5EF4-FFF2-40B4-BE49-F238E27FC236}">
                <a16:creationId xmlns:a16="http://schemas.microsoft.com/office/drawing/2014/main" id="{3B0EA54C-32C7-3286-689E-119F5405EA5E}"/>
              </a:ext>
            </a:extLst>
          </p:cNvPr>
          <p:cNvSpPr/>
          <p:nvPr/>
        </p:nvSpPr>
        <p:spPr>
          <a:xfrm>
            <a:off x="6930000" y="5650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All</a:t>
            </a:r>
          </a:p>
          <a:p>
            <a:pPr algn="l">
              <a:buNone/>
            </a:pPr>
            <a:r>
              <a:rPr lang="en-US" sz="100">
                <a:effectLst/>
              </a:rPr>
              <a:t> </a:t>
            </a:r>
            <a:endParaRPr lang="en-US"/>
          </a:p>
        </p:txBody>
      </p:sp>
      <p:sp>
        <p:nvSpPr>
          <p:cNvPr id="237047" name="Rectangle 237046">
            <a:extLst>
              <a:ext uri="{FF2B5EF4-FFF2-40B4-BE49-F238E27FC236}">
                <a16:creationId xmlns:a16="http://schemas.microsoft.com/office/drawing/2014/main" id="{2F58E664-D0FF-1768-D734-D87049BF4BEF}"/>
              </a:ext>
            </a:extLst>
          </p:cNvPr>
          <p:cNvSpPr/>
          <p:nvPr/>
        </p:nvSpPr>
        <p:spPr>
          <a:xfrm>
            <a:off x="8960000" y="5650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latin typeface="Segoe UI" panose="020B0502040204020203" pitchFamily="34" charset="0"/>
              </a:rPr>
              <a:t>3</a:t>
            </a:r>
            <a:r>
              <a:rPr lang="en-US" sz="1600">
                <a:solidFill>
                  <a:srgbClr val="FFFFFF"/>
                </a:solidFill>
                <a:effectLst/>
                <a:latin typeface="Segoe UI" panose="020B0502040204020203" pitchFamily="34" charset="0"/>
              </a:rPr>
              <a:t>0 min</a:t>
            </a:r>
            <a:endParaRPr lang="en-US"/>
          </a:p>
        </p:txBody>
      </p:sp>
      <p:sp>
        <p:nvSpPr>
          <p:cNvPr id="237074" name="Rectangle 237073">
            <a:extLst>
              <a:ext uri="{FF2B5EF4-FFF2-40B4-BE49-F238E27FC236}">
                <a16:creationId xmlns:a16="http://schemas.microsoft.com/office/drawing/2014/main" id="{747AECF0-08D8-28D3-8DBA-82B07345B507}"/>
              </a:ext>
            </a:extLst>
          </p:cNvPr>
          <p:cNvSpPr/>
          <p:nvPr/>
        </p:nvSpPr>
        <p:spPr>
          <a:xfrm>
            <a:off x="6930000" y="3935544"/>
            <a:ext cx="92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Nikita</a:t>
            </a:r>
          </a:p>
          <a:p>
            <a:pPr algn="l">
              <a:buNone/>
            </a:pPr>
            <a:r>
              <a:rPr lang="en-US" sz="100">
                <a:effectLst/>
              </a:rPr>
              <a:t> </a:t>
            </a:r>
            <a:endParaRPr lang="en-US"/>
          </a:p>
        </p:txBody>
      </p:sp>
      <p:sp>
        <p:nvSpPr>
          <p:cNvPr id="237102" name="Rectangle 237101">
            <a:extLst>
              <a:ext uri="{FF2B5EF4-FFF2-40B4-BE49-F238E27FC236}">
                <a16:creationId xmlns:a16="http://schemas.microsoft.com/office/drawing/2014/main" id="{A7775652-91A9-B343-FF48-5DA38A60B5CF}"/>
              </a:ext>
            </a:extLst>
          </p:cNvPr>
          <p:cNvSpPr/>
          <p:nvPr/>
        </p:nvSpPr>
        <p:spPr>
          <a:xfrm>
            <a:off x="8960000" y="3935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60 min</a:t>
            </a:r>
          </a:p>
          <a:p>
            <a:pPr algn="l">
              <a:buNone/>
            </a:pPr>
            <a:r>
              <a:rPr lang="en-US" sz="100">
                <a:effectLst/>
              </a:rPr>
              <a:t> </a:t>
            </a:r>
            <a:endParaRPr lang="en-US"/>
          </a:p>
        </p:txBody>
      </p:sp>
      <p:sp>
        <p:nvSpPr>
          <p:cNvPr id="237103" name="Header Products">
            <a:extLst>
              <a:ext uri="{FF2B5EF4-FFF2-40B4-BE49-F238E27FC236}">
                <a16:creationId xmlns:a16="http://schemas.microsoft.com/office/drawing/2014/main" id="{7553AC5C-2D23-A9C9-ACE5-AF91D3CCBC50}"/>
              </a:ext>
            </a:extLst>
          </p:cNvPr>
          <p:cNvSpPr/>
          <p:nvPr/>
        </p:nvSpPr>
        <p:spPr>
          <a:xfrm>
            <a:off x="7790000" y="1575000"/>
            <a:ext cx="122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50">
                <a:solidFill>
                  <a:srgbClr val="D6D2E8"/>
                </a:solidFill>
                <a:effectLst/>
                <a:latin typeface="Segoe UI" panose="020B0502040204020203" pitchFamily="34" charset="0"/>
              </a:rPr>
              <a:t>PRODUCTS</a:t>
            </a:r>
          </a:p>
          <a:p>
            <a:pPr algn="l">
              <a:buNone/>
            </a:pPr>
            <a:r>
              <a:rPr lang="en-US" sz="100">
                <a:effectLst/>
              </a:rPr>
              <a:t> </a:t>
            </a:r>
            <a:endParaRPr lang="en-US"/>
          </a:p>
        </p:txBody>
      </p:sp>
      <p:sp>
        <p:nvSpPr>
          <p:cNvPr id="237105" name="Legend label Power Apps">
            <a:extLst>
              <a:ext uri="{FF2B5EF4-FFF2-40B4-BE49-F238E27FC236}">
                <a16:creationId xmlns:a16="http://schemas.microsoft.com/office/drawing/2014/main" id="{B1BF8CD7-8830-5633-CD31-A4BB13E3918A}"/>
              </a:ext>
            </a:extLst>
          </p:cNvPr>
          <p:cNvSpPr/>
          <p:nvPr/>
        </p:nvSpPr>
        <p:spPr>
          <a:xfrm>
            <a:off x="920496" y="6044136"/>
            <a:ext cx="1090674"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Power Apps</a:t>
            </a:r>
          </a:p>
          <a:p>
            <a:pPr algn="l">
              <a:buNone/>
            </a:pPr>
            <a:r>
              <a:rPr lang="en-US" sz="100">
                <a:effectLst/>
              </a:rPr>
              <a:t> </a:t>
            </a:r>
            <a:endParaRPr lang="en-US"/>
          </a:p>
        </p:txBody>
      </p:sp>
      <p:sp>
        <p:nvSpPr>
          <p:cNvPr id="237108" name="Legend label Dataverse">
            <a:extLst>
              <a:ext uri="{FF2B5EF4-FFF2-40B4-BE49-F238E27FC236}">
                <a16:creationId xmlns:a16="http://schemas.microsoft.com/office/drawing/2014/main" id="{05296919-158A-ED4E-53B7-140C88199851}"/>
              </a:ext>
            </a:extLst>
          </p:cNvPr>
          <p:cNvSpPr/>
          <p:nvPr/>
        </p:nvSpPr>
        <p:spPr>
          <a:xfrm>
            <a:off x="2251530" y="6044136"/>
            <a:ext cx="964859"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Dataverse</a:t>
            </a:r>
          </a:p>
          <a:p>
            <a:pPr algn="l">
              <a:buNone/>
            </a:pPr>
            <a:r>
              <a:rPr lang="en-US" sz="100">
                <a:effectLst/>
              </a:rPr>
              <a:t> </a:t>
            </a:r>
            <a:endParaRPr lang="en-US"/>
          </a:p>
        </p:txBody>
      </p:sp>
      <p:sp>
        <p:nvSpPr>
          <p:cNvPr id="237112" name="Legend label Power Automate">
            <a:extLst>
              <a:ext uri="{FF2B5EF4-FFF2-40B4-BE49-F238E27FC236}">
                <a16:creationId xmlns:a16="http://schemas.microsoft.com/office/drawing/2014/main" id="{1E988EBF-DC63-22DA-96B7-01C94A566059}"/>
              </a:ext>
            </a:extLst>
          </p:cNvPr>
          <p:cNvSpPr/>
          <p:nvPr/>
        </p:nvSpPr>
        <p:spPr>
          <a:xfrm>
            <a:off x="3463040" y="6044136"/>
            <a:ext cx="1413921"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Power Automate</a:t>
            </a:r>
          </a:p>
          <a:p>
            <a:pPr algn="l">
              <a:buNone/>
            </a:pPr>
            <a:r>
              <a:rPr lang="en-US" sz="100">
                <a:effectLst/>
              </a:rPr>
              <a:t> </a:t>
            </a:r>
            <a:endParaRPr lang="en-US"/>
          </a:p>
        </p:txBody>
      </p:sp>
      <p:sp>
        <p:nvSpPr>
          <p:cNvPr id="237117" name="Legend label AI Builder">
            <a:extLst>
              <a:ext uri="{FF2B5EF4-FFF2-40B4-BE49-F238E27FC236}">
                <a16:creationId xmlns:a16="http://schemas.microsoft.com/office/drawing/2014/main" id="{054F13A6-AFF6-7073-453B-653B5D66A201}"/>
              </a:ext>
            </a:extLst>
          </p:cNvPr>
          <p:cNvSpPr/>
          <p:nvPr/>
        </p:nvSpPr>
        <p:spPr>
          <a:xfrm>
            <a:off x="5101158" y="6044136"/>
            <a:ext cx="928971"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AI Builder</a:t>
            </a:r>
          </a:p>
          <a:p>
            <a:pPr algn="l">
              <a:buNone/>
            </a:pPr>
            <a:r>
              <a:rPr lang="en-US" sz="100">
                <a:effectLst/>
              </a:rPr>
              <a:t> </a:t>
            </a:r>
            <a:endParaRPr lang="en-US"/>
          </a:p>
        </p:txBody>
      </p:sp>
      <p:sp>
        <p:nvSpPr>
          <p:cNvPr id="237123" name="Legend label Copilot Studio">
            <a:extLst>
              <a:ext uri="{FF2B5EF4-FFF2-40B4-BE49-F238E27FC236}">
                <a16:creationId xmlns:a16="http://schemas.microsoft.com/office/drawing/2014/main" id="{703293AB-4B53-1534-BDBD-FD03BC69BE87}"/>
              </a:ext>
            </a:extLst>
          </p:cNvPr>
          <p:cNvSpPr/>
          <p:nvPr/>
        </p:nvSpPr>
        <p:spPr>
          <a:xfrm>
            <a:off x="6278574" y="6044136"/>
            <a:ext cx="1234390"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Copilot Studio</a:t>
            </a:r>
          </a:p>
          <a:p>
            <a:pPr algn="l">
              <a:buNone/>
            </a:pPr>
            <a:r>
              <a:rPr lang="en-US" sz="100">
                <a:effectLst/>
              </a:rPr>
              <a:t> </a:t>
            </a:r>
            <a:endParaRPr lang="en-US"/>
          </a:p>
        </p:txBody>
      </p:sp>
      <p:sp>
        <p:nvSpPr>
          <p:cNvPr id="237130" name="Legend label Power Platform">
            <a:extLst>
              <a:ext uri="{FF2B5EF4-FFF2-40B4-BE49-F238E27FC236}">
                <a16:creationId xmlns:a16="http://schemas.microsoft.com/office/drawing/2014/main" id="{03487572-97D2-F175-44F3-6A9796E801D7}"/>
              </a:ext>
            </a:extLst>
          </p:cNvPr>
          <p:cNvSpPr/>
          <p:nvPr/>
        </p:nvSpPr>
        <p:spPr>
          <a:xfrm>
            <a:off x="7746138" y="6044136"/>
            <a:ext cx="1332834"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Power Platform</a:t>
            </a:r>
          </a:p>
          <a:p>
            <a:pPr algn="l">
              <a:buNone/>
            </a:pPr>
            <a:r>
              <a:rPr lang="en-US" sz="100">
                <a:effectLst/>
              </a:rPr>
              <a:t> </a:t>
            </a:r>
            <a:endParaRPr lang="en-US"/>
          </a:p>
        </p:txBody>
      </p:sp>
      <p:pic>
        <p:nvPicPr>
          <p:cNvPr id="237131" name="Icon M1 Power Apps" descr="Power Apps">
            <a:extLst>
              <a:ext uri="{FF2B5EF4-FFF2-40B4-BE49-F238E27FC236}">
                <a16:creationId xmlns:a16="http://schemas.microsoft.com/office/drawing/2014/main" id="{763F40E1-A007-E0C4-33BA-2A64D0064653}"/>
              </a:ext>
            </a:extLst>
          </p:cNvPr>
          <p:cNvPicPr>
            <a:picLocks noChangeAspect="1"/>
          </p:cNvPicPr>
          <p:nvPr/>
        </p:nvPicPr>
        <p:blipFill>
          <a:blip r:embed="rId3"/>
          <a:stretch>
            <a:fillRect/>
          </a:stretch>
        </p:blipFill>
        <p:spPr>
          <a:xfrm>
            <a:off x="7881440" y="2302840"/>
            <a:ext cx="274320" cy="274320"/>
          </a:xfrm>
          <a:prstGeom prst="rect">
            <a:avLst/>
          </a:prstGeom>
        </p:spPr>
      </p:pic>
      <p:pic>
        <p:nvPicPr>
          <p:cNvPr id="237132" name="Icon M1 Dataverse" descr="Dataverse">
            <a:extLst>
              <a:ext uri="{FF2B5EF4-FFF2-40B4-BE49-F238E27FC236}">
                <a16:creationId xmlns:a16="http://schemas.microsoft.com/office/drawing/2014/main" id="{D095FEDF-610C-88D0-591B-3ADB3E0CDAF7}"/>
              </a:ext>
            </a:extLst>
          </p:cNvPr>
          <p:cNvPicPr>
            <a:picLocks noChangeAspect="1"/>
          </p:cNvPicPr>
          <p:nvPr/>
        </p:nvPicPr>
        <p:blipFill>
          <a:blip r:embed="rId4"/>
          <a:stretch>
            <a:fillRect/>
          </a:stretch>
        </p:blipFill>
        <p:spPr>
          <a:xfrm>
            <a:off x="8228912" y="2302840"/>
            <a:ext cx="274320" cy="274320"/>
          </a:xfrm>
          <a:prstGeom prst="rect">
            <a:avLst/>
          </a:prstGeom>
        </p:spPr>
      </p:pic>
      <p:pic>
        <p:nvPicPr>
          <p:cNvPr id="237133" name="Icon M2 Power Apps" descr="Power Apps">
            <a:extLst>
              <a:ext uri="{FF2B5EF4-FFF2-40B4-BE49-F238E27FC236}">
                <a16:creationId xmlns:a16="http://schemas.microsoft.com/office/drawing/2014/main" id="{6E5A2720-4C16-2CFB-90B9-3DDF4B426758}"/>
              </a:ext>
            </a:extLst>
          </p:cNvPr>
          <p:cNvPicPr>
            <a:picLocks noChangeAspect="1"/>
          </p:cNvPicPr>
          <p:nvPr/>
        </p:nvPicPr>
        <p:blipFill>
          <a:blip r:embed="rId3"/>
          <a:stretch>
            <a:fillRect/>
          </a:stretch>
        </p:blipFill>
        <p:spPr>
          <a:xfrm>
            <a:off x="7881440" y="2662840"/>
            <a:ext cx="274320" cy="274320"/>
          </a:xfrm>
          <a:prstGeom prst="rect">
            <a:avLst/>
          </a:prstGeom>
        </p:spPr>
      </p:pic>
      <p:pic>
        <p:nvPicPr>
          <p:cNvPr id="237134" name="Icon M2 Dataverse" descr="Dataverse">
            <a:extLst>
              <a:ext uri="{FF2B5EF4-FFF2-40B4-BE49-F238E27FC236}">
                <a16:creationId xmlns:a16="http://schemas.microsoft.com/office/drawing/2014/main" id="{F8A1450A-B8CF-3B51-C277-9493AFAD6432}"/>
              </a:ext>
            </a:extLst>
          </p:cNvPr>
          <p:cNvPicPr>
            <a:picLocks noChangeAspect="1"/>
          </p:cNvPicPr>
          <p:nvPr/>
        </p:nvPicPr>
        <p:blipFill>
          <a:blip r:embed="rId4"/>
          <a:stretch>
            <a:fillRect/>
          </a:stretch>
        </p:blipFill>
        <p:spPr>
          <a:xfrm>
            <a:off x="8228912" y="2662840"/>
            <a:ext cx="274320" cy="274320"/>
          </a:xfrm>
          <a:prstGeom prst="rect">
            <a:avLst/>
          </a:prstGeom>
        </p:spPr>
      </p:pic>
      <p:pic>
        <p:nvPicPr>
          <p:cNvPr id="237135" name="Icon M3 Power Automate" descr="Power Automate">
            <a:extLst>
              <a:ext uri="{FF2B5EF4-FFF2-40B4-BE49-F238E27FC236}">
                <a16:creationId xmlns:a16="http://schemas.microsoft.com/office/drawing/2014/main" id="{80A351E7-315A-3F5E-C2C2-6C4C58841407}"/>
              </a:ext>
            </a:extLst>
          </p:cNvPr>
          <p:cNvPicPr>
            <a:picLocks noChangeAspect="1"/>
          </p:cNvPicPr>
          <p:nvPr/>
        </p:nvPicPr>
        <p:blipFill>
          <a:blip r:embed="rId5"/>
          <a:stretch>
            <a:fillRect/>
          </a:stretch>
        </p:blipFill>
        <p:spPr>
          <a:xfrm>
            <a:off x="7881440" y="3272840"/>
            <a:ext cx="274320" cy="274320"/>
          </a:xfrm>
          <a:prstGeom prst="rect">
            <a:avLst/>
          </a:prstGeom>
        </p:spPr>
      </p:pic>
      <p:pic>
        <p:nvPicPr>
          <p:cNvPr id="237136" name="Icon M3 AI Builder" descr="AI Builder">
            <a:extLst>
              <a:ext uri="{FF2B5EF4-FFF2-40B4-BE49-F238E27FC236}">
                <a16:creationId xmlns:a16="http://schemas.microsoft.com/office/drawing/2014/main" id="{65C29677-8B6B-0FF8-1EBD-6E82E422AAFA}"/>
              </a:ext>
            </a:extLst>
          </p:cNvPr>
          <p:cNvPicPr>
            <a:picLocks noChangeAspect="1"/>
          </p:cNvPicPr>
          <p:nvPr/>
        </p:nvPicPr>
        <p:blipFill>
          <a:blip r:embed="rId6"/>
          <a:stretch>
            <a:fillRect/>
          </a:stretch>
        </p:blipFill>
        <p:spPr>
          <a:xfrm>
            <a:off x="8228912" y="3272840"/>
            <a:ext cx="274320" cy="274320"/>
          </a:xfrm>
          <a:prstGeom prst="rect">
            <a:avLst/>
          </a:prstGeom>
        </p:spPr>
      </p:pic>
      <p:pic>
        <p:nvPicPr>
          <p:cNvPr id="237137" name="Icon M3 Dataverse" descr="Dataverse">
            <a:extLst>
              <a:ext uri="{FF2B5EF4-FFF2-40B4-BE49-F238E27FC236}">
                <a16:creationId xmlns:a16="http://schemas.microsoft.com/office/drawing/2014/main" id="{E6993819-2745-EE8C-0C3F-EEDF7D460D07}"/>
              </a:ext>
            </a:extLst>
          </p:cNvPr>
          <p:cNvPicPr>
            <a:picLocks noChangeAspect="1"/>
          </p:cNvPicPr>
          <p:nvPr/>
        </p:nvPicPr>
        <p:blipFill>
          <a:blip r:embed="rId4"/>
          <a:stretch>
            <a:fillRect/>
          </a:stretch>
        </p:blipFill>
        <p:spPr>
          <a:xfrm>
            <a:off x="8576384" y="3272840"/>
            <a:ext cx="274320" cy="274320"/>
          </a:xfrm>
          <a:prstGeom prst="rect">
            <a:avLst/>
          </a:prstGeom>
        </p:spPr>
      </p:pic>
      <p:pic>
        <p:nvPicPr>
          <p:cNvPr id="237138" name="Icon M4 Copilot Studio" descr="Copilot Studio">
            <a:extLst>
              <a:ext uri="{FF2B5EF4-FFF2-40B4-BE49-F238E27FC236}">
                <a16:creationId xmlns:a16="http://schemas.microsoft.com/office/drawing/2014/main" id="{274DD8E4-382E-95D7-9902-76F64EEDB251}"/>
              </a:ext>
            </a:extLst>
          </p:cNvPr>
          <p:cNvPicPr>
            <a:picLocks noChangeAspect="1"/>
          </p:cNvPicPr>
          <p:nvPr/>
        </p:nvPicPr>
        <p:blipFill>
          <a:blip r:embed="rId7"/>
          <a:stretch>
            <a:fillRect/>
          </a:stretch>
        </p:blipFill>
        <p:spPr>
          <a:xfrm>
            <a:off x="7881440" y="4017840"/>
            <a:ext cx="274320" cy="274320"/>
          </a:xfrm>
          <a:prstGeom prst="rect">
            <a:avLst/>
          </a:prstGeom>
        </p:spPr>
      </p:pic>
      <p:pic>
        <p:nvPicPr>
          <p:cNvPr id="237139" name="Icon M4 Dataverse" descr="Dataverse">
            <a:extLst>
              <a:ext uri="{FF2B5EF4-FFF2-40B4-BE49-F238E27FC236}">
                <a16:creationId xmlns:a16="http://schemas.microsoft.com/office/drawing/2014/main" id="{D83A866E-4524-9572-4B9F-E32AEBF82F2B}"/>
              </a:ext>
            </a:extLst>
          </p:cNvPr>
          <p:cNvPicPr>
            <a:picLocks noChangeAspect="1"/>
          </p:cNvPicPr>
          <p:nvPr/>
        </p:nvPicPr>
        <p:blipFill>
          <a:blip r:embed="rId4"/>
          <a:stretch>
            <a:fillRect/>
          </a:stretch>
        </p:blipFill>
        <p:spPr>
          <a:xfrm>
            <a:off x="8228912" y="4017840"/>
            <a:ext cx="274320" cy="274320"/>
          </a:xfrm>
          <a:prstGeom prst="rect">
            <a:avLst/>
          </a:prstGeom>
        </p:spPr>
      </p:pic>
      <p:pic>
        <p:nvPicPr>
          <p:cNvPr id="237140" name="Icon M4 Power Apps" descr="Power Apps">
            <a:extLst>
              <a:ext uri="{FF2B5EF4-FFF2-40B4-BE49-F238E27FC236}">
                <a16:creationId xmlns:a16="http://schemas.microsoft.com/office/drawing/2014/main" id="{A7065ECD-8D79-9B7D-AFE9-C71711B70805}"/>
              </a:ext>
            </a:extLst>
          </p:cNvPr>
          <p:cNvPicPr>
            <a:picLocks noChangeAspect="1"/>
          </p:cNvPicPr>
          <p:nvPr/>
        </p:nvPicPr>
        <p:blipFill>
          <a:blip r:embed="rId3"/>
          <a:stretch>
            <a:fillRect/>
          </a:stretch>
        </p:blipFill>
        <p:spPr>
          <a:xfrm>
            <a:off x="8576384" y="4017840"/>
            <a:ext cx="274320" cy="274320"/>
          </a:xfrm>
          <a:prstGeom prst="rect">
            <a:avLst/>
          </a:prstGeom>
        </p:spPr>
      </p:pic>
      <p:pic>
        <p:nvPicPr>
          <p:cNvPr id="237141" name="Icon M5 Copilot Studio" descr="Copilot Studio">
            <a:extLst>
              <a:ext uri="{FF2B5EF4-FFF2-40B4-BE49-F238E27FC236}">
                <a16:creationId xmlns:a16="http://schemas.microsoft.com/office/drawing/2014/main" id="{2333A1DF-3189-78DB-7C2F-8513C3D97913}"/>
              </a:ext>
            </a:extLst>
          </p:cNvPr>
          <p:cNvPicPr>
            <a:picLocks noChangeAspect="1"/>
          </p:cNvPicPr>
          <p:nvPr/>
        </p:nvPicPr>
        <p:blipFill>
          <a:blip r:embed="rId7"/>
          <a:stretch>
            <a:fillRect/>
          </a:stretch>
        </p:blipFill>
        <p:spPr>
          <a:xfrm>
            <a:off x="7881440" y="4762840"/>
            <a:ext cx="274320" cy="274320"/>
          </a:xfrm>
          <a:prstGeom prst="rect">
            <a:avLst/>
          </a:prstGeom>
        </p:spPr>
      </p:pic>
      <p:pic>
        <p:nvPicPr>
          <p:cNvPr id="237142" name="Icon M5 Power Automate" descr="Power Automate">
            <a:extLst>
              <a:ext uri="{FF2B5EF4-FFF2-40B4-BE49-F238E27FC236}">
                <a16:creationId xmlns:a16="http://schemas.microsoft.com/office/drawing/2014/main" id="{C4799254-8D93-82A4-EF85-D6939D991238}"/>
              </a:ext>
            </a:extLst>
          </p:cNvPr>
          <p:cNvPicPr>
            <a:picLocks noChangeAspect="1"/>
          </p:cNvPicPr>
          <p:nvPr/>
        </p:nvPicPr>
        <p:blipFill>
          <a:blip r:embed="rId5"/>
          <a:stretch>
            <a:fillRect/>
          </a:stretch>
        </p:blipFill>
        <p:spPr>
          <a:xfrm>
            <a:off x="8228912" y="4762840"/>
            <a:ext cx="274320" cy="274320"/>
          </a:xfrm>
          <a:prstGeom prst="rect">
            <a:avLst/>
          </a:prstGeom>
        </p:spPr>
      </p:pic>
      <p:pic>
        <p:nvPicPr>
          <p:cNvPr id="237143" name="Icon M5 Dataverse" descr="Dataverse">
            <a:extLst>
              <a:ext uri="{FF2B5EF4-FFF2-40B4-BE49-F238E27FC236}">
                <a16:creationId xmlns:a16="http://schemas.microsoft.com/office/drawing/2014/main" id="{91E82C15-77BD-C9E5-549D-605A242ABDCA}"/>
              </a:ext>
            </a:extLst>
          </p:cNvPr>
          <p:cNvPicPr>
            <a:picLocks noChangeAspect="1"/>
          </p:cNvPicPr>
          <p:nvPr/>
        </p:nvPicPr>
        <p:blipFill>
          <a:blip r:embed="rId4"/>
          <a:stretch>
            <a:fillRect/>
          </a:stretch>
        </p:blipFill>
        <p:spPr>
          <a:xfrm>
            <a:off x="8576384" y="4762840"/>
            <a:ext cx="274320" cy="274320"/>
          </a:xfrm>
          <a:prstGeom prst="rect">
            <a:avLst/>
          </a:prstGeom>
        </p:spPr>
      </p:pic>
      <p:pic>
        <p:nvPicPr>
          <p:cNvPr id="237144" name="Icon M6 Power Platform" descr="Power Platform">
            <a:extLst>
              <a:ext uri="{FF2B5EF4-FFF2-40B4-BE49-F238E27FC236}">
                <a16:creationId xmlns:a16="http://schemas.microsoft.com/office/drawing/2014/main" id="{E9D1D38F-3AF9-4778-7077-996984856E3C}"/>
              </a:ext>
            </a:extLst>
          </p:cNvPr>
          <p:cNvPicPr>
            <a:picLocks noChangeAspect="1"/>
          </p:cNvPicPr>
          <p:nvPr/>
        </p:nvPicPr>
        <p:blipFill>
          <a:blip r:embed="rId8"/>
          <a:stretch>
            <a:fillRect/>
          </a:stretch>
        </p:blipFill>
        <p:spPr>
          <a:xfrm>
            <a:off x="7881440" y="5372840"/>
            <a:ext cx="274320" cy="274320"/>
          </a:xfrm>
          <a:prstGeom prst="rect">
            <a:avLst/>
          </a:prstGeom>
        </p:spPr>
      </p:pic>
      <p:pic>
        <p:nvPicPr>
          <p:cNvPr id="237145" name="Icon M6 Power Apps" descr="Power Apps">
            <a:extLst>
              <a:ext uri="{FF2B5EF4-FFF2-40B4-BE49-F238E27FC236}">
                <a16:creationId xmlns:a16="http://schemas.microsoft.com/office/drawing/2014/main" id="{E5173FAC-BECF-F0A4-0CBA-DD0B79CEFF21}"/>
              </a:ext>
            </a:extLst>
          </p:cNvPr>
          <p:cNvPicPr>
            <a:picLocks noChangeAspect="1"/>
          </p:cNvPicPr>
          <p:nvPr/>
        </p:nvPicPr>
        <p:blipFill>
          <a:blip r:embed="rId3"/>
          <a:stretch>
            <a:fillRect/>
          </a:stretch>
        </p:blipFill>
        <p:spPr>
          <a:xfrm>
            <a:off x="8228912" y="5372840"/>
            <a:ext cx="274320" cy="274320"/>
          </a:xfrm>
          <a:prstGeom prst="rect">
            <a:avLst/>
          </a:prstGeom>
        </p:spPr>
      </p:pic>
      <p:pic>
        <p:nvPicPr>
          <p:cNvPr id="237146" name="Icon M6 Copilot Studio" descr="Copilot Studio">
            <a:extLst>
              <a:ext uri="{FF2B5EF4-FFF2-40B4-BE49-F238E27FC236}">
                <a16:creationId xmlns:a16="http://schemas.microsoft.com/office/drawing/2014/main" id="{936A4C70-6601-360A-371F-50F04C2854A2}"/>
              </a:ext>
            </a:extLst>
          </p:cNvPr>
          <p:cNvPicPr>
            <a:picLocks noChangeAspect="1"/>
          </p:cNvPicPr>
          <p:nvPr/>
        </p:nvPicPr>
        <p:blipFill>
          <a:blip r:embed="rId7"/>
          <a:stretch>
            <a:fillRect/>
          </a:stretch>
        </p:blipFill>
        <p:spPr>
          <a:xfrm>
            <a:off x="8576384" y="5372840"/>
            <a:ext cx="274320" cy="274320"/>
          </a:xfrm>
          <a:prstGeom prst="rect">
            <a:avLst/>
          </a:prstGeom>
        </p:spPr>
      </p:pic>
      <p:pic>
        <p:nvPicPr>
          <p:cNvPr id="237147" name="Legend icon Power Apps" descr="Power Apps">
            <a:extLst>
              <a:ext uri="{FF2B5EF4-FFF2-40B4-BE49-F238E27FC236}">
                <a16:creationId xmlns:a16="http://schemas.microsoft.com/office/drawing/2014/main" id="{5D8B2536-9EFD-B790-9697-642651585EF6}"/>
              </a:ext>
            </a:extLst>
          </p:cNvPr>
          <p:cNvPicPr>
            <a:picLocks noChangeAspect="1"/>
          </p:cNvPicPr>
          <p:nvPr/>
        </p:nvPicPr>
        <p:blipFill>
          <a:blip r:embed="rId3"/>
          <a:stretch>
            <a:fillRect/>
          </a:stretch>
        </p:blipFill>
        <p:spPr>
          <a:xfrm>
            <a:off x="701040" y="6099000"/>
            <a:ext cx="201168" cy="201168"/>
          </a:xfrm>
          <a:prstGeom prst="rect">
            <a:avLst/>
          </a:prstGeom>
        </p:spPr>
      </p:pic>
      <p:pic>
        <p:nvPicPr>
          <p:cNvPr id="237148" name="Legend icon Dataverse" descr="Dataverse">
            <a:extLst>
              <a:ext uri="{FF2B5EF4-FFF2-40B4-BE49-F238E27FC236}">
                <a16:creationId xmlns:a16="http://schemas.microsoft.com/office/drawing/2014/main" id="{C7434AE3-CEF3-B4EB-6F3B-72C6D92EB039}"/>
              </a:ext>
            </a:extLst>
          </p:cNvPr>
          <p:cNvPicPr>
            <a:picLocks noChangeAspect="1"/>
          </p:cNvPicPr>
          <p:nvPr/>
        </p:nvPicPr>
        <p:blipFill>
          <a:blip r:embed="rId4"/>
          <a:stretch>
            <a:fillRect/>
          </a:stretch>
        </p:blipFill>
        <p:spPr>
          <a:xfrm>
            <a:off x="2032074" y="6099000"/>
            <a:ext cx="201168" cy="201168"/>
          </a:xfrm>
          <a:prstGeom prst="rect">
            <a:avLst/>
          </a:prstGeom>
        </p:spPr>
      </p:pic>
      <p:pic>
        <p:nvPicPr>
          <p:cNvPr id="237149" name="Legend icon Power Automate" descr="Power Automate">
            <a:extLst>
              <a:ext uri="{FF2B5EF4-FFF2-40B4-BE49-F238E27FC236}">
                <a16:creationId xmlns:a16="http://schemas.microsoft.com/office/drawing/2014/main" id="{C7110C0E-80F4-F107-A89D-4E99408DC280}"/>
              </a:ext>
            </a:extLst>
          </p:cNvPr>
          <p:cNvPicPr>
            <a:picLocks noChangeAspect="1"/>
          </p:cNvPicPr>
          <p:nvPr/>
        </p:nvPicPr>
        <p:blipFill>
          <a:blip r:embed="rId5"/>
          <a:stretch>
            <a:fillRect/>
          </a:stretch>
        </p:blipFill>
        <p:spPr>
          <a:xfrm>
            <a:off x="3243584" y="6099000"/>
            <a:ext cx="201168" cy="201168"/>
          </a:xfrm>
          <a:prstGeom prst="rect">
            <a:avLst/>
          </a:prstGeom>
        </p:spPr>
      </p:pic>
      <p:pic>
        <p:nvPicPr>
          <p:cNvPr id="237150" name="Legend icon AI Builder" descr="AI Builder">
            <a:extLst>
              <a:ext uri="{FF2B5EF4-FFF2-40B4-BE49-F238E27FC236}">
                <a16:creationId xmlns:a16="http://schemas.microsoft.com/office/drawing/2014/main" id="{FBE06AF8-7042-CE87-4879-E35A32EF14DB}"/>
              </a:ext>
            </a:extLst>
          </p:cNvPr>
          <p:cNvPicPr>
            <a:picLocks noChangeAspect="1"/>
          </p:cNvPicPr>
          <p:nvPr/>
        </p:nvPicPr>
        <p:blipFill>
          <a:blip r:embed="rId6"/>
          <a:stretch>
            <a:fillRect/>
          </a:stretch>
        </p:blipFill>
        <p:spPr>
          <a:xfrm>
            <a:off x="4881702" y="6099000"/>
            <a:ext cx="201168" cy="201168"/>
          </a:xfrm>
          <a:prstGeom prst="rect">
            <a:avLst/>
          </a:prstGeom>
        </p:spPr>
      </p:pic>
      <p:pic>
        <p:nvPicPr>
          <p:cNvPr id="237151" name="Legend icon Copilot Studio" descr="Copilot Studio">
            <a:extLst>
              <a:ext uri="{FF2B5EF4-FFF2-40B4-BE49-F238E27FC236}">
                <a16:creationId xmlns:a16="http://schemas.microsoft.com/office/drawing/2014/main" id="{91DA7511-6FDA-686C-87B6-B61056445671}"/>
              </a:ext>
            </a:extLst>
          </p:cNvPr>
          <p:cNvPicPr>
            <a:picLocks noChangeAspect="1"/>
          </p:cNvPicPr>
          <p:nvPr/>
        </p:nvPicPr>
        <p:blipFill>
          <a:blip r:embed="rId7"/>
          <a:stretch>
            <a:fillRect/>
          </a:stretch>
        </p:blipFill>
        <p:spPr>
          <a:xfrm>
            <a:off x="6059118" y="6099000"/>
            <a:ext cx="201168" cy="201168"/>
          </a:xfrm>
          <a:prstGeom prst="rect">
            <a:avLst/>
          </a:prstGeom>
        </p:spPr>
      </p:pic>
      <p:pic>
        <p:nvPicPr>
          <p:cNvPr id="237152" name="Legend icon Power Platform" descr="Power Platform">
            <a:extLst>
              <a:ext uri="{FF2B5EF4-FFF2-40B4-BE49-F238E27FC236}">
                <a16:creationId xmlns:a16="http://schemas.microsoft.com/office/drawing/2014/main" id="{45AE11FF-18B7-55BE-8A63-B251FE523DC2}"/>
              </a:ext>
            </a:extLst>
          </p:cNvPr>
          <p:cNvPicPr>
            <a:picLocks noChangeAspect="1"/>
          </p:cNvPicPr>
          <p:nvPr/>
        </p:nvPicPr>
        <p:blipFill>
          <a:blip r:embed="rId8"/>
          <a:stretch>
            <a:fillRect/>
          </a:stretch>
        </p:blipFill>
        <p:spPr>
          <a:xfrm>
            <a:off x="7526682" y="6099000"/>
            <a:ext cx="201168" cy="201168"/>
          </a:xfrm>
          <a:prstGeom prst="rect">
            <a:avLst/>
          </a:prstGeom>
        </p:spPr>
      </p:pic>
      <p:sp>
        <p:nvSpPr>
          <p:cNvPr id="238057" name="Header Time">
            <a:extLst>
              <a:ext uri="{FF2B5EF4-FFF2-40B4-BE49-F238E27FC236}">
                <a16:creationId xmlns:a16="http://schemas.microsoft.com/office/drawing/2014/main" id="{1FEBEE4C-B387-C8EF-4D07-A6E1E8D1C15C}"/>
              </a:ext>
            </a:extLst>
          </p:cNvPr>
          <p:cNvSpPr/>
          <p:nvPr/>
        </p:nvSpPr>
        <p:spPr>
          <a:xfrm>
            <a:off x="609600" y="1575000"/>
            <a:ext cx="103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50">
                <a:solidFill>
                  <a:srgbClr val="D6D2E8"/>
                </a:solidFill>
                <a:effectLst/>
                <a:latin typeface="Segoe UI" panose="020B0502040204020203" pitchFamily="34" charset="0"/>
              </a:rPr>
              <a:t>TIME</a:t>
            </a:r>
          </a:p>
          <a:p>
            <a:pPr algn="l">
              <a:buNone/>
            </a:pPr>
            <a:r>
              <a:rPr lang="en-US" sz="100">
                <a:effectLst/>
              </a:rPr>
              <a:t> </a:t>
            </a:r>
            <a:endParaRPr lang="en-US"/>
          </a:p>
        </p:txBody>
      </p:sp>
      <p:sp>
        <p:nvSpPr>
          <p:cNvPr id="238059" name="Time 9:00 AM">
            <a:extLst>
              <a:ext uri="{FF2B5EF4-FFF2-40B4-BE49-F238E27FC236}">
                <a16:creationId xmlns:a16="http://schemas.microsoft.com/office/drawing/2014/main" id="{67420AC3-1574-2A2A-D17C-84DD94D794A4}"/>
              </a:ext>
            </a:extLst>
          </p:cNvPr>
          <p:cNvSpPr/>
          <p:nvPr/>
        </p:nvSpPr>
        <p:spPr>
          <a:xfrm>
            <a:off x="609600" y="186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9:00 AM</a:t>
            </a:r>
          </a:p>
          <a:p>
            <a:pPr algn="l">
              <a:buNone/>
            </a:pPr>
            <a:r>
              <a:rPr lang="en-US" sz="100">
                <a:effectLst/>
              </a:rPr>
              <a:t> </a:t>
            </a:r>
            <a:endParaRPr lang="en-US"/>
          </a:p>
        </p:txBody>
      </p:sp>
      <p:sp>
        <p:nvSpPr>
          <p:cNvPr id="238062" name="Time 9:10 AM">
            <a:extLst>
              <a:ext uri="{FF2B5EF4-FFF2-40B4-BE49-F238E27FC236}">
                <a16:creationId xmlns:a16="http://schemas.microsoft.com/office/drawing/2014/main" id="{11B94EF9-8095-8716-65DB-7FD9237A9249}"/>
              </a:ext>
            </a:extLst>
          </p:cNvPr>
          <p:cNvSpPr/>
          <p:nvPr/>
        </p:nvSpPr>
        <p:spPr>
          <a:xfrm>
            <a:off x="609600" y="222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9:20 AM</a:t>
            </a:r>
          </a:p>
          <a:p>
            <a:pPr algn="l">
              <a:buNone/>
            </a:pPr>
            <a:r>
              <a:rPr lang="en-US" sz="100">
                <a:effectLst/>
              </a:rPr>
              <a:t> </a:t>
            </a:r>
            <a:endParaRPr lang="en-US"/>
          </a:p>
        </p:txBody>
      </p:sp>
      <p:sp>
        <p:nvSpPr>
          <p:cNvPr id="238066" name="Time 9:25 AM">
            <a:extLst>
              <a:ext uri="{FF2B5EF4-FFF2-40B4-BE49-F238E27FC236}">
                <a16:creationId xmlns:a16="http://schemas.microsoft.com/office/drawing/2014/main" id="{C025220C-7FE2-A3D2-B26B-30C21324D7DA}"/>
              </a:ext>
            </a:extLst>
          </p:cNvPr>
          <p:cNvSpPr/>
          <p:nvPr/>
        </p:nvSpPr>
        <p:spPr>
          <a:xfrm>
            <a:off x="609600" y="258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9:45 AM</a:t>
            </a:r>
          </a:p>
          <a:p>
            <a:pPr algn="l">
              <a:buNone/>
            </a:pPr>
            <a:r>
              <a:rPr lang="en-US" sz="100">
                <a:effectLst/>
              </a:rPr>
              <a:t> </a:t>
            </a:r>
            <a:endParaRPr lang="en-US"/>
          </a:p>
        </p:txBody>
      </p:sp>
      <p:sp>
        <p:nvSpPr>
          <p:cNvPr id="238071" name="Time 10:00 AM">
            <a:extLst>
              <a:ext uri="{FF2B5EF4-FFF2-40B4-BE49-F238E27FC236}">
                <a16:creationId xmlns:a16="http://schemas.microsoft.com/office/drawing/2014/main" id="{61765191-7AB3-343F-545B-C0460BF193DF}"/>
              </a:ext>
            </a:extLst>
          </p:cNvPr>
          <p:cNvSpPr/>
          <p:nvPr/>
        </p:nvSpPr>
        <p:spPr>
          <a:xfrm>
            <a:off x="609600" y="2885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10:30 AM</a:t>
            </a:r>
          </a:p>
          <a:p>
            <a:pPr algn="l">
              <a:buNone/>
            </a:pPr>
            <a:r>
              <a:rPr lang="en-US" sz="100">
                <a:effectLst/>
              </a:rPr>
              <a:t> </a:t>
            </a:r>
            <a:endParaRPr lang="en-US"/>
          </a:p>
        </p:txBody>
      </p:sp>
      <p:sp>
        <p:nvSpPr>
          <p:cNvPr id="238077" name="Time 10:15 AM">
            <a:extLst>
              <a:ext uri="{FF2B5EF4-FFF2-40B4-BE49-F238E27FC236}">
                <a16:creationId xmlns:a16="http://schemas.microsoft.com/office/drawing/2014/main" id="{95E3C77C-AB2A-E957-4DDD-33459D97875E}"/>
              </a:ext>
            </a:extLst>
          </p:cNvPr>
          <p:cNvSpPr/>
          <p:nvPr/>
        </p:nvSpPr>
        <p:spPr>
          <a:xfrm>
            <a:off x="609600" y="319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Segoe UI" panose="020B0502040204020203" pitchFamily="34" charset="0"/>
              </a:rPr>
              <a:t>10:45 AM</a:t>
            </a:r>
          </a:p>
          <a:p>
            <a:pPr algn="l">
              <a:buNone/>
            </a:pPr>
            <a:r>
              <a:rPr lang="en-US" sz="100">
                <a:effectLst/>
              </a:rPr>
              <a:t> </a:t>
            </a:r>
            <a:endParaRPr lang="en-US" sz="1600"/>
          </a:p>
        </p:txBody>
      </p:sp>
      <p:sp>
        <p:nvSpPr>
          <p:cNvPr id="238084" name="Time 11:15 AM">
            <a:extLst>
              <a:ext uri="{FF2B5EF4-FFF2-40B4-BE49-F238E27FC236}">
                <a16:creationId xmlns:a16="http://schemas.microsoft.com/office/drawing/2014/main" id="{4A44BCA4-7FE4-1486-6711-931F29409815}"/>
              </a:ext>
            </a:extLst>
          </p:cNvPr>
          <p:cNvSpPr/>
          <p:nvPr/>
        </p:nvSpPr>
        <p:spPr>
          <a:xfrm>
            <a:off x="609600" y="3495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12:00 </a:t>
            </a:r>
            <a:r>
              <a:rPr lang="en-US" sz="1600" i="1">
                <a:solidFill>
                  <a:srgbClr val="D6D2E8"/>
                </a:solidFill>
                <a:latin typeface="Segoe UI" panose="020B0502040204020203" pitchFamily="34" charset="0"/>
              </a:rPr>
              <a:t>P</a:t>
            </a:r>
            <a:r>
              <a:rPr lang="en-US" sz="1600" i="1">
                <a:solidFill>
                  <a:srgbClr val="D6D2E8"/>
                </a:solidFill>
                <a:effectLst/>
                <a:latin typeface="Segoe UI" panose="020B0502040204020203" pitchFamily="34" charset="0"/>
              </a:rPr>
              <a:t>M</a:t>
            </a:r>
          </a:p>
          <a:p>
            <a:pPr algn="l">
              <a:buNone/>
            </a:pPr>
            <a:r>
              <a:rPr lang="en-US" sz="100">
                <a:effectLst/>
              </a:rPr>
              <a:t> </a:t>
            </a:r>
            <a:endParaRPr lang="en-US"/>
          </a:p>
        </p:txBody>
      </p:sp>
      <p:sp>
        <p:nvSpPr>
          <p:cNvPr id="238092" name="Time 12:15 PM">
            <a:extLst>
              <a:ext uri="{FF2B5EF4-FFF2-40B4-BE49-F238E27FC236}">
                <a16:creationId xmlns:a16="http://schemas.microsoft.com/office/drawing/2014/main" id="{0C99CFE1-31BC-D169-01F2-77DF18FCF1E3}"/>
              </a:ext>
            </a:extLst>
          </p:cNvPr>
          <p:cNvSpPr/>
          <p:nvPr/>
        </p:nvSpPr>
        <p:spPr>
          <a:xfrm>
            <a:off x="609600" y="3935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1:00 PM</a:t>
            </a:r>
          </a:p>
          <a:p>
            <a:pPr algn="l">
              <a:buNone/>
            </a:pPr>
            <a:r>
              <a:rPr lang="en-US" sz="100">
                <a:effectLst/>
              </a:rPr>
              <a:t> </a:t>
            </a:r>
            <a:endParaRPr lang="en-US"/>
          </a:p>
        </p:txBody>
      </p:sp>
      <p:sp>
        <p:nvSpPr>
          <p:cNvPr id="238101" name="Time 1:15 PM">
            <a:extLst>
              <a:ext uri="{FF2B5EF4-FFF2-40B4-BE49-F238E27FC236}">
                <a16:creationId xmlns:a16="http://schemas.microsoft.com/office/drawing/2014/main" id="{9C8395C2-E1D0-6DC3-9A47-4AFB8A987E8A}"/>
              </a:ext>
            </a:extLst>
          </p:cNvPr>
          <p:cNvSpPr/>
          <p:nvPr/>
        </p:nvSpPr>
        <p:spPr>
          <a:xfrm>
            <a:off x="609600" y="4375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latin typeface="Segoe UI" panose="020B0502040204020203" pitchFamily="34" charset="0"/>
              </a:rPr>
              <a:t>2</a:t>
            </a:r>
            <a:r>
              <a:rPr lang="en-US" sz="1600" i="1">
                <a:solidFill>
                  <a:srgbClr val="D6D2E8"/>
                </a:solidFill>
                <a:effectLst/>
                <a:latin typeface="Segoe UI" panose="020B0502040204020203" pitchFamily="34" charset="0"/>
              </a:rPr>
              <a:t>:00 PM</a:t>
            </a:r>
          </a:p>
          <a:p>
            <a:pPr algn="l">
              <a:buNone/>
            </a:pPr>
            <a:r>
              <a:rPr lang="en-US" sz="100">
                <a:effectLst/>
              </a:rPr>
              <a:t> </a:t>
            </a:r>
            <a:endParaRPr lang="en-US"/>
          </a:p>
        </p:txBody>
      </p:sp>
      <p:sp>
        <p:nvSpPr>
          <p:cNvPr id="238111" name="Time 1:30 PM">
            <a:extLst>
              <a:ext uri="{FF2B5EF4-FFF2-40B4-BE49-F238E27FC236}">
                <a16:creationId xmlns:a16="http://schemas.microsoft.com/office/drawing/2014/main" id="{AC47FCD5-4829-E5A0-4DA4-C5B18C6027CE}"/>
              </a:ext>
            </a:extLst>
          </p:cNvPr>
          <p:cNvSpPr/>
          <p:nvPr/>
        </p:nvSpPr>
        <p:spPr>
          <a:xfrm>
            <a:off x="609600" y="468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latin typeface="Segoe UI" panose="020B0502040204020203" pitchFamily="34" charset="0"/>
              </a:rPr>
              <a:t>2</a:t>
            </a:r>
            <a:r>
              <a:rPr lang="en-US" sz="1600">
                <a:solidFill>
                  <a:srgbClr val="FFFFFF"/>
                </a:solidFill>
                <a:effectLst/>
                <a:latin typeface="Segoe UI" panose="020B0502040204020203" pitchFamily="34" charset="0"/>
              </a:rPr>
              <a:t>:15 PM</a:t>
            </a:r>
          </a:p>
          <a:p>
            <a:pPr algn="l">
              <a:buNone/>
            </a:pPr>
            <a:r>
              <a:rPr lang="en-US" sz="100">
                <a:effectLst/>
              </a:rPr>
              <a:t> </a:t>
            </a:r>
            <a:endParaRPr lang="en-US"/>
          </a:p>
        </p:txBody>
      </p:sp>
      <p:sp>
        <p:nvSpPr>
          <p:cNvPr id="238122" name="Time 3:00 PM">
            <a:extLst>
              <a:ext uri="{FF2B5EF4-FFF2-40B4-BE49-F238E27FC236}">
                <a16:creationId xmlns:a16="http://schemas.microsoft.com/office/drawing/2014/main" id="{9B5FEFF1-F2D8-0BF9-F072-47C03A28BAE5}"/>
              </a:ext>
            </a:extLst>
          </p:cNvPr>
          <p:cNvSpPr/>
          <p:nvPr/>
        </p:nvSpPr>
        <p:spPr>
          <a:xfrm>
            <a:off x="609600" y="4985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3:15 PM</a:t>
            </a:r>
          </a:p>
          <a:p>
            <a:pPr algn="l">
              <a:buNone/>
            </a:pPr>
            <a:r>
              <a:rPr lang="en-US" sz="100">
                <a:effectLst/>
              </a:rPr>
              <a:t> </a:t>
            </a:r>
            <a:endParaRPr lang="en-US"/>
          </a:p>
        </p:txBody>
      </p:sp>
      <p:sp>
        <p:nvSpPr>
          <p:cNvPr id="238134" name="Time 3:15 PM">
            <a:extLst>
              <a:ext uri="{FF2B5EF4-FFF2-40B4-BE49-F238E27FC236}">
                <a16:creationId xmlns:a16="http://schemas.microsoft.com/office/drawing/2014/main" id="{997E4F90-F344-2519-D5F5-694DED980314}"/>
              </a:ext>
            </a:extLst>
          </p:cNvPr>
          <p:cNvSpPr/>
          <p:nvPr/>
        </p:nvSpPr>
        <p:spPr>
          <a:xfrm>
            <a:off x="609600" y="529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3:30 PM</a:t>
            </a:r>
          </a:p>
          <a:p>
            <a:pPr algn="l">
              <a:buNone/>
            </a:pPr>
            <a:r>
              <a:rPr lang="en-US" sz="100">
                <a:effectLst/>
              </a:rPr>
              <a:t> </a:t>
            </a:r>
            <a:endParaRPr lang="en-US"/>
          </a:p>
        </p:txBody>
      </p:sp>
      <p:sp>
        <p:nvSpPr>
          <p:cNvPr id="238147" name="Time 4:30 PM">
            <a:extLst>
              <a:ext uri="{FF2B5EF4-FFF2-40B4-BE49-F238E27FC236}">
                <a16:creationId xmlns:a16="http://schemas.microsoft.com/office/drawing/2014/main" id="{6A0527F3-683D-BACE-2C01-14E3298E5C03}"/>
              </a:ext>
            </a:extLst>
          </p:cNvPr>
          <p:cNvSpPr/>
          <p:nvPr/>
        </p:nvSpPr>
        <p:spPr>
          <a:xfrm>
            <a:off x="609600" y="5650544"/>
            <a:ext cx="103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4:00 PM</a:t>
            </a:r>
          </a:p>
          <a:p>
            <a:pPr algn="l">
              <a:buNone/>
            </a:pPr>
            <a:r>
              <a:rPr lang="en-US" sz="100">
                <a:effectLst/>
              </a:rPr>
              <a:t> </a:t>
            </a:r>
            <a:endParaRPr lang="en-US"/>
          </a:p>
        </p:txBody>
      </p:sp>
      <p:sp>
        <p:nvSpPr>
          <p:cNvPr id="238161" name="Duration 2885544">
            <a:extLst>
              <a:ext uri="{FF2B5EF4-FFF2-40B4-BE49-F238E27FC236}">
                <a16:creationId xmlns:a16="http://schemas.microsoft.com/office/drawing/2014/main" id="{E2F03286-8DEE-6231-847E-A86CD310E9B9}"/>
              </a:ext>
            </a:extLst>
          </p:cNvPr>
          <p:cNvSpPr/>
          <p:nvPr/>
        </p:nvSpPr>
        <p:spPr>
          <a:xfrm>
            <a:off x="8960000" y="2885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15 min</a:t>
            </a:r>
          </a:p>
          <a:p>
            <a:pPr algn="l">
              <a:buNone/>
            </a:pPr>
            <a:r>
              <a:rPr lang="en-US" sz="100">
                <a:effectLst/>
              </a:rPr>
              <a:t> </a:t>
            </a:r>
            <a:endParaRPr lang="en-US"/>
          </a:p>
        </p:txBody>
      </p:sp>
      <p:sp>
        <p:nvSpPr>
          <p:cNvPr id="238176" name="Duration 3495544">
            <a:extLst>
              <a:ext uri="{FF2B5EF4-FFF2-40B4-BE49-F238E27FC236}">
                <a16:creationId xmlns:a16="http://schemas.microsoft.com/office/drawing/2014/main" id="{DBEA58EE-D3BF-EA03-B7A1-3E8835BCE3BB}"/>
              </a:ext>
            </a:extLst>
          </p:cNvPr>
          <p:cNvSpPr/>
          <p:nvPr/>
        </p:nvSpPr>
        <p:spPr>
          <a:xfrm>
            <a:off x="8960000" y="3495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60 min</a:t>
            </a:r>
          </a:p>
          <a:p>
            <a:pPr algn="l">
              <a:buNone/>
            </a:pPr>
            <a:r>
              <a:rPr lang="en-US" sz="100">
                <a:effectLst/>
              </a:rPr>
              <a:t> </a:t>
            </a:r>
            <a:endParaRPr lang="en-US"/>
          </a:p>
        </p:txBody>
      </p:sp>
      <p:sp>
        <p:nvSpPr>
          <p:cNvPr id="238192" name="Duration 4375544">
            <a:extLst>
              <a:ext uri="{FF2B5EF4-FFF2-40B4-BE49-F238E27FC236}">
                <a16:creationId xmlns:a16="http://schemas.microsoft.com/office/drawing/2014/main" id="{750979E1-3F5B-8F47-0F70-D0C9FC49C029}"/>
              </a:ext>
            </a:extLst>
          </p:cNvPr>
          <p:cNvSpPr/>
          <p:nvPr/>
        </p:nvSpPr>
        <p:spPr>
          <a:xfrm>
            <a:off x="8960000" y="4375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15 min</a:t>
            </a:r>
          </a:p>
          <a:p>
            <a:pPr algn="l">
              <a:buNone/>
            </a:pPr>
            <a:r>
              <a:rPr lang="en-US" sz="100">
                <a:effectLst/>
              </a:rPr>
              <a:t> </a:t>
            </a:r>
            <a:endParaRPr lang="en-US"/>
          </a:p>
        </p:txBody>
      </p:sp>
      <p:sp>
        <p:nvSpPr>
          <p:cNvPr id="238209" name="Duration 4985544">
            <a:extLst>
              <a:ext uri="{FF2B5EF4-FFF2-40B4-BE49-F238E27FC236}">
                <a16:creationId xmlns:a16="http://schemas.microsoft.com/office/drawing/2014/main" id="{BAB8846D-1FF7-2F16-8B37-50CA10A734C2}"/>
              </a:ext>
            </a:extLst>
          </p:cNvPr>
          <p:cNvSpPr/>
          <p:nvPr/>
        </p:nvSpPr>
        <p:spPr>
          <a:xfrm>
            <a:off x="8960000" y="4985544"/>
            <a:ext cx="28400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i="1">
                <a:solidFill>
                  <a:srgbClr val="D6D2E8"/>
                </a:solidFill>
                <a:effectLst/>
                <a:latin typeface="Segoe UI" panose="020B0502040204020203" pitchFamily="34" charset="0"/>
              </a:rPr>
              <a:t>10 min</a:t>
            </a:r>
          </a:p>
          <a:p>
            <a:pPr algn="l">
              <a:buNone/>
            </a:pPr>
            <a:r>
              <a:rPr lang="en-US" sz="100">
                <a:effectLst/>
              </a:rPr>
              <a:t> </a:t>
            </a:r>
            <a:endParaRPr lang="en-US"/>
          </a:p>
        </p:txBody>
      </p:sp>
      <p:pic>
        <p:nvPicPr>
          <p:cNvPr id="3" name="Picture 2" descr="GitHub Copilot App - Download and install on Windows | Microsoft Store">
            <a:extLst>
              <a:ext uri="{FF2B5EF4-FFF2-40B4-BE49-F238E27FC236}">
                <a16:creationId xmlns:a16="http://schemas.microsoft.com/office/drawing/2014/main" id="{A45DE62A-F24F-BFCA-9BF5-97FA7DC2182A}"/>
              </a:ext>
            </a:extLst>
          </p:cNvPr>
          <p:cNvPicPr>
            <a:picLocks noChangeAspect="1"/>
          </p:cNvPicPr>
          <p:nvPr/>
        </p:nvPicPr>
        <p:blipFill>
          <a:blip r:embed="rId9"/>
          <a:stretch>
            <a:fillRect/>
          </a:stretch>
        </p:blipFill>
        <p:spPr>
          <a:xfrm>
            <a:off x="9002877" y="6064240"/>
            <a:ext cx="274320" cy="274320"/>
          </a:xfrm>
          <a:prstGeom prst="rect">
            <a:avLst/>
          </a:prstGeom>
        </p:spPr>
      </p:pic>
      <p:sp>
        <p:nvSpPr>
          <p:cNvPr id="5" name="Legend label Power Platform">
            <a:extLst>
              <a:ext uri="{FF2B5EF4-FFF2-40B4-BE49-F238E27FC236}">
                <a16:creationId xmlns:a16="http://schemas.microsoft.com/office/drawing/2014/main" id="{D7DACB67-04F7-EF12-02B7-F5324BCAD10D}"/>
              </a:ext>
            </a:extLst>
          </p:cNvPr>
          <p:cNvSpPr/>
          <p:nvPr/>
        </p:nvSpPr>
        <p:spPr>
          <a:xfrm>
            <a:off x="9253803" y="6045607"/>
            <a:ext cx="1332834" cy="338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latin typeface="Segoe UI" panose="020B0502040204020203" pitchFamily="34" charset="0"/>
              </a:rPr>
              <a:t>GitHub Copilot</a:t>
            </a:r>
          </a:p>
        </p:txBody>
      </p:sp>
      <p:pic>
        <p:nvPicPr>
          <p:cNvPr id="7" name="Picture 6" descr="GitHub Copilot App - Download and install on Windows | Microsoft Store">
            <a:extLst>
              <a:ext uri="{FF2B5EF4-FFF2-40B4-BE49-F238E27FC236}">
                <a16:creationId xmlns:a16="http://schemas.microsoft.com/office/drawing/2014/main" id="{C89BF824-3C33-2E03-901D-F4CD4E4B179B}"/>
              </a:ext>
            </a:extLst>
          </p:cNvPr>
          <p:cNvPicPr>
            <a:picLocks noChangeAspect="1"/>
          </p:cNvPicPr>
          <p:nvPr/>
        </p:nvPicPr>
        <p:blipFill>
          <a:blip r:embed="rId9"/>
          <a:stretch>
            <a:fillRect/>
          </a:stretch>
        </p:blipFill>
        <p:spPr>
          <a:xfrm>
            <a:off x="8576384" y="2662840"/>
            <a:ext cx="274320" cy="274320"/>
          </a:xfrm>
          <a:prstGeom prst="rect">
            <a:avLst/>
          </a:prstGeom>
        </p:spPr>
      </p:pic>
    </p:spTree>
    <p:extLst>
      <p:ext uri="{BB962C8B-B14F-4D97-AF65-F5344CB8AC3E}">
        <p14:creationId xmlns:p14="http://schemas.microsoft.com/office/powerpoint/2010/main" val="2833395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72601" name="Rectangle: Rounded Corners 72600">
            <a:extLst>
              <a:ext uri="{FF2B5EF4-FFF2-40B4-BE49-F238E27FC236}">
                <a16:creationId xmlns:a16="http://schemas.microsoft.com/office/drawing/2014/main" id="{4E01F442-35BC-9EB0-0E28-BE8F4AF07DD9}"/>
              </a:ext>
            </a:extLst>
          </p:cNvPr>
          <p:cNvSpPr/>
          <p:nvPr/>
        </p:nvSpPr>
        <p:spPr>
          <a:xfrm>
            <a:off x="609600" y="400000"/>
            <a:ext cx="2732749"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WORKSHOP OVERVIEW</a:t>
            </a:r>
          </a:p>
          <a:p>
            <a:pPr algn="ctr">
              <a:buNone/>
            </a:pPr>
            <a:r>
              <a:rPr lang="en-US" sz="100">
                <a:effectLst/>
              </a:rPr>
              <a:t> </a:t>
            </a:r>
            <a:endParaRPr lang="en-US"/>
          </a:p>
        </p:txBody>
      </p:sp>
      <p:sp>
        <p:nvSpPr>
          <p:cNvPr id="72713" name="Rectangle 72712">
            <a:extLst>
              <a:ext uri="{FF2B5EF4-FFF2-40B4-BE49-F238E27FC236}">
                <a16:creationId xmlns:a16="http://schemas.microsoft.com/office/drawing/2014/main" id="{40CA1EB7-6663-E0A7-361A-EDE7D810AE10}"/>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Six modules, one solution</a:t>
            </a:r>
          </a:p>
          <a:p>
            <a:pPr algn="l">
              <a:buNone/>
            </a:pPr>
            <a:r>
              <a:rPr lang="en-US" sz="100">
                <a:effectLst/>
              </a:rPr>
              <a:t> </a:t>
            </a:r>
            <a:endParaRPr lang="en-US"/>
          </a:p>
        </p:txBody>
      </p:sp>
      <p:sp>
        <p:nvSpPr>
          <p:cNvPr id="72826" name="Arrow: Pentagon 72825">
            <a:extLst>
              <a:ext uri="{FF2B5EF4-FFF2-40B4-BE49-F238E27FC236}">
                <a16:creationId xmlns:a16="http://schemas.microsoft.com/office/drawing/2014/main" id="{23230D73-5D1C-4333-FBD2-7AEAE75F5B76}"/>
              </a:ext>
            </a:extLst>
          </p:cNvPr>
          <p:cNvSpPr/>
          <p:nvPr/>
        </p:nvSpPr>
        <p:spPr>
          <a:xfrm>
            <a:off x="609600" y="1811951"/>
            <a:ext cx="1953800" cy="850000"/>
          </a:xfrm>
          <a:prstGeom prst="homePlate">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0B1020"/>
                </a:solidFill>
                <a:effectLst/>
                <a:latin typeface="Segoe UI" panose="020B0502040204020203" pitchFamily="34" charset="0"/>
              </a:rPr>
              <a:t>M1</a:t>
            </a:r>
          </a:p>
          <a:p>
            <a:pPr algn="ctr">
              <a:buNone/>
            </a:pPr>
            <a:r>
              <a:rPr lang="en-US" sz="100">
                <a:effectLst/>
              </a:rPr>
              <a:t> </a:t>
            </a:r>
            <a:endParaRPr lang="en-US"/>
          </a:p>
        </p:txBody>
      </p:sp>
      <p:sp>
        <p:nvSpPr>
          <p:cNvPr id="72940" name="Rectangle 72939">
            <a:extLst>
              <a:ext uri="{FF2B5EF4-FFF2-40B4-BE49-F238E27FC236}">
                <a16:creationId xmlns:a16="http://schemas.microsoft.com/office/drawing/2014/main" id="{DF9DFEC0-9CB3-90B5-72C1-6780F4A9617D}"/>
              </a:ext>
            </a:extLst>
          </p:cNvPr>
          <p:cNvSpPr/>
          <p:nvPr/>
        </p:nvSpPr>
        <p:spPr>
          <a:xfrm>
            <a:off x="609600" y="2861951"/>
            <a:ext cx="1743800" cy="13141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6E9BFF"/>
                </a:solidFill>
                <a:effectLst/>
                <a:latin typeface="Segoe UI" panose="020B0502040204020203" pitchFamily="34" charset="0"/>
              </a:rPr>
              <a:t>Orient</a:t>
            </a:r>
          </a:p>
          <a:p>
            <a:pPr algn="l">
              <a:buNone/>
            </a:pPr>
            <a:r>
              <a:rPr lang="en-US" sz="1800">
                <a:solidFill>
                  <a:srgbClr val="FFFFFF"/>
                </a:solidFill>
                <a:effectLst/>
                <a:latin typeface="Segoe UI" panose="020B0502040204020203" pitchFamily="34" charset="0"/>
              </a:rPr>
              <a:t>environment, data, authority boundary</a:t>
            </a:r>
            <a:endParaRPr lang="en-US"/>
          </a:p>
        </p:txBody>
      </p:sp>
      <p:sp>
        <p:nvSpPr>
          <p:cNvPr id="73055" name="Arrow: Chevron 73054">
            <a:extLst>
              <a:ext uri="{FF2B5EF4-FFF2-40B4-BE49-F238E27FC236}">
                <a16:creationId xmlns:a16="http://schemas.microsoft.com/office/drawing/2014/main" id="{846B8525-B3AE-346B-74B9-3F19FDB9BF2C}"/>
              </a:ext>
            </a:extLst>
          </p:cNvPr>
          <p:cNvSpPr/>
          <p:nvPr/>
        </p:nvSpPr>
        <p:spPr>
          <a:xfrm>
            <a:off x="2413400" y="1811951"/>
            <a:ext cx="1953800" cy="850000"/>
          </a:xfrm>
          <a:prstGeom prst="chevron">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0B1020"/>
                </a:solidFill>
                <a:effectLst/>
                <a:latin typeface="Segoe UI" panose="020B0502040204020203" pitchFamily="34" charset="0"/>
              </a:rPr>
              <a:t>M2</a:t>
            </a:r>
          </a:p>
          <a:p>
            <a:pPr algn="ctr">
              <a:buNone/>
            </a:pPr>
            <a:r>
              <a:rPr lang="en-US" sz="100">
                <a:effectLst/>
              </a:rPr>
              <a:t> </a:t>
            </a:r>
            <a:endParaRPr lang="en-US">
              <a:solidFill>
                <a:schemeClr val="tx1"/>
              </a:solidFill>
            </a:endParaRPr>
          </a:p>
        </p:txBody>
      </p:sp>
      <p:sp>
        <p:nvSpPr>
          <p:cNvPr id="73171" name="Rectangle 73170">
            <a:extLst>
              <a:ext uri="{FF2B5EF4-FFF2-40B4-BE49-F238E27FC236}">
                <a16:creationId xmlns:a16="http://schemas.microsoft.com/office/drawing/2014/main" id="{89714132-5833-07F4-C234-4933444334F9}"/>
              </a:ext>
            </a:extLst>
          </p:cNvPr>
          <p:cNvSpPr/>
          <p:nvPr/>
        </p:nvSpPr>
        <p:spPr>
          <a:xfrm>
            <a:off x="2413400" y="2861951"/>
            <a:ext cx="1743800" cy="13141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FFFE0"/>
                </a:solidFill>
                <a:effectLst/>
                <a:latin typeface="Segoe UI" panose="020B0502040204020203" pitchFamily="34" charset="0"/>
              </a:rPr>
              <a:t>App</a:t>
            </a:r>
          </a:p>
          <a:p>
            <a:pPr algn="l">
              <a:buNone/>
            </a:pPr>
            <a:r>
              <a:rPr lang="en-US" sz="1800">
                <a:solidFill>
                  <a:srgbClr val="FFFFFF"/>
                </a:solidFill>
                <a:effectLst/>
                <a:latin typeface="Segoe UI" panose="020B0502040204020203" pitchFamily="34" charset="0"/>
              </a:rPr>
              <a:t>extend the Control Tower (App Builder)</a:t>
            </a:r>
            <a:endParaRPr lang="en-US"/>
          </a:p>
        </p:txBody>
      </p:sp>
      <p:sp>
        <p:nvSpPr>
          <p:cNvPr id="73525" name="Arrow: Chevron 73524">
            <a:extLst>
              <a:ext uri="{FF2B5EF4-FFF2-40B4-BE49-F238E27FC236}">
                <a16:creationId xmlns:a16="http://schemas.microsoft.com/office/drawing/2014/main" id="{4CA79AD6-78A9-C93B-F33E-FECF07323531}"/>
              </a:ext>
            </a:extLst>
          </p:cNvPr>
          <p:cNvSpPr/>
          <p:nvPr/>
        </p:nvSpPr>
        <p:spPr>
          <a:xfrm>
            <a:off x="6021000" y="1811951"/>
            <a:ext cx="1953800" cy="850000"/>
          </a:xfrm>
          <a:prstGeom prst="chevron">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0B1020"/>
                </a:solidFill>
                <a:effectLst/>
                <a:latin typeface="Segoe UI" panose="020B0502040204020203" pitchFamily="34" charset="0"/>
              </a:rPr>
              <a:t>M4</a:t>
            </a:r>
          </a:p>
          <a:p>
            <a:pPr algn="ctr">
              <a:buNone/>
            </a:pPr>
            <a:r>
              <a:rPr lang="en-US" sz="100">
                <a:effectLst/>
              </a:rPr>
              <a:t> </a:t>
            </a:r>
            <a:endParaRPr lang="en-US">
              <a:solidFill>
                <a:schemeClr val="tx1"/>
              </a:solidFill>
            </a:endParaRPr>
          </a:p>
        </p:txBody>
      </p:sp>
      <p:sp>
        <p:nvSpPr>
          <p:cNvPr id="73645" name="Rectangle 73644">
            <a:extLst>
              <a:ext uri="{FF2B5EF4-FFF2-40B4-BE49-F238E27FC236}">
                <a16:creationId xmlns:a16="http://schemas.microsoft.com/office/drawing/2014/main" id="{E242C3D7-E6A0-0D00-4C33-44631B87084B}"/>
              </a:ext>
            </a:extLst>
          </p:cNvPr>
          <p:cNvSpPr/>
          <p:nvPr/>
        </p:nvSpPr>
        <p:spPr>
          <a:xfrm>
            <a:off x="6021000" y="2861951"/>
            <a:ext cx="1743800" cy="15930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B2AAF8"/>
                </a:solidFill>
                <a:effectLst/>
                <a:latin typeface="Segoe UI" panose="020B0502040204020203" pitchFamily="34" charset="0"/>
              </a:rPr>
              <a:t>Agents</a:t>
            </a:r>
          </a:p>
          <a:p>
            <a:pPr algn="l">
              <a:buNone/>
            </a:pPr>
            <a:r>
              <a:rPr lang="en-US" sz="1800">
                <a:solidFill>
                  <a:srgbClr val="FFFFFF"/>
                </a:solidFill>
                <a:effectLst/>
                <a:latin typeface="Segoe UI" panose="020B0502040204020203" pitchFamily="34" charset="0"/>
              </a:rPr>
              <a:t>policy, reasoning, human handoff (Agent feed)</a:t>
            </a:r>
            <a:endParaRPr lang="en-US"/>
          </a:p>
        </p:txBody>
      </p:sp>
      <p:sp>
        <p:nvSpPr>
          <p:cNvPr id="73766" name="Arrow: Chevron 73765">
            <a:extLst>
              <a:ext uri="{FF2B5EF4-FFF2-40B4-BE49-F238E27FC236}">
                <a16:creationId xmlns:a16="http://schemas.microsoft.com/office/drawing/2014/main" id="{351DAE4F-5AD1-320E-EC0A-AF9DC192E17E}"/>
              </a:ext>
            </a:extLst>
          </p:cNvPr>
          <p:cNvSpPr/>
          <p:nvPr/>
        </p:nvSpPr>
        <p:spPr>
          <a:xfrm>
            <a:off x="7824800" y="1811951"/>
            <a:ext cx="1953800" cy="850000"/>
          </a:xfrm>
          <a:prstGeom prst="chevron">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0B1020"/>
                </a:solidFill>
                <a:effectLst/>
                <a:latin typeface="Segoe UI" panose="020B0502040204020203" pitchFamily="34" charset="0"/>
              </a:rPr>
              <a:t>M5</a:t>
            </a:r>
          </a:p>
          <a:p>
            <a:pPr algn="ctr">
              <a:buNone/>
            </a:pPr>
            <a:r>
              <a:rPr lang="en-US" sz="100">
                <a:effectLst/>
              </a:rPr>
              <a:t> </a:t>
            </a:r>
            <a:endParaRPr lang="en-US">
              <a:solidFill>
                <a:schemeClr val="tx1"/>
              </a:solidFill>
            </a:endParaRPr>
          </a:p>
        </p:txBody>
      </p:sp>
      <p:sp>
        <p:nvSpPr>
          <p:cNvPr id="73888" name="Rectangle 73887">
            <a:extLst>
              <a:ext uri="{FF2B5EF4-FFF2-40B4-BE49-F238E27FC236}">
                <a16:creationId xmlns:a16="http://schemas.microsoft.com/office/drawing/2014/main" id="{AA6677C7-B3CD-4A93-D6F5-B14AB3E0AA46}"/>
              </a:ext>
            </a:extLst>
          </p:cNvPr>
          <p:cNvSpPr/>
          <p:nvPr/>
        </p:nvSpPr>
        <p:spPr>
          <a:xfrm>
            <a:off x="7824800" y="2861951"/>
            <a:ext cx="1743800" cy="16240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19D19"/>
                </a:solidFill>
                <a:effectLst/>
                <a:latin typeface="Segoe UI" panose="020B0502040204020203" pitchFamily="34" charset="0"/>
              </a:rPr>
              <a:t>Agent + automation</a:t>
            </a:r>
          </a:p>
          <a:p>
            <a:pPr algn="l">
              <a:buNone/>
            </a:pPr>
            <a:r>
              <a:rPr lang="en-US" sz="1800">
                <a:solidFill>
                  <a:srgbClr val="FFFFFF"/>
                </a:solidFill>
                <a:effectLst/>
                <a:latin typeface="Segoe UI" panose="020B0502040204020203" pitchFamily="34" charset="0"/>
              </a:rPr>
              <a:t>governed recovery with Computer Use</a:t>
            </a:r>
            <a:endParaRPr lang="en-US"/>
          </a:p>
        </p:txBody>
      </p:sp>
      <p:sp>
        <p:nvSpPr>
          <p:cNvPr id="74011" name="Arrow: Chevron 74010">
            <a:extLst>
              <a:ext uri="{FF2B5EF4-FFF2-40B4-BE49-F238E27FC236}">
                <a16:creationId xmlns:a16="http://schemas.microsoft.com/office/drawing/2014/main" id="{D3A9AF04-AC3B-058A-59BA-F28C8ABC4D57}"/>
              </a:ext>
            </a:extLst>
          </p:cNvPr>
          <p:cNvSpPr/>
          <p:nvPr/>
        </p:nvSpPr>
        <p:spPr>
          <a:xfrm>
            <a:off x="9628600" y="1811951"/>
            <a:ext cx="1953800" cy="850000"/>
          </a:xfrm>
          <a:prstGeom prst="chevron">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0B1020"/>
                </a:solidFill>
                <a:effectLst/>
                <a:latin typeface="Segoe UI" panose="020B0502040204020203" pitchFamily="34" charset="0"/>
              </a:rPr>
              <a:t>M6</a:t>
            </a:r>
          </a:p>
          <a:p>
            <a:pPr algn="ctr">
              <a:buNone/>
            </a:pPr>
            <a:r>
              <a:rPr lang="en-US" sz="100">
                <a:effectLst/>
              </a:rPr>
              <a:t> </a:t>
            </a:r>
            <a:endParaRPr lang="en-US">
              <a:solidFill>
                <a:schemeClr val="tx1"/>
              </a:solidFill>
            </a:endParaRPr>
          </a:p>
        </p:txBody>
      </p:sp>
      <p:sp>
        <p:nvSpPr>
          <p:cNvPr id="74135" name="Rectangle 74134">
            <a:extLst>
              <a:ext uri="{FF2B5EF4-FFF2-40B4-BE49-F238E27FC236}">
                <a16:creationId xmlns:a16="http://schemas.microsoft.com/office/drawing/2014/main" id="{760EF080-508D-BBE1-6C80-3CBACE3C1AF8}"/>
              </a:ext>
            </a:extLst>
          </p:cNvPr>
          <p:cNvSpPr/>
          <p:nvPr/>
        </p:nvSpPr>
        <p:spPr>
          <a:xfrm>
            <a:off x="9628600" y="2861951"/>
            <a:ext cx="1743800" cy="15930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2000" b="1">
                <a:solidFill>
                  <a:srgbClr val="82EBA6"/>
                </a:solidFill>
                <a:effectLst/>
                <a:latin typeface="Segoe UI" panose="020B0502040204020203" pitchFamily="34" charset="0"/>
              </a:rPr>
              <a:t>ALM</a:t>
            </a:r>
          </a:p>
          <a:p>
            <a:r>
              <a:rPr lang="en-US">
                <a:solidFill>
                  <a:srgbClr val="FFFFFF"/>
                </a:solidFill>
                <a:latin typeface="Segoe UI"/>
                <a:cs typeface="Segoe UI"/>
              </a:rPr>
              <a:t>setup solutions and deploy</a:t>
            </a:r>
            <a:r>
              <a:rPr lang="en-US" sz="1800">
                <a:solidFill>
                  <a:srgbClr val="FFFFFF"/>
                </a:solidFill>
                <a:effectLst/>
                <a:latin typeface="Segoe UI"/>
                <a:cs typeface="Segoe UI"/>
              </a:rPr>
              <a:t> with pipelines</a:t>
            </a:r>
          </a:p>
          <a:p>
            <a:endParaRPr lang="en-US">
              <a:latin typeface="Segoe UI"/>
              <a:cs typeface="Segoe UI"/>
            </a:endParaRPr>
          </a:p>
        </p:txBody>
      </p:sp>
      <p:sp>
        <p:nvSpPr>
          <p:cNvPr id="74260" name="Rectangle 74259">
            <a:extLst>
              <a:ext uri="{FF2B5EF4-FFF2-40B4-BE49-F238E27FC236}">
                <a16:creationId xmlns:a16="http://schemas.microsoft.com/office/drawing/2014/main" id="{CA0BE6F6-5D4B-B53F-7BEE-88C13D03AB77}"/>
              </a:ext>
            </a:extLst>
          </p:cNvPr>
          <p:cNvSpPr/>
          <p:nvPr/>
        </p:nvSpPr>
        <p:spPr>
          <a:xfrm>
            <a:off x="609600" y="5780000"/>
            <a:ext cx="10972800" cy="650000"/>
          </a:xfrm>
          <a:prstGeom prst="rect">
            <a:avLst/>
          </a:prstGeom>
          <a:solidFill>
            <a:srgbClr val="FFFFFF">
              <a:alpha val="12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Segoe UI" panose="020B0502040204020203" pitchFamily="34" charset="0"/>
              </a:rPr>
              <a:t>Dataverse — system of record for every step</a:t>
            </a:r>
          </a:p>
          <a:p>
            <a:pPr algn="ctr">
              <a:buNone/>
            </a:pPr>
            <a:r>
              <a:rPr lang="en-US" sz="100">
                <a:effectLst/>
              </a:rPr>
              <a:t> </a:t>
            </a:r>
            <a:endParaRPr lang="en-US"/>
          </a:p>
        </p:txBody>
      </p:sp>
      <p:sp>
        <p:nvSpPr>
          <p:cNvPr id="7" name="Arrow: Chevron 6">
            <a:extLst>
              <a:ext uri="{FF2B5EF4-FFF2-40B4-BE49-F238E27FC236}">
                <a16:creationId xmlns:a16="http://schemas.microsoft.com/office/drawing/2014/main" id="{78A9005E-DABF-94CE-CB3F-F185D70077B2}"/>
              </a:ext>
            </a:extLst>
          </p:cNvPr>
          <p:cNvSpPr/>
          <p:nvPr/>
        </p:nvSpPr>
        <p:spPr>
          <a:xfrm>
            <a:off x="4217200" y="1811951"/>
            <a:ext cx="1953800" cy="850000"/>
          </a:xfrm>
          <a:prstGeom prst="chevron">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0B1020"/>
                </a:solidFill>
                <a:effectLst/>
                <a:latin typeface="Segoe UI" panose="020B0502040204020203" pitchFamily="34" charset="0"/>
              </a:rPr>
              <a:t>M3</a:t>
            </a:r>
          </a:p>
          <a:p>
            <a:pPr algn="ctr">
              <a:buNone/>
            </a:pPr>
            <a:r>
              <a:rPr lang="en-US" sz="100">
                <a:effectLst/>
              </a:rPr>
              <a:t> </a:t>
            </a:r>
            <a:endParaRPr lang="en-US">
              <a:solidFill>
                <a:schemeClr val="tx1"/>
              </a:solidFill>
            </a:endParaRPr>
          </a:p>
        </p:txBody>
      </p:sp>
      <p:sp>
        <p:nvSpPr>
          <p:cNvPr id="9" name="M3 recolor 8-7">
            <a:extLst>
              <a:ext uri="{FF2B5EF4-FFF2-40B4-BE49-F238E27FC236}">
                <a16:creationId xmlns:a16="http://schemas.microsoft.com/office/drawing/2014/main" id="{E587A64D-275D-249A-098A-B026F502BE2C}"/>
              </a:ext>
            </a:extLst>
          </p:cNvPr>
          <p:cNvSpPr/>
          <p:nvPr/>
        </p:nvSpPr>
        <p:spPr>
          <a:xfrm>
            <a:off x="4207963" y="2889659"/>
            <a:ext cx="1721782" cy="180241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75ECE"/>
                </a:solidFill>
                <a:effectLst/>
                <a:latin typeface="Segoe UI" panose="020B0502040204020203" pitchFamily="34" charset="0"/>
              </a:rPr>
              <a:t>Automation</a:t>
            </a:r>
          </a:p>
          <a:p>
            <a:pPr algn="l">
              <a:buNone/>
            </a:pPr>
            <a:r>
              <a:rPr lang="en-US" sz="1800">
                <a:solidFill>
                  <a:srgbClr val="FFFFFF"/>
                </a:solidFill>
                <a:effectLst/>
                <a:latin typeface="Segoe UI" panose="020B0502040204020203" pitchFamily="34" charset="0"/>
              </a:rPr>
              <a:t>intake and impact automations (cloud flows + AI prompts)</a:t>
            </a:r>
            <a:endParaRPr lang="en-US"/>
          </a:p>
        </p:txBody>
      </p:sp>
    </p:spTree>
    <p:extLst>
      <p:ext uri="{BB962C8B-B14F-4D97-AF65-F5344CB8AC3E}">
        <p14:creationId xmlns:p14="http://schemas.microsoft.com/office/powerpoint/2010/main" val="3584102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74386" name="Rectangle: Rounded Corners 74385">
            <a:extLst>
              <a:ext uri="{FF2B5EF4-FFF2-40B4-BE49-F238E27FC236}">
                <a16:creationId xmlns:a16="http://schemas.microsoft.com/office/drawing/2014/main" id="{17F93AFB-41FB-CF1C-28F6-DBBEFAE0AED3}"/>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74513" name="Rectangle 74512">
            <a:extLst>
              <a:ext uri="{FF2B5EF4-FFF2-40B4-BE49-F238E27FC236}">
                <a16:creationId xmlns:a16="http://schemas.microsoft.com/office/drawing/2014/main" id="{16144DF8-B315-9F9D-0816-F6C1B7433BA4}"/>
              </a:ext>
            </a:extLst>
          </p:cNvPr>
          <p:cNvSpPr/>
          <p:nvPr/>
        </p:nvSpPr>
        <p:spPr>
          <a:xfrm>
            <a:off x="609600" y="1500000"/>
            <a:ext cx="2600000" cy="260000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0" b="1">
                <a:solidFill>
                  <a:srgbClr val="0B1020"/>
                </a:solidFill>
                <a:effectLst/>
                <a:latin typeface="Segoe UI" panose="020B0502040204020203" pitchFamily="34" charset="0"/>
              </a:rPr>
              <a:t>1</a:t>
            </a:r>
          </a:p>
          <a:p>
            <a:pPr algn="ctr">
              <a:buNone/>
            </a:pPr>
            <a:r>
              <a:rPr lang="en-US" sz="100">
                <a:effectLst/>
              </a:rPr>
              <a:t> </a:t>
            </a:r>
            <a:endParaRPr lang="en-US"/>
          </a:p>
        </p:txBody>
      </p:sp>
      <p:sp>
        <p:nvSpPr>
          <p:cNvPr id="74641" name="Rectangle 74640">
            <a:extLst>
              <a:ext uri="{FF2B5EF4-FFF2-40B4-BE49-F238E27FC236}">
                <a16:creationId xmlns:a16="http://schemas.microsoft.com/office/drawing/2014/main" id="{8E42D4AB-77C6-B1D0-1EC6-0700BCCD2F49}"/>
              </a:ext>
            </a:extLst>
          </p:cNvPr>
          <p:cNvSpPr/>
          <p:nvPr/>
        </p:nvSpPr>
        <p:spPr>
          <a:xfrm>
            <a:off x="3659600" y="1041265"/>
            <a:ext cx="792280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300">
                <a:solidFill>
                  <a:srgbClr val="6E9BFF"/>
                </a:solidFill>
                <a:effectLst/>
                <a:latin typeface="Segoe UI" panose="020B0502040204020203" pitchFamily="34" charset="0"/>
              </a:rPr>
              <a:t>MODULE 1</a:t>
            </a:r>
          </a:p>
          <a:p>
            <a:pPr algn="l">
              <a:buNone/>
            </a:pPr>
            <a:r>
              <a:rPr lang="en-US" sz="100">
                <a:effectLst/>
              </a:rPr>
              <a:t> </a:t>
            </a:r>
            <a:endParaRPr lang="en-US"/>
          </a:p>
        </p:txBody>
      </p:sp>
      <p:sp>
        <p:nvSpPr>
          <p:cNvPr id="74770" name="Rectangle 74769">
            <a:extLst>
              <a:ext uri="{FF2B5EF4-FFF2-40B4-BE49-F238E27FC236}">
                <a16:creationId xmlns:a16="http://schemas.microsoft.com/office/drawing/2014/main" id="{37DDA767-35B3-9D86-27A7-A1574D3C83FC}"/>
              </a:ext>
            </a:extLst>
          </p:cNvPr>
          <p:cNvSpPr/>
          <p:nvPr/>
        </p:nvSpPr>
        <p:spPr>
          <a:xfrm>
            <a:off x="3659600" y="1518785"/>
            <a:ext cx="7922800" cy="148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Scenario overview and environment</a:t>
            </a:r>
          </a:p>
          <a:p>
            <a:pPr algn="l">
              <a:buNone/>
            </a:pPr>
            <a:r>
              <a:rPr lang="en-US" sz="100">
                <a:effectLst/>
              </a:rPr>
              <a:t> </a:t>
            </a:r>
            <a:endParaRPr lang="en-US"/>
          </a:p>
        </p:txBody>
      </p:sp>
      <p:sp>
        <p:nvSpPr>
          <p:cNvPr id="74900" name="Rectangle 74899">
            <a:extLst>
              <a:ext uri="{FF2B5EF4-FFF2-40B4-BE49-F238E27FC236}">
                <a16:creationId xmlns:a16="http://schemas.microsoft.com/office/drawing/2014/main" id="{14BB2957-460C-A516-5513-8E059BF2F69B}"/>
              </a:ext>
            </a:extLst>
          </p:cNvPr>
          <p:cNvSpPr/>
          <p:nvPr/>
        </p:nvSpPr>
        <p:spPr>
          <a:xfrm>
            <a:off x="3659600" y="3062145"/>
            <a:ext cx="7922800" cy="92659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a:solidFill>
                  <a:srgbClr val="D6D2E8"/>
                </a:solidFill>
                <a:effectLst/>
                <a:latin typeface="Segoe UI" panose="020B0502040204020203" pitchFamily="34" charset="0"/>
              </a:rPr>
              <a:t>Open the workshop environment and understand the mission</a:t>
            </a:r>
          </a:p>
          <a:p>
            <a:pPr algn="l">
              <a:buNone/>
            </a:pPr>
            <a:r>
              <a:rPr lang="en-US" sz="100">
                <a:effectLst/>
              </a:rPr>
              <a:t> </a:t>
            </a:r>
            <a:endParaRPr lang="en-US"/>
          </a:p>
        </p:txBody>
      </p:sp>
      <p:sp>
        <p:nvSpPr>
          <p:cNvPr id="75031" name="Rectangle: Rounded Corners 75030">
            <a:extLst>
              <a:ext uri="{FF2B5EF4-FFF2-40B4-BE49-F238E27FC236}">
                <a16:creationId xmlns:a16="http://schemas.microsoft.com/office/drawing/2014/main" id="{64F11D6D-E918-B18E-4A59-E9A4EC5F02E6}"/>
              </a:ext>
            </a:extLst>
          </p:cNvPr>
          <p:cNvSpPr/>
          <p:nvPr/>
        </p:nvSpPr>
        <p:spPr>
          <a:xfrm>
            <a:off x="3751040" y="4138736"/>
            <a:ext cx="1143451" cy="420000"/>
          </a:xfrm>
          <a:prstGeom prst="roundRect">
            <a:avLst/>
          </a:prstGeom>
          <a:solidFill>
            <a:srgbClr val="3A7BFF">
              <a:alpha val="22000"/>
            </a:srgbClr>
          </a:solidFill>
          <a:ln w="12700">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50">
                <a:solidFill>
                  <a:srgbClr val="FFFFFF"/>
                </a:solidFill>
                <a:effectLst/>
                <a:latin typeface="Segoe UI" panose="020B0502040204020203" pitchFamily="34" charset="0"/>
              </a:rPr>
              <a:t>15 min</a:t>
            </a:r>
          </a:p>
          <a:p>
            <a:pPr algn="ctr">
              <a:buNone/>
            </a:pPr>
            <a:r>
              <a:rPr lang="en-US" sz="100">
                <a:effectLst/>
              </a:rPr>
              <a:t> </a:t>
            </a:r>
            <a:endParaRPr lang="en-US"/>
          </a:p>
        </p:txBody>
      </p:sp>
      <p:sp>
        <p:nvSpPr>
          <p:cNvPr id="75163" name="Arrow: Pentagon 75162">
            <a:extLst>
              <a:ext uri="{FF2B5EF4-FFF2-40B4-BE49-F238E27FC236}">
                <a16:creationId xmlns:a16="http://schemas.microsoft.com/office/drawing/2014/main" id="{08C1A002-3BD5-909A-A8B3-7E94A097BC3B}"/>
              </a:ext>
            </a:extLst>
          </p:cNvPr>
          <p:cNvSpPr/>
          <p:nvPr/>
        </p:nvSpPr>
        <p:spPr>
          <a:xfrm>
            <a:off x="609600" y="5250000"/>
            <a:ext cx="1928800" cy="600000"/>
          </a:xfrm>
          <a:prstGeom prst="homePlate">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M1 · Orient</a:t>
            </a:r>
          </a:p>
          <a:p>
            <a:pPr algn="ctr">
              <a:buNone/>
            </a:pPr>
            <a:r>
              <a:rPr lang="en-US" sz="100">
                <a:effectLst/>
              </a:rPr>
              <a:t> </a:t>
            </a:r>
            <a:endParaRPr lang="en-US"/>
          </a:p>
        </p:txBody>
      </p:sp>
      <p:sp>
        <p:nvSpPr>
          <p:cNvPr id="75296" name="Arrow: Chevron 75295">
            <a:extLst>
              <a:ext uri="{FF2B5EF4-FFF2-40B4-BE49-F238E27FC236}">
                <a16:creationId xmlns:a16="http://schemas.microsoft.com/office/drawing/2014/main" id="{E9886633-DD4D-4C37-D4B6-53ACB962523C}"/>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75430" name="Arrow: Chevron 75429">
            <a:extLst>
              <a:ext uri="{FF2B5EF4-FFF2-40B4-BE49-F238E27FC236}">
                <a16:creationId xmlns:a16="http://schemas.microsoft.com/office/drawing/2014/main" id="{6992CA2C-BD6D-7D4A-068E-0CB3BE3003A2}"/>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75565" name="Arrow: Chevron 75564">
            <a:extLst>
              <a:ext uri="{FF2B5EF4-FFF2-40B4-BE49-F238E27FC236}">
                <a16:creationId xmlns:a16="http://schemas.microsoft.com/office/drawing/2014/main" id="{28560797-FA96-9219-7FD9-75B589AABB3B}"/>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75701" name="Arrow: Chevron 75700">
            <a:extLst>
              <a:ext uri="{FF2B5EF4-FFF2-40B4-BE49-F238E27FC236}">
                <a16:creationId xmlns:a16="http://schemas.microsoft.com/office/drawing/2014/main" id="{A99298B9-BF34-4CDF-0AC3-60FE24D99463}"/>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75838" name="Arrow: Chevron 75837">
            <a:extLst>
              <a:ext uri="{FF2B5EF4-FFF2-40B4-BE49-F238E27FC236}">
                <a16:creationId xmlns:a16="http://schemas.microsoft.com/office/drawing/2014/main" id="{26B485FE-4D99-3E07-FC7F-04037CCCB8EB}"/>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3242218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02372" name="Rectangle: Rounded Corners 202371">
            <a:extLst>
              <a:ext uri="{FF2B5EF4-FFF2-40B4-BE49-F238E27FC236}">
                <a16:creationId xmlns:a16="http://schemas.microsoft.com/office/drawing/2014/main" id="{CFBE7737-DEF1-8906-68AD-26A3A0DECA09}"/>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202426" name="Rectangle 202425">
            <a:extLst>
              <a:ext uri="{FF2B5EF4-FFF2-40B4-BE49-F238E27FC236}">
                <a16:creationId xmlns:a16="http://schemas.microsoft.com/office/drawing/2014/main" id="{D268CDAC-EEE9-7812-6B0F-EEF85118D4DA}"/>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The mission: Supplier F delays Clam Chowder by 14 days</a:t>
            </a:r>
          </a:p>
          <a:p>
            <a:pPr algn="l">
              <a:buNone/>
            </a:pPr>
            <a:r>
              <a:rPr lang="en-US" sz="100">
                <a:effectLst/>
              </a:rPr>
              <a:t> </a:t>
            </a:r>
            <a:endParaRPr lang="en-US"/>
          </a:p>
        </p:txBody>
      </p:sp>
      <p:sp>
        <p:nvSpPr>
          <p:cNvPr id="202481" name="Rectangle 202480">
            <a:extLst>
              <a:ext uri="{FF2B5EF4-FFF2-40B4-BE49-F238E27FC236}">
                <a16:creationId xmlns:a16="http://schemas.microsoft.com/office/drawing/2014/main" id="{280F06F1-4862-0102-D79A-81A72FA71B99}"/>
              </a:ext>
            </a:extLst>
          </p:cNvPr>
          <p:cNvSpPr/>
          <p:nvPr/>
        </p:nvSpPr>
        <p:spPr>
          <a:xfrm>
            <a:off x="609600" y="1833711"/>
            <a:ext cx="117348" cy="117348"/>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537" name="Rectangle 202536">
            <a:extLst>
              <a:ext uri="{FF2B5EF4-FFF2-40B4-BE49-F238E27FC236}">
                <a16:creationId xmlns:a16="http://schemas.microsoft.com/office/drawing/2014/main" id="{0DFE79FF-4452-0D2D-D0A4-6C83360ADB90}"/>
              </a:ext>
            </a:extLst>
          </p:cNvPr>
          <p:cNvSpPr/>
          <p:nvPr/>
        </p:nvSpPr>
        <p:spPr>
          <a:xfrm>
            <a:off x="798160" y="1634321"/>
            <a:ext cx="511144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Supplier F reports a 14-day delay for Northwind Traders Clam Chowder</a:t>
            </a:r>
          </a:p>
          <a:p>
            <a:pPr algn="l">
              <a:buNone/>
            </a:pPr>
            <a:r>
              <a:rPr lang="en-US" sz="100">
                <a:effectLst/>
              </a:rPr>
              <a:t> </a:t>
            </a:r>
            <a:endParaRPr lang="en-US"/>
          </a:p>
        </p:txBody>
      </p:sp>
      <p:sp>
        <p:nvSpPr>
          <p:cNvPr id="202594" name="Rectangle 202593">
            <a:extLst>
              <a:ext uri="{FF2B5EF4-FFF2-40B4-BE49-F238E27FC236}">
                <a16:creationId xmlns:a16="http://schemas.microsoft.com/office/drawing/2014/main" id="{B847AFE5-D36A-2EA5-3F75-E8B15DE470B2}"/>
              </a:ext>
            </a:extLst>
          </p:cNvPr>
          <p:cNvSpPr/>
          <p:nvPr/>
        </p:nvSpPr>
        <p:spPr>
          <a:xfrm>
            <a:off x="609600" y="2715447"/>
            <a:ext cx="117348" cy="117348"/>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652" name="Rectangle 202651">
            <a:extLst>
              <a:ext uri="{FF2B5EF4-FFF2-40B4-BE49-F238E27FC236}">
                <a16:creationId xmlns:a16="http://schemas.microsoft.com/office/drawing/2014/main" id="{1E732F56-FC84-A388-AA67-E808C1AA0484}"/>
              </a:ext>
            </a:extLst>
          </p:cNvPr>
          <p:cNvSpPr/>
          <p:nvPr/>
        </p:nvSpPr>
        <p:spPr>
          <a:xfrm>
            <a:off x="798160" y="2516057"/>
            <a:ext cx="511144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Three open orders are at risk</a:t>
            </a:r>
          </a:p>
          <a:p>
            <a:pPr algn="l">
              <a:buNone/>
            </a:pPr>
            <a:r>
              <a:rPr lang="en-US" sz="100">
                <a:effectLst/>
              </a:rPr>
              <a:t> </a:t>
            </a:r>
            <a:endParaRPr lang="en-US"/>
          </a:p>
        </p:txBody>
      </p:sp>
      <p:sp>
        <p:nvSpPr>
          <p:cNvPr id="202711" name="Rectangle 202710">
            <a:extLst>
              <a:ext uri="{FF2B5EF4-FFF2-40B4-BE49-F238E27FC236}">
                <a16:creationId xmlns:a16="http://schemas.microsoft.com/office/drawing/2014/main" id="{FB002044-13F2-A995-0E0D-631A8EA05A69}"/>
              </a:ext>
            </a:extLst>
          </p:cNvPr>
          <p:cNvSpPr/>
          <p:nvPr/>
        </p:nvSpPr>
        <p:spPr>
          <a:xfrm>
            <a:off x="609600" y="3256315"/>
            <a:ext cx="117348" cy="117348"/>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771" name="Rectangle 202770">
            <a:extLst>
              <a:ext uri="{FF2B5EF4-FFF2-40B4-BE49-F238E27FC236}">
                <a16:creationId xmlns:a16="http://schemas.microsoft.com/office/drawing/2014/main" id="{CE4D6595-1435-69FF-64BA-DBC210BB8EBA}"/>
              </a:ext>
            </a:extLst>
          </p:cNvPr>
          <p:cNvSpPr/>
          <p:nvPr/>
        </p:nvSpPr>
        <p:spPr>
          <a:xfrm>
            <a:off x="798160" y="3056925"/>
            <a:ext cx="511144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Business policy lab-1 recommends a Split Shipment, with Expedite Reorder as an alternative</a:t>
            </a:r>
          </a:p>
          <a:p>
            <a:pPr algn="l">
              <a:buNone/>
            </a:pPr>
            <a:r>
              <a:rPr lang="en-US" sz="100">
                <a:effectLst/>
              </a:rPr>
              <a:t> </a:t>
            </a:r>
            <a:endParaRPr lang="en-US"/>
          </a:p>
        </p:txBody>
      </p:sp>
      <p:sp>
        <p:nvSpPr>
          <p:cNvPr id="202832" name="Rectangle 202831">
            <a:extLst>
              <a:ext uri="{FF2B5EF4-FFF2-40B4-BE49-F238E27FC236}">
                <a16:creationId xmlns:a16="http://schemas.microsoft.com/office/drawing/2014/main" id="{D893EE72-267C-B45A-9736-A78A7133E244}"/>
              </a:ext>
            </a:extLst>
          </p:cNvPr>
          <p:cNvSpPr/>
          <p:nvPr/>
        </p:nvSpPr>
        <p:spPr>
          <a:xfrm>
            <a:off x="609600" y="4478919"/>
            <a:ext cx="117348" cy="117348"/>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894" name="Rectangle 202893">
            <a:extLst>
              <a:ext uri="{FF2B5EF4-FFF2-40B4-BE49-F238E27FC236}">
                <a16:creationId xmlns:a16="http://schemas.microsoft.com/office/drawing/2014/main" id="{CA93EE50-30D0-90D0-8F3A-AE13746D0C0E}"/>
              </a:ext>
            </a:extLst>
          </p:cNvPr>
          <p:cNvSpPr/>
          <p:nvPr/>
        </p:nvSpPr>
        <p:spPr>
          <a:xfrm>
            <a:off x="798160" y="4279529"/>
            <a:ext cx="511144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The carrier contact must be registered on a browser portal with no supported API</a:t>
            </a:r>
          </a:p>
          <a:p>
            <a:pPr algn="l">
              <a:buNone/>
            </a:pPr>
            <a:r>
              <a:rPr lang="en-US" sz="100">
                <a:effectLst/>
              </a:rPr>
              <a:t> </a:t>
            </a:r>
            <a:endParaRPr lang="en-US"/>
          </a:p>
        </p:txBody>
      </p:sp>
      <p:sp>
        <p:nvSpPr>
          <p:cNvPr id="202957" name="Rectangle 202956">
            <a:extLst>
              <a:ext uri="{FF2B5EF4-FFF2-40B4-BE49-F238E27FC236}">
                <a16:creationId xmlns:a16="http://schemas.microsoft.com/office/drawing/2014/main" id="{0765BF34-6C62-7C3A-17D1-A07BAEF267CD}"/>
              </a:ext>
            </a:extLst>
          </p:cNvPr>
          <p:cNvSpPr/>
          <p:nvPr/>
        </p:nvSpPr>
        <p:spPr>
          <a:xfrm>
            <a:off x="6309600" y="1621951"/>
            <a:ext cx="52728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spc="200">
                <a:solidFill>
                  <a:srgbClr val="6E9BFF"/>
                </a:solidFill>
                <a:effectLst/>
                <a:latin typeface="Segoe UI" panose="020B0502040204020203" pitchFamily="34" charset="0"/>
              </a:rPr>
              <a:t>ORDERS AT RISK</a:t>
            </a:r>
          </a:p>
          <a:p>
            <a:pPr algn="l">
              <a:buNone/>
            </a:pPr>
            <a:r>
              <a:rPr lang="en-US" sz="100">
                <a:effectLst/>
              </a:rPr>
              <a:t> </a:t>
            </a:r>
            <a:endParaRPr lang="en-US"/>
          </a:p>
        </p:txBody>
      </p:sp>
      <p:sp>
        <p:nvSpPr>
          <p:cNvPr id="203021" name="Rectangle 203020">
            <a:extLst>
              <a:ext uri="{FF2B5EF4-FFF2-40B4-BE49-F238E27FC236}">
                <a16:creationId xmlns:a16="http://schemas.microsoft.com/office/drawing/2014/main" id="{1D33050C-EFCE-6E41-5609-7879A88B0084}"/>
              </a:ext>
            </a:extLst>
          </p:cNvPr>
          <p:cNvSpPr/>
          <p:nvPr/>
        </p:nvSpPr>
        <p:spPr>
          <a:xfrm>
            <a:off x="6309600" y="2021951"/>
            <a:ext cx="5272800" cy="52000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086" name="Rectangle 203085">
            <a:extLst>
              <a:ext uri="{FF2B5EF4-FFF2-40B4-BE49-F238E27FC236}">
                <a16:creationId xmlns:a16="http://schemas.microsoft.com/office/drawing/2014/main" id="{2889DD8C-E95C-B284-A5F0-EE3F5F753FEE}"/>
              </a:ext>
            </a:extLst>
          </p:cNvPr>
          <p:cNvSpPr/>
          <p:nvPr/>
        </p:nvSpPr>
        <p:spPr>
          <a:xfrm>
            <a:off x="6349600" y="2021951"/>
            <a:ext cx="1080016"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Order</a:t>
            </a:r>
          </a:p>
          <a:p>
            <a:pPr algn="l">
              <a:buNone/>
            </a:pPr>
            <a:r>
              <a:rPr lang="en-US" sz="100">
                <a:effectLst/>
              </a:rPr>
              <a:t> </a:t>
            </a:r>
            <a:endParaRPr lang="en-US"/>
          </a:p>
        </p:txBody>
      </p:sp>
      <p:sp>
        <p:nvSpPr>
          <p:cNvPr id="203152" name="Rectangle 203151">
            <a:extLst>
              <a:ext uri="{FF2B5EF4-FFF2-40B4-BE49-F238E27FC236}">
                <a16:creationId xmlns:a16="http://schemas.microsoft.com/office/drawing/2014/main" id="{7D4F7294-EBA4-B0E8-BE63-CC67915EE029}"/>
              </a:ext>
            </a:extLst>
          </p:cNvPr>
          <p:cNvSpPr/>
          <p:nvPr/>
        </p:nvSpPr>
        <p:spPr>
          <a:xfrm>
            <a:off x="7509616" y="2021951"/>
            <a:ext cx="76364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600" b="1">
                <a:solidFill>
                  <a:srgbClr val="0B1020"/>
                </a:solidFill>
                <a:effectLst/>
                <a:latin typeface="Segoe UI" panose="020B0502040204020203" pitchFamily="34" charset="0"/>
              </a:rPr>
              <a:t>Qty</a:t>
            </a:r>
          </a:p>
          <a:p>
            <a:pPr algn="r">
              <a:buNone/>
            </a:pPr>
            <a:r>
              <a:rPr lang="en-US" sz="100">
                <a:effectLst/>
              </a:rPr>
              <a:t> </a:t>
            </a:r>
            <a:endParaRPr lang="en-US"/>
          </a:p>
        </p:txBody>
      </p:sp>
      <p:sp>
        <p:nvSpPr>
          <p:cNvPr id="203219" name="Rectangle 203218">
            <a:extLst>
              <a:ext uri="{FF2B5EF4-FFF2-40B4-BE49-F238E27FC236}">
                <a16:creationId xmlns:a16="http://schemas.microsoft.com/office/drawing/2014/main" id="{43F1C55C-9AF5-3477-973F-F01E6A67E54C}"/>
              </a:ext>
            </a:extLst>
          </p:cNvPr>
          <p:cNvSpPr/>
          <p:nvPr/>
        </p:nvSpPr>
        <p:spPr>
          <a:xfrm>
            <a:off x="8353264" y="2021951"/>
            <a:ext cx="129092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600" b="1">
                <a:solidFill>
                  <a:srgbClr val="0B1020"/>
                </a:solidFill>
                <a:effectLst/>
                <a:latin typeface="Segoe UI" panose="020B0502040204020203" pitchFamily="34" charset="0"/>
              </a:rPr>
              <a:t>Unit price</a:t>
            </a:r>
          </a:p>
          <a:p>
            <a:pPr algn="r">
              <a:buNone/>
            </a:pPr>
            <a:r>
              <a:rPr lang="en-US" sz="100">
                <a:effectLst/>
              </a:rPr>
              <a:t> </a:t>
            </a:r>
            <a:endParaRPr lang="en-US"/>
          </a:p>
        </p:txBody>
      </p:sp>
      <p:sp>
        <p:nvSpPr>
          <p:cNvPr id="203287" name="Rectangle 203286">
            <a:extLst>
              <a:ext uri="{FF2B5EF4-FFF2-40B4-BE49-F238E27FC236}">
                <a16:creationId xmlns:a16="http://schemas.microsoft.com/office/drawing/2014/main" id="{C2CE6B71-1144-F09E-2940-4F97332A6E5F}"/>
              </a:ext>
            </a:extLst>
          </p:cNvPr>
          <p:cNvSpPr/>
          <p:nvPr/>
        </p:nvSpPr>
        <p:spPr>
          <a:xfrm>
            <a:off x="9724192" y="2021951"/>
            <a:ext cx="181820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600" b="1">
                <a:solidFill>
                  <a:srgbClr val="0B1020"/>
                </a:solidFill>
                <a:effectLst/>
                <a:latin typeface="Segoe UI" panose="020B0502040204020203" pitchFamily="34" charset="0"/>
              </a:rPr>
              <a:t>Exposure</a:t>
            </a:r>
          </a:p>
          <a:p>
            <a:pPr algn="r">
              <a:buNone/>
            </a:pPr>
            <a:r>
              <a:rPr lang="en-US" sz="100">
                <a:effectLst/>
              </a:rPr>
              <a:t> </a:t>
            </a:r>
            <a:endParaRPr lang="en-US"/>
          </a:p>
        </p:txBody>
      </p:sp>
      <p:sp>
        <p:nvSpPr>
          <p:cNvPr id="203356" name="Rectangle 203355">
            <a:extLst>
              <a:ext uri="{FF2B5EF4-FFF2-40B4-BE49-F238E27FC236}">
                <a16:creationId xmlns:a16="http://schemas.microsoft.com/office/drawing/2014/main" id="{2A462BFD-26E6-3113-660B-282844522A83}"/>
              </a:ext>
            </a:extLst>
          </p:cNvPr>
          <p:cNvSpPr/>
          <p:nvPr/>
        </p:nvSpPr>
        <p:spPr>
          <a:xfrm>
            <a:off x="6309600" y="2541951"/>
            <a:ext cx="5272800" cy="520000"/>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26" name="Rectangle 203425">
            <a:extLst>
              <a:ext uri="{FF2B5EF4-FFF2-40B4-BE49-F238E27FC236}">
                <a16:creationId xmlns:a16="http://schemas.microsoft.com/office/drawing/2014/main" id="{6813B628-642A-0159-5B4A-3D434B20FC86}"/>
              </a:ext>
            </a:extLst>
          </p:cNvPr>
          <p:cNvSpPr/>
          <p:nvPr/>
        </p:nvSpPr>
        <p:spPr>
          <a:xfrm>
            <a:off x="6309600" y="3055601"/>
            <a:ext cx="52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97" name="Rectangle 203496">
            <a:extLst>
              <a:ext uri="{FF2B5EF4-FFF2-40B4-BE49-F238E27FC236}">
                <a16:creationId xmlns:a16="http://schemas.microsoft.com/office/drawing/2014/main" id="{A1025A58-E0F9-A1C9-C10B-5B49C5F3E877}"/>
              </a:ext>
            </a:extLst>
          </p:cNvPr>
          <p:cNvSpPr/>
          <p:nvPr/>
        </p:nvSpPr>
        <p:spPr>
          <a:xfrm>
            <a:off x="6349600" y="2541951"/>
            <a:ext cx="1080016"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0915</a:t>
            </a:r>
          </a:p>
          <a:p>
            <a:pPr algn="l">
              <a:buNone/>
            </a:pPr>
            <a:r>
              <a:rPr lang="en-US" sz="100">
                <a:effectLst/>
              </a:rPr>
              <a:t> </a:t>
            </a:r>
            <a:endParaRPr lang="en-US"/>
          </a:p>
        </p:txBody>
      </p:sp>
      <p:sp>
        <p:nvSpPr>
          <p:cNvPr id="203569" name="Rectangle 203568">
            <a:extLst>
              <a:ext uri="{FF2B5EF4-FFF2-40B4-BE49-F238E27FC236}">
                <a16:creationId xmlns:a16="http://schemas.microsoft.com/office/drawing/2014/main" id="{DCAFA989-67EF-FDE0-B901-A4F7224B7337}"/>
              </a:ext>
            </a:extLst>
          </p:cNvPr>
          <p:cNvSpPr/>
          <p:nvPr/>
        </p:nvSpPr>
        <p:spPr>
          <a:xfrm>
            <a:off x="7509616" y="2541951"/>
            <a:ext cx="76364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50</a:t>
            </a:r>
          </a:p>
          <a:p>
            <a:pPr algn="r">
              <a:buNone/>
            </a:pPr>
            <a:r>
              <a:rPr lang="en-US" sz="100">
                <a:effectLst/>
              </a:rPr>
              <a:t> </a:t>
            </a:r>
            <a:endParaRPr lang="en-US"/>
          </a:p>
        </p:txBody>
      </p:sp>
      <p:sp>
        <p:nvSpPr>
          <p:cNvPr id="203642" name="Rectangle 203641">
            <a:extLst>
              <a:ext uri="{FF2B5EF4-FFF2-40B4-BE49-F238E27FC236}">
                <a16:creationId xmlns:a16="http://schemas.microsoft.com/office/drawing/2014/main" id="{C528F03A-2B2B-CC84-CBE0-577207B621EB}"/>
              </a:ext>
            </a:extLst>
          </p:cNvPr>
          <p:cNvSpPr/>
          <p:nvPr/>
        </p:nvSpPr>
        <p:spPr>
          <a:xfrm>
            <a:off x="8353264" y="2541951"/>
            <a:ext cx="129092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9.65</a:t>
            </a:r>
          </a:p>
          <a:p>
            <a:pPr algn="r">
              <a:buNone/>
            </a:pPr>
            <a:r>
              <a:rPr lang="en-US" sz="100">
                <a:effectLst/>
              </a:rPr>
              <a:t> </a:t>
            </a:r>
            <a:endParaRPr lang="en-US"/>
          </a:p>
        </p:txBody>
      </p:sp>
      <p:sp>
        <p:nvSpPr>
          <p:cNvPr id="203716" name="Rectangle 203715">
            <a:extLst>
              <a:ext uri="{FF2B5EF4-FFF2-40B4-BE49-F238E27FC236}">
                <a16:creationId xmlns:a16="http://schemas.microsoft.com/office/drawing/2014/main" id="{A7325B74-E8B1-9EE4-E77B-A7E43AB7FE72}"/>
              </a:ext>
            </a:extLst>
          </p:cNvPr>
          <p:cNvSpPr/>
          <p:nvPr/>
        </p:nvSpPr>
        <p:spPr>
          <a:xfrm>
            <a:off x="9724192" y="2541951"/>
            <a:ext cx="181820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USD 482.50</a:t>
            </a:r>
          </a:p>
          <a:p>
            <a:pPr algn="r">
              <a:buNone/>
            </a:pPr>
            <a:r>
              <a:rPr lang="en-US" sz="100">
                <a:effectLst/>
              </a:rPr>
              <a:t> </a:t>
            </a:r>
            <a:endParaRPr lang="en-US"/>
          </a:p>
        </p:txBody>
      </p:sp>
      <p:sp>
        <p:nvSpPr>
          <p:cNvPr id="203791" name="Rectangle 203790">
            <a:extLst>
              <a:ext uri="{FF2B5EF4-FFF2-40B4-BE49-F238E27FC236}">
                <a16:creationId xmlns:a16="http://schemas.microsoft.com/office/drawing/2014/main" id="{332215C4-E736-DE28-71DE-F54DE6275A2D}"/>
              </a:ext>
            </a:extLst>
          </p:cNvPr>
          <p:cNvSpPr/>
          <p:nvPr/>
        </p:nvSpPr>
        <p:spPr>
          <a:xfrm>
            <a:off x="6309600" y="3061951"/>
            <a:ext cx="5272800" cy="520000"/>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867" name="Rectangle 203866">
            <a:extLst>
              <a:ext uri="{FF2B5EF4-FFF2-40B4-BE49-F238E27FC236}">
                <a16:creationId xmlns:a16="http://schemas.microsoft.com/office/drawing/2014/main" id="{7ABAD86C-535E-77E1-98AC-1CEAD5CFF268}"/>
              </a:ext>
            </a:extLst>
          </p:cNvPr>
          <p:cNvSpPr/>
          <p:nvPr/>
        </p:nvSpPr>
        <p:spPr>
          <a:xfrm>
            <a:off x="6309600" y="3575601"/>
            <a:ext cx="52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944" name="Rectangle 203943">
            <a:extLst>
              <a:ext uri="{FF2B5EF4-FFF2-40B4-BE49-F238E27FC236}">
                <a16:creationId xmlns:a16="http://schemas.microsoft.com/office/drawing/2014/main" id="{2883E5D3-2BB3-19E5-F94F-E72412B9DB0C}"/>
              </a:ext>
            </a:extLst>
          </p:cNvPr>
          <p:cNvSpPr/>
          <p:nvPr/>
        </p:nvSpPr>
        <p:spPr>
          <a:xfrm>
            <a:off x="6349600" y="3061951"/>
            <a:ext cx="1080016"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0920</a:t>
            </a:r>
          </a:p>
          <a:p>
            <a:pPr algn="l">
              <a:buNone/>
            </a:pPr>
            <a:r>
              <a:rPr lang="en-US" sz="100">
                <a:effectLst/>
              </a:rPr>
              <a:t> </a:t>
            </a:r>
            <a:endParaRPr lang="en-US"/>
          </a:p>
        </p:txBody>
      </p:sp>
      <p:sp>
        <p:nvSpPr>
          <p:cNvPr id="204022" name="Rectangle 204021">
            <a:extLst>
              <a:ext uri="{FF2B5EF4-FFF2-40B4-BE49-F238E27FC236}">
                <a16:creationId xmlns:a16="http://schemas.microsoft.com/office/drawing/2014/main" id="{077DD61C-3B98-6107-461B-FA3A9A4275ED}"/>
              </a:ext>
            </a:extLst>
          </p:cNvPr>
          <p:cNvSpPr/>
          <p:nvPr/>
        </p:nvSpPr>
        <p:spPr>
          <a:xfrm>
            <a:off x="7509616" y="3061951"/>
            <a:ext cx="76364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30</a:t>
            </a:r>
          </a:p>
          <a:p>
            <a:pPr algn="r">
              <a:buNone/>
            </a:pPr>
            <a:r>
              <a:rPr lang="en-US" sz="100">
                <a:effectLst/>
              </a:rPr>
              <a:t> </a:t>
            </a:r>
            <a:endParaRPr lang="en-US"/>
          </a:p>
        </p:txBody>
      </p:sp>
      <p:sp>
        <p:nvSpPr>
          <p:cNvPr id="204101" name="Rectangle 204100">
            <a:extLst>
              <a:ext uri="{FF2B5EF4-FFF2-40B4-BE49-F238E27FC236}">
                <a16:creationId xmlns:a16="http://schemas.microsoft.com/office/drawing/2014/main" id="{3FDC141F-5AD8-8E3B-6BBE-E711C5B9757F}"/>
              </a:ext>
            </a:extLst>
          </p:cNvPr>
          <p:cNvSpPr/>
          <p:nvPr/>
        </p:nvSpPr>
        <p:spPr>
          <a:xfrm>
            <a:off x="8353264" y="3061951"/>
            <a:ext cx="129092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9.65</a:t>
            </a:r>
          </a:p>
          <a:p>
            <a:pPr algn="r">
              <a:buNone/>
            </a:pPr>
            <a:r>
              <a:rPr lang="en-US" sz="100">
                <a:effectLst/>
              </a:rPr>
              <a:t> </a:t>
            </a:r>
            <a:endParaRPr lang="en-US"/>
          </a:p>
        </p:txBody>
      </p:sp>
      <p:sp>
        <p:nvSpPr>
          <p:cNvPr id="204181" name="Rectangle 204180">
            <a:extLst>
              <a:ext uri="{FF2B5EF4-FFF2-40B4-BE49-F238E27FC236}">
                <a16:creationId xmlns:a16="http://schemas.microsoft.com/office/drawing/2014/main" id="{1E6DC3A4-F4BE-18C8-AF26-C48489825033}"/>
              </a:ext>
            </a:extLst>
          </p:cNvPr>
          <p:cNvSpPr/>
          <p:nvPr/>
        </p:nvSpPr>
        <p:spPr>
          <a:xfrm>
            <a:off x="9724192" y="3061951"/>
            <a:ext cx="181820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USD 289.50</a:t>
            </a:r>
          </a:p>
          <a:p>
            <a:pPr algn="r">
              <a:buNone/>
            </a:pPr>
            <a:r>
              <a:rPr lang="en-US" sz="100">
                <a:effectLst/>
              </a:rPr>
              <a:t> </a:t>
            </a:r>
            <a:endParaRPr lang="en-US"/>
          </a:p>
        </p:txBody>
      </p:sp>
      <p:sp>
        <p:nvSpPr>
          <p:cNvPr id="204262" name="Rectangle 204261">
            <a:extLst>
              <a:ext uri="{FF2B5EF4-FFF2-40B4-BE49-F238E27FC236}">
                <a16:creationId xmlns:a16="http://schemas.microsoft.com/office/drawing/2014/main" id="{92A76808-CEB0-2A70-090E-6D1C5631A7FB}"/>
              </a:ext>
            </a:extLst>
          </p:cNvPr>
          <p:cNvSpPr/>
          <p:nvPr/>
        </p:nvSpPr>
        <p:spPr>
          <a:xfrm>
            <a:off x="6309600" y="3581951"/>
            <a:ext cx="5272800" cy="520000"/>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344" name="Rectangle 204343">
            <a:extLst>
              <a:ext uri="{FF2B5EF4-FFF2-40B4-BE49-F238E27FC236}">
                <a16:creationId xmlns:a16="http://schemas.microsoft.com/office/drawing/2014/main" id="{8471CD85-AC5C-BCBE-B924-D090A53CF9B4}"/>
              </a:ext>
            </a:extLst>
          </p:cNvPr>
          <p:cNvSpPr/>
          <p:nvPr/>
        </p:nvSpPr>
        <p:spPr>
          <a:xfrm>
            <a:off x="6309600" y="4095601"/>
            <a:ext cx="52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427" name="Rectangle 204426">
            <a:extLst>
              <a:ext uri="{FF2B5EF4-FFF2-40B4-BE49-F238E27FC236}">
                <a16:creationId xmlns:a16="http://schemas.microsoft.com/office/drawing/2014/main" id="{9FB89A8F-FC23-16E4-BD0F-908FE0E85FE0}"/>
              </a:ext>
            </a:extLst>
          </p:cNvPr>
          <p:cNvSpPr/>
          <p:nvPr/>
        </p:nvSpPr>
        <p:spPr>
          <a:xfrm>
            <a:off x="6349600" y="3581951"/>
            <a:ext cx="1080016"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0935</a:t>
            </a:r>
          </a:p>
          <a:p>
            <a:pPr algn="l">
              <a:buNone/>
            </a:pPr>
            <a:r>
              <a:rPr lang="en-US" sz="100">
                <a:effectLst/>
              </a:rPr>
              <a:t> </a:t>
            </a:r>
            <a:endParaRPr lang="en-US"/>
          </a:p>
        </p:txBody>
      </p:sp>
      <p:sp>
        <p:nvSpPr>
          <p:cNvPr id="204511" name="Rectangle 204510">
            <a:extLst>
              <a:ext uri="{FF2B5EF4-FFF2-40B4-BE49-F238E27FC236}">
                <a16:creationId xmlns:a16="http://schemas.microsoft.com/office/drawing/2014/main" id="{BE2A8644-0A5D-5326-404D-713BD46FED07}"/>
              </a:ext>
            </a:extLst>
          </p:cNvPr>
          <p:cNvSpPr/>
          <p:nvPr/>
        </p:nvSpPr>
        <p:spPr>
          <a:xfrm>
            <a:off x="7509616" y="3581951"/>
            <a:ext cx="76364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10</a:t>
            </a:r>
          </a:p>
          <a:p>
            <a:pPr algn="r">
              <a:buNone/>
            </a:pPr>
            <a:r>
              <a:rPr lang="en-US" sz="100">
                <a:effectLst/>
              </a:rPr>
              <a:t> </a:t>
            </a:r>
            <a:endParaRPr lang="en-US"/>
          </a:p>
        </p:txBody>
      </p:sp>
      <p:sp>
        <p:nvSpPr>
          <p:cNvPr id="204596" name="Rectangle 204595">
            <a:extLst>
              <a:ext uri="{FF2B5EF4-FFF2-40B4-BE49-F238E27FC236}">
                <a16:creationId xmlns:a16="http://schemas.microsoft.com/office/drawing/2014/main" id="{5FE971FA-B34B-D8FA-E97D-FF9735FAE6BD}"/>
              </a:ext>
            </a:extLst>
          </p:cNvPr>
          <p:cNvSpPr/>
          <p:nvPr/>
        </p:nvSpPr>
        <p:spPr>
          <a:xfrm>
            <a:off x="8353264" y="3581951"/>
            <a:ext cx="129092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9.65</a:t>
            </a:r>
          </a:p>
          <a:p>
            <a:pPr algn="r">
              <a:buNone/>
            </a:pPr>
            <a:r>
              <a:rPr lang="en-US" sz="100">
                <a:effectLst/>
              </a:rPr>
              <a:t> </a:t>
            </a:r>
            <a:endParaRPr lang="en-US"/>
          </a:p>
        </p:txBody>
      </p:sp>
      <p:sp>
        <p:nvSpPr>
          <p:cNvPr id="204682" name="Rectangle 204681">
            <a:extLst>
              <a:ext uri="{FF2B5EF4-FFF2-40B4-BE49-F238E27FC236}">
                <a16:creationId xmlns:a16="http://schemas.microsoft.com/office/drawing/2014/main" id="{F66D5CE3-4ACA-32C9-88E9-AFDEC8B487E0}"/>
              </a:ext>
            </a:extLst>
          </p:cNvPr>
          <p:cNvSpPr/>
          <p:nvPr/>
        </p:nvSpPr>
        <p:spPr>
          <a:xfrm>
            <a:off x="9724192" y="3581951"/>
            <a:ext cx="181820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a:solidFill>
                  <a:srgbClr val="FFFFFF"/>
                </a:solidFill>
                <a:effectLst/>
                <a:latin typeface="Segoe UI" panose="020B0502040204020203" pitchFamily="34" charset="0"/>
              </a:rPr>
              <a:t>USD 96.50</a:t>
            </a:r>
          </a:p>
          <a:p>
            <a:pPr algn="r">
              <a:buNone/>
            </a:pPr>
            <a:r>
              <a:rPr lang="en-US" sz="100">
                <a:effectLst/>
              </a:rPr>
              <a:t> </a:t>
            </a:r>
            <a:endParaRPr lang="en-US"/>
          </a:p>
        </p:txBody>
      </p:sp>
      <p:sp>
        <p:nvSpPr>
          <p:cNvPr id="204769" name="Rectangle 204768">
            <a:extLst>
              <a:ext uri="{FF2B5EF4-FFF2-40B4-BE49-F238E27FC236}">
                <a16:creationId xmlns:a16="http://schemas.microsoft.com/office/drawing/2014/main" id="{76785D66-C84D-07A0-14DB-3D3F28C746D9}"/>
              </a:ext>
            </a:extLst>
          </p:cNvPr>
          <p:cNvSpPr/>
          <p:nvPr/>
        </p:nvSpPr>
        <p:spPr>
          <a:xfrm>
            <a:off x="6309600" y="4101951"/>
            <a:ext cx="5272800" cy="520000"/>
          </a:xfrm>
          <a:prstGeom prst="rect">
            <a:avLst/>
          </a:prstGeom>
          <a:solidFill>
            <a:srgbClr val="3A7BFF">
              <a:alpha val="22000"/>
            </a:srgbClr>
          </a:solidFill>
          <a:ln w="19050">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57" name="Rectangle 204856">
            <a:extLst>
              <a:ext uri="{FF2B5EF4-FFF2-40B4-BE49-F238E27FC236}">
                <a16:creationId xmlns:a16="http://schemas.microsoft.com/office/drawing/2014/main" id="{825FBF35-ACF9-E563-E3DF-DA40B8DBD65A}"/>
              </a:ext>
            </a:extLst>
          </p:cNvPr>
          <p:cNvSpPr/>
          <p:nvPr/>
        </p:nvSpPr>
        <p:spPr>
          <a:xfrm>
            <a:off x="6349600" y="4101951"/>
            <a:ext cx="210912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FFFFF"/>
                </a:solidFill>
                <a:effectLst/>
                <a:latin typeface="Segoe UI" panose="020B0502040204020203" pitchFamily="34" charset="0"/>
              </a:rPr>
              <a:t>Total</a:t>
            </a:r>
          </a:p>
          <a:p>
            <a:pPr algn="l">
              <a:buNone/>
            </a:pPr>
            <a:r>
              <a:rPr lang="en-US" sz="100">
                <a:effectLst/>
              </a:rPr>
              <a:t> </a:t>
            </a:r>
            <a:endParaRPr lang="en-US"/>
          </a:p>
        </p:txBody>
      </p:sp>
      <p:sp>
        <p:nvSpPr>
          <p:cNvPr id="204946" name="Rectangle 204945">
            <a:extLst>
              <a:ext uri="{FF2B5EF4-FFF2-40B4-BE49-F238E27FC236}">
                <a16:creationId xmlns:a16="http://schemas.microsoft.com/office/drawing/2014/main" id="{35E3425D-A533-3AE3-E039-FB39D75E5FE6}"/>
              </a:ext>
            </a:extLst>
          </p:cNvPr>
          <p:cNvSpPr/>
          <p:nvPr/>
        </p:nvSpPr>
        <p:spPr>
          <a:xfrm>
            <a:off x="9724192" y="4101951"/>
            <a:ext cx="1818208"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2000" b="1">
                <a:solidFill>
                  <a:srgbClr val="FFFFFF"/>
                </a:solidFill>
                <a:effectLst/>
                <a:latin typeface="Segoe UI" panose="020B0502040204020203" pitchFamily="34" charset="0"/>
              </a:rPr>
              <a:t>USD 868.50</a:t>
            </a:r>
          </a:p>
          <a:p>
            <a:pPr algn="r">
              <a:buNone/>
            </a:pPr>
            <a:r>
              <a:rPr lang="en-US" sz="100">
                <a:effectLst/>
              </a:rPr>
              <a:t> </a:t>
            </a:r>
            <a:endParaRPr lang="en-US"/>
          </a:p>
        </p:txBody>
      </p:sp>
    </p:spTree>
    <p:extLst>
      <p:ext uri="{BB962C8B-B14F-4D97-AF65-F5344CB8AC3E}">
        <p14:creationId xmlns:p14="http://schemas.microsoft.com/office/powerpoint/2010/main" val="690049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05036" name="Rectangle: Rounded Corners 205035">
            <a:extLst>
              <a:ext uri="{FF2B5EF4-FFF2-40B4-BE49-F238E27FC236}">
                <a16:creationId xmlns:a16="http://schemas.microsoft.com/office/drawing/2014/main" id="{E22C8020-E0D9-9489-EA96-A62696B62931}"/>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205127" name="Rectangle 205126">
            <a:extLst>
              <a:ext uri="{FF2B5EF4-FFF2-40B4-BE49-F238E27FC236}">
                <a16:creationId xmlns:a16="http://schemas.microsoft.com/office/drawing/2014/main" id="{56086760-83EA-B463-A287-B56CE3B94F3B}"/>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From supplier email to verified recovery</a:t>
            </a:r>
          </a:p>
          <a:p>
            <a:pPr algn="l">
              <a:buNone/>
            </a:pPr>
            <a:r>
              <a:rPr lang="en-US" sz="100">
                <a:effectLst/>
              </a:rPr>
              <a:t> </a:t>
            </a:r>
            <a:endParaRPr lang="en-US"/>
          </a:p>
        </p:txBody>
      </p:sp>
      <p:sp>
        <p:nvSpPr>
          <p:cNvPr id="205219" name="Rectangle 205218">
            <a:extLst>
              <a:ext uri="{FF2B5EF4-FFF2-40B4-BE49-F238E27FC236}">
                <a16:creationId xmlns:a16="http://schemas.microsoft.com/office/drawing/2014/main" id="{CC0B1EE1-4708-144D-CEC5-1425BE06CC41}"/>
              </a:ext>
            </a:extLst>
          </p:cNvPr>
          <p:cNvSpPr/>
          <p:nvPr/>
        </p:nvSpPr>
        <p:spPr>
          <a:xfrm>
            <a:off x="609600" y="1961951"/>
            <a:ext cx="3404266" cy="816768"/>
          </a:xfrm>
          <a:prstGeom prst="rect">
            <a:avLst/>
          </a:prstGeom>
          <a:solidFill>
            <a:srgbClr val="FFFFFF">
              <a:alpha val="7000"/>
            </a:srgbClr>
          </a:solidFill>
          <a:ln w="2540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12" name="Rectangle 205311">
            <a:extLst>
              <a:ext uri="{FF2B5EF4-FFF2-40B4-BE49-F238E27FC236}">
                <a16:creationId xmlns:a16="http://schemas.microsoft.com/office/drawing/2014/main" id="{FFC4E354-1991-7DD7-2ECE-34C736093237}"/>
              </a:ext>
            </a:extLst>
          </p:cNvPr>
          <p:cNvSpPr/>
          <p:nvPr/>
        </p:nvSpPr>
        <p:spPr>
          <a:xfrm>
            <a:off x="609600" y="1961951"/>
            <a:ext cx="480000" cy="816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FF00FF"/>
                </a:solidFill>
                <a:effectLst/>
                <a:latin typeface="Segoe UI" panose="020B0502040204020203" pitchFamily="34" charset="0"/>
              </a:rPr>
              <a:t>1</a:t>
            </a:r>
          </a:p>
          <a:p>
            <a:pPr algn="ctr">
              <a:buNone/>
            </a:pPr>
            <a:r>
              <a:rPr lang="en-US" sz="100">
                <a:effectLst/>
              </a:rPr>
              <a:t> </a:t>
            </a:r>
            <a:endParaRPr lang="en-US"/>
          </a:p>
        </p:txBody>
      </p:sp>
      <p:sp>
        <p:nvSpPr>
          <p:cNvPr id="205406" name="Rectangle 205405">
            <a:extLst>
              <a:ext uri="{FF2B5EF4-FFF2-40B4-BE49-F238E27FC236}">
                <a16:creationId xmlns:a16="http://schemas.microsoft.com/office/drawing/2014/main" id="{CB6076D4-AE03-F65D-9847-E627396EBB3C}"/>
              </a:ext>
            </a:extLst>
          </p:cNvPr>
          <p:cNvSpPr/>
          <p:nvPr/>
        </p:nvSpPr>
        <p:spPr>
          <a:xfrm>
            <a:off x="1089600" y="2046231"/>
            <a:ext cx="2824266" cy="648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Supplier email arrives (Outlook)</a:t>
            </a:r>
          </a:p>
          <a:p>
            <a:pPr algn="l">
              <a:buNone/>
            </a:pPr>
            <a:r>
              <a:rPr lang="en-US" sz="100">
                <a:effectLst/>
              </a:rPr>
              <a:t> </a:t>
            </a:r>
            <a:endParaRPr lang="en-US"/>
          </a:p>
        </p:txBody>
      </p:sp>
      <p:sp>
        <p:nvSpPr>
          <p:cNvPr id="205501" name="Rectangle 205500">
            <a:extLst>
              <a:ext uri="{FF2B5EF4-FFF2-40B4-BE49-F238E27FC236}">
                <a16:creationId xmlns:a16="http://schemas.microsoft.com/office/drawing/2014/main" id="{3DB2C602-33C5-BE2F-883A-129B17869C2B}"/>
              </a:ext>
            </a:extLst>
          </p:cNvPr>
          <p:cNvSpPr/>
          <p:nvPr/>
        </p:nvSpPr>
        <p:spPr>
          <a:xfrm>
            <a:off x="4393866" y="1961951"/>
            <a:ext cx="3404266" cy="816768"/>
          </a:xfrm>
          <a:prstGeom prst="rect">
            <a:avLst/>
          </a:prstGeom>
          <a:solidFill>
            <a:srgbClr val="FFFFFF">
              <a:alpha val="7000"/>
            </a:srgbClr>
          </a:solidFill>
          <a:ln w="2540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97" name="Rectangle 205596">
            <a:extLst>
              <a:ext uri="{FF2B5EF4-FFF2-40B4-BE49-F238E27FC236}">
                <a16:creationId xmlns:a16="http://schemas.microsoft.com/office/drawing/2014/main" id="{8E26236D-A0B0-7C5D-4877-CA400CF41E12}"/>
              </a:ext>
            </a:extLst>
          </p:cNvPr>
          <p:cNvSpPr/>
          <p:nvPr/>
        </p:nvSpPr>
        <p:spPr>
          <a:xfrm>
            <a:off x="4393866" y="1961951"/>
            <a:ext cx="480000" cy="816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FF00FF"/>
                </a:solidFill>
                <a:effectLst/>
                <a:latin typeface="Segoe UI" panose="020B0502040204020203" pitchFamily="34" charset="0"/>
              </a:rPr>
              <a:t>2</a:t>
            </a:r>
          </a:p>
          <a:p>
            <a:pPr algn="ctr">
              <a:buNone/>
            </a:pPr>
            <a:r>
              <a:rPr lang="en-US" sz="100">
                <a:effectLst/>
              </a:rPr>
              <a:t> </a:t>
            </a:r>
            <a:endParaRPr lang="en-US"/>
          </a:p>
        </p:txBody>
      </p:sp>
      <p:sp>
        <p:nvSpPr>
          <p:cNvPr id="205694" name="Rectangle 205693">
            <a:extLst>
              <a:ext uri="{FF2B5EF4-FFF2-40B4-BE49-F238E27FC236}">
                <a16:creationId xmlns:a16="http://schemas.microsoft.com/office/drawing/2014/main" id="{54ACCA43-3324-F18E-B26C-7C9939DADD06}"/>
              </a:ext>
            </a:extLst>
          </p:cNvPr>
          <p:cNvSpPr/>
          <p:nvPr/>
        </p:nvSpPr>
        <p:spPr>
          <a:xfrm>
            <a:off x="4873866" y="2046231"/>
            <a:ext cx="2824266" cy="648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AI classifies the notice and a case is created</a:t>
            </a:r>
          </a:p>
          <a:p>
            <a:pPr algn="l">
              <a:buNone/>
            </a:pPr>
            <a:r>
              <a:rPr lang="en-US" sz="100">
                <a:effectLst/>
              </a:rPr>
              <a:t> </a:t>
            </a:r>
            <a:endParaRPr lang="en-US"/>
          </a:p>
        </p:txBody>
      </p:sp>
      <p:sp>
        <p:nvSpPr>
          <p:cNvPr id="205792" name="Rectangle 205791">
            <a:extLst>
              <a:ext uri="{FF2B5EF4-FFF2-40B4-BE49-F238E27FC236}">
                <a16:creationId xmlns:a16="http://schemas.microsoft.com/office/drawing/2014/main" id="{2832183E-870E-8230-D27F-27807B05B9D4}"/>
              </a:ext>
            </a:extLst>
          </p:cNvPr>
          <p:cNvSpPr/>
          <p:nvPr/>
        </p:nvSpPr>
        <p:spPr>
          <a:xfrm>
            <a:off x="8178132" y="1961951"/>
            <a:ext cx="3404266" cy="816768"/>
          </a:xfrm>
          <a:prstGeom prst="rect">
            <a:avLst/>
          </a:prstGeom>
          <a:solidFill>
            <a:srgbClr val="FFFFFF">
              <a:alpha val="7000"/>
            </a:srgbClr>
          </a:solidFill>
          <a:ln w="2540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891" name="Rectangle 205890">
            <a:extLst>
              <a:ext uri="{FF2B5EF4-FFF2-40B4-BE49-F238E27FC236}">
                <a16:creationId xmlns:a16="http://schemas.microsoft.com/office/drawing/2014/main" id="{1D719FC9-0E87-DCB8-ADBC-BD29B92A9DCD}"/>
              </a:ext>
            </a:extLst>
          </p:cNvPr>
          <p:cNvSpPr/>
          <p:nvPr/>
        </p:nvSpPr>
        <p:spPr>
          <a:xfrm>
            <a:off x="8178132" y="1961951"/>
            <a:ext cx="480000" cy="816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FF00FF"/>
                </a:solidFill>
                <a:effectLst/>
                <a:latin typeface="Segoe UI" panose="020B0502040204020203" pitchFamily="34" charset="0"/>
              </a:rPr>
              <a:t>3</a:t>
            </a:r>
          </a:p>
          <a:p>
            <a:pPr algn="ctr">
              <a:buNone/>
            </a:pPr>
            <a:r>
              <a:rPr lang="en-US" sz="100">
                <a:effectLst/>
              </a:rPr>
              <a:t> </a:t>
            </a:r>
            <a:endParaRPr lang="en-US"/>
          </a:p>
        </p:txBody>
      </p:sp>
      <p:sp>
        <p:nvSpPr>
          <p:cNvPr id="205991" name="Rectangle 205990">
            <a:extLst>
              <a:ext uri="{FF2B5EF4-FFF2-40B4-BE49-F238E27FC236}">
                <a16:creationId xmlns:a16="http://schemas.microsoft.com/office/drawing/2014/main" id="{30B3A568-B3C0-0F00-453B-7C96129BC11F}"/>
              </a:ext>
            </a:extLst>
          </p:cNvPr>
          <p:cNvSpPr/>
          <p:nvPr/>
        </p:nvSpPr>
        <p:spPr>
          <a:xfrm>
            <a:off x="8658132" y="2046231"/>
            <a:ext cx="2824266" cy="648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Impact calculated; Pending Recovery Decision created</a:t>
            </a:r>
          </a:p>
          <a:p>
            <a:pPr algn="l">
              <a:buNone/>
            </a:pPr>
            <a:r>
              <a:rPr lang="en-US" sz="100">
                <a:effectLst/>
              </a:rPr>
              <a:t> </a:t>
            </a:r>
            <a:endParaRPr lang="en-US"/>
          </a:p>
        </p:txBody>
      </p:sp>
      <p:sp>
        <p:nvSpPr>
          <p:cNvPr id="206092" name="Rectangle 206091">
            <a:extLst>
              <a:ext uri="{FF2B5EF4-FFF2-40B4-BE49-F238E27FC236}">
                <a16:creationId xmlns:a16="http://schemas.microsoft.com/office/drawing/2014/main" id="{51FFF318-AB96-5BA0-5817-8F5AE1CA99B1}"/>
              </a:ext>
            </a:extLst>
          </p:cNvPr>
          <p:cNvSpPr/>
          <p:nvPr/>
        </p:nvSpPr>
        <p:spPr>
          <a:xfrm>
            <a:off x="8178132" y="3118719"/>
            <a:ext cx="3404266" cy="1064672"/>
          </a:xfrm>
          <a:prstGeom prst="rect">
            <a:avLst/>
          </a:prstGeom>
          <a:solidFill>
            <a:srgbClr val="FFFFFF">
              <a:alpha val="7000"/>
            </a:srgbClr>
          </a:solidFill>
          <a:ln w="2540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94" name="Rectangle 206193">
            <a:extLst>
              <a:ext uri="{FF2B5EF4-FFF2-40B4-BE49-F238E27FC236}">
                <a16:creationId xmlns:a16="http://schemas.microsoft.com/office/drawing/2014/main" id="{B6F60868-1334-D999-6ECB-D544B781E47B}"/>
              </a:ext>
            </a:extLst>
          </p:cNvPr>
          <p:cNvSpPr/>
          <p:nvPr/>
        </p:nvSpPr>
        <p:spPr>
          <a:xfrm>
            <a:off x="8178132" y="3118719"/>
            <a:ext cx="480000" cy="10646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2FFFE0"/>
                </a:solidFill>
                <a:effectLst/>
                <a:latin typeface="Segoe UI" panose="020B0502040204020203" pitchFamily="34" charset="0"/>
              </a:rPr>
              <a:t>4</a:t>
            </a:r>
          </a:p>
          <a:p>
            <a:pPr algn="ctr">
              <a:buNone/>
            </a:pPr>
            <a:r>
              <a:rPr lang="en-US" sz="100">
                <a:effectLst/>
              </a:rPr>
              <a:t> </a:t>
            </a:r>
            <a:endParaRPr lang="en-US"/>
          </a:p>
        </p:txBody>
      </p:sp>
      <p:sp>
        <p:nvSpPr>
          <p:cNvPr id="206297" name="Rectangle 206296">
            <a:extLst>
              <a:ext uri="{FF2B5EF4-FFF2-40B4-BE49-F238E27FC236}">
                <a16:creationId xmlns:a16="http://schemas.microsoft.com/office/drawing/2014/main" id="{72E9E133-012B-180B-6E68-7E1CEC002077}"/>
              </a:ext>
            </a:extLst>
          </p:cNvPr>
          <p:cNvSpPr/>
          <p:nvPr/>
        </p:nvSpPr>
        <p:spPr>
          <a:xfrm>
            <a:off x="8658132" y="3326951"/>
            <a:ext cx="2824266" cy="648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Analyst compares supplier recovery offers</a:t>
            </a:r>
          </a:p>
          <a:p>
            <a:pPr algn="l">
              <a:buNone/>
            </a:pPr>
            <a:r>
              <a:rPr lang="en-US" sz="100">
                <a:effectLst/>
              </a:rPr>
              <a:t> </a:t>
            </a:r>
            <a:endParaRPr lang="en-US"/>
          </a:p>
        </p:txBody>
      </p:sp>
      <p:sp>
        <p:nvSpPr>
          <p:cNvPr id="206401" name="Rectangle 206400">
            <a:extLst>
              <a:ext uri="{FF2B5EF4-FFF2-40B4-BE49-F238E27FC236}">
                <a16:creationId xmlns:a16="http://schemas.microsoft.com/office/drawing/2014/main" id="{4655C312-78D7-ED07-A20D-62C41ECE7103}"/>
              </a:ext>
            </a:extLst>
          </p:cNvPr>
          <p:cNvSpPr/>
          <p:nvPr/>
        </p:nvSpPr>
        <p:spPr>
          <a:xfrm>
            <a:off x="4393866" y="3118719"/>
            <a:ext cx="3404266" cy="1064672"/>
          </a:xfrm>
          <a:prstGeom prst="rect">
            <a:avLst/>
          </a:prstGeom>
          <a:solidFill>
            <a:srgbClr val="FFFFFF">
              <a:alpha val="7000"/>
            </a:srgbClr>
          </a:solidFill>
          <a:ln w="2540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06" name="Rectangle 206505">
            <a:extLst>
              <a:ext uri="{FF2B5EF4-FFF2-40B4-BE49-F238E27FC236}">
                <a16:creationId xmlns:a16="http://schemas.microsoft.com/office/drawing/2014/main" id="{BF7A3ED1-5A5A-DE12-8DF6-282A792C38D7}"/>
              </a:ext>
            </a:extLst>
          </p:cNvPr>
          <p:cNvSpPr/>
          <p:nvPr/>
        </p:nvSpPr>
        <p:spPr>
          <a:xfrm>
            <a:off x="4393866" y="3118719"/>
            <a:ext cx="480000" cy="10646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B2AAF8"/>
                </a:solidFill>
                <a:effectLst/>
                <a:latin typeface="Segoe UI" panose="020B0502040204020203" pitchFamily="34" charset="0"/>
              </a:rPr>
              <a:t>5</a:t>
            </a:r>
          </a:p>
          <a:p>
            <a:pPr algn="ctr">
              <a:buNone/>
            </a:pPr>
            <a:r>
              <a:rPr lang="en-US" sz="100">
                <a:effectLst/>
              </a:rPr>
              <a:t> </a:t>
            </a:r>
            <a:endParaRPr lang="en-US"/>
          </a:p>
        </p:txBody>
      </p:sp>
      <p:sp>
        <p:nvSpPr>
          <p:cNvPr id="206612" name="Rectangle 206611">
            <a:extLst>
              <a:ext uri="{FF2B5EF4-FFF2-40B4-BE49-F238E27FC236}">
                <a16:creationId xmlns:a16="http://schemas.microsoft.com/office/drawing/2014/main" id="{4EE73B39-03D2-E34A-2FEA-2FF2C508C745}"/>
              </a:ext>
            </a:extLst>
          </p:cNvPr>
          <p:cNvSpPr/>
          <p:nvPr/>
        </p:nvSpPr>
        <p:spPr>
          <a:xfrm>
            <a:off x="4873866" y="3202999"/>
            <a:ext cx="2824266" cy="8961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Agent explains policy and hands off to a human in Agent feed</a:t>
            </a:r>
          </a:p>
          <a:p>
            <a:pPr algn="l">
              <a:buNone/>
            </a:pPr>
            <a:r>
              <a:rPr lang="en-US" sz="100">
                <a:effectLst/>
              </a:rPr>
              <a:t> </a:t>
            </a:r>
            <a:endParaRPr lang="en-US"/>
          </a:p>
        </p:txBody>
      </p:sp>
      <p:sp>
        <p:nvSpPr>
          <p:cNvPr id="206719" name="Rectangle 206718">
            <a:extLst>
              <a:ext uri="{FF2B5EF4-FFF2-40B4-BE49-F238E27FC236}">
                <a16:creationId xmlns:a16="http://schemas.microsoft.com/office/drawing/2014/main" id="{4851353A-D3A3-AFCF-46B1-626F9E979D5B}"/>
              </a:ext>
            </a:extLst>
          </p:cNvPr>
          <p:cNvSpPr/>
          <p:nvPr/>
        </p:nvSpPr>
        <p:spPr>
          <a:xfrm>
            <a:off x="609600" y="3118719"/>
            <a:ext cx="3404266" cy="1064672"/>
          </a:xfrm>
          <a:prstGeom prst="rect">
            <a:avLst/>
          </a:prstGeom>
          <a:solidFill>
            <a:srgbClr val="FFFFFF">
              <a:alpha val="7000"/>
            </a:srgbClr>
          </a:solidFill>
          <a:ln w="25400">
            <a:solidFill>
              <a:srgbClr val="FFFF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27" name="Rectangle 206826">
            <a:extLst>
              <a:ext uri="{FF2B5EF4-FFF2-40B4-BE49-F238E27FC236}">
                <a16:creationId xmlns:a16="http://schemas.microsoft.com/office/drawing/2014/main" id="{137481B5-DC06-8E37-20B4-93BDEA7251AD}"/>
              </a:ext>
            </a:extLst>
          </p:cNvPr>
          <p:cNvSpPr/>
          <p:nvPr/>
        </p:nvSpPr>
        <p:spPr>
          <a:xfrm>
            <a:off x="609600" y="3118719"/>
            <a:ext cx="480000" cy="10646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FFFFFF"/>
                </a:solidFill>
                <a:effectLst/>
                <a:latin typeface="Segoe UI" panose="020B0502040204020203" pitchFamily="34" charset="0"/>
              </a:rPr>
              <a:t>6</a:t>
            </a:r>
          </a:p>
          <a:p>
            <a:pPr algn="ctr">
              <a:buNone/>
            </a:pPr>
            <a:r>
              <a:rPr lang="en-US" sz="100">
                <a:effectLst/>
              </a:rPr>
              <a:t> </a:t>
            </a:r>
            <a:endParaRPr lang="en-US"/>
          </a:p>
        </p:txBody>
      </p:sp>
      <p:sp>
        <p:nvSpPr>
          <p:cNvPr id="206936" name="Rectangle 206935">
            <a:extLst>
              <a:ext uri="{FF2B5EF4-FFF2-40B4-BE49-F238E27FC236}">
                <a16:creationId xmlns:a16="http://schemas.microsoft.com/office/drawing/2014/main" id="{90B66E7D-4713-A854-9893-590865A65384}"/>
              </a:ext>
            </a:extLst>
          </p:cNvPr>
          <p:cNvSpPr/>
          <p:nvPr/>
        </p:nvSpPr>
        <p:spPr>
          <a:xfrm>
            <a:off x="1089600" y="3202999"/>
            <a:ext cx="2824266" cy="8961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Person approves one exact recovery action in the Control Tower</a:t>
            </a:r>
          </a:p>
          <a:p>
            <a:pPr algn="l">
              <a:buNone/>
            </a:pPr>
            <a:r>
              <a:rPr lang="en-US" sz="100">
                <a:effectLst/>
              </a:rPr>
              <a:t> </a:t>
            </a:r>
            <a:endParaRPr lang="en-US"/>
          </a:p>
        </p:txBody>
      </p:sp>
      <p:sp>
        <p:nvSpPr>
          <p:cNvPr id="207046" name="Rectangle 207045">
            <a:extLst>
              <a:ext uri="{FF2B5EF4-FFF2-40B4-BE49-F238E27FC236}">
                <a16:creationId xmlns:a16="http://schemas.microsoft.com/office/drawing/2014/main" id="{4C31C0FF-110A-6F56-5992-4307E8606E33}"/>
              </a:ext>
            </a:extLst>
          </p:cNvPr>
          <p:cNvSpPr/>
          <p:nvPr/>
        </p:nvSpPr>
        <p:spPr>
          <a:xfrm>
            <a:off x="609600" y="4523391"/>
            <a:ext cx="3404266" cy="1529491"/>
          </a:xfrm>
          <a:prstGeom prst="rect">
            <a:avLst/>
          </a:prstGeom>
          <a:solidFill>
            <a:srgbClr val="FFFFFF">
              <a:alpha val="7000"/>
            </a:srgbClr>
          </a:solidFill>
          <a:ln w="2540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57" name="Rectangle 207156">
            <a:extLst>
              <a:ext uri="{FF2B5EF4-FFF2-40B4-BE49-F238E27FC236}">
                <a16:creationId xmlns:a16="http://schemas.microsoft.com/office/drawing/2014/main" id="{F221663F-B8FA-C15F-6309-5EFDAD05C1C7}"/>
              </a:ext>
            </a:extLst>
          </p:cNvPr>
          <p:cNvSpPr/>
          <p:nvPr/>
        </p:nvSpPr>
        <p:spPr>
          <a:xfrm>
            <a:off x="609600" y="4523391"/>
            <a:ext cx="480000" cy="152949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F19D19"/>
                </a:solidFill>
                <a:effectLst/>
                <a:latin typeface="Segoe UI" panose="020B0502040204020203" pitchFamily="34" charset="0"/>
              </a:rPr>
              <a:t>7</a:t>
            </a:r>
          </a:p>
          <a:p>
            <a:pPr algn="ctr">
              <a:buNone/>
            </a:pPr>
            <a:r>
              <a:rPr lang="en-US" sz="100">
                <a:effectLst/>
              </a:rPr>
              <a:t> </a:t>
            </a:r>
            <a:endParaRPr lang="en-US"/>
          </a:p>
        </p:txBody>
      </p:sp>
      <p:sp>
        <p:nvSpPr>
          <p:cNvPr id="207269" name="Rectangle 207268">
            <a:extLst>
              <a:ext uri="{FF2B5EF4-FFF2-40B4-BE49-F238E27FC236}">
                <a16:creationId xmlns:a16="http://schemas.microsoft.com/office/drawing/2014/main" id="{2C98C989-3742-A137-38F8-475DD6B91BA7}"/>
              </a:ext>
            </a:extLst>
          </p:cNvPr>
          <p:cNvSpPr/>
          <p:nvPr/>
        </p:nvSpPr>
        <p:spPr>
          <a:xfrm>
            <a:off x="1089600" y="4607671"/>
            <a:ext cx="2824266" cy="13609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Governed flow executes recovery; Carrier agent registers the contact with Computer Use</a:t>
            </a:r>
          </a:p>
          <a:p>
            <a:pPr algn="l">
              <a:buNone/>
            </a:pPr>
            <a:r>
              <a:rPr lang="en-US" sz="1400">
                <a:solidFill>
                  <a:srgbClr val="D6D2E8"/>
                </a:solidFill>
                <a:effectLst/>
                <a:latin typeface="Segoe UI" panose="020B0502040204020203" pitchFamily="34" charset="0"/>
              </a:rPr>
              <a:t>Built in M5 · run in M6</a:t>
            </a:r>
            <a:endParaRPr lang="en-US"/>
          </a:p>
        </p:txBody>
      </p:sp>
      <p:sp>
        <p:nvSpPr>
          <p:cNvPr id="207382" name="Rectangle 207381">
            <a:extLst>
              <a:ext uri="{FF2B5EF4-FFF2-40B4-BE49-F238E27FC236}">
                <a16:creationId xmlns:a16="http://schemas.microsoft.com/office/drawing/2014/main" id="{B8C2ABC5-B2AF-FA5E-CB32-87F53E23AE69}"/>
              </a:ext>
            </a:extLst>
          </p:cNvPr>
          <p:cNvSpPr/>
          <p:nvPr/>
        </p:nvSpPr>
        <p:spPr>
          <a:xfrm>
            <a:off x="4393866" y="4523391"/>
            <a:ext cx="3404266" cy="1529491"/>
          </a:xfrm>
          <a:prstGeom prst="rect">
            <a:avLst/>
          </a:prstGeom>
          <a:solidFill>
            <a:srgbClr val="FFFFFF">
              <a:alpha val="7000"/>
            </a:srgbClr>
          </a:solidFill>
          <a:ln w="2540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96" name="Rectangle 207495">
            <a:extLst>
              <a:ext uri="{FF2B5EF4-FFF2-40B4-BE49-F238E27FC236}">
                <a16:creationId xmlns:a16="http://schemas.microsoft.com/office/drawing/2014/main" id="{B661C276-6F60-C56F-DFA5-CE7EE5DE0B7C}"/>
              </a:ext>
            </a:extLst>
          </p:cNvPr>
          <p:cNvSpPr/>
          <p:nvPr/>
        </p:nvSpPr>
        <p:spPr>
          <a:xfrm>
            <a:off x="4393866" y="4523391"/>
            <a:ext cx="480000" cy="152949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F19D19"/>
                </a:solidFill>
                <a:effectLst/>
                <a:latin typeface="Segoe UI" panose="020B0502040204020203" pitchFamily="34" charset="0"/>
              </a:rPr>
              <a:t>8</a:t>
            </a:r>
          </a:p>
          <a:p>
            <a:pPr algn="ctr">
              <a:buNone/>
            </a:pPr>
            <a:r>
              <a:rPr lang="en-US" sz="100">
                <a:effectLst/>
              </a:rPr>
              <a:t> </a:t>
            </a:r>
            <a:endParaRPr lang="en-US"/>
          </a:p>
        </p:txBody>
      </p:sp>
      <p:sp>
        <p:nvSpPr>
          <p:cNvPr id="207611" name="Rectangle 207610">
            <a:extLst>
              <a:ext uri="{FF2B5EF4-FFF2-40B4-BE49-F238E27FC236}">
                <a16:creationId xmlns:a16="http://schemas.microsoft.com/office/drawing/2014/main" id="{DC01E33D-43A5-86E7-E552-4C38B64808D4}"/>
              </a:ext>
            </a:extLst>
          </p:cNvPr>
          <p:cNvSpPr/>
          <p:nvPr/>
        </p:nvSpPr>
        <p:spPr>
          <a:xfrm>
            <a:off x="4873866" y="4964032"/>
            <a:ext cx="2824266" cy="648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CP7 evidence written; case resolved</a:t>
            </a:r>
          </a:p>
          <a:p>
            <a:pPr algn="l">
              <a:buNone/>
            </a:pPr>
            <a:r>
              <a:rPr lang="en-US" sz="100">
                <a:effectLst/>
              </a:rPr>
              <a:t> </a:t>
            </a:r>
            <a:endParaRPr lang="en-US"/>
          </a:p>
        </p:txBody>
      </p:sp>
      <p:sp>
        <p:nvSpPr>
          <p:cNvPr id="207727" name="Rectangle 207726">
            <a:extLst>
              <a:ext uri="{FF2B5EF4-FFF2-40B4-BE49-F238E27FC236}">
                <a16:creationId xmlns:a16="http://schemas.microsoft.com/office/drawing/2014/main" id="{2D6192B1-8051-F0F7-7AAA-FA33E574A3F5}"/>
              </a:ext>
            </a:extLst>
          </p:cNvPr>
          <p:cNvSpPr/>
          <p:nvPr/>
        </p:nvSpPr>
        <p:spPr>
          <a:xfrm>
            <a:off x="8178132" y="4523391"/>
            <a:ext cx="3404266" cy="1529491"/>
          </a:xfrm>
          <a:prstGeom prst="rect">
            <a:avLst/>
          </a:prstGeom>
          <a:solidFill>
            <a:srgbClr val="FFFFFF">
              <a:alpha val="7000"/>
            </a:srgbClr>
          </a:solidFill>
          <a:ln w="25400">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44" name="Rectangle 207843">
            <a:extLst>
              <a:ext uri="{FF2B5EF4-FFF2-40B4-BE49-F238E27FC236}">
                <a16:creationId xmlns:a16="http://schemas.microsoft.com/office/drawing/2014/main" id="{7E9AF925-C28A-5856-9A31-48BDB70DA06D}"/>
              </a:ext>
            </a:extLst>
          </p:cNvPr>
          <p:cNvSpPr/>
          <p:nvPr/>
        </p:nvSpPr>
        <p:spPr>
          <a:xfrm>
            <a:off x="8178132" y="4523391"/>
            <a:ext cx="480000" cy="152949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600" b="1">
                <a:solidFill>
                  <a:srgbClr val="82EBA6"/>
                </a:solidFill>
                <a:effectLst/>
                <a:latin typeface="Segoe UI" panose="020B0502040204020203" pitchFamily="34" charset="0"/>
              </a:rPr>
              <a:t>9</a:t>
            </a:r>
          </a:p>
          <a:p>
            <a:pPr algn="ctr">
              <a:buNone/>
            </a:pPr>
            <a:r>
              <a:rPr lang="en-US" sz="100">
                <a:effectLst/>
              </a:rPr>
              <a:t> </a:t>
            </a:r>
            <a:endParaRPr lang="en-US"/>
          </a:p>
        </p:txBody>
      </p:sp>
      <p:sp>
        <p:nvSpPr>
          <p:cNvPr id="207962" name="Rectangle 207961">
            <a:extLst>
              <a:ext uri="{FF2B5EF4-FFF2-40B4-BE49-F238E27FC236}">
                <a16:creationId xmlns:a16="http://schemas.microsoft.com/office/drawing/2014/main" id="{C63F3BC0-0802-2433-35A7-2574BEFA4ABE}"/>
              </a:ext>
            </a:extLst>
          </p:cNvPr>
          <p:cNvSpPr/>
          <p:nvPr/>
        </p:nvSpPr>
        <p:spPr>
          <a:xfrm>
            <a:off x="8658132" y="4964032"/>
            <a:ext cx="2824266" cy="648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FFFFFF"/>
                </a:solidFill>
                <a:effectLst/>
                <a:latin typeface="Segoe UI"/>
                <a:cs typeface="Segoe UI"/>
              </a:rPr>
              <a:t>Solution deployed to TARGET</a:t>
            </a:r>
          </a:p>
        </p:txBody>
      </p:sp>
      <p:sp>
        <p:nvSpPr>
          <p:cNvPr id="208081" name="Rectangle: Rounded Corners 208080">
            <a:extLst>
              <a:ext uri="{FF2B5EF4-FFF2-40B4-BE49-F238E27FC236}">
                <a16:creationId xmlns:a16="http://schemas.microsoft.com/office/drawing/2014/main" id="{CABBEEE3-81B1-13D4-ACA9-7EE42A3315DF}"/>
              </a:ext>
            </a:extLst>
          </p:cNvPr>
          <p:cNvSpPr/>
          <p:nvPr/>
        </p:nvSpPr>
        <p:spPr>
          <a:xfrm>
            <a:off x="3211402" y="1661951"/>
            <a:ext cx="682464" cy="380000"/>
          </a:xfrm>
          <a:prstGeom prst="roundRect">
            <a:avLst/>
          </a:prstGeom>
          <a:solidFill>
            <a:srgbClr val="FF00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M3</a:t>
            </a:r>
          </a:p>
          <a:p>
            <a:pPr algn="ctr">
              <a:buNone/>
            </a:pPr>
            <a:r>
              <a:rPr lang="en-US" sz="100">
                <a:effectLst/>
              </a:rPr>
              <a:t> </a:t>
            </a:r>
            <a:endParaRPr lang="en-US"/>
          </a:p>
        </p:txBody>
      </p:sp>
      <p:sp>
        <p:nvSpPr>
          <p:cNvPr id="208201" name="Rectangle: Rounded Corners 208200">
            <a:extLst>
              <a:ext uri="{FF2B5EF4-FFF2-40B4-BE49-F238E27FC236}">
                <a16:creationId xmlns:a16="http://schemas.microsoft.com/office/drawing/2014/main" id="{5B80F14C-48C9-5935-4B16-CBE2DED6F6ED}"/>
              </a:ext>
            </a:extLst>
          </p:cNvPr>
          <p:cNvSpPr/>
          <p:nvPr/>
        </p:nvSpPr>
        <p:spPr>
          <a:xfrm>
            <a:off x="6995668" y="1661951"/>
            <a:ext cx="682464" cy="380000"/>
          </a:xfrm>
          <a:prstGeom prst="roundRect">
            <a:avLst/>
          </a:prstGeom>
          <a:solidFill>
            <a:srgbClr val="FF00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M3</a:t>
            </a:r>
          </a:p>
          <a:p>
            <a:pPr algn="ctr">
              <a:buNone/>
            </a:pPr>
            <a:r>
              <a:rPr lang="en-US" sz="100">
                <a:effectLst/>
              </a:rPr>
              <a:t> </a:t>
            </a:r>
            <a:endParaRPr lang="en-US"/>
          </a:p>
        </p:txBody>
      </p:sp>
      <p:sp>
        <p:nvSpPr>
          <p:cNvPr id="208322" name="Rectangle: Rounded Corners 208321">
            <a:extLst>
              <a:ext uri="{FF2B5EF4-FFF2-40B4-BE49-F238E27FC236}">
                <a16:creationId xmlns:a16="http://schemas.microsoft.com/office/drawing/2014/main" id="{5CB66A41-7754-9FD7-F246-808A7E90921A}"/>
              </a:ext>
            </a:extLst>
          </p:cNvPr>
          <p:cNvSpPr/>
          <p:nvPr/>
        </p:nvSpPr>
        <p:spPr>
          <a:xfrm>
            <a:off x="10779934" y="1661951"/>
            <a:ext cx="682464" cy="380000"/>
          </a:xfrm>
          <a:prstGeom prst="roundRect">
            <a:avLst/>
          </a:prstGeom>
          <a:solidFill>
            <a:srgbClr val="FF00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M3</a:t>
            </a:r>
          </a:p>
          <a:p>
            <a:pPr algn="ctr">
              <a:buNone/>
            </a:pPr>
            <a:r>
              <a:rPr lang="en-US" sz="100">
                <a:effectLst/>
              </a:rPr>
              <a:t> </a:t>
            </a:r>
            <a:endParaRPr lang="en-US"/>
          </a:p>
        </p:txBody>
      </p:sp>
      <p:sp>
        <p:nvSpPr>
          <p:cNvPr id="208444" name="Rectangle: Rounded Corners 208443">
            <a:extLst>
              <a:ext uri="{FF2B5EF4-FFF2-40B4-BE49-F238E27FC236}">
                <a16:creationId xmlns:a16="http://schemas.microsoft.com/office/drawing/2014/main" id="{8EBC4C09-50A5-8258-2606-8D568FE5FF5D}"/>
              </a:ext>
            </a:extLst>
          </p:cNvPr>
          <p:cNvSpPr/>
          <p:nvPr/>
        </p:nvSpPr>
        <p:spPr>
          <a:xfrm>
            <a:off x="10779934" y="2818719"/>
            <a:ext cx="682464" cy="38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M2</a:t>
            </a:r>
          </a:p>
          <a:p>
            <a:pPr algn="ctr">
              <a:buNone/>
            </a:pPr>
            <a:r>
              <a:rPr lang="en-US" sz="100">
                <a:effectLst/>
              </a:rPr>
              <a:t> </a:t>
            </a:r>
            <a:endParaRPr lang="en-US"/>
          </a:p>
        </p:txBody>
      </p:sp>
      <p:sp>
        <p:nvSpPr>
          <p:cNvPr id="208567" name="Rectangle: Rounded Corners 208566">
            <a:extLst>
              <a:ext uri="{FF2B5EF4-FFF2-40B4-BE49-F238E27FC236}">
                <a16:creationId xmlns:a16="http://schemas.microsoft.com/office/drawing/2014/main" id="{1A953E8F-B1CC-2A38-0929-816C22645F14}"/>
              </a:ext>
            </a:extLst>
          </p:cNvPr>
          <p:cNvSpPr/>
          <p:nvPr/>
        </p:nvSpPr>
        <p:spPr>
          <a:xfrm>
            <a:off x="6995668" y="2818719"/>
            <a:ext cx="682464" cy="38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M4</a:t>
            </a:r>
          </a:p>
          <a:p>
            <a:pPr algn="ctr">
              <a:buNone/>
            </a:pPr>
            <a:r>
              <a:rPr lang="en-US" sz="100">
                <a:effectLst/>
              </a:rPr>
              <a:t> </a:t>
            </a:r>
            <a:endParaRPr lang="en-US"/>
          </a:p>
        </p:txBody>
      </p:sp>
      <p:sp>
        <p:nvSpPr>
          <p:cNvPr id="208691" name="Rectangle: Rounded Corners 208690">
            <a:extLst>
              <a:ext uri="{FF2B5EF4-FFF2-40B4-BE49-F238E27FC236}">
                <a16:creationId xmlns:a16="http://schemas.microsoft.com/office/drawing/2014/main" id="{12C0B933-A1F8-ACF3-0FBA-2FA17153582D}"/>
              </a:ext>
            </a:extLst>
          </p:cNvPr>
          <p:cNvSpPr/>
          <p:nvPr/>
        </p:nvSpPr>
        <p:spPr>
          <a:xfrm>
            <a:off x="3211402" y="2818719"/>
            <a:ext cx="682464" cy="38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M6</a:t>
            </a:r>
          </a:p>
          <a:p>
            <a:pPr algn="ctr">
              <a:buNone/>
            </a:pPr>
            <a:r>
              <a:rPr lang="en-US" sz="100">
                <a:effectLst/>
              </a:rPr>
              <a:t> </a:t>
            </a:r>
            <a:endParaRPr lang="en-US"/>
          </a:p>
        </p:txBody>
      </p:sp>
      <p:sp>
        <p:nvSpPr>
          <p:cNvPr id="208816" name="Rectangle: Rounded Corners 208815">
            <a:extLst>
              <a:ext uri="{FF2B5EF4-FFF2-40B4-BE49-F238E27FC236}">
                <a16:creationId xmlns:a16="http://schemas.microsoft.com/office/drawing/2014/main" id="{E24BD2D6-71AE-4344-D123-8DEECDC95B21}"/>
              </a:ext>
            </a:extLst>
          </p:cNvPr>
          <p:cNvSpPr/>
          <p:nvPr/>
        </p:nvSpPr>
        <p:spPr>
          <a:xfrm>
            <a:off x="3211402" y="4223391"/>
            <a:ext cx="682464" cy="38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M6</a:t>
            </a:r>
          </a:p>
          <a:p>
            <a:pPr algn="ctr">
              <a:buNone/>
            </a:pPr>
            <a:r>
              <a:rPr lang="en-US" sz="100">
                <a:effectLst/>
              </a:rPr>
              <a:t> </a:t>
            </a:r>
            <a:endParaRPr lang="en-US"/>
          </a:p>
        </p:txBody>
      </p:sp>
      <p:sp>
        <p:nvSpPr>
          <p:cNvPr id="208942" name="Rectangle: Rounded Corners 208941">
            <a:extLst>
              <a:ext uri="{FF2B5EF4-FFF2-40B4-BE49-F238E27FC236}">
                <a16:creationId xmlns:a16="http://schemas.microsoft.com/office/drawing/2014/main" id="{D498FF58-1B4A-AF47-D504-6D4D4E12A449}"/>
              </a:ext>
            </a:extLst>
          </p:cNvPr>
          <p:cNvSpPr/>
          <p:nvPr/>
        </p:nvSpPr>
        <p:spPr>
          <a:xfrm>
            <a:off x="2468938" y="4223391"/>
            <a:ext cx="682464" cy="38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M5</a:t>
            </a:r>
          </a:p>
          <a:p>
            <a:pPr algn="ctr">
              <a:buNone/>
            </a:pPr>
            <a:r>
              <a:rPr lang="en-US" sz="100">
                <a:effectLst/>
              </a:rPr>
              <a:t> </a:t>
            </a:r>
            <a:endParaRPr lang="en-US"/>
          </a:p>
        </p:txBody>
      </p:sp>
      <p:sp>
        <p:nvSpPr>
          <p:cNvPr id="209069" name="Rectangle: Rounded Corners 209068">
            <a:extLst>
              <a:ext uri="{FF2B5EF4-FFF2-40B4-BE49-F238E27FC236}">
                <a16:creationId xmlns:a16="http://schemas.microsoft.com/office/drawing/2014/main" id="{E19E850F-032F-A948-D4E1-3B169855A9B4}"/>
              </a:ext>
            </a:extLst>
          </p:cNvPr>
          <p:cNvSpPr/>
          <p:nvPr/>
        </p:nvSpPr>
        <p:spPr>
          <a:xfrm>
            <a:off x="6995668" y="4223391"/>
            <a:ext cx="682464" cy="38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M6</a:t>
            </a:r>
          </a:p>
          <a:p>
            <a:pPr algn="ctr">
              <a:buNone/>
            </a:pPr>
            <a:r>
              <a:rPr lang="en-US" sz="100">
                <a:effectLst/>
              </a:rPr>
              <a:t> </a:t>
            </a:r>
            <a:endParaRPr lang="en-US"/>
          </a:p>
        </p:txBody>
      </p:sp>
      <p:sp>
        <p:nvSpPr>
          <p:cNvPr id="209197" name="Rectangle: Rounded Corners 209196">
            <a:extLst>
              <a:ext uri="{FF2B5EF4-FFF2-40B4-BE49-F238E27FC236}">
                <a16:creationId xmlns:a16="http://schemas.microsoft.com/office/drawing/2014/main" id="{0946A8C7-876C-6FA8-95F6-09BA48F7ADA2}"/>
              </a:ext>
            </a:extLst>
          </p:cNvPr>
          <p:cNvSpPr/>
          <p:nvPr/>
        </p:nvSpPr>
        <p:spPr>
          <a:xfrm>
            <a:off x="6253204" y="4223391"/>
            <a:ext cx="682464" cy="38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M5</a:t>
            </a:r>
          </a:p>
          <a:p>
            <a:pPr algn="ctr">
              <a:buNone/>
            </a:pPr>
            <a:r>
              <a:rPr lang="en-US" sz="100">
                <a:effectLst/>
              </a:rPr>
              <a:t> </a:t>
            </a:r>
            <a:endParaRPr lang="en-US"/>
          </a:p>
        </p:txBody>
      </p:sp>
      <p:sp>
        <p:nvSpPr>
          <p:cNvPr id="209326" name="Rectangle: Rounded Corners 209325">
            <a:extLst>
              <a:ext uri="{FF2B5EF4-FFF2-40B4-BE49-F238E27FC236}">
                <a16:creationId xmlns:a16="http://schemas.microsoft.com/office/drawing/2014/main" id="{74E29816-9EF4-F8FB-0BA6-D4F9CADB4191}"/>
              </a:ext>
            </a:extLst>
          </p:cNvPr>
          <p:cNvSpPr/>
          <p:nvPr/>
        </p:nvSpPr>
        <p:spPr>
          <a:xfrm>
            <a:off x="10779934" y="4223391"/>
            <a:ext cx="682464" cy="38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M6</a:t>
            </a:r>
          </a:p>
          <a:p>
            <a:pPr algn="ctr">
              <a:buNone/>
            </a:pPr>
            <a:r>
              <a:rPr lang="en-US" sz="100">
                <a:effectLst/>
              </a:rPr>
              <a:t> </a:t>
            </a:r>
            <a:endParaRPr lang="en-US"/>
          </a:p>
        </p:txBody>
      </p:sp>
      <p:sp>
        <p:nvSpPr>
          <p:cNvPr id="209456" name="Arrow: Right 209455">
            <a:extLst>
              <a:ext uri="{FF2B5EF4-FFF2-40B4-BE49-F238E27FC236}">
                <a16:creationId xmlns:a16="http://schemas.microsoft.com/office/drawing/2014/main" id="{1A4422E5-FFC8-23F0-A08E-994AC6BD1B5B}"/>
              </a:ext>
            </a:extLst>
          </p:cNvPr>
          <p:cNvSpPr/>
          <p:nvPr/>
        </p:nvSpPr>
        <p:spPr>
          <a:xfrm>
            <a:off x="4063866" y="2255335"/>
            <a:ext cx="28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587" name="Arrow: Right 209586">
            <a:extLst>
              <a:ext uri="{FF2B5EF4-FFF2-40B4-BE49-F238E27FC236}">
                <a16:creationId xmlns:a16="http://schemas.microsoft.com/office/drawing/2014/main" id="{DBB0B069-B992-6E1E-6095-E4E8A4852465}"/>
              </a:ext>
            </a:extLst>
          </p:cNvPr>
          <p:cNvSpPr/>
          <p:nvPr/>
        </p:nvSpPr>
        <p:spPr>
          <a:xfrm>
            <a:off x="7848132" y="2255335"/>
            <a:ext cx="28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19" name="Arrow: Right 209718">
            <a:extLst>
              <a:ext uri="{FF2B5EF4-FFF2-40B4-BE49-F238E27FC236}">
                <a16:creationId xmlns:a16="http://schemas.microsoft.com/office/drawing/2014/main" id="{E144806C-C6B7-051A-C9C5-E10D4B0387BF}"/>
              </a:ext>
            </a:extLst>
          </p:cNvPr>
          <p:cNvSpPr/>
          <p:nvPr/>
        </p:nvSpPr>
        <p:spPr>
          <a:xfrm>
            <a:off x="4063866" y="5173136"/>
            <a:ext cx="28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852" name="Arrow: Right 209851">
            <a:extLst>
              <a:ext uri="{FF2B5EF4-FFF2-40B4-BE49-F238E27FC236}">
                <a16:creationId xmlns:a16="http://schemas.microsoft.com/office/drawing/2014/main" id="{9DE7F8C0-4ECE-4A46-82D9-73D5D100D9CA}"/>
              </a:ext>
            </a:extLst>
          </p:cNvPr>
          <p:cNvSpPr/>
          <p:nvPr/>
        </p:nvSpPr>
        <p:spPr>
          <a:xfrm>
            <a:off x="7848132" y="5173136"/>
            <a:ext cx="28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986" name="Arrow: Left 209985">
            <a:extLst>
              <a:ext uri="{FF2B5EF4-FFF2-40B4-BE49-F238E27FC236}">
                <a16:creationId xmlns:a16="http://schemas.microsoft.com/office/drawing/2014/main" id="{A7442334-5CBA-54DE-3545-4A6A628CA223}"/>
              </a:ext>
            </a:extLst>
          </p:cNvPr>
          <p:cNvSpPr/>
          <p:nvPr/>
        </p:nvSpPr>
        <p:spPr>
          <a:xfrm>
            <a:off x="7848132" y="3536055"/>
            <a:ext cx="280000" cy="230000"/>
          </a:xfrm>
          <a:prstGeom prst="lef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121" name="Arrow: Left 210120">
            <a:extLst>
              <a:ext uri="{FF2B5EF4-FFF2-40B4-BE49-F238E27FC236}">
                <a16:creationId xmlns:a16="http://schemas.microsoft.com/office/drawing/2014/main" id="{53F11800-FFFF-ED08-F724-BF46C5D6EB9C}"/>
              </a:ext>
            </a:extLst>
          </p:cNvPr>
          <p:cNvSpPr/>
          <p:nvPr/>
        </p:nvSpPr>
        <p:spPr>
          <a:xfrm>
            <a:off x="4063866" y="3536055"/>
            <a:ext cx="280000" cy="230000"/>
          </a:xfrm>
          <a:prstGeom prst="lef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257" name="Arrow: Down 210256">
            <a:extLst>
              <a:ext uri="{FF2B5EF4-FFF2-40B4-BE49-F238E27FC236}">
                <a16:creationId xmlns:a16="http://schemas.microsoft.com/office/drawing/2014/main" id="{D0EF7FAF-1B2F-3A35-4E81-D018F6CDFD8E}"/>
              </a:ext>
            </a:extLst>
          </p:cNvPr>
          <p:cNvSpPr/>
          <p:nvPr/>
        </p:nvSpPr>
        <p:spPr>
          <a:xfrm>
            <a:off x="9265265" y="2818719"/>
            <a:ext cx="230000" cy="260000"/>
          </a:xfrm>
          <a:prstGeom prst="down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394" name="Arrow: Down 210393">
            <a:extLst>
              <a:ext uri="{FF2B5EF4-FFF2-40B4-BE49-F238E27FC236}">
                <a16:creationId xmlns:a16="http://schemas.microsoft.com/office/drawing/2014/main" id="{DE5864BC-076A-E068-0158-08C82D7974D6}"/>
              </a:ext>
            </a:extLst>
          </p:cNvPr>
          <p:cNvSpPr/>
          <p:nvPr/>
        </p:nvSpPr>
        <p:spPr>
          <a:xfrm>
            <a:off x="1696733" y="4223391"/>
            <a:ext cx="230000" cy="260000"/>
          </a:xfrm>
          <a:prstGeom prst="down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532" name="Rectangle 210531">
            <a:extLst>
              <a:ext uri="{FF2B5EF4-FFF2-40B4-BE49-F238E27FC236}">
                <a16:creationId xmlns:a16="http://schemas.microsoft.com/office/drawing/2014/main" id="{DAF85C57-1AE8-60DC-759E-400120B7A460}"/>
              </a:ext>
            </a:extLst>
          </p:cNvPr>
          <p:cNvSpPr/>
          <p:nvPr/>
        </p:nvSpPr>
        <p:spPr>
          <a:xfrm>
            <a:off x="609600" y="6100000"/>
            <a:ext cx="11500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spc="200">
                <a:solidFill>
                  <a:srgbClr val="D6D2E8"/>
                </a:solidFill>
                <a:effectLst/>
                <a:latin typeface="Segoe UI" panose="020B0502040204020203" pitchFamily="34" charset="0"/>
              </a:rPr>
              <a:t>LEGEND</a:t>
            </a:r>
          </a:p>
          <a:p>
            <a:pPr algn="l">
              <a:buNone/>
            </a:pPr>
            <a:r>
              <a:rPr lang="en-US" sz="100">
                <a:effectLst/>
              </a:rPr>
              <a:t> </a:t>
            </a:r>
            <a:endParaRPr lang="en-US"/>
          </a:p>
        </p:txBody>
      </p:sp>
      <p:sp>
        <p:nvSpPr>
          <p:cNvPr id="210671" name="Rectangle 210670">
            <a:extLst>
              <a:ext uri="{FF2B5EF4-FFF2-40B4-BE49-F238E27FC236}">
                <a16:creationId xmlns:a16="http://schemas.microsoft.com/office/drawing/2014/main" id="{CD903282-A2FC-C1AD-0B1D-7A3A900969D6}"/>
              </a:ext>
            </a:extLst>
          </p:cNvPr>
          <p:cNvSpPr/>
          <p:nvPr/>
        </p:nvSpPr>
        <p:spPr>
          <a:xfrm>
            <a:off x="1809600" y="6175000"/>
            <a:ext cx="180000" cy="180000"/>
          </a:xfrm>
          <a:prstGeom prst="rect">
            <a:avLst/>
          </a:prstGeom>
          <a:solidFill>
            <a:srgbClr val="FF00FF">
              <a:alpha val="25000"/>
            </a:srgbClr>
          </a:solidFill>
          <a:ln w="2540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11" name="Rectangle 210810">
            <a:extLst>
              <a:ext uri="{FF2B5EF4-FFF2-40B4-BE49-F238E27FC236}">
                <a16:creationId xmlns:a16="http://schemas.microsoft.com/office/drawing/2014/main" id="{9FF90F14-4815-81FA-791F-4D527E7F3919}"/>
              </a:ext>
            </a:extLst>
          </p:cNvPr>
          <p:cNvSpPr/>
          <p:nvPr/>
        </p:nvSpPr>
        <p:spPr>
          <a:xfrm>
            <a:off x="2029600" y="6100000"/>
            <a:ext cx="1360792"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Automation</a:t>
            </a:r>
          </a:p>
          <a:p>
            <a:pPr algn="l">
              <a:buNone/>
            </a:pPr>
            <a:r>
              <a:rPr lang="en-US" sz="100">
                <a:effectLst/>
              </a:rPr>
              <a:t> </a:t>
            </a:r>
            <a:endParaRPr lang="en-US"/>
          </a:p>
        </p:txBody>
      </p:sp>
      <p:sp>
        <p:nvSpPr>
          <p:cNvPr id="210952" name="Rectangle 210951">
            <a:extLst>
              <a:ext uri="{FF2B5EF4-FFF2-40B4-BE49-F238E27FC236}">
                <a16:creationId xmlns:a16="http://schemas.microsoft.com/office/drawing/2014/main" id="{054207F0-0840-075A-520A-DCE0F93775BE}"/>
              </a:ext>
            </a:extLst>
          </p:cNvPr>
          <p:cNvSpPr/>
          <p:nvPr/>
        </p:nvSpPr>
        <p:spPr>
          <a:xfrm>
            <a:off x="3570392" y="6175000"/>
            <a:ext cx="180000" cy="180000"/>
          </a:xfrm>
          <a:prstGeom prst="rect">
            <a:avLst/>
          </a:prstGeom>
          <a:solidFill>
            <a:srgbClr val="2FFFE0">
              <a:alpha val="25000"/>
            </a:srgbClr>
          </a:solidFill>
          <a:ln w="2540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094" name="Rectangle 211093">
            <a:extLst>
              <a:ext uri="{FF2B5EF4-FFF2-40B4-BE49-F238E27FC236}">
                <a16:creationId xmlns:a16="http://schemas.microsoft.com/office/drawing/2014/main" id="{91B60A38-A1BB-4227-23B4-F842832E2B32}"/>
              </a:ext>
            </a:extLst>
          </p:cNvPr>
          <p:cNvSpPr/>
          <p:nvPr/>
        </p:nvSpPr>
        <p:spPr>
          <a:xfrm>
            <a:off x="3790392" y="6100000"/>
            <a:ext cx="694436"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App</a:t>
            </a:r>
          </a:p>
          <a:p>
            <a:pPr algn="l">
              <a:buNone/>
            </a:pPr>
            <a:r>
              <a:rPr lang="en-US" sz="100">
                <a:effectLst/>
              </a:rPr>
              <a:t> </a:t>
            </a:r>
            <a:endParaRPr lang="en-US"/>
          </a:p>
        </p:txBody>
      </p:sp>
      <p:sp>
        <p:nvSpPr>
          <p:cNvPr id="211237" name="Rectangle 211236">
            <a:extLst>
              <a:ext uri="{FF2B5EF4-FFF2-40B4-BE49-F238E27FC236}">
                <a16:creationId xmlns:a16="http://schemas.microsoft.com/office/drawing/2014/main" id="{B1E738BF-5AED-F54D-EE07-CA5BB5C1F1F3}"/>
              </a:ext>
            </a:extLst>
          </p:cNvPr>
          <p:cNvSpPr/>
          <p:nvPr/>
        </p:nvSpPr>
        <p:spPr>
          <a:xfrm>
            <a:off x="4664828" y="6175000"/>
            <a:ext cx="180000" cy="180000"/>
          </a:xfrm>
          <a:prstGeom prst="rect">
            <a:avLst/>
          </a:prstGeom>
          <a:solidFill>
            <a:srgbClr val="B2AAF8">
              <a:alpha val="25000"/>
            </a:srgbClr>
          </a:solidFill>
          <a:ln w="2540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381" name="Rectangle 211380">
            <a:extLst>
              <a:ext uri="{FF2B5EF4-FFF2-40B4-BE49-F238E27FC236}">
                <a16:creationId xmlns:a16="http://schemas.microsoft.com/office/drawing/2014/main" id="{17BC4B15-6402-05EB-DDDB-E71A9A5B96DE}"/>
              </a:ext>
            </a:extLst>
          </p:cNvPr>
          <p:cNvSpPr/>
          <p:nvPr/>
        </p:nvSpPr>
        <p:spPr>
          <a:xfrm>
            <a:off x="4884828" y="6100000"/>
            <a:ext cx="863901"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Agent</a:t>
            </a:r>
          </a:p>
          <a:p>
            <a:pPr algn="l">
              <a:buNone/>
            </a:pPr>
            <a:r>
              <a:rPr lang="en-US" sz="100">
                <a:effectLst/>
              </a:rPr>
              <a:t> </a:t>
            </a:r>
            <a:endParaRPr lang="en-US"/>
          </a:p>
        </p:txBody>
      </p:sp>
      <p:sp>
        <p:nvSpPr>
          <p:cNvPr id="211526" name="Rectangle 211525">
            <a:extLst>
              <a:ext uri="{FF2B5EF4-FFF2-40B4-BE49-F238E27FC236}">
                <a16:creationId xmlns:a16="http://schemas.microsoft.com/office/drawing/2014/main" id="{4FA43FD8-CD47-9BC5-86F1-45F07D10CE48}"/>
              </a:ext>
            </a:extLst>
          </p:cNvPr>
          <p:cNvSpPr/>
          <p:nvPr/>
        </p:nvSpPr>
        <p:spPr>
          <a:xfrm>
            <a:off x="5928729" y="6175000"/>
            <a:ext cx="180000" cy="180000"/>
          </a:xfrm>
          <a:prstGeom prst="rect">
            <a:avLst/>
          </a:prstGeom>
          <a:solidFill>
            <a:srgbClr val="FFFFFF">
              <a:alpha val="25000"/>
            </a:srgbClr>
          </a:solidFill>
          <a:ln w="25400">
            <a:solidFill>
              <a:srgbClr val="FFFF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672" name="Rectangle 211671">
            <a:extLst>
              <a:ext uri="{FF2B5EF4-FFF2-40B4-BE49-F238E27FC236}">
                <a16:creationId xmlns:a16="http://schemas.microsoft.com/office/drawing/2014/main" id="{4D770FD4-9D6A-79F3-1ADF-781EE287D15E}"/>
              </a:ext>
            </a:extLst>
          </p:cNvPr>
          <p:cNvSpPr/>
          <p:nvPr/>
        </p:nvSpPr>
        <p:spPr>
          <a:xfrm>
            <a:off x="6148729" y="6100000"/>
            <a:ext cx="987926"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Human</a:t>
            </a:r>
          </a:p>
          <a:p>
            <a:pPr algn="l">
              <a:buNone/>
            </a:pPr>
            <a:r>
              <a:rPr lang="en-US" sz="100">
                <a:effectLst/>
              </a:rPr>
              <a:t> </a:t>
            </a:r>
            <a:endParaRPr lang="en-US"/>
          </a:p>
        </p:txBody>
      </p:sp>
      <p:sp>
        <p:nvSpPr>
          <p:cNvPr id="211819" name="Rectangle 211818">
            <a:extLst>
              <a:ext uri="{FF2B5EF4-FFF2-40B4-BE49-F238E27FC236}">
                <a16:creationId xmlns:a16="http://schemas.microsoft.com/office/drawing/2014/main" id="{43BEEE55-087A-11E8-9020-B14F9C60414F}"/>
              </a:ext>
            </a:extLst>
          </p:cNvPr>
          <p:cNvSpPr/>
          <p:nvPr/>
        </p:nvSpPr>
        <p:spPr>
          <a:xfrm>
            <a:off x="7316655" y="6175000"/>
            <a:ext cx="180000" cy="180000"/>
          </a:xfrm>
          <a:prstGeom prst="rect">
            <a:avLst/>
          </a:prstGeom>
          <a:solidFill>
            <a:srgbClr val="82EBA6">
              <a:alpha val="25000"/>
            </a:srgbClr>
          </a:solidFill>
          <a:ln w="25400">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967" name="Rectangle 211966">
            <a:extLst>
              <a:ext uri="{FF2B5EF4-FFF2-40B4-BE49-F238E27FC236}">
                <a16:creationId xmlns:a16="http://schemas.microsoft.com/office/drawing/2014/main" id="{4FB7A629-3D0D-6945-1408-4E37593A6B9A}"/>
              </a:ext>
            </a:extLst>
          </p:cNvPr>
          <p:cNvSpPr/>
          <p:nvPr/>
        </p:nvSpPr>
        <p:spPr>
          <a:xfrm>
            <a:off x="7536655" y="6100000"/>
            <a:ext cx="750694"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ALM</a:t>
            </a:r>
          </a:p>
          <a:p>
            <a:pPr algn="l">
              <a:buNone/>
            </a:pPr>
            <a:r>
              <a:rPr lang="en-US" sz="100">
                <a:effectLst/>
              </a:rPr>
              <a:t> </a:t>
            </a:r>
            <a:endParaRPr lang="en-US"/>
          </a:p>
        </p:txBody>
      </p:sp>
      <p:sp>
        <p:nvSpPr>
          <p:cNvPr id="212116" name="Rectangle 212115">
            <a:extLst>
              <a:ext uri="{FF2B5EF4-FFF2-40B4-BE49-F238E27FC236}">
                <a16:creationId xmlns:a16="http://schemas.microsoft.com/office/drawing/2014/main" id="{FDB610DF-5BEB-8453-1B8E-E76B8DFB0578}"/>
              </a:ext>
            </a:extLst>
          </p:cNvPr>
          <p:cNvSpPr/>
          <p:nvPr/>
        </p:nvSpPr>
        <p:spPr>
          <a:xfrm>
            <a:off x="8467349" y="6175000"/>
            <a:ext cx="180000" cy="180000"/>
          </a:xfrm>
          <a:prstGeom prst="rect">
            <a:avLst/>
          </a:prstGeom>
          <a:solidFill>
            <a:srgbClr val="F19D19">
              <a:alpha val="25000"/>
            </a:srgbClr>
          </a:solidFill>
          <a:ln w="2540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266" name="Rectangle 212265">
            <a:extLst>
              <a:ext uri="{FF2B5EF4-FFF2-40B4-BE49-F238E27FC236}">
                <a16:creationId xmlns:a16="http://schemas.microsoft.com/office/drawing/2014/main" id="{B519F98B-5727-7575-D489-92A40EA400F9}"/>
              </a:ext>
            </a:extLst>
          </p:cNvPr>
          <p:cNvSpPr/>
          <p:nvPr/>
        </p:nvSpPr>
        <p:spPr>
          <a:xfrm>
            <a:off x="8687349" y="6100000"/>
            <a:ext cx="2100866"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Automation + agent</a:t>
            </a:r>
          </a:p>
          <a:p>
            <a:pPr algn="l">
              <a:buNone/>
            </a:pPr>
            <a:r>
              <a:rPr lang="en-US" sz="100">
                <a:effectLst/>
              </a:rPr>
              <a:t> </a:t>
            </a:r>
            <a:endParaRPr lang="en-US"/>
          </a:p>
        </p:txBody>
      </p:sp>
    </p:spTree>
    <p:extLst>
      <p:ext uri="{BB962C8B-B14F-4D97-AF65-F5344CB8AC3E}">
        <p14:creationId xmlns:p14="http://schemas.microsoft.com/office/powerpoint/2010/main" val="57851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86386" name="Rectangle: Rounded Corners 86385">
            <a:extLst>
              <a:ext uri="{FF2B5EF4-FFF2-40B4-BE49-F238E27FC236}">
                <a16:creationId xmlns:a16="http://schemas.microsoft.com/office/drawing/2014/main" id="{EB12B38E-E8EE-CFA9-59CF-DDF5E16F4880}"/>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86486" name="Rectangle 86485">
            <a:extLst>
              <a:ext uri="{FF2B5EF4-FFF2-40B4-BE49-F238E27FC236}">
                <a16:creationId xmlns:a16="http://schemas.microsoft.com/office/drawing/2014/main" id="{99FDB456-EEF0-09BE-357B-CBA3DD86B191}"/>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Solution architecture: apps, automations, agents, and data</a:t>
            </a:r>
          </a:p>
          <a:p>
            <a:pPr algn="l">
              <a:buNone/>
            </a:pPr>
            <a:r>
              <a:rPr lang="en-US" sz="100">
                <a:effectLst/>
              </a:rPr>
              <a:t> </a:t>
            </a:r>
            <a:endParaRPr lang="en-US"/>
          </a:p>
        </p:txBody>
      </p:sp>
      <p:sp>
        <p:nvSpPr>
          <p:cNvPr id="86587" name="Rectangle 86586">
            <a:extLst>
              <a:ext uri="{FF2B5EF4-FFF2-40B4-BE49-F238E27FC236}">
                <a16:creationId xmlns:a16="http://schemas.microsoft.com/office/drawing/2014/main" id="{D9446D97-50EE-30A9-381B-8F301E244532}"/>
              </a:ext>
            </a:extLst>
          </p:cNvPr>
          <p:cNvSpPr/>
          <p:nvPr/>
        </p:nvSpPr>
        <p:spPr>
          <a:xfrm>
            <a:off x="609600" y="1500000"/>
            <a:ext cx="1520000" cy="4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FFFFF"/>
                </a:solidFill>
                <a:effectLst/>
                <a:latin typeface="Segoe UI" panose="020B0502040204020203" pitchFamily="34" charset="0"/>
              </a:rPr>
              <a:t>PEOPLE</a:t>
            </a:r>
          </a:p>
          <a:p>
            <a:pPr algn="l">
              <a:buNone/>
            </a:pPr>
            <a:r>
              <a:rPr lang="en-US" sz="100">
                <a:effectLst/>
              </a:rPr>
              <a:t> </a:t>
            </a:r>
            <a:endParaRPr lang="en-US"/>
          </a:p>
        </p:txBody>
      </p:sp>
      <p:sp>
        <p:nvSpPr>
          <p:cNvPr id="86689" name="Rectangle 86688">
            <a:extLst>
              <a:ext uri="{FF2B5EF4-FFF2-40B4-BE49-F238E27FC236}">
                <a16:creationId xmlns:a16="http://schemas.microsoft.com/office/drawing/2014/main" id="{56092055-5459-1562-3272-C09EC3942655}"/>
              </a:ext>
            </a:extLst>
          </p:cNvPr>
          <p:cNvSpPr/>
          <p:nvPr/>
        </p:nvSpPr>
        <p:spPr>
          <a:xfrm>
            <a:off x="2169600" y="1500000"/>
            <a:ext cx="3941400" cy="470000"/>
          </a:xfrm>
          <a:prstGeom prst="rect">
            <a:avLst/>
          </a:prstGeom>
          <a:solidFill>
            <a:srgbClr val="FFFFFF">
              <a:alpha val="7000"/>
            </a:srgbClr>
          </a:solidFill>
          <a:ln w="12700">
            <a:solidFill>
              <a:srgbClr val="FFFF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Operations analyst / approver</a:t>
            </a:r>
          </a:p>
          <a:p>
            <a:pPr algn="ctr">
              <a:buNone/>
            </a:pPr>
            <a:r>
              <a:rPr lang="en-US" sz="1400">
                <a:solidFill>
                  <a:srgbClr val="D6D2E8"/>
                </a:solidFill>
                <a:effectLst/>
                <a:latin typeface="Segoe UI" panose="020B0502040204020203" pitchFamily="34" charset="0"/>
              </a:rPr>
              <a:t>Control Tower</a:t>
            </a:r>
            <a:endParaRPr lang="en-US"/>
          </a:p>
        </p:txBody>
      </p:sp>
      <p:sp>
        <p:nvSpPr>
          <p:cNvPr id="86792" name="Rectangle 86791">
            <a:extLst>
              <a:ext uri="{FF2B5EF4-FFF2-40B4-BE49-F238E27FC236}">
                <a16:creationId xmlns:a16="http://schemas.microsoft.com/office/drawing/2014/main" id="{024F814D-16CE-C7B8-BD51-7591EE24C009}"/>
              </a:ext>
            </a:extLst>
          </p:cNvPr>
          <p:cNvSpPr/>
          <p:nvPr/>
        </p:nvSpPr>
        <p:spPr>
          <a:xfrm>
            <a:off x="6161000" y="1500000"/>
            <a:ext cx="3941400" cy="470000"/>
          </a:xfrm>
          <a:prstGeom prst="rect">
            <a:avLst/>
          </a:prstGeom>
          <a:solidFill>
            <a:srgbClr val="FFFFFF">
              <a:alpha val="7000"/>
            </a:srgbClr>
          </a:solidFill>
          <a:ln w="12700">
            <a:solidFill>
              <a:srgbClr val="FFFF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Maker</a:t>
            </a:r>
          </a:p>
          <a:p>
            <a:pPr algn="ctr">
              <a:buNone/>
            </a:pPr>
            <a:r>
              <a:rPr lang="en-US" sz="1400">
                <a:solidFill>
                  <a:srgbClr val="D6D2E8"/>
                </a:solidFill>
                <a:effectLst/>
                <a:latin typeface="Segoe UI" panose="020B0502040204020203" pitchFamily="34" charset="0"/>
              </a:rPr>
              <a:t>builds in DEV</a:t>
            </a:r>
            <a:endParaRPr lang="en-US"/>
          </a:p>
        </p:txBody>
      </p:sp>
      <p:sp>
        <p:nvSpPr>
          <p:cNvPr id="86896" name="Rectangle 86895">
            <a:extLst>
              <a:ext uri="{FF2B5EF4-FFF2-40B4-BE49-F238E27FC236}">
                <a16:creationId xmlns:a16="http://schemas.microsoft.com/office/drawing/2014/main" id="{AFCF4924-1426-4514-8971-D43C935450B1}"/>
              </a:ext>
            </a:extLst>
          </p:cNvPr>
          <p:cNvSpPr/>
          <p:nvPr/>
        </p:nvSpPr>
        <p:spPr>
          <a:xfrm>
            <a:off x="609600" y="2005000"/>
            <a:ext cx="152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APPS</a:t>
            </a:r>
          </a:p>
          <a:p>
            <a:pPr algn="l">
              <a:buNone/>
            </a:pPr>
            <a:r>
              <a:rPr lang="en-US" sz="100">
                <a:effectLst/>
              </a:rPr>
              <a:t> </a:t>
            </a:r>
            <a:endParaRPr lang="en-US"/>
          </a:p>
        </p:txBody>
      </p:sp>
      <p:sp>
        <p:nvSpPr>
          <p:cNvPr id="87001" name="Rectangle 87000">
            <a:extLst>
              <a:ext uri="{FF2B5EF4-FFF2-40B4-BE49-F238E27FC236}">
                <a16:creationId xmlns:a16="http://schemas.microsoft.com/office/drawing/2014/main" id="{D520A714-D0B8-FAB7-AF7E-0C2E68C1D3EA}"/>
              </a:ext>
            </a:extLst>
          </p:cNvPr>
          <p:cNvSpPr/>
          <p:nvPr/>
        </p:nvSpPr>
        <p:spPr>
          <a:xfrm>
            <a:off x="2169600" y="2005000"/>
            <a:ext cx="2458200" cy="700000"/>
          </a:xfrm>
          <a:prstGeom prst="rect">
            <a:avLst/>
          </a:prstGeom>
          <a:solidFill>
            <a:srgbClr val="FFFFFF">
              <a:alpha val="7000"/>
            </a:srgbClr>
          </a:solidFill>
          <a:ln w="12700">
            <a:solidFill>
              <a:srgbClr val="2FFFE0">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PPCC Agentic Operations Control Tower</a:t>
            </a:r>
          </a:p>
          <a:p>
            <a:pPr algn="ctr">
              <a:buNone/>
            </a:pPr>
            <a:r>
              <a:rPr lang="en-US" sz="1400">
                <a:solidFill>
                  <a:srgbClr val="D6D2E8"/>
                </a:solidFill>
                <a:effectLst/>
                <a:latin typeface="Segoe UI" panose="020B0502040204020203" pitchFamily="34" charset="0"/>
              </a:rPr>
              <a:t>model-driven app</a:t>
            </a:r>
            <a:endParaRPr lang="en-US"/>
          </a:p>
        </p:txBody>
      </p:sp>
      <p:sp>
        <p:nvSpPr>
          <p:cNvPr id="87107" name="Rectangle 87106">
            <a:extLst>
              <a:ext uri="{FF2B5EF4-FFF2-40B4-BE49-F238E27FC236}">
                <a16:creationId xmlns:a16="http://schemas.microsoft.com/office/drawing/2014/main" id="{2F880561-0ABD-EEA2-0146-32B73DEE8F08}"/>
              </a:ext>
            </a:extLst>
          </p:cNvPr>
          <p:cNvSpPr/>
          <p:nvPr/>
        </p:nvSpPr>
        <p:spPr>
          <a:xfrm>
            <a:off x="4677800" y="2005000"/>
            <a:ext cx="1458200" cy="700000"/>
          </a:xfrm>
          <a:prstGeom prst="rect">
            <a:avLst/>
          </a:prstGeom>
          <a:solidFill>
            <a:srgbClr val="FFFFFF">
              <a:alpha val="7000"/>
            </a:srgbClr>
          </a:solidFill>
          <a:ln w="12700">
            <a:solidFill>
              <a:srgbClr val="2FFFE0">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Control Tower Home page</a:t>
            </a:r>
          </a:p>
          <a:p>
            <a:pPr algn="ctr">
              <a:buNone/>
            </a:pPr>
            <a:r>
              <a:rPr lang="en-US" sz="100">
                <a:effectLst/>
              </a:rPr>
              <a:t> </a:t>
            </a:r>
            <a:endParaRPr lang="en-US"/>
          </a:p>
        </p:txBody>
      </p:sp>
      <p:sp>
        <p:nvSpPr>
          <p:cNvPr id="87214" name="Rectangle 87213">
            <a:extLst>
              <a:ext uri="{FF2B5EF4-FFF2-40B4-BE49-F238E27FC236}">
                <a16:creationId xmlns:a16="http://schemas.microsoft.com/office/drawing/2014/main" id="{ACACC68E-D009-AD57-3EB6-99DE785F3218}"/>
              </a:ext>
            </a:extLst>
          </p:cNvPr>
          <p:cNvSpPr/>
          <p:nvPr/>
        </p:nvSpPr>
        <p:spPr>
          <a:xfrm>
            <a:off x="6186000" y="2005000"/>
            <a:ext cx="1858200" cy="700000"/>
          </a:xfrm>
          <a:prstGeom prst="rect">
            <a:avLst/>
          </a:prstGeom>
          <a:solidFill>
            <a:srgbClr val="FFFFFF">
              <a:alpha val="7000"/>
            </a:srgbClr>
          </a:solidFill>
          <a:ln w="12700">
            <a:solidFill>
              <a:srgbClr val="2FFFE0">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Supplier Recovery Offers extension</a:t>
            </a:r>
          </a:p>
          <a:p>
            <a:pPr algn="ctr">
              <a:buNone/>
            </a:pPr>
            <a:r>
              <a:rPr lang="en-US" sz="100">
                <a:effectLst/>
              </a:rPr>
              <a:t> </a:t>
            </a:r>
            <a:endParaRPr lang="en-US"/>
          </a:p>
        </p:txBody>
      </p:sp>
      <p:sp>
        <p:nvSpPr>
          <p:cNvPr id="87431" name="Rectangle 87430">
            <a:extLst>
              <a:ext uri="{FF2B5EF4-FFF2-40B4-BE49-F238E27FC236}">
                <a16:creationId xmlns:a16="http://schemas.microsoft.com/office/drawing/2014/main" id="{E601B763-079F-C430-EFA9-933B3BB92229}"/>
              </a:ext>
            </a:extLst>
          </p:cNvPr>
          <p:cNvSpPr/>
          <p:nvPr/>
        </p:nvSpPr>
        <p:spPr>
          <a:xfrm>
            <a:off x="609600" y="2740000"/>
            <a:ext cx="1520000" cy="11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AGENTS</a:t>
            </a:r>
          </a:p>
          <a:p>
            <a:pPr algn="l">
              <a:buNone/>
            </a:pPr>
            <a:r>
              <a:rPr lang="en-US" sz="1400">
                <a:solidFill>
                  <a:srgbClr val="D6D2E8"/>
                </a:solidFill>
                <a:effectLst/>
                <a:latin typeface="Segoe UI" panose="020B0502040204020203" pitchFamily="34" charset="0"/>
              </a:rPr>
              <a:t>Copilot Studio</a:t>
            </a:r>
            <a:endParaRPr lang="en-US"/>
          </a:p>
        </p:txBody>
      </p:sp>
      <p:sp>
        <p:nvSpPr>
          <p:cNvPr id="87877" name="Rectangle 87876">
            <a:extLst>
              <a:ext uri="{FF2B5EF4-FFF2-40B4-BE49-F238E27FC236}">
                <a16:creationId xmlns:a16="http://schemas.microsoft.com/office/drawing/2014/main" id="{173AB956-8FBD-BF49-25E1-38E399403D79}"/>
              </a:ext>
            </a:extLst>
          </p:cNvPr>
          <p:cNvSpPr/>
          <p:nvPr/>
        </p:nvSpPr>
        <p:spPr>
          <a:xfrm>
            <a:off x="609600" y="3915000"/>
            <a:ext cx="1520000" cy="9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F00FF"/>
                </a:solidFill>
                <a:effectLst/>
                <a:latin typeface="Segoe UI" panose="020B0502040204020203" pitchFamily="34" charset="0"/>
              </a:rPr>
              <a:t>AUTOMATIONS</a:t>
            </a:r>
          </a:p>
          <a:p>
            <a:pPr algn="l">
              <a:buNone/>
            </a:pPr>
            <a:r>
              <a:rPr lang="en-US" sz="1400">
                <a:solidFill>
                  <a:srgbClr val="D6D2E8"/>
                </a:solidFill>
                <a:effectLst/>
                <a:latin typeface="Segoe UI" panose="020B0502040204020203" pitchFamily="34" charset="0"/>
              </a:rPr>
              <a:t>cloud flows</a:t>
            </a:r>
            <a:endParaRPr lang="en-US"/>
          </a:p>
        </p:txBody>
      </p:sp>
      <p:sp>
        <p:nvSpPr>
          <p:cNvPr id="88817" name="Rectangle 88816">
            <a:extLst>
              <a:ext uri="{FF2B5EF4-FFF2-40B4-BE49-F238E27FC236}">
                <a16:creationId xmlns:a16="http://schemas.microsoft.com/office/drawing/2014/main" id="{4E6567DD-A845-4B00-9DB7-BA02BBCFD97C}"/>
              </a:ext>
            </a:extLst>
          </p:cNvPr>
          <p:cNvSpPr/>
          <p:nvPr/>
        </p:nvSpPr>
        <p:spPr>
          <a:xfrm>
            <a:off x="4752400" y="4870000"/>
            <a:ext cx="1070000" cy="700000"/>
          </a:xfrm>
          <a:prstGeom prst="rect">
            <a:avLst/>
          </a:prstGeom>
          <a:solidFill>
            <a:srgbClr val="FFFFFF">
              <a:alpha val="7000"/>
            </a:srgbClr>
          </a:solidFill>
          <a:ln w="12700">
            <a:solidFill>
              <a:srgbClr val="FFFFFF">
                <a:alpha val="3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Office 365 Outlook</a:t>
            </a:r>
          </a:p>
          <a:p>
            <a:pPr algn="ctr">
              <a:buNone/>
            </a:pPr>
            <a:r>
              <a:rPr lang="en-US" sz="100">
                <a:effectLst/>
              </a:rPr>
              <a:t> </a:t>
            </a:r>
            <a:endParaRPr lang="en-US"/>
          </a:p>
        </p:txBody>
      </p:sp>
      <p:sp>
        <p:nvSpPr>
          <p:cNvPr id="88939" name="Rectangle 88938">
            <a:extLst>
              <a:ext uri="{FF2B5EF4-FFF2-40B4-BE49-F238E27FC236}">
                <a16:creationId xmlns:a16="http://schemas.microsoft.com/office/drawing/2014/main" id="{D1A0B1AF-F0C1-2974-FDB6-C332374B2B08}"/>
              </a:ext>
            </a:extLst>
          </p:cNvPr>
          <p:cNvSpPr/>
          <p:nvPr/>
        </p:nvSpPr>
        <p:spPr>
          <a:xfrm>
            <a:off x="5872400" y="4870000"/>
            <a:ext cx="1060000" cy="700000"/>
          </a:xfrm>
          <a:prstGeom prst="rect">
            <a:avLst/>
          </a:prstGeom>
          <a:solidFill>
            <a:srgbClr val="FFFFFF">
              <a:alpha val="7000"/>
            </a:srgbClr>
          </a:solidFill>
          <a:ln w="12700">
            <a:solidFill>
              <a:srgbClr val="FFFFFF">
                <a:alpha val="3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Microsoft Dataverse</a:t>
            </a:r>
          </a:p>
          <a:p>
            <a:pPr algn="ctr">
              <a:buNone/>
            </a:pPr>
            <a:r>
              <a:rPr lang="en-US" sz="100">
                <a:effectLst/>
              </a:rPr>
              <a:t> </a:t>
            </a:r>
            <a:endParaRPr lang="en-US"/>
          </a:p>
        </p:txBody>
      </p:sp>
      <p:sp>
        <p:nvSpPr>
          <p:cNvPr id="89062" name="Rectangle 89061">
            <a:extLst>
              <a:ext uri="{FF2B5EF4-FFF2-40B4-BE49-F238E27FC236}">
                <a16:creationId xmlns:a16="http://schemas.microsoft.com/office/drawing/2014/main" id="{056BC6E2-5184-5075-1DB0-8D9E2B099AAD}"/>
              </a:ext>
            </a:extLst>
          </p:cNvPr>
          <p:cNvSpPr/>
          <p:nvPr/>
        </p:nvSpPr>
        <p:spPr>
          <a:xfrm>
            <a:off x="6982400" y="4870000"/>
            <a:ext cx="1040000" cy="700000"/>
          </a:xfrm>
          <a:prstGeom prst="rect">
            <a:avLst/>
          </a:prstGeom>
          <a:solidFill>
            <a:srgbClr val="FFFFFF">
              <a:alpha val="7000"/>
            </a:srgbClr>
          </a:solidFill>
          <a:ln w="12700">
            <a:solidFill>
              <a:srgbClr val="FFFFFF">
                <a:alpha val="3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Microsoft Copilot Studio</a:t>
            </a:r>
          </a:p>
          <a:p>
            <a:pPr algn="ctr">
              <a:buNone/>
            </a:pPr>
            <a:r>
              <a:rPr lang="en-US" sz="100">
                <a:effectLst/>
              </a:rPr>
              <a:t> </a:t>
            </a:r>
            <a:endParaRPr lang="en-US"/>
          </a:p>
        </p:txBody>
      </p:sp>
      <p:sp>
        <p:nvSpPr>
          <p:cNvPr id="89186" name="Rectangle 89185">
            <a:extLst>
              <a:ext uri="{FF2B5EF4-FFF2-40B4-BE49-F238E27FC236}">
                <a16:creationId xmlns:a16="http://schemas.microsoft.com/office/drawing/2014/main" id="{896F1911-10D6-6B6C-7452-91EF02EAD0F4}"/>
              </a:ext>
            </a:extLst>
          </p:cNvPr>
          <p:cNvSpPr/>
          <p:nvPr/>
        </p:nvSpPr>
        <p:spPr>
          <a:xfrm>
            <a:off x="609600" y="5605000"/>
            <a:ext cx="1520000" cy="9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DATA</a:t>
            </a:r>
          </a:p>
          <a:p>
            <a:pPr algn="l">
              <a:buNone/>
            </a:pPr>
            <a:r>
              <a:rPr lang="en-US" sz="1400">
                <a:solidFill>
                  <a:srgbClr val="D6D2E8"/>
                </a:solidFill>
                <a:effectLst/>
                <a:latin typeface="Segoe UI" panose="020B0502040204020203" pitchFamily="34" charset="0"/>
              </a:rPr>
              <a:t>Dataverse</a:t>
            </a:r>
            <a:endParaRPr lang="en-US"/>
          </a:p>
        </p:txBody>
      </p:sp>
      <p:sp>
        <p:nvSpPr>
          <p:cNvPr id="89311" name="Rectangle 89310">
            <a:extLst>
              <a:ext uri="{FF2B5EF4-FFF2-40B4-BE49-F238E27FC236}">
                <a16:creationId xmlns:a16="http://schemas.microsoft.com/office/drawing/2014/main" id="{42B4EC29-3E94-723A-564E-82C866012D28}"/>
              </a:ext>
            </a:extLst>
          </p:cNvPr>
          <p:cNvSpPr/>
          <p:nvPr/>
        </p:nvSpPr>
        <p:spPr>
          <a:xfrm>
            <a:off x="2169600" y="5605000"/>
            <a:ext cx="2800000" cy="920000"/>
          </a:xfrm>
          <a:prstGeom prst="rect">
            <a:avLst/>
          </a:prstGeom>
          <a:solidFill>
            <a:srgbClr val="FFFFFF">
              <a:alpha val="7000"/>
            </a:srgbClr>
          </a:solidFill>
          <a:ln w="12700">
            <a:solidFill>
              <a:srgbClr val="3A7B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Northwind Traders</a:t>
            </a:r>
          </a:p>
          <a:p>
            <a:pPr algn="ctr">
              <a:buNone/>
            </a:pPr>
            <a:r>
              <a:rPr lang="en-US" sz="1400">
                <a:solidFill>
                  <a:srgbClr val="D6D2E8"/>
                </a:solidFill>
                <a:effectLst/>
                <a:latin typeface="Segoe UI" panose="020B0502040204020203" pitchFamily="34" charset="0"/>
              </a:rPr>
              <a:t>orders, order details, products, suppliers, purchase orders</a:t>
            </a:r>
            <a:endParaRPr lang="en-US"/>
          </a:p>
        </p:txBody>
      </p:sp>
      <p:sp>
        <p:nvSpPr>
          <p:cNvPr id="237153" name="Arch App Agent feed">
            <a:extLst>
              <a:ext uri="{FF2B5EF4-FFF2-40B4-BE49-F238E27FC236}">
                <a16:creationId xmlns:a16="http://schemas.microsoft.com/office/drawing/2014/main" id="{743ED0B3-3DEA-04AE-09CB-8D4FB21ECBA7}"/>
              </a:ext>
            </a:extLst>
          </p:cNvPr>
          <p:cNvSpPr/>
          <p:nvPr/>
        </p:nvSpPr>
        <p:spPr>
          <a:xfrm>
            <a:off x="8094200" y="2005000"/>
            <a:ext cx="2008200" cy="700000"/>
          </a:xfrm>
          <a:prstGeom prst="rect">
            <a:avLst/>
          </a:prstGeom>
          <a:solidFill>
            <a:srgbClr val="FFFFFF">
              <a:alpha val="7000"/>
            </a:srgbClr>
          </a:solidFill>
          <a:ln w="12700">
            <a:solidFill>
              <a:srgbClr val="2FFFE0">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Agent feed</a:t>
            </a:r>
          </a:p>
          <a:p>
            <a:pPr algn="ctr">
              <a:buNone/>
            </a:pPr>
            <a:r>
              <a:rPr lang="en-US" sz="1400">
                <a:solidFill>
                  <a:srgbClr val="D6D2E8"/>
                </a:solidFill>
                <a:effectLst/>
                <a:latin typeface="Segoe UI" panose="020B0502040204020203" pitchFamily="34" charset="0"/>
              </a:rPr>
              <a:t>Needs attention items</a:t>
            </a:r>
            <a:endParaRPr lang="en-US"/>
          </a:p>
        </p:txBody>
      </p:sp>
      <p:sp>
        <p:nvSpPr>
          <p:cNvPr id="237155" name="Arch Agent Commander">
            <a:extLst>
              <a:ext uri="{FF2B5EF4-FFF2-40B4-BE49-F238E27FC236}">
                <a16:creationId xmlns:a16="http://schemas.microsoft.com/office/drawing/2014/main" id="{0D4EAD3E-FF1C-FD48-251F-83697D768A20}"/>
              </a:ext>
            </a:extLst>
          </p:cNvPr>
          <p:cNvSpPr/>
          <p:nvPr/>
        </p:nvSpPr>
        <p:spPr>
          <a:xfrm>
            <a:off x="2169600" y="2740000"/>
            <a:ext cx="2420000" cy="1140000"/>
          </a:xfrm>
          <a:prstGeom prst="rect">
            <a:avLst/>
          </a:prstGeom>
          <a:solidFill>
            <a:srgbClr val="FFFFFF">
              <a:alpha val="7000"/>
            </a:srgbClr>
          </a:solidFill>
          <a:ln w="1270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Disruption Commander</a:t>
            </a:r>
          </a:p>
          <a:p>
            <a:pPr algn="ctr">
              <a:buNone/>
            </a:pPr>
            <a:r>
              <a:rPr lang="en-US" sz="1400">
                <a:solidFill>
                  <a:srgbClr val="D6D2E8"/>
                </a:solidFill>
                <a:effectLst/>
                <a:latin typeface="Segoe UI" panose="020B0502040204020203" pitchFamily="34" charset="0"/>
              </a:rPr>
              <a:t>Business Skill lab-1 + Dataverse MCP (read-only)</a:t>
            </a:r>
            <a:endParaRPr lang="en-US"/>
          </a:p>
        </p:txBody>
      </p:sp>
      <p:sp>
        <p:nvSpPr>
          <p:cNvPr id="237158" name="Arch Agent Handoff">
            <a:extLst>
              <a:ext uri="{FF2B5EF4-FFF2-40B4-BE49-F238E27FC236}">
                <a16:creationId xmlns:a16="http://schemas.microsoft.com/office/drawing/2014/main" id="{47DD253F-2595-05DB-FD8A-4321C37404E5}"/>
              </a:ext>
            </a:extLst>
          </p:cNvPr>
          <p:cNvSpPr/>
          <p:nvPr/>
        </p:nvSpPr>
        <p:spPr>
          <a:xfrm>
            <a:off x="4639600" y="2740000"/>
            <a:ext cx="2612800" cy="1140000"/>
          </a:xfrm>
          <a:prstGeom prst="rect">
            <a:avLst/>
          </a:prstGeom>
          <a:solidFill>
            <a:srgbClr val="FFFFFF">
              <a:alpha val="7000"/>
            </a:srgbClr>
          </a:solidFill>
          <a:ln w="1270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Disruption Approval Handoff Agent</a:t>
            </a:r>
          </a:p>
          <a:p>
            <a:pPr algn="ctr">
              <a:buNone/>
            </a:pPr>
            <a:r>
              <a:rPr lang="en-US" sz="1400">
                <a:solidFill>
                  <a:srgbClr val="D6D2E8"/>
                </a:solidFill>
                <a:effectLst/>
                <a:latin typeface="Segoe UI" panose="020B0502040204020203" pitchFamily="34" charset="0"/>
              </a:rPr>
              <a:t>Dataverse trigger · connected Commander · Power Apps MCP: request_assistance</a:t>
            </a:r>
            <a:endParaRPr lang="en-US"/>
          </a:p>
        </p:txBody>
      </p:sp>
      <p:sp>
        <p:nvSpPr>
          <p:cNvPr id="237162" name="Arch Agent Carrier">
            <a:extLst>
              <a:ext uri="{FF2B5EF4-FFF2-40B4-BE49-F238E27FC236}">
                <a16:creationId xmlns:a16="http://schemas.microsoft.com/office/drawing/2014/main" id="{DEBA585F-BC8E-0B06-867A-A931B4338E0E}"/>
              </a:ext>
            </a:extLst>
          </p:cNvPr>
          <p:cNvSpPr/>
          <p:nvPr/>
        </p:nvSpPr>
        <p:spPr>
          <a:xfrm>
            <a:off x="7302400" y="2740000"/>
            <a:ext cx="2800000" cy="1140000"/>
          </a:xfrm>
          <a:prstGeom prst="rect">
            <a:avLst/>
          </a:prstGeom>
          <a:solidFill>
            <a:srgbClr val="FFFFFF">
              <a:alpha val="7000"/>
            </a:srgbClr>
          </a:solidFill>
          <a:ln w="1270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Carrier Operations Agent</a:t>
            </a:r>
          </a:p>
          <a:p>
            <a:pPr algn="ctr">
              <a:buNone/>
            </a:pPr>
            <a:r>
              <a:rPr lang="en-US" sz="1400">
                <a:solidFill>
                  <a:srgbClr val="D6D2E8"/>
                </a:solidFill>
                <a:effectLst/>
                <a:latin typeface="Segoe UI" panose="020B0502040204020203" pitchFamily="34" charset="0"/>
              </a:rPr>
              <a:t>Computer Use: Register Shipping Contact → hosted browser → approved carrier site only</a:t>
            </a:r>
            <a:endParaRPr lang="en-US"/>
          </a:p>
        </p:txBody>
      </p:sp>
      <p:sp>
        <p:nvSpPr>
          <p:cNvPr id="237167" name="Arch Flow Order Disruption">
            <a:extLst>
              <a:ext uri="{FF2B5EF4-FFF2-40B4-BE49-F238E27FC236}">
                <a16:creationId xmlns:a16="http://schemas.microsoft.com/office/drawing/2014/main" id="{4F1F9E35-0A80-2C07-17FE-BCEB007F0B94}"/>
              </a:ext>
            </a:extLst>
          </p:cNvPr>
          <p:cNvSpPr/>
          <p:nvPr/>
        </p:nvSpPr>
        <p:spPr>
          <a:xfrm>
            <a:off x="2169600" y="3915000"/>
            <a:ext cx="1258200" cy="920000"/>
          </a:xfrm>
          <a:prstGeom prst="rect">
            <a:avLst/>
          </a:prstGeom>
          <a:solidFill>
            <a:srgbClr val="FFFFFF">
              <a:alpha val="7000"/>
            </a:srgbClr>
          </a:solidFill>
          <a:ln w="12700">
            <a:solidFill>
              <a:srgbClr val="FF00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Order Disruption</a:t>
            </a:r>
          </a:p>
          <a:p>
            <a:pPr algn="ctr">
              <a:buNone/>
            </a:pPr>
            <a:r>
              <a:rPr lang="en-US" sz="1400">
                <a:solidFill>
                  <a:srgbClr val="D6D2E8"/>
                </a:solidFill>
                <a:effectLst/>
                <a:latin typeface="Segoe UI" panose="020B0502040204020203" pitchFamily="34" charset="0"/>
              </a:rPr>
              <a:t>Outlook trigger</a:t>
            </a:r>
            <a:endParaRPr lang="en-US"/>
          </a:p>
        </p:txBody>
      </p:sp>
      <p:sp>
        <p:nvSpPr>
          <p:cNvPr id="237173" name="Arch Flow Supplier Disruption Impact Assessment">
            <a:extLst>
              <a:ext uri="{FF2B5EF4-FFF2-40B4-BE49-F238E27FC236}">
                <a16:creationId xmlns:a16="http://schemas.microsoft.com/office/drawing/2014/main" id="{8F2C7959-E57C-3DB7-ED0F-6A5EBFE3AB35}"/>
              </a:ext>
            </a:extLst>
          </p:cNvPr>
          <p:cNvSpPr/>
          <p:nvPr/>
        </p:nvSpPr>
        <p:spPr>
          <a:xfrm>
            <a:off x="3477800" y="3915000"/>
            <a:ext cx="1898200" cy="920000"/>
          </a:xfrm>
          <a:prstGeom prst="rect">
            <a:avLst/>
          </a:prstGeom>
          <a:solidFill>
            <a:srgbClr val="FFFFFF">
              <a:alpha val="7000"/>
            </a:srgbClr>
          </a:solidFill>
          <a:ln w="12700">
            <a:solidFill>
              <a:srgbClr val="FF00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Supplier Disruption Impact Assessment</a:t>
            </a:r>
          </a:p>
          <a:p>
            <a:pPr algn="ctr">
              <a:buNone/>
            </a:pPr>
            <a:r>
              <a:rPr lang="en-US" sz="1400">
                <a:solidFill>
                  <a:srgbClr val="D6D2E8"/>
                </a:solidFill>
                <a:effectLst/>
                <a:latin typeface="Segoe UI" panose="020B0502040204020203" pitchFamily="34" charset="0"/>
              </a:rPr>
              <a:t>Dataverse trigger</a:t>
            </a:r>
            <a:endParaRPr lang="en-US"/>
          </a:p>
        </p:txBody>
      </p:sp>
      <p:sp>
        <p:nvSpPr>
          <p:cNvPr id="237180" name="Arch Flow Approved Recovery Execution">
            <a:extLst>
              <a:ext uri="{FF2B5EF4-FFF2-40B4-BE49-F238E27FC236}">
                <a16:creationId xmlns:a16="http://schemas.microsoft.com/office/drawing/2014/main" id="{0C9A6D83-3485-5E19-09A0-6B986CC4CC76}"/>
              </a:ext>
            </a:extLst>
          </p:cNvPr>
          <p:cNvSpPr/>
          <p:nvPr/>
        </p:nvSpPr>
        <p:spPr>
          <a:xfrm>
            <a:off x="5426000" y="3915000"/>
            <a:ext cx="1778200" cy="920000"/>
          </a:xfrm>
          <a:prstGeom prst="rect">
            <a:avLst/>
          </a:prstGeom>
          <a:solidFill>
            <a:srgbClr val="FFFFFF">
              <a:alpha val="7000"/>
            </a:srgbClr>
          </a:solidFill>
          <a:ln w="12700">
            <a:solidFill>
              <a:srgbClr val="FF00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Approved Recovery Execution</a:t>
            </a:r>
          </a:p>
          <a:p>
            <a:pPr algn="ctr">
              <a:buNone/>
            </a:pPr>
            <a:r>
              <a:rPr lang="en-US" sz="1400">
                <a:solidFill>
                  <a:srgbClr val="D6D2E8"/>
                </a:solidFill>
                <a:effectLst/>
                <a:latin typeface="Segoe UI" panose="020B0502040204020203" pitchFamily="34" charset="0"/>
              </a:rPr>
              <a:t>fires on approval</a:t>
            </a:r>
            <a:endParaRPr lang="en-US"/>
          </a:p>
        </p:txBody>
      </p:sp>
      <p:sp>
        <p:nvSpPr>
          <p:cNvPr id="237188" name="Arch Flow Invoke Carrier Operations">
            <a:extLst>
              <a:ext uri="{FF2B5EF4-FFF2-40B4-BE49-F238E27FC236}">
                <a16:creationId xmlns:a16="http://schemas.microsoft.com/office/drawing/2014/main" id="{0CE2647E-89BE-62B0-7C1B-190B56E8DFD0}"/>
              </a:ext>
            </a:extLst>
          </p:cNvPr>
          <p:cNvSpPr/>
          <p:nvPr/>
        </p:nvSpPr>
        <p:spPr>
          <a:xfrm>
            <a:off x="7254200" y="3915000"/>
            <a:ext cx="2848200" cy="920000"/>
          </a:xfrm>
          <a:prstGeom prst="rect">
            <a:avLst/>
          </a:prstGeom>
          <a:solidFill>
            <a:srgbClr val="FFFFFF">
              <a:alpha val="7000"/>
            </a:srgbClr>
          </a:solidFill>
          <a:ln w="12700">
            <a:solidFill>
              <a:srgbClr val="FF00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Invoke Carrier Operations</a:t>
            </a:r>
          </a:p>
          <a:p>
            <a:pPr algn="ctr">
              <a:buNone/>
            </a:pPr>
            <a:r>
              <a:rPr lang="en-US" sz="1400">
                <a:solidFill>
                  <a:srgbClr val="D6D2E8"/>
                </a:solidFill>
                <a:effectLst/>
                <a:latin typeface="Segoe UI" panose="020B0502040204020203" pitchFamily="34" charset="0"/>
              </a:rPr>
              <a:t>prepared child flow: re-checks approval, Execute Agent and wait, verifies the CUA Activity</a:t>
            </a:r>
            <a:endParaRPr lang="en-US"/>
          </a:p>
        </p:txBody>
      </p:sp>
      <p:sp>
        <p:nvSpPr>
          <p:cNvPr id="237197" name="Arch Label AI Connections">
            <a:extLst>
              <a:ext uri="{FF2B5EF4-FFF2-40B4-BE49-F238E27FC236}">
                <a16:creationId xmlns:a16="http://schemas.microsoft.com/office/drawing/2014/main" id="{68DD1C6F-16DD-8AD0-9789-72AC4687B5B6}"/>
              </a:ext>
            </a:extLst>
          </p:cNvPr>
          <p:cNvSpPr/>
          <p:nvPr/>
        </p:nvSpPr>
        <p:spPr>
          <a:xfrm>
            <a:off x="609600" y="4870000"/>
            <a:ext cx="152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F00FF"/>
                </a:solidFill>
                <a:effectLst/>
                <a:latin typeface="Segoe UI" panose="020B0502040204020203" pitchFamily="34" charset="0"/>
              </a:rPr>
              <a:t>AI</a:t>
            </a:r>
          </a:p>
          <a:p>
            <a:pPr algn="l">
              <a:buNone/>
            </a:pPr>
            <a:r>
              <a:rPr lang="en-US" sz="1400" b="1">
                <a:solidFill>
                  <a:srgbClr val="D6D2E8"/>
                </a:solidFill>
                <a:effectLst/>
                <a:latin typeface="Segoe UI" panose="020B0502040204020203" pitchFamily="34" charset="0"/>
              </a:rPr>
              <a:t>CONNECTIONS</a:t>
            </a:r>
            <a:endParaRPr lang="en-US"/>
          </a:p>
        </p:txBody>
      </p:sp>
      <p:sp>
        <p:nvSpPr>
          <p:cNvPr id="237207" name="Arch AI Run a prompt">
            <a:extLst>
              <a:ext uri="{FF2B5EF4-FFF2-40B4-BE49-F238E27FC236}">
                <a16:creationId xmlns:a16="http://schemas.microsoft.com/office/drawing/2014/main" id="{7D683500-1095-23DB-53EA-BD3927CF964A}"/>
              </a:ext>
            </a:extLst>
          </p:cNvPr>
          <p:cNvSpPr/>
          <p:nvPr/>
        </p:nvSpPr>
        <p:spPr>
          <a:xfrm>
            <a:off x="2169600" y="4870000"/>
            <a:ext cx="2532800" cy="700000"/>
          </a:xfrm>
          <a:prstGeom prst="rect">
            <a:avLst/>
          </a:prstGeom>
          <a:solidFill>
            <a:srgbClr val="FFFFFF">
              <a:alpha val="7000"/>
            </a:srgbClr>
          </a:solidFill>
          <a:ln w="12700">
            <a:solidFill>
              <a:srgbClr val="FF00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Run a prompt (AI Builder)</a:t>
            </a:r>
          </a:p>
          <a:p>
            <a:pPr algn="ctr">
              <a:buNone/>
            </a:pPr>
            <a:r>
              <a:rPr lang="en-US" sz="1400">
                <a:solidFill>
                  <a:srgbClr val="D6D2E8"/>
                </a:solidFill>
                <a:effectLst/>
                <a:latin typeface="Segoe UI" panose="020B0502040204020203" pitchFamily="34" charset="0"/>
              </a:rPr>
              <a:t>classify the email, explain the impact</a:t>
            </a:r>
            <a:endParaRPr lang="en-US"/>
          </a:p>
        </p:txBody>
      </p:sp>
      <p:sp>
        <p:nvSpPr>
          <p:cNvPr id="237218" name="Arch Conn Power Apps MCP">
            <a:extLst>
              <a:ext uri="{FF2B5EF4-FFF2-40B4-BE49-F238E27FC236}">
                <a16:creationId xmlns:a16="http://schemas.microsoft.com/office/drawing/2014/main" id="{4BBE07E8-02EA-E386-CF21-ADDE22F94B3D}"/>
              </a:ext>
            </a:extLst>
          </p:cNvPr>
          <p:cNvSpPr/>
          <p:nvPr/>
        </p:nvSpPr>
        <p:spPr>
          <a:xfrm>
            <a:off x="8072400" y="4870000"/>
            <a:ext cx="1100000" cy="700000"/>
          </a:xfrm>
          <a:prstGeom prst="rect">
            <a:avLst/>
          </a:prstGeom>
          <a:solidFill>
            <a:srgbClr val="FFFFFF">
              <a:alpha val="7000"/>
            </a:srgbClr>
          </a:solidFill>
          <a:ln w="12700">
            <a:solidFill>
              <a:srgbClr val="FFFFFF">
                <a:alpha val="3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Power Apps MCP</a:t>
            </a:r>
          </a:p>
          <a:p>
            <a:pPr algn="ctr">
              <a:buNone/>
            </a:pPr>
            <a:r>
              <a:rPr lang="en-US" sz="100">
                <a:effectLst/>
              </a:rPr>
              <a:t> </a:t>
            </a:r>
            <a:endParaRPr lang="en-US"/>
          </a:p>
        </p:txBody>
      </p:sp>
      <p:sp>
        <p:nvSpPr>
          <p:cNvPr id="237230" name="Arch Conn Hosted browser">
            <a:extLst>
              <a:ext uri="{FF2B5EF4-FFF2-40B4-BE49-F238E27FC236}">
                <a16:creationId xmlns:a16="http://schemas.microsoft.com/office/drawing/2014/main" id="{1F4EC1EC-2094-A973-DFAA-D32C2040DD50}"/>
              </a:ext>
            </a:extLst>
          </p:cNvPr>
          <p:cNvSpPr/>
          <p:nvPr/>
        </p:nvSpPr>
        <p:spPr>
          <a:xfrm>
            <a:off x="9222400" y="4870000"/>
            <a:ext cx="880000" cy="700000"/>
          </a:xfrm>
          <a:prstGeom prst="rect">
            <a:avLst/>
          </a:prstGeom>
          <a:solidFill>
            <a:srgbClr val="FFFFFF">
              <a:alpha val="7000"/>
            </a:srgbClr>
          </a:solidFill>
          <a:ln w="12700">
            <a:solidFill>
              <a:srgbClr val="FFFFFF">
                <a:alpha val="3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Hosted browser</a:t>
            </a:r>
          </a:p>
          <a:p>
            <a:pPr algn="ctr">
              <a:buNone/>
            </a:pPr>
            <a:r>
              <a:rPr lang="en-US" sz="100">
                <a:effectLst/>
              </a:rPr>
              <a:t> </a:t>
            </a:r>
            <a:endParaRPr lang="en-US"/>
          </a:p>
        </p:txBody>
      </p:sp>
      <p:sp>
        <p:nvSpPr>
          <p:cNvPr id="237243" name="Arch Data Control Tower">
            <a:extLst>
              <a:ext uri="{FF2B5EF4-FFF2-40B4-BE49-F238E27FC236}">
                <a16:creationId xmlns:a16="http://schemas.microsoft.com/office/drawing/2014/main" id="{C8E789D3-A0A9-82CD-0993-D0D615F601AF}"/>
              </a:ext>
            </a:extLst>
          </p:cNvPr>
          <p:cNvSpPr/>
          <p:nvPr/>
        </p:nvSpPr>
        <p:spPr>
          <a:xfrm>
            <a:off x="5019600" y="5605000"/>
            <a:ext cx="5082800" cy="920000"/>
          </a:xfrm>
          <a:prstGeom prst="rect">
            <a:avLst/>
          </a:prstGeom>
          <a:solidFill>
            <a:srgbClr val="FFFFFF">
              <a:alpha val="7000"/>
            </a:srgbClr>
          </a:solidFill>
          <a:ln w="12700">
            <a:solidFill>
              <a:srgbClr val="3A7BFF">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Control Tower</a:t>
            </a:r>
          </a:p>
          <a:p>
            <a:pPr algn="ctr">
              <a:buNone/>
            </a:pPr>
            <a:r>
              <a:rPr lang="en-US" sz="1400">
                <a:solidFill>
                  <a:srgbClr val="D6D2E8"/>
                </a:solidFill>
                <a:effectLst/>
                <a:latin typeface="Segoe UI" panose="020B0502040204020203" pitchFamily="34" charset="0"/>
              </a:rPr>
              <a:t>disruption cases, impacted orders, recovery decisions, supplier offers, carrier operations and attempts, execution evidence (CP7), tasks</a:t>
            </a:r>
            <a:endParaRPr lang="en-US"/>
          </a:p>
        </p:txBody>
      </p:sp>
      <p:sp>
        <p:nvSpPr>
          <p:cNvPr id="237257" name="Arch ALM bar">
            <a:extLst>
              <a:ext uri="{FF2B5EF4-FFF2-40B4-BE49-F238E27FC236}">
                <a16:creationId xmlns:a16="http://schemas.microsoft.com/office/drawing/2014/main" id="{1AD1B5BB-714A-6088-1BF1-46C06EE7CE58}"/>
              </a:ext>
            </a:extLst>
          </p:cNvPr>
          <p:cNvSpPr/>
          <p:nvPr/>
        </p:nvSpPr>
        <p:spPr>
          <a:xfrm>
            <a:off x="10162400" y="1500000"/>
            <a:ext cx="1420000" cy="5025000"/>
          </a:xfrm>
          <a:prstGeom prst="rect">
            <a:avLst/>
          </a:prstGeom>
          <a:solidFill>
            <a:srgbClr val="82EBA6">
              <a:alpha val="14000"/>
            </a:srgbClr>
          </a:solidFill>
          <a:ln w="19050">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82EBA6"/>
                </a:solidFill>
                <a:effectLst/>
                <a:latin typeface="Segoe UI" panose="020B0502040204020203" pitchFamily="34" charset="0"/>
              </a:rPr>
              <a:t>ALM &amp; GOVERNANCE</a:t>
            </a:r>
          </a:p>
          <a:p>
            <a:pPr algn="ctr">
              <a:buNone/>
            </a:pPr>
            <a:r>
              <a:rPr lang="en-US" sz="800">
                <a:solidFill>
                  <a:srgbClr val="FFFFFF"/>
                </a:solidFill>
                <a:effectLst/>
                <a:latin typeface="Segoe UI" panose="020B0502040204020203" pitchFamily="34" charset="0"/>
              </a:rPr>
              <a:t> </a:t>
            </a:r>
          </a:p>
          <a:p>
            <a:pPr algn="ctr">
              <a:buNone/>
            </a:pPr>
            <a:r>
              <a:rPr lang="en-US" sz="1500">
                <a:solidFill>
                  <a:srgbClr val="FFFFFF"/>
                </a:solidFill>
                <a:effectLst/>
                <a:latin typeface="Segoe UI" panose="020B0502040204020203" pitchFamily="34" charset="0"/>
              </a:rPr>
              <a:t>Solution: PPCC Agentic Operations Control Tower</a:t>
            </a:r>
          </a:p>
          <a:p>
            <a:pPr algn="ctr">
              <a:buNone/>
            </a:pPr>
            <a:r>
              <a:rPr lang="en-US" sz="800">
                <a:solidFill>
                  <a:srgbClr val="FFFFFF"/>
                </a:solidFill>
                <a:effectLst/>
                <a:latin typeface="Segoe UI" panose="020B0502040204020203" pitchFamily="34" charset="0"/>
              </a:rPr>
              <a:t> </a:t>
            </a:r>
          </a:p>
          <a:p>
            <a:pPr algn="ctr">
              <a:buNone/>
            </a:pPr>
            <a:r>
              <a:rPr lang="en-US" sz="1500">
                <a:solidFill>
                  <a:srgbClr val="FFFFFF"/>
                </a:solidFill>
                <a:effectLst/>
                <a:latin typeface="Segoe UI" panose="020B0502040204020203" pitchFamily="34" charset="0"/>
              </a:rPr>
              <a:t>Power Platform pipelines (DEV → TARGET)</a:t>
            </a:r>
          </a:p>
          <a:p>
            <a:pPr algn="ctr">
              <a:buNone/>
            </a:pPr>
            <a:r>
              <a:rPr lang="en-US" sz="800">
                <a:solidFill>
                  <a:srgbClr val="FFFFFF"/>
                </a:solidFill>
                <a:effectLst/>
                <a:latin typeface="Segoe UI" panose="020B0502040204020203" pitchFamily="34" charset="0"/>
              </a:rPr>
              <a:t> </a:t>
            </a:r>
          </a:p>
          <a:p>
            <a:pPr algn="ctr">
              <a:buNone/>
            </a:pPr>
            <a:r>
              <a:rPr lang="en-US" sz="1500">
                <a:solidFill>
                  <a:srgbClr val="FFFFFF"/>
                </a:solidFill>
                <a:effectLst/>
                <a:latin typeface="Segoe UI" panose="020B0502040204020203" pitchFamily="34" charset="0"/>
              </a:rPr>
              <a:t>Restricted tools</a:t>
            </a:r>
          </a:p>
          <a:p>
            <a:pPr algn="ctr">
              <a:buNone/>
            </a:pPr>
            <a:r>
              <a:rPr lang="en-US" sz="800">
                <a:solidFill>
                  <a:srgbClr val="FFFFFF"/>
                </a:solidFill>
                <a:effectLst/>
                <a:latin typeface="Segoe UI" panose="020B0502040204020203" pitchFamily="34" charset="0"/>
              </a:rPr>
              <a:t> </a:t>
            </a:r>
          </a:p>
          <a:p>
            <a:pPr algn="ctr">
              <a:buNone/>
            </a:pPr>
            <a:r>
              <a:rPr lang="en-US" sz="1500">
                <a:solidFill>
                  <a:srgbClr val="FFFFFF"/>
                </a:solidFill>
                <a:effectLst/>
                <a:latin typeface="Segoe UI" panose="020B0502040204020203" pitchFamily="34" charset="0"/>
              </a:rPr>
              <a:t>Approval boundary</a:t>
            </a:r>
            <a:endParaRPr lang="en-US"/>
          </a:p>
        </p:txBody>
      </p:sp>
    </p:spTree>
    <p:extLst>
      <p:ext uri="{BB962C8B-B14F-4D97-AF65-F5344CB8AC3E}">
        <p14:creationId xmlns:p14="http://schemas.microsoft.com/office/powerpoint/2010/main" val="1521856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89692" name="Rectangle: Rounded Corners 89691">
            <a:extLst>
              <a:ext uri="{FF2B5EF4-FFF2-40B4-BE49-F238E27FC236}">
                <a16:creationId xmlns:a16="http://schemas.microsoft.com/office/drawing/2014/main" id="{A17A1BD0-9C77-8C5A-9FC1-01B91796C9D5}"/>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89821" name="Rectangle 89820">
            <a:extLst>
              <a:ext uri="{FF2B5EF4-FFF2-40B4-BE49-F238E27FC236}">
                <a16:creationId xmlns:a16="http://schemas.microsoft.com/office/drawing/2014/main" id="{61E40691-0693-7F87-1A82-2F3E1D820424}"/>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The authority boundary: prepare · decide · execute</a:t>
            </a:r>
          </a:p>
          <a:p>
            <a:pPr algn="l">
              <a:buNone/>
            </a:pPr>
            <a:r>
              <a:rPr lang="en-US" sz="100">
                <a:effectLst/>
              </a:rPr>
              <a:t> </a:t>
            </a:r>
            <a:endParaRPr lang="en-US"/>
          </a:p>
        </p:txBody>
      </p:sp>
      <p:sp>
        <p:nvSpPr>
          <p:cNvPr id="89951" name="Rectangle 89950">
            <a:extLst>
              <a:ext uri="{FF2B5EF4-FFF2-40B4-BE49-F238E27FC236}">
                <a16:creationId xmlns:a16="http://schemas.microsoft.com/office/drawing/2014/main" id="{589E09FA-6EC5-1FB6-7AAC-48731CD573A4}"/>
              </a:ext>
            </a:extLst>
          </p:cNvPr>
          <p:cNvSpPr/>
          <p:nvPr/>
        </p:nvSpPr>
        <p:spPr>
          <a:xfrm>
            <a:off x="609600" y="1580000"/>
            <a:ext cx="3190000" cy="37100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82" name="Rectangle 90081">
            <a:extLst>
              <a:ext uri="{FF2B5EF4-FFF2-40B4-BE49-F238E27FC236}">
                <a16:creationId xmlns:a16="http://schemas.microsoft.com/office/drawing/2014/main" id="{14B3DE84-9905-ACFE-76A8-F30147258EE4}"/>
              </a:ext>
            </a:extLst>
          </p:cNvPr>
          <p:cNvSpPr/>
          <p:nvPr/>
        </p:nvSpPr>
        <p:spPr>
          <a:xfrm>
            <a:off x="759600" y="1680000"/>
            <a:ext cx="289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THE SYSTEM MAY</a:t>
            </a:r>
          </a:p>
          <a:p>
            <a:pPr algn="l">
              <a:buNone/>
            </a:pPr>
            <a:r>
              <a:rPr lang="en-US" sz="2800" b="1">
                <a:solidFill>
                  <a:srgbClr val="FFFFFF"/>
                </a:solidFill>
                <a:effectLst/>
                <a:latin typeface="Segoe UI" panose="020B0502040204020203" pitchFamily="34" charset="0"/>
              </a:rPr>
              <a:t>PREPARE</a:t>
            </a:r>
            <a:endParaRPr lang="en-US"/>
          </a:p>
        </p:txBody>
      </p:sp>
      <p:sp>
        <p:nvSpPr>
          <p:cNvPr id="90214" name="Rectangle 90213">
            <a:extLst>
              <a:ext uri="{FF2B5EF4-FFF2-40B4-BE49-F238E27FC236}">
                <a16:creationId xmlns:a16="http://schemas.microsoft.com/office/drawing/2014/main" id="{CBECF951-8C58-7CEB-E236-F903933E5DF7}"/>
              </a:ext>
            </a:extLst>
          </p:cNvPr>
          <p:cNvSpPr/>
          <p:nvPr/>
        </p:nvSpPr>
        <p:spPr>
          <a:xfrm>
            <a:off x="759600" y="252160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47" name="Rectangle 90346">
            <a:extLst>
              <a:ext uri="{FF2B5EF4-FFF2-40B4-BE49-F238E27FC236}">
                <a16:creationId xmlns:a16="http://schemas.microsoft.com/office/drawing/2014/main" id="{C7DD76EA-1BDE-5894-1D6F-FA14C9A8EF76}"/>
              </a:ext>
            </a:extLst>
          </p:cNvPr>
          <p:cNvSpPr/>
          <p:nvPr/>
        </p:nvSpPr>
        <p:spPr>
          <a:xfrm>
            <a:off x="948160" y="2370000"/>
            <a:ext cx="27014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Detect the delay</a:t>
            </a:r>
          </a:p>
          <a:p>
            <a:pPr algn="l">
              <a:buNone/>
            </a:pPr>
            <a:r>
              <a:rPr lang="en-US" sz="100">
                <a:effectLst/>
              </a:rPr>
              <a:t> </a:t>
            </a:r>
            <a:endParaRPr lang="en-US"/>
          </a:p>
        </p:txBody>
      </p:sp>
      <p:sp>
        <p:nvSpPr>
          <p:cNvPr id="90481" name="Rectangle 90480">
            <a:extLst>
              <a:ext uri="{FF2B5EF4-FFF2-40B4-BE49-F238E27FC236}">
                <a16:creationId xmlns:a16="http://schemas.microsoft.com/office/drawing/2014/main" id="{4A3A3B0B-B4D1-3E27-359F-88C13E4F645E}"/>
              </a:ext>
            </a:extLst>
          </p:cNvPr>
          <p:cNvSpPr/>
          <p:nvPr/>
        </p:nvSpPr>
        <p:spPr>
          <a:xfrm>
            <a:off x="759600" y="287148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16" name="Rectangle 90615">
            <a:extLst>
              <a:ext uri="{FF2B5EF4-FFF2-40B4-BE49-F238E27FC236}">
                <a16:creationId xmlns:a16="http://schemas.microsoft.com/office/drawing/2014/main" id="{4CE9957C-9841-9819-7BF9-70119FD470A4}"/>
              </a:ext>
            </a:extLst>
          </p:cNvPr>
          <p:cNvSpPr/>
          <p:nvPr/>
        </p:nvSpPr>
        <p:spPr>
          <a:xfrm>
            <a:off x="948160" y="2719880"/>
            <a:ext cx="27014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Calculate impact</a:t>
            </a:r>
          </a:p>
          <a:p>
            <a:pPr algn="l">
              <a:buNone/>
            </a:pPr>
            <a:r>
              <a:rPr lang="en-US" sz="100">
                <a:effectLst/>
              </a:rPr>
              <a:t> </a:t>
            </a:r>
            <a:endParaRPr lang="en-US"/>
          </a:p>
        </p:txBody>
      </p:sp>
      <p:sp>
        <p:nvSpPr>
          <p:cNvPr id="90752" name="Rectangle 90751">
            <a:extLst>
              <a:ext uri="{FF2B5EF4-FFF2-40B4-BE49-F238E27FC236}">
                <a16:creationId xmlns:a16="http://schemas.microsoft.com/office/drawing/2014/main" id="{10DE4DDD-2629-330E-97CB-2978FB9B5708}"/>
              </a:ext>
            </a:extLst>
          </p:cNvPr>
          <p:cNvSpPr/>
          <p:nvPr/>
        </p:nvSpPr>
        <p:spPr>
          <a:xfrm>
            <a:off x="759600" y="322136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89" name="Rectangle 90888">
            <a:extLst>
              <a:ext uri="{FF2B5EF4-FFF2-40B4-BE49-F238E27FC236}">
                <a16:creationId xmlns:a16="http://schemas.microsoft.com/office/drawing/2014/main" id="{5A1CCCA4-BA71-676A-CCDF-2747173A183D}"/>
              </a:ext>
            </a:extLst>
          </p:cNvPr>
          <p:cNvSpPr/>
          <p:nvPr/>
        </p:nvSpPr>
        <p:spPr>
          <a:xfrm>
            <a:off x="948160" y="3069760"/>
            <a:ext cx="27014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Apply policy</a:t>
            </a:r>
          </a:p>
          <a:p>
            <a:pPr algn="l">
              <a:buNone/>
            </a:pPr>
            <a:r>
              <a:rPr lang="en-US" sz="100">
                <a:effectLst/>
              </a:rPr>
              <a:t> </a:t>
            </a:r>
            <a:endParaRPr lang="en-US"/>
          </a:p>
        </p:txBody>
      </p:sp>
      <p:sp>
        <p:nvSpPr>
          <p:cNvPr id="91027" name="Rectangle 91026">
            <a:extLst>
              <a:ext uri="{FF2B5EF4-FFF2-40B4-BE49-F238E27FC236}">
                <a16:creationId xmlns:a16="http://schemas.microsoft.com/office/drawing/2014/main" id="{B1D4A46B-88B5-EECE-F502-CE49E0C035D0}"/>
              </a:ext>
            </a:extLst>
          </p:cNvPr>
          <p:cNvSpPr/>
          <p:nvPr/>
        </p:nvSpPr>
        <p:spPr>
          <a:xfrm>
            <a:off x="759600" y="357124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66" name="Rectangle 91165">
            <a:extLst>
              <a:ext uri="{FF2B5EF4-FFF2-40B4-BE49-F238E27FC236}">
                <a16:creationId xmlns:a16="http://schemas.microsoft.com/office/drawing/2014/main" id="{2FEF7C79-500F-4E57-8665-9AA22AE5CE07}"/>
              </a:ext>
            </a:extLst>
          </p:cNvPr>
          <p:cNvSpPr/>
          <p:nvPr/>
        </p:nvSpPr>
        <p:spPr>
          <a:xfrm>
            <a:off x="948160" y="3419640"/>
            <a:ext cx="27014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Rank work</a:t>
            </a:r>
          </a:p>
          <a:p>
            <a:pPr algn="l">
              <a:buNone/>
            </a:pPr>
            <a:r>
              <a:rPr lang="en-US" sz="100">
                <a:effectLst/>
              </a:rPr>
              <a:t> </a:t>
            </a:r>
            <a:endParaRPr lang="en-US"/>
          </a:p>
        </p:txBody>
      </p:sp>
      <p:sp>
        <p:nvSpPr>
          <p:cNvPr id="91306" name="Rectangle 91305">
            <a:extLst>
              <a:ext uri="{FF2B5EF4-FFF2-40B4-BE49-F238E27FC236}">
                <a16:creationId xmlns:a16="http://schemas.microsoft.com/office/drawing/2014/main" id="{6D971206-362C-8085-0133-B3BDB6B9D8FD}"/>
              </a:ext>
            </a:extLst>
          </p:cNvPr>
          <p:cNvSpPr/>
          <p:nvPr/>
        </p:nvSpPr>
        <p:spPr>
          <a:xfrm>
            <a:off x="759600" y="392112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47" name="Rectangle 91446">
            <a:extLst>
              <a:ext uri="{FF2B5EF4-FFF2-40B4-BE49-F238E27FC236}">
                <a16:creationId xmlns:a16="http://schemas.microsoft.com/office/drawing/2014/main" id="{27375E27-4759-8655-F0B0-4F86C32A34D6}"/>
              </a:ext>
            </a:extLst>
          </p:cNvPr>
          <p:cNvSpPr/>
          <p:nvPr/>
        </p:nvSpPr>
        <p:spPr>
          <a:xfrm>
            <a:off x="948160" y="3769520"/>
            <a:ext cx="27014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Draft communications</a:t>
            </a:r>
          </a:p>
          <a:p>
            <a:pPr algn="l">
              <a:buNone/>
            </a:pPr>
            <a:r>
              <a:rPr lang="en-US" sz="100">
                <a:effectLst/>
              </a:rPr>
              <a:t> </a:t>
            </a:r>
            <a:endParaRPr lang="en-US"/>
          </a:p>
        </p:txBody>
      </p:sp>
      <p:sp>
        <p:nvSpPr>
          <p:cNvPr id="91589" name="Arrow: Right 91588">
            <a:extLst>
              <a:ext uri="{FF2B5EF4-FFF2-40B4-BE49-F238E27FC236}">
                <a16:creationId xmlns:a16="http://schemas.microsoft.com/office/drawing/2014/main" id="{15686718-9307-E186-2AF9-C028007CE239}"/>
              </a:ext>
            </a:extLst>
          </p:cNvPr>
          <p:cNvSpPr/>
          <p:nvPr/>
        </p:nvSpPr>
        <p:spPr>
          <a:xfrm>
            <a:off x="3839600" y="3285000"/>
            <a:ext cx="200000" cy="300000"/>
          </a:xfrm>
          <a:prstGeom prst="rightArrow">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32" name="Rectangle 91731">
            <a:extLst>
              <a:ext uri="{FF2B5EF4-FFF2-40B4-BE49-F238E27FC236}">
                <a16:creationId xmlns:a16="http://schemas.microsoft.com/office/drawing/2014/main" id="{EAC84453-03C6-14E6-72F5-63B8BC5B1950}"/>
              </a:ext>
            </a:extLst>
          </p:cNvPr>
          <p:cNvSpPr/>
          <p:nvPr/>
        </p:nvSpPr>
        <p:spPr>
          <a:xfrm>
            <a:off x="4079600" y="1580000"/>
            <a:ext cx="3390000" cy="3710000"/>
          </a:xfrm>
          <a:prstGeom prst="rect">
            <a:avLst/>
          </a:prstGeom>
          <a:solidFill>
            <a:srgbClr val="FFFFFF">
              <a:alpha val="12000"/>
            </a:srgbClr>
          </a:solidFill>
          <a:ln w="28575">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76" name="Rectangle 91875">
            <a:extLst>
              <a:ext uri="{FF2B5EF4-FFF2-40B4-BE49-F238E27FC236}">
                <a16:creationId xmlns:a16="http://schemas.microsoft.com/office/drawing/2014/main" id="{ACDF870D-53CB-3DBF-633D-B2109A772E99}"/>
              </a:ext>
            </a:extLst>
          </p:cNvPr>
          <p:cNvSpPr/>
          <p:nvPr/>
        </p:nvSpPr>
        <p:spPr>
          <a:xfrm>
            <a:off x="4229600" y="1680000"/>
            <a:ext cx="309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A PERSON MUST</a:t>
            </a:r>
          </a:p>
          <a:p>
            <a:pPr algn="l">
              <a:buNone/>
            </a:pPr>
            <a:r>
              <a:rPr lang="en-US" sz="2800" b="1">
                <a:solidFill>
                  <a:srgbClr val="FFFFFF"/>
                </a:solidFill>
                <a:effectLst/>
                <a:latin typeface="Segoe UI" panose="020B0502040204020203" pitchFamily="34" charset="0"/>
              </a:rPr>
              <a:t>DECIDE</a:t>
            </a:r>
            <a:endParaRPr lang="en-US"/>
          </a:p>
        </p:txBody>
      </p:sp>
      <p:sp>
        <p:nvSpPr>
          <p:cNvPr id="92021" name="Rectangle 92020">
            <a:extLst>
              <a:ext uri="{FF2B5EF4-FFF2-40B4-BE49-F238E27FC236}">
                <a16:creationId xmlns:a16="http://schemas.microsoft.com/office/drawing/2014/main" id="{32E36F7E-3B23-26A7-292F-6572F8E15A0C}"/>
              </a:ext>
            </a:extLst>
          </p:cNvPr>
          <p:cNvSpPr/>
          <p:nvPr/>
        </p:nvSpPr>
        <p:spPr>
          <a:xfrm>
            <a:off x="4229600" y="252160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67" name="Rectangle 92166">
            <a:extLst>
              <a:ext uri="{FF2B5EF4-FFF2-40B4-BE49-F238E27FC236}">
                <a16:creationId xmlns:a16="http://schemas.microsoft.com/office/drawing/2014/main" id="{7DFD1871-ECD8-577A-5623-12B0F8673494}"/>
              </a:ext>
            </a:extLst>
          </p:cNvPr>
          <p:cNvSpPr/>
          <p:nvPr/>
        </p:nvSpPr>
        <p:spPr>
          <a:xfrm>
            <a:off x="4418160" y="2370000"/>
            <a:ext cx="2901440" cy="1029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Approve, reject, or request revision for one exact recovery action</a:t>
            </a:r>
          </a:p>
          <a:p>
            <a:pPr algn="l">
              <a:buNone/>
            </a:pPr>
            <a:r>
              <a:rPr lang="en-US" sz="100">
                <a:effectLst/>
              </a:rPr>
              <a:t> </a:t>
            </a:r>
            <a:endParaRPr lang="en-US"/>
          </a:p>
        </p:txBody>
      </p:sp>
      <p:sp>
        <p:nvSpPr>
          <p:cNvPr id="92314" name="Arrow: Right 92313">
            <a:extLst>
              <a:ext uri="{FF2B5EF4-FFF2-40B4-BE49-F238E27FC236}">
                <a16:creationId xmlns:a16="http://schemas.microsoft.com/office/drawing/2014/main" id="{829A452A-1867-8AA1-4222-C100572A82A1}"/>
              </a:ext>
            </a:extLst>
          </p:cNvPr>
          <p:cNvSpPr/>
          <p:nvPr/>
        </p:nvSpPr>
        <p:spPr>
          <a:xfrm>
            <a:off x="7509600" y="3285000"/>
            <a:ext cx="200000" cy="300000"/>
          </a:xfrm>
          <a:prstGeom prst="rightArrow">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62" name="Rectangle 92461">
            <a:extLst>
              <a:ext uri="{FF2B5EF4-FFF2-40B4-BE49-F238E27FC236}">
                <a16:creationId xmlns:a16="http://schemas.microsoft.com/office/drawing/2014/main" id="{C555BC4E-6E93-4581-5F03-F85D90A1CF2C}"/>
              </a:ext>
            </a:extLst>
          </p:cNvPr>
          <p:cNvSpPr/>
          <p:nvPr/>
        </p:nvSpPr>
        <p:spPr>
          <a:xfrm>
            <a:off x="7749600" y="1580000"/>
            <a:ext cx="3832800" cy="37100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11" name="Rectangle 92610">
            <a:extLst>
              <a:ext uri="{FF2B5EF4-FFF2-40B4-BE49-F238E27FC236}">
                <a16:creationId xmlns:a16="http://schemas.microsoft.com/office/drawing/2014/main" id="{49DBC775-30D6-7EB8-A06D-61902247877D}"/>
              </a:ext>
            </a:extLst>
          </p:cNvPr>
          <p:cNvSpPr/>
          <p:nvPr/>
        </p:nvSpPr>
        <p:spPr>
          <a:xfrm>
            <a:off x="7899600" y="1680000"/>
            <a:ext cx="35328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THE SYSTEM MAY, AFTER APPROVAL</a:t>
            </a:r>
          </a:p>
          <a:p>
            <a:pPr algn="l">
              <a:buNone/>
            </a:pPr>
            <a:r>
              <a:rPr lang="en-US" sz="2800" b="1">
                <a:solidFill>
                  <a:srgbClr val="FFFFFF"/>
                </a:solidFill>
                <a:effectLst/>
                <a:latin typeface="Segoe UI" panose="020B0502040204020203" pitchFamily="34" charset="0"/>
              </a:rPr>
              <a:t>EXECUTE</a:t>
            </a:r>
            <a:endParaRPr lang="en-US"/>
          </a:p>
        </p:txBody>
      </p:sp>
      <p:sp>
        <p:nvSpPr>
          <p:cNvPr id="92761" name="Rectangle 92760">
            <a:extLst>
              <a:ext uri="{FF2B5EF4-FFF2-40B4-BE49-F238E27FC236}">
                <a16:creationId xmlns:a16="http://schemas.microsoft.com/office/drawing/2014/main" id="{C13B42D7-1FF6-ED82-A4A1-9D6396FDDEC0}"/>
              </a:ext>
            </a:extLst>
          </p:cNvPr>
          <p:cNvSpPr/>
          <p:nvPr/>
        </p:nvSpPr>
        <p:spPr>
          <a:xfrm>
            <a:off x="7899600" y="252160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12" name="Rectangle 92911">
            <a:extLst>
              <a:ext uri="{FF2B5EF4-FFF2-40B4-BE49-F238E27FC236}">
                <a16:creationId xmlns:a16="http://schemas.microsoft.com/office/drawing/2014/main" id="{03B69C01-471C-0B0C-A9FC-A69F6CB9FBE3}"/>
              </a:ext>
            </a:extLst>
          </p:cNvPr>
          <p:cNvSpPr/>
          <p:nvPr/>
        </p:nvSpPr>
        <p:spPr>
          <a:xfrm>
            <a:off x="8088160" y="2370000"/>
            <a:ext cx="33442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Update Dataverse</a:t>
            </a:r>
          </a:p>
          <a:p>
            <a:pPr algn="l">
              <a:buNone/>
            </a:pPr>
            <a:r>
              <a:rPr lang="en-US" sz="100">
                <a:effectLst/>
              </a:rPr>
              <a:t> </a:t>
            </a:r>
            <a:endParaRPr lang="en-US"/>
          </a:p>
        </p:txBody>
      </p:sp>
      <p:sp>
        <p:nvSpPr>
          <p:cNvPr id="93064" name="Rectangle 93063">
            <a:extLst>
              <a:ext uri="{FF2B5EF4-FFF2-40B4-BE49-F238E27FC236}">
                <a16:creationId xmlns:a16="http://schemas.microsoft.com/office/drawing/2014/main" id="{63B2503C-A89F-CD90-671E-91DB94856736}"/>
              </a:ext>
            </a:extLst>
          </p:cNvPr>
          <p:cNvSpPr/>
          <p:nvPr/>
        </p:nvSpPr>
        <p:spPr>
          <a:xfrm>
            <a:off x="7899600" y="287148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17" name="Rectangle 93216">
            <a:extLst>
              <a:ext uri="{FF2B5EF4-FFF2-40B4-BE49-F238E27FC236}">
                <a16:creationId xmlns:a16="http://schemas.microsoft.com/office/drawing/2014/main" id="{77476E30-07C3-32C9-5A8D-065862F41E8F}"/>
              </a:ext>
            </a:extLst>
          </p:cNvPr>
          <p:cNvSpPr/>
          <p:nvPr/>
        </p:nvSpPr>
        <p:spPr>
          <a:xfrm>
            <a:off x="8088160" y="2719880"/>
            <a:ext cx="3344240" cy="719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Register the carrier contact with Computer Use</a:t>
            </a:r>
          </a:p>
          <a:p>
            <a:pPr algn="l">
              <a:buNone/>
            </a:pPr>
            <a:r>
              <a:rPr lang="en-US" sz="100">
                <a:effectLst/>
              </a:rPr>
              <a:t> </a:t>
            </a:r>
            <a:endParaRPr lang="en-US"/>
          </a:p>
        </p:txBody>
      </p:sp>
      <p:sp>
        <p:nvSpPr>
          <p:cNvPr id="93371" name="Rectangle 93370">
            <a:extLst>
              <a:ext uri="{FF2B5EF4-FFF2-40B4-BE49-F238E27FC236}">
                <a16:creationId xmlns:a16="http://schemas.microsoft.com/office/drawing/2014/main" id="{8675711A-58B5-5255-1FE5-1A56EB0DF67F}"/>
              </a:ext>
            </a:extLst>
          </p:cNvPr>
          <p:cNvSpPr/>
          <p:nvPr/>
        </p:nvSpPr>
        <p:spPr>
          <a:xfrm>
            <a:off x="7899600" y="353124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82" name="Rectangle 93681">
            <a:extLst>
              <a:ext uri="{FF2B5EF4-FFF2-40B4-BE49-F238E27FC236}">
                <a16:creationId xmlns:a16="http://schemas.microsoft.com/office/drawing/2014/main" id="{9CAB4B6D-F05F-69FB-5E33-26897DECEC88}"/>
              </a:ext>
            </a:extLst>
          </p:cNvPr>
          <p:cNvSpPr/>
          <p:nvPr/>
        </p:nvSpPr>
        <p:spPr>
          <a:xfrm>
            <a:off x="7899600" y="450088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39" name="Rectangle 93838">
            <a:extLst>
              <a:ext uri="{FF2B5EF4-FFF2-40B4-BE49-F238E27FC236}">
                <a16:creationId xmlns:a16="http://schemas.microsoft.com/office/drawing/2014/main" id="{482CE237-A243-930B-719E-91079E6C6A84}"/>
              </a:ext>
            </a:extLst>
          </p:cNvPr>
          <p:cNvSpPr/>
          <p:nvPr/>
        </p:nvSpPr>
        <p:spPr>
          <a:xfrm>
            <a:off x="8088160" y="4349280"/>
            <a:ext cx="3344240" cy="409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Resolve the case</a:t>
            </a:r>
          </a:p>
          <a:p>
            <a:pPr algn="l">
              <a:buNone/>
            </a:pPr>
            <a:r>
              <a:rPr lang="en-US" sz="100">
                <a:effectLst/>
              </a:rPr>
              <a:t> </a:t>
            </a:r>
            <a:endParaRPr lang="en-US"/>
          </a:p>
        </p:txBody>
      </p:sp>
      <p:sp>
        <p:nvSpPr>
          <p:cNvPr id="93997" name="Rectangle 93996">
            <a:extLst>
              <a:ext uri="{FF2B5EF4-FFF2-40B4-BE49-F238E27FC236}">
                <a16:creationId xmlns:a16="http://schemas.microsoft.com/office/drawing/2014/main" id="{1E0C4FBE-7CD9-8DDA-A4E5-9C62BAC1043D}"/>
              </a:ext>
            </a:extLst>
          </p:cNvPr>
          <p:cNvSpPr/>
          <p:nvPr/>
        </p:nvSpPr>
        <p:spPr>
          <a:xfrm>
            <a:off x="609600" y="5430000"/>
            <a:ext cx="2608200" cy="1000000"/>
          </a:xfrm>
          <a:prstGeom prst="rect">
            <a:avLst/>
          </a:prstGeom>
          <a:solidFill>
            <a:srgbClr val="3A7B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 recommendation is not approval</a:t>
            </a:r>
          </a:p>
          <a:p>
            <a:pPr algn="l">
              <a:buNone/>
            </a:pPr>
            <a:r>
              <a:rPr lang="en-US" sz="100">
                <a:effectLst/>
              </a:rPr>
              <a:t> </a:t>
            </a:r>
            <a:endParaRPr lang="en-US"/>
          </a:p>
        </p:txBody>
      </p:sp>
      <p:sp>
        <p:nvSpPr>
          <p:cNvPr id="94156" name="Rectangle 94155">
            <a:extLst>
              <a:ext uri="{FF2B5EF4-FFF2-40B4-BE49-F238E27FC236}">
                <a16:creationId xmlns:a16="http://schemas.microsoft.com/office/drawing/2014/main" id="{5FCDCA5F-052C-4723-2D12-3D8DFBFFEA27}"/>
              </a:ext>
            </a:extLst>
          </p:cNvPr>
          <p:cNvSpPr/>
          <p:nvPr/>
        </p:nvSpPr>
        <p:spPr>
          <a:xfrm>
            <a:off x="3397800" y="5430000"/>
            <a:ext cx="2608200" cy="1000000"/>
          </a:xfrm>
          <a:prstGeom prst="rect">
            <a:avLst/>
          </a:prstGeom>
          <a:solidFill>
            <a:srgbClr val="3A7B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Approval is not execution evidence</a:t>
            </a:r>
          </a:p>
          <a:p>
            <a:pPr algn="l">
              <a:buNone/>
            </a:pPr>
            <a:r>
              <a:rPr lang="en-US" sz="100">
                <a:effectLst/>
              </a:rPr>
              <a:t> </a:t>
            </a:r>
            <a:endParaRPr lang="en-US"/>
          </a:p>
        </p:txBody>
      </p:sp>
      <p:sp>
        <p:nvSpPr>
          <p:cNvPr id="94477" name="Rectangle 94476">
            <a:extLst>
              <a:ext uri="{FF2B5EF4-FFF2-40B4-BE49-F238E27FC236}">
                <a16:creationId xmlns:a16="http://schemas.microsoft.com/office/drawing/2014/main" id="{592B9098-3FD3-075A-C63E-F3F662089715}"/>
              </a:ext>
            </a:extLst>
          </p:cNvPr>
          <p:cNvSpPr/>
          <p:nvPr/>
        </p:nvSpPr>
        <p:spPr>
          <a:xfrm>
            <a:off x="8974200" y="5430000"/>
            <a:ext cx="2608200" cy="1000000"/>
          </a:xfrm>
          <a:prstGeom prst="rect">
            <a:avLst/>
          </a:prstGeom>
          <a:solidFill>
            <a:srgbClr val="3A7B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An ambiguous result is not permission to retry</a:t>
            </a:r>
          </a:p>
          <a:p>
            <a:pPr algn="l">
              <a:buNone/>
            </a:pPr>
            <a:r>
              <a:rPr lang="en-US" sz="100">
                <a:effectLst/>
              </a:rPr>
              <a:t> </a:t>
            </a:r>
            <a:endParaRPr lang="en-US"/>
          </a:p>
        </p:txBody>
      </p:sp>
      <p:sp>
        <p:nvSpPr>
          <p:cNvPr id="237286" name="Rectangle 237285">
            <a:extLst>
              <a:ext uri="{FF2B5EF4-FFF2-40B4-BE49-F238E27FC236}">
                <a16:creationId xmlns:a16="http://schemas.microsoft.com/office/drawing/2014/main" id="{2CBB437B-0EE0-C466-C941-A7F9E3ABE5A8}"/>
              </a:ext>
            </a:extLst>
          </p:cNvPr>
          <p:cNvSpPr/>
          <p:nvPr/>
        </p:nvSpPr>
        <p:spPr>
          <a:xfrm>
            <a:off x="4229600" y="3491240"/>
            <a:ext cx="106680" cy="10668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288" name="Rectangle 237287">
            <a:extLst>
              <a:ext uri="{FF2B5EF4-FFF2-40B4-BE49-F238E27FC236}">
                <a16:creationId xmlns:a16="http://schemas.microsoft.com/office/drawing/2014/main" id="{86660A10-DA2C-E5AC-6015-B8883796D5EA}"/>
              </a:ext>
            </a:extLst>
          </p:cNvPr>
          <p:cNvSpPr/>
          <p:nvPr/>
        </p:nvSpPr>
        <p:spPr>
          <a:xfrm>
            <a:off x="4418160" y="3339640"/>
            <a:ext cx="2901440" cy="1029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Persisted in the Control Tower — an Agent feed task is not approval</a:t>
            </a:r>
          </a:p>
          <a:p>
            <a:pPr algn="l">
              <a:buNone/>
            </a:pPr>
            <a:r>
              <a:rPr lang="en-US" sz="100">
                <a:effectLst/>
              </a:rPr>
              <a:t> </a:t>
            </a:r>
            <a:endParaRPr lang="en-US"/>
          </a:p>
        </p:txBody>
      </p:sp>
      <p:sp>
        <p:nvSpPr>
          <p:cNvPr id="237291" name="Rectangle 237290">
            <a:extLst>
              <a:ext uri="{FF2B5EF4-FFF2-40B4-BE49-F238E27FC236}">
                <a16:creationId xmlns:a16="http://schemas.microsoft.com/office/drawing/2014/main" id="{D2D0FA7B-2C5F-CC4C-F15E-2C7B5A9BFA20}"/>
              </a:ext>
            </a:extLst>
          </p:cNvPr>
          <p:cNvSpPr/>
          <p:nvPr/>
        </p:nvSpPr>
        <p:spPr>
          <a:xfrm>
            <a:off x="8088160" y="3379640"/>
            <a:ext cx="3344240" cy="1029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Write CP7 evidence — only for a verified, correlated Computer Use Activity</a:t>
            </a:r>
          </a:p>
          <a:p>
            <a:pPr algn="l">
              <a:buNone/>
            </a:pPr>
            <a:r>
              <a:rPr lang="en-US" sz="100">
                <a:effectLst/>
              </a:rPr>
              <a:t> </a:t>
            </a:r>
            <a:endParaRPr lang="en-US"/>
          </a:p>
        </p:txBody>
      </p:sp>
      <p:sp>
        <p:nvSpPr>
          <p:cNvPr id="237295" name="Boundary tag Modules">
            <a:extLst>
              <a:ext uri="{FF2B5EF4-FFF2-40B4-BE49-F238E27FC236}">
                <a16:creationId xmlns:a16="http://schemas.microsoft.com/office/drawing/2014/main" id="{D59DC9DB-43F8-0EC1-6AD3-4FAA60CF4500}"/>
              </a:ext>
            </a:extLst>
          </p:cNvPr>
          <p:cNvSpPr/>
          <p:nvPr/>
        </p:nvSpPr>
        <p:spPr>
          <a:xfrm>
            <a:off x="759600" y="4719160"/>
            <a:ext cx="2890000" cy="53383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Modules 3–4: cloud flows, AI prompts, agents</a:t>
            </a:r>
          </a:p>
          <a:p>
            <a:pPr algn="l">
              <a:buNone/>
            </a:pPr>
            <a:r>
              <a:rPr lang="en-US" sz="100">
                <a:effectLst/>
              </a:rPr>
              <a:t> </a:t>
            </a:r>
            <a:endParaRPr lang="en-US"/>
          </a:p>
        </p:txBody>
      </p:sp>
      <p:sp>
        <p:nvSpPr>
          <p:cNvPr id="237300" name="Boundary tag Module 6">
            <a:extLst>
              <a:ext uri="{FF2B5EF4-FFF2-40B4-BE49-F238E27FC236}">
                <a16:creationId xmlns:a16="http://schemas.microsoft.com/office/drawing/2014/main" id="{4184F31C-96D5-2EB5-49D2-45306BAEAD8B}"/>
              </a:ext>
            </a:extLst>
          </p:cNvPr>
          <p:cNvSpPr/>
          <p:nvPr/>
        </p:nvSpPr>
        <p:spPr>
          <a:xfrm>
            <a:off x="4229600" y="4719160"/>
            <a:ext cx="3090000" cy="453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a:solidFill>
                  <a:srgbClr val="6E9BFF"/>
                </a:solidFill>
                <a:effectLst/>
                <a:latin typeface="Segoe UI"/>
                <a:cs typeface="Segoe UI"/>
              </a:rPr>
              <a:t>Module 6: </a:t>
            </a:r>
            <a:r>
              <a:rPr lang="en-US" sz="1400" b="1">
                <a:solidFill>
                  <a:srgbClr val="6E9BFF"/>
                </a:solidFill>
                <a:latin typeface="Segoe UI"/>
                <a:cs typeface="Segoe UI"/>
              </a:rPr>
              <a:t>deployment destination</a:t>
            </a:r>
            <a:endParaRPr lang="en-US" sz="1400" b="1">
              <a:solidFill>
                <a:srgbClr val="6E9BFF"/>
              </a:solidFill>
              <a:effectLst/>
              <a:latin typeface="Segoe UI" panose="020B0502040204020203" pitchFamily="34" charset="0"/>
            </a:endParaRPr>
          </a:p>
        </p:txBody>
      </p:sp>
      <p:sp>
        <p:nvSpPr>
          <p:cNvPr id="237306" name="Boundary tag Module 5">
            <a:extLst>
              <a:ext uri="{FF2B5EF4-FFF2-40B4-BE49-F238E27FC236}">
                <a16:creationId xmlns:a16="http://schemas.microsoft.com/office/drawing/2014/main" id="{B68E69C5-00B2-7734-1643-A6C31EB26347}"/>
              </a:ext>
            </a:extLst>
          </p:cNvPr>
          <p:cNvSpPr/>
          <p:nvPr/>
        </p:nvSpPr>
        <p:spPr>
          <a:xfrm>
            <a:off x="7899600" y="4719160"/>
            <a:ext cx="3532800" cy="53383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Module 5: guarded workflow + carrier adapter</a:t>
            </a:r>
          </a:p>
          <a:p>
            <a:pPr algn="l">
              <a:buNone/>
            </a:pPr>
            <a:r>
              <a:rPr lang="en-US" sz="100">
                <a:effectLst/>
              </a:rPr>
              <a:t> </a:t>
            </a:r>
            <a:endParaRPr lang="en-US"/>
          </a:p>
        </p:txBody>
      </p:sp>
      <p:sp>
        <p:nvSpPr>
          <p:cNvPr id="237313" name="Boundary rule 3">
            <a:extLst>
              <a:ext uri="{FF2B5EF4-FFF2-40B4-BE49-F238E27FC236}">
                <a16:creationId xmlns:a16="http://schemas.microsoft.com/office/drawing/2014/main" id="{975E831B-51C9-0ED9-9172-63D1FFD7FE04}"/>
              </a:ext>
            </a:extLst>
          </p:cNvPr>
          <p:cNvSpPr/>
          <p:nvPr/>
        </p:nvSpPr>
        <p:spPr>
          <a:xfrm>
            <a:off x="6186000" y="5430000"/>
            <a:ext cx="2608200" cy="1000000"/>
          </a:xfrm>
          <a:prstGeom prst="rect">
            <a:avLst/>
          </a:prstGeom>
          <a:solidFill>
            <a:srgbClr val="3A7B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 Succeeded flow run is not a verified carrier submission</a:t>
            </a:r>
          </a:p>
          <a:p>
            <a:pPr algn="l">
              <a:buNone/>
            </a:pPr>
            <a:r>
              <a:rPr lang="en-US" sz="100">
                <a:effectLst/>
              </a:rPr>
              <a:t> </a:t>
            </a:r>
            <a:endParaRPr lang="en-US"/>
          </a:p>
        </p:txBody>
      </p:sp>
    </p:spTree>
    <p:extLst>
      <p:ext uri="{BB962C8B-B14F-4D97-AF65-F5344CB8AC3E}">
        <p14:creationId xmlns:p14="http://schemas.microsoft.com/office/powerpoint/2010/main" val="1425271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94639" name="Rectangle: Rounded Corners 94638">
            <a:extLst>
              <a:ext uri="{FF2B5EF4-FFF2-40B4-BE49-F238E27FC236}">
                <a16:creationId xmlns:a16="http://schemas.microsoft.com/office/drawing/2014/main" id="{C186CD5E-7CEC-1787-DC7C-3F9D05E22640}"/>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94802" name="Rectangle 94801">
            <a:extLst>
              <a:ext uri="{FF2B5EF4-FFF2-40B4-BE49-F238E27FC236}">
                <a16:creationId xmlns:a16="http://schemas.microsoft.com/office/drawing/2014/main" id="{916934BC-CC88-67CF-0FEA-0E747455F2AD}"/>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Set up your lab environment</a:t>
            </a:r>
          </a:p>
          <a:p>
            <a:pPr algn="l">
              <a:buNone/>
            </a:pPr>
            <a:r>
              <a:rPr lang="en-US" sz="100">
                <a:effectLst/>
              </a:rPr>
              <a:t> </a:t>
            </a:r>
            <a:endParaRPr lang="en-US"/>
          </a:p>
        </p:txBody>
      </p:sp>
      <p:sp>
        <p:nvSpPr>
          <p:cNvPr id="237381" name="Setup Step 1 Tile">
            <a:extLst>
              <a:ext uri="{FF2B5EF4-FFF2-40B4-BE49-F238E27FC236}">
                <a16:creationId xmlns:a16="http://schemas.microsoft.com/office/drawing/2014/main" id="{BC91F54D-DD87-E83F-CAE2-5C39FC2E5811}"/>
              </a:ext>
            </a:extLst>
          </p:cNvPr>
          <p:cNvSpPr/>
          <p:nvPr/>
        </p:nvSpPr>
        <p:spPr>
          <a:xfrm>
            <a:off x="609600" y="2060000"/>
            <a:ext cx="3457600" cy="2194560"/>
          </a:xfrm>
          <a:prstGeom prst="round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83" name="Setup Step 1 Circle">
            <a:extLst>
              <a:ext uri="{FF2B5EF4-FFF2-40B4-BE49-F238E27FC236}">
                <a16:creationId xmlns:a16="http://schemas.microsoft.com/office/drawing/2014/main" id="{A4031897-16DB-5494-E295-0C3A4A3BCEEF}"/>
              </a:ext>
            </a:extLst>
          </p:cNvPr>
          <p:cNvSpPr/>
          <p:nvPr/>
        </p:nvSpPr>
        <p:spPr>
          <a:xfrm>
            <a:off x="2064080" y="2350000"/>
            <a:ext cx="548640" cy="548640"/>
          </a:xfrm>
          <a:prstGeom prst="ellipse">
            <a:avLst/>
          </a:prstGeom>
          <a:solidFill>
            <a:srgbClr val="B2AAF8">
              <a:alpha val="26000"/>
            </a:srgbClr>
          </a:solidFill>
          <a:ln w="1905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86" name="Setup Step 1 Number">
            <a:extLst>
              <a:ext uri="{FF2B5EF4-FFF2-40B4-BE49-F238E27FC236}">
                <a16:creationId xmlns:a16="http://schemas.microsoft.com/office/drawing/2014/main" id="{401C13B8-77B5-AF52-7282-2DDFA34DA1B5}"/>
              </a:ext>
            </a:extLst>
          </p:cNvPr>
          <p:cNvSpPr/>
          <p:nvPr/>
        </p:nvSpPr>
        <p:spPr>
          <a:xfrm>
            <a:off x="2064080" y="2350000"/>
            <a:ext cx="5486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Segoe UI" panose="020B0502040204020203" pitchFamily="34" charset="0"/>
              </a:rPr>
              <a:t>1</a:t>
            </a:r>
          </a:p>
          <a:p>
            <a:pPr algn="ctr">
              <a:buNone/>
            </a:pPr>
            <a:r>
              <a:rPr lang="en-US" sz="100">
                <a:effectLst/>
              </a:rPr>
              <a:t> </a:t>
            </a:r>
            <a:endParaRPr lang="en-US"/>
          </a:p>
        </p:txBody>
      </p:sp>
      <p:sp>
        <p:nvSpPr>
          <p:cNvPr id="237390" name="Setup Step 1 Heading">
            <a:extLst>
              <a:ext uri="{FF2B5EF4-FFF2-40B4-BE49-F238E27FC236}">
                <a16:creationId xmlns:a16="http://schemas.microsoft.com/office/drawing/2014/main" id="{4FF038CA-F768-B844-58F0-3897D242CA7D}"/>
              </a:ext>
            </a:extLst>
          </p:cNvPr>
          <p:cNvSpPr/>
          <p:nvPr/>
        </p:nvSpPr>
        <p:spPr>
          <a:xfrm>
            <a:off x="609600" y="3068640"/>
            <a:ext cx="345760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FFFFFF"/>
                </a:solidFill>
                <a:effectLst/>
                <a:latin typeface="Segoe UI" panose="020B0502040204020203" pitchFamily="34" charset="0"/>
              </a:rPr>
              <a:t>Get credentials</a:t>
            </a:r>
          </a:p>
          <a:p>
            <a:pPr algn="ctr">
              <a:buNone/>
            </a:pPr>
            <a:r>
              <a:rPr lang="en-US" sz="100">
                <a:effectLst/>
              </a:rPr>
              <a:t> </a:t>
            </a:r>
            <a:endParaRPr lang="en-US"/>
          </a:p>
        </p:txBody>
      </p:sp>
      <p:sp>
        <p:nvSpPr>
          <p:cNvPr id="237395" name="Setup Step 1 Detail">
            <a:extLst>
              <a:ext uri="{FF2B5EF4-FFF2-40B4-BE49-F238E27FC236}">
                <a16:creationId xmlns:a16="http://schemas.microsoft.com/office/drawing/2014/main" id="{4B3CD706-DC7F-FE02-0EEA-8DAE2D0096A7}"/>
              </a:ext>
            </a:extLst>
          </p:cNvPr>
          <p:cNvSpPr/>
          <p:nvPr/>
        </p:nvSpPr>
        <p:spPr>
          <a:xfrm>
            <a:off x="609600" y="3548640"/>
            <a:ext cx="34576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B2AAF8"/>
                </a:solidFill>
                <a:effectLst/>
                <a:latin typeface="Segoe UI" panose="020B0502040204020203" pitchFamily="34" charset="0"/>
              </a:rPr>
              <a:t>aka.ms/PPCCWorkshopAccounts</a:t>
            </a:r>
          </a:p>
          <a:p>
            <a:pPr algn="ctr">
              <a:buNone/>
            </a:pPr>
            <a:r>
              <a:rPr lang="en-US" sz="100">
                <a:effectLst/>
              </a:rPr>
              <a:t> </a:t>
            </a:r>
            <a:endParaRPr lang="en-US"/>
          </a:p>
        </p:txBody>
      </p:sp>
      <p:sp>
        <p:nvSpPr>
          <p:cNvPr id="237401" name="Setup Step 2 Tile">
            <a:extLst>
              <a:ext uri="{FF2B5EF4-FFF2-40B4-BE49-F238E27FC236}">
                <a16:creationId xmlns:a16="http://schemas.microsoft.com/office/drawing/2014/main" id="{8B64CF88-4428-4D74-71DC-3A8D6EA7DA86}"/>
              </a:ext>
            </a:extLst>
          </p:cNvPr>
          <p:cNvSpPr/>
          <p:nvPr/>
        </p:nvSpPr>
        <p:spPr>
          <a:xfrm>
            <a:off x="4367200" y="2060000"/>
            <a:ext cx="3457600" cy="2194560"/>
          </a:xfrm>
          <a:prstGeom prst="round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08" name="Setup Step 2 Circle">
            <a:extLst>
              <a:ext uri="{FF2B5EF4-FFF2-40B4-BE49-F238E27FC236}">
                <a16:creationId xmlns:a16="http://schemas.microsoft.com/office/drawing/2014/main" id="{B358CBBE-9C6E-1AC1-8FBA-D1A427790A39}"/>
              </a:ext>
            </a:extLst>
          </p:cNvPr>
          <p:cNvSpPr/>
          <p:nvPr/>
        </p:nvSpPr>
        <p:spPr>
          <a:xfrm>
            <a:off x="5821680" y="2350000"/>
            <a:ext cx="548640" cy="548640"/>
          </a:xfrm>
          <a:prstGeom prst="ellipse">
            <a:avLst/>
          </a:prstGeom>
          <a:solidFill>
            <a:srgbClr val="B2AAF8">
              <a:alpha val="26000"/>
            </a:srgbClr>
          </a:solidFill>
          <a:ln w="1905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16" name="Setup Step 2 Number">
            <a:extLst>
              <a:ext uri="{FF2B5EF4-FFF2-40B4-BE49-F238E27FC236}">
                <a16:creationId xmlns:a16="http://schemas.microsoft.com/office/drawing/2014/main" id="{A366E511-7395-6D24-C657-8757B49379C3}"/>
              </a:ext>
            </a:extLst>
          </p:cNvPr>
          <p:cNvSpPr/>
          <p:nvPr/>
        </p:nvSpPr>
        <p:spPr>
          <a:xfrm>
            <a:off x="5821680" y="2350000"/>
            <a:ext cx="5486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Segoe UI" panose="020B0502040204020203" pitchFamily="34" charset="0"/>
              </a:rPr>
              <a:t>2</a:t>
            </a:r>
          </a:p>
          <a:p>
            <a:pPr algn="ctr">
              <a:buNone/>
            </a:pPr>
            <a:r>
              <a:rPr lang="en-US" sz="100">
                <a:effectLst/>
              </a:rPr>
              <a:t> </a:t>
            </a:r>
            <a:endParaRPr lang="en-US"/>
          </a:p>
        </p:txBody>
      </p:sp>
      <p:sp>
        <p:nvSpPr>
          <p:cNvPr id="237425" name="Setup Step 2 Heading">
            <a:extLst>
              <a:ext uri="{FF2B5EF4-FFF2-40B4-BE49-F238E27FC236}">
                <a16:creationId xmlns:a16="http://schemas.microsoft.com/office/drawing/2014/main" id="{BB22F413-8F13-3C01-7DBE-FB3A0730C816}"/>
              </a:ext>
            </a:extLst>
          </p:cNvPr>
          <p:cNvSpPr/>
          <p:nvPr/>
        </p:nvSpPr>
        <p:spPr>
          <a:xfrm>
            <a:off x="4367200" y="3068640"/>
            <a:ext cx="345760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FFFFFF"/>
                </a:solidFill>
                <a:effectLst/>
                <a:latin typeface="Segoe UI" panose="020B0502040204020203" pitchFamily="34" charset="0"/>
              </a:rPr>
              <a:t>Open your VM</a:t>
            </a:r>
          </a:p>
          <a:p>
            <a:pPr algn="ctr">
              <a:buNone/>
            </a:pPr>
            <a:r>
              <a:rPr lang="en-US" sz="100">
                <a:effectLst/>
              </a:rPr>
              <a:t> </a:t>
            </a:r>
            <a:endParaRPr lang="en-US"/>
          </a:p>
        </p:txBody>
      </p:sp>
      <p:sp>
        <p:nvSpPr>
          <p:cNvPr id="237435" name="Setup Step 2 Detail">
            <a:extLst>
              <a:ext uri="{FF2B5EF4-FFF2-40B4-BE49-F238E27FC236}">
                <a16:creationId xmlns:a16="http://schemas.microsoft.com/office/drawing/2014/main" id="{F101242A-3390-2EEF-F63F-2FBFD3B26145}"/>
              </a:ext>
            </a:extLst>
          </p:cNvPr>
          <p:cNvSpPr/>
          <p:nvPr/>
        </p:nvSpPr>
        <p:spPr>
          <a:xfrm>
            <a:off x="4367200" y="3548640"/>
            <a:ext cx="34576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a:solidFill>
                  <a:srgbClr val="FFFFFF"/>
                </a:solidFill>
                <a:effectLst/>
                <a:latin typeface="Segoe UI" panose="020B0502040204020203" pitchFamily="34" charset="0"/>
              </a:rPr>
              <a:t>VM link + VM credentials</a:t>
            </a:r>
          </a:p>
          <a:p>
            <a:pPr algn="ctr">
              <a:buNone/>
            </a:pPr>
            <a:r>
              <a:rPr lang="en-US" sz="100">
                <a:effectLst/>
              </a:rPr>
              <a:t> </a:t>
            </a:r>
            <a:endParaRPr lang="en-US"/>
          </a:p>
        </p:txBody>
      </p:sp>
      <p:sp>
        <p:nvSpPr>
          <p:cNvPr id="237446" name="Setup Step 3 Tile">
            <a:extLst>
              <a:ext uri="{FF2B5EF4-FFF2-40B4-BE49-F238E27FC236}">
                <a16:creationId xmlns:a16="http://schemas.microsoft.com/office/drawing/2014/main" id="{3F8F00A0-A2D2-86B5-D58D-0759AB7ED8EE}"/>
              </a:ext>
            </a:extLst>
          </p:cNvPr>
          <p:cNvSpPr/>
          <p:nvPr/>
        </p:nvSpPr>
        <p:spPr>
          <a:xfrm>
            <a:off x="8124800" y="2060000"/>
            <a:ext cx="3457600" cy="2194560"/>
          </a:xfrm>
          <a:prstGeom prst="round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58" name="Setup Step 3 Circle">
            <a:extLst>
              <a:ext uri="{FF2B5EF4-FFF2-40B4-BE49-F238E27FC236}">
                <a16:creationId xmlns:a16="http://schemas.microsoft.com/office/drawing/2014/main" id="{A03A4AE6-77AB-85AC-B67B-E843AA81C6E1}"/>
              </a:ext>
            </a:extLst>
          </p:cNvPr>
          <p:cNvSpPr/>
          <p:nvPr/>
        </p:nvSpPr>
        <p:spPr>
          <a:xfrm>
            <a:off x="9579280" y="2350000"/>
            <a:ext cx="548640" cy="548640"/>
          </a:xfrm>
          <a:prstGeom prst="ellipse">
            <a:avLst/>
          </a:prstGeom>
          <a:solidFill>
            <a:srgbClr val="B2AAF8">
              <a:alpha val="26000"/>
            </a:srgbClr>
          </a:solidFill>
          <a:ln w="19050">
            <a:solidFill>
              <a:srgbClr val="B2AAF8">
                <a:alpha val="70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71" name="Setup Step 3 Number">
            <a:extLst>
              <a:ext uri="{FF2B5EF4-FFF2-40B4-BE49-F238E27FC236}">
                <a16:creationId xmlns:a16="http://schemas.microsoft.com/office/drawing/2014/main" id="{CE053363-7B41-E153-CD1B-CEA3B565A18C}"/>
              </a:ext>
            </a:extLst>
          </p:cNvPr>
          <p:cNvSpPr/>
          <p:nvPr/>
        </p:nvSpPr>
        <p:spPr>
          <a:xfrm>
            <a:off x="9579280" y="2350000"/>
            <a:ext cx="5486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Segoe UI" panose="020B0502040204020203" pitchFamily="34" charset="0"/>
              </a:rPr>
              <a:t>3</a:t>
            </a:r>
          </a:p>
          <a:p>
            <a:pPr algn="ctr">
              <a:buNone/>
            </a:pPr>
            <a:r>
              <a:rPr lang="en-US" sz="100">
                <a:effectLst/>
              </a:rPr>
              <a:t> </a:t>
            </a:r>
            <a:endParaRPr lang="en-US"/>
          </a:p>
        </p:txBody>
      </p:sp>
      <p:sp>
        <p:nvSpPr>
          <p:cNvPr id="237485" name="Setup Step 3 Heading">
            <a:extLst>
              <a:ext uri="{FF2B5EF4-FFF2-40B4-BE49-F238E27FC236}">
                <a16:creationId xmlns:a16="http://schemas.microsoft.com/office/drawing/2014/main" id="{4FA6FADB-BADB-90ED-BC88-446781E69593}"/>
              </a:ext>
            </a:extLst>
          </p:cNvPr>
          <p:cNvSpPr/>
          <p:nvPr/>
        </p:nvSpPr>
        <p:spPr>
          <a:xfrm>
            <a:off x="8124800" y="3068640"/>
            <a:ext cx="345760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FFFFFF"/>
                </a:solidFill>
                <a:effectLst/>
                <a:latin typeface="Segoe UI" panose="020B0502040204020203" pitchFamily="34" charset="0"/>
              </a:rPr>
              <a:t>Sign in to DEV</a:t>
            </a:r>
          </a:p>
          <a:p>
            <a:pPr algn="ctr">
              <a:buNone/>
            </a:pPr>
            <a:r>
              <a:rPr lang="en-US" sz="100">
                <a:effectLst/>
              </a:rPr>
              <a:t> </a:t>
            </a:r>
            <a:endParaRPr lang="en-US"/>
          </a:p>
        </p:txBody>
      </p:sp>
      <p:sp>
        <p:nvSpPr>
          <p:cNvPr id="237500" name="Setup Step 3 Detail">
            <a:extLst>
              <a:ext uri="{FF2B5EF4-FFF2-40B4-BE49-F238E27FC236}">
                <a16:creationId xmlns:a16="http://schemas.microsoft.com/office/drawing/2014/main" id="{10FB404E-85AB-14BB-66C4-1EB7D900C41B}"/>
              </a:ext>
            </a:extLst>
          </p:cNvPr>
          <p:cNvSpPr/>
          <p:nvPr/>
        </p:nvSpPr>
        <p:spPr>
          <a:xfrm>
            <a:off x="8124800" y="3548640"/>
            <a:ext cx="34576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a:solidFill>
                  <a:srgbClr val="FFFFFF"/>
                </a:solidFill>
                <a:effectLst/>
                <a:latin typeface="Segoe UI" panose="020B0502040204020203" pitchFamily="34" charset="0"/>
              </a:rPr>
              <a:t>PPCC26‑Customer‑Lab‑DEV</a:t>
            </a:r>
          </a:p>
          <a:p>
            <a:pPr algn="ctr">
              <a:buNone/>
            </a:pPr>
            <a:r>
              <a:rPr lang="en-US" sz="100">
                <a:effectLst/>
              </a:rPr>
              <a:t> </a:t>
            </a:r>
            <a:endParaRPr lang="en-US"/>
          </a:p>
        </p:txBody>
      </p:sp>
      <p:sp>
        <p:nvSpPr>
          <p:cNvPr id="237516" name="Setup Step Chevron 1">
            <a:extLst>
              <a:ext uri="{FF2B5EF4-FFF2-40B4-BE49-F238E27FC236}">
                <a16:creationId xmlns:a16="http://schemas.microsoft.com/office/drawing/2014/main" id="{9485AB15-5EFC-D719-18D5-DD41CE23199C}"/>
              </a:ext>
            </a:extLst>
          </p:cNvPr>
          <p:cNvSpPr/>
          <p:nvPr/>
        </p:nvSpPr>
        <p:spPr>
          <a:xfrm>
            <a:off x="4142200" y="3017280"/>
            <a:ext cx="150000" cy="280000"/>
          </a:xfrm>
          <a:prstGeom prst="chevron">
            <a:avLst/>
          </a:prstGeom>
          <a:solidFill>
            <a:srgbClr val="B2AAF8">
              <a:alpha val="60000"/>
            </a:srgbClr>
          </a:solidFill>
          <a:ln>
            <a:solidFill>
              <a:srgbClr val="B2AAF8">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7533" name="Setup Step Chevron 2">
            <a:extLst>
              <a:ext uri="{FF2B5EF4-FFF2-40B4-BE49-F238E27FC236}">
                <a16:creationId xmlns:a16="http://schemas.microsoft.com/office/drawing/2014/main" id="{7E960318-0733-0F87-1385-FC297C3ECB17}"/>
              </a:ext>
            </a:extLst>
          </p:cNvPr>
          <p:cNvSpPr/>
          <p:nvPr/>
        </p:nvSpPr>
        <p:spPr>
          <a:xfrm>
            <a:off x="7899800" y="3017280"/>
            <a:ext cx="150000" cy="280000"/>
          </a:xfrm>
          <a:prstGeom prst="chevron">
            <a:avLst/>
          </a:prstGeom>
          <a:solidFill>
            <a:srgbClr val="B2AAF8">
              <a:alpha val="60000"/>
            </a:srgbClr>
          </a:solidFill>
          <a:ln>
            <a:solidFill>
              <a:srgbClr val="B2AAF8">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7551" name="Setup Golden Rules Label">
            <a:extLst>
              <a:ext uri="{FF2B5EF4-FFF2-40B4-BE49-F238E27FC236}">
                <a16:creationId xmlns:a16="http://schemas.microsoft.com/office/drawing/2014/main" id="{98614323-310A-36BA-3C8E-03D887FDBB61}"/>
              </a:ext>
            </a:extLst>
          </p:cNvPr>
          <p:cNvSpPr/>
          <p:nvPr/>
        </p:nvSpPr>
        <p:spPr>
          <a:xfrm>
            <a:off x="609600" y="4680000"/>
            <a:ext cx="32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spc="200">
                <a:solidFill>
                  <a:srgbClr val="6E9BFF"/>
                </a:solidFill>
                <a:effectLst/>
                <a:latin typeface="Segoe UI" panose="020B0502040204020203" pitchFamily="34" charset="0"/>
              </a:rPr>
              <a:t>GOLDEN RULES</a:t>
            </a:r>
          </a:p>
          <a:p>
            <a:pPr algn="l">
              <a:buNone/>
            </a:pPr>
            <a:r>
              <a:rPr lang="en-US" sz="100">
                <a:effectLst/>
              </a:rPr>
              <a:t> </a:t>
            </a:r>
            <a:endParaRPr lang="en-US"/>
          </a:p>
        </p:txBody>
      </p:sp>
      <p:sp>
        <p:nvSpPr>
          <p:cNvPr id="237570" name="Setup Golden Rule 1">
            <a:extLst>
              <a:ext uri="{FF2B5EF4-FFF2-40B4-BE49-F238E27FC236}">
                <a16:creationId xmlns:a16="http://schemas.microsoft.com/office/drawing/2014/main" id="{02B3172E-ED27-1616-9A9C-27DF816029EA}"/>
              </a:ext>
            </a:extLst>
          </p:cNvPr>
          <p:cNvSpPr/>
          <p:nvPr/>
        </p:nvSpPr>
        <p:spPr>
          <a:xfrm>
            <a:off x="609600" y="5080000"/>
            <a:ext cx="1584196" cy="480000"/>
          </a:xfrm>
          <a:prstGeom prst="roundRect">
            <a:avLst/>
          </a:prstGeom>
          <a:solidFill>
            <a:srgbClr val="B2AAF8">
              <a:alpha val="8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a:solidFill>
                  <a:srgbClr val="FFFFFF"/>
                </a:solidFill>
                <a:effectLst/>
                <a:latin typeface="Segoe UI" panose="020B0502040204020203" pitchFamily="34" charset="0"/>
              </a:rPr>
              <a:t>Work in DEV</a:t>
            </a:r>
          </a:p>
          <a:p>
            <a:pPr algn="ctr">
              <a:buNone/>
            </a:pPr>
            <a:r>
              <a:rPr lang="en-US" sz="100">
                <a:effectLst/>
              </a:rPr>
              <a:t> </a:t>
            </a:r>
            <a:endParaRPr lang="en-US"/>
          </a:p>
        </p:txBody>
      </p:sp>
      <p:sp>
        <p:nvSpPr>
          <p:cNvPr id="237590" name="Setup Golden Rule 2">
            <a:extLst>
              <a:ext uri="{FF2B5EF4-FFF2-40B4-BE49-F238E27FC236}">
                <a16:creationId xmlns:a16="http://schemas.microsoft.com/office/drawing/2014/main" id="{56121396-F62B-F5FB-5DB7-072E40568F3E}"/>
              </a:ext>
            </a:extLst>
          </p:cNvPr>
          <p:cNvSpPr/>
          <p:nvPr/>
        </p:nvSpPr>
        <p:spPr>
          <a:xfrm>
            <a:off x="2313796" y="5080000"/>
            <a:ext cx="2724531" cy="480000"/>
          </a:xfrm>
          <a:prstGeom prst="roundRect">
            <a:avLst/>
          </a:prstGeom>
          <a:solidFill>
            <a:srgbClr val="B2AAF8">
              <a:alpha val="8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a:solidFill>
                  <a:srgbClr val="FFFFFF"/>
                </a:solidFill>
                <a:effectLst/>
                <a:latin typeface="Segoe UI" panose="020B0502040204020203" pitchFamily="34" charset="0"/>
              </a:rPr>
              <a:t>Don’t edit baseline data</a:t>
            </a:r>
          </a:p>
          <a:p>
            <a:pPr algn="ctr">
              <a:buNone/>
            </a:pPr>
            <a:r>
              <a:rPr lang="en-US" sz="100">
                <a:effectLst/>
              </a:rPr>
              <a:t> </a:t>
            </a:r>
            <a:endParaRPr lang="en-US"/>
          </a:p>
        </p:txBody>
      </p:sp>
      <p:sp>
        <p:nvSpPr>
          <p:cNvPr id="237611" name="Setup Golden Rule 3">
            <a:extLst>
              <a:ext uri="{FF2B5EF4-FFF2-40B4-BE49-F238E27FC236}">
                <a16:creationId xmlns:a16="http://schemas.microsoft.com/office/drawing/2014/main" id="{45A2B053-6D69-2DD2-6BE9-BD0689494285}"/>
              </a:ext>
            </a:extLst>
          </p:cNvPr>
          <p:cNvSpPr/>
          <p:nvPr/>
        </p:nvSpPr>
        <p:spPr>
          <a:xfrm>
            <a:off x="5158327" y="5080000"/>
            <a:ext cx="3620508" cy="480000"/>
          </a:xfrm>
          <a:prstGeom prst="roundRect">
            <a:avLst/>
          </a:prstGeom>
          <a:solidFill>
            <a:srgbClr val="B2AAF8">
              <a:alpha val="8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a:solidFill>
                  <a:srgbClr val="FFFFFF"/>
                </a:solidFill>
                <a:effectLst/>
                <a:latin typeface="Segoe UI" panose="020B0502040204020203" pitchFamily="34" charset="0"/>
              </a:rPr>
              <a:t>One test, one save — never retry</a:t>
            </a:r>
          </a:p>
          <a:p>
            <a:pPr algn="ctr">
              <a:buNone/>
            </a:pPr>
            <a:r>
              <a:rPr lang="en-US" sz="100">
                <a:effectLst/>
              </a:rPr>
              <a:t> </a:t>
            </a:r>
            <a:endParaRPr lang="en-US"/>
          </a:p>
        </p:txBody>
      </p:sp>
    </p:spTree>
    <p:extLst>
      <p:ext uri="{BB962C8B-B14F-4D97-AF65-F5344CB8AC3E}">
        <p14:creationId xmlns:p14="http://schemas.microsoft.com/office/powerpoint/2010/main" val="1841010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97190" name="Rectangle: Rounded Corners 97189">
            <a:extLst>
              <a:ext uri="{FF2B5EF4-FFF2-40B4-BE49-F238E27FC236}">
                <a16:creationId xmlns:a16="http://schemas.microsoft.com/office/drawing/2014/main" id="{EAD60D42-96BD-F045-F066-468C8B807264}"/>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97192" name="Rectangle: Rounded Corners 97191">
            <a:extLst>
              <a:ext uri="{FF2B5EF4-FFF2-40B4-BE49-F238E27FC236}">
                <a16:creationId xmlns:a16="http://schemas.microsoft.com/office/drawing/2014/main" id="{15A87AEE-0F75-4FF5-98AB-9F814FA14AB0}"/>
              </a:ext>
            </a:extLst>
          </p:cNvPr>
          <p:cNvSpPr/>
          <p:nvPr/>
        </p:nvSpPr>
        <p:spPr>
          <a:xfrm>
            <a:off x="2176014" y="400000"/>
            <a:ext cx="996413"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1</a:t>
            </a:r>
          </a:p>
          <a:p>
            <a:pPr algn="ctr">
              <a:buNone/>
            </a:pPr>
            <a:r>
              <a:rPr lang="en-US" sz="100">
                <a:effectLst/>
              </a:rPr>
              <a:t> </a:t>
            </a:r>
            <a:endParaRPr lang="en-US"/>
          </a:p>
        </p:txBody>
      </p:sp>
      <p:sp>
        <p:nvSpPr>
          <p:cNvPr id="97195" name="Rectangle 97194">
            <a:extLst>
              <a:ext uri="{FF2B5EF4-FFF2-40B4-BE49-F238E27FC236}">
                <a16:creationId xmlns:a16="http://schemas.microsoft.com/office/drawing/2014/main" id="{EB26EA14-AAB9-9454-E145-E5D3E5AF07B8}"/>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1 · Orient in DEV and verify the starting data</a:t>
            </a:r>
          </a:p>
          <a:p>
            <a:pPr algn="l">
              <a:buNone/>
            </a:pPr>
            <a:r>
              <a:rPr lang="en-US" sz="100">
                <a:effectLst/>
              </a:rPr>
              <a:t> </a:t>
            </a:r>
            <a:endParaRPr lang="en-US"/>
          </a:p>
        </p:txBody>
      </p:sp>
      <p:sp>
        <p:nvSpPr>
          <p:cNvPr id="97199" name="Rectangle 97198">
            <a:extLst>
              <a:ext uri="{FF2B5EF4-FFF2-40B4-BE49-F238E27FC236}">
                <a16:creationId xmlns:a16="http://schemas.microsoft.com/office/drawing/2014/main" id="{416ACA0D-6F9B-B6A8-9509-71A2EE60609C}"/>
              </a:ext>
            </a:extLst>
          </p:cNvPr>
          <p:cNvSpPr/>
          <p:nvPr/>
        </p:nvSpPr>
        <p:spPr>
          <a:xfrm>
            <a:off x="609600" y="1661951"/>
            <a:ext cx="10972800" cy="46086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04" name="Rectangle 97203">
            <a:extLst>
              <a:ext uri="{FF2B5EF4-FFF2-40B4-BE49-F238E27FC236}">
                <a16:creationId xmlns:a16="http://schemas.microsoft.com/office/drawing/2014/main" id="{97167179-F7D4-DEB0-CC67-5F454DDD7081}"/>
              </a:ext>
            </a:extLst>
          </p:cNvPr>
          <p:cNvSpPr/>
          <p:nvPr/>
        </p:nvSpPr>
        <p:spPr>
          <a:xfrm>
            <a:off x="669600" y="1701885"/>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6E9BFF"/>
                </a:solidFill>
                <a:effectLst/>
                <a:latin typeface="Segoe UI" panose="020B0502040204020203" pitchFamily="34" charset="0"/>
              </a:rPr>
              <a:t>OBJECTIVE</a:t>
            </a:r>
          </a:p>
          <a:p>
            <a:pPr algn="l">
              <a:buNone/>
            </a:pPr>
            <a:r>
              <a:rPr lang="en-US" sz="100">
                <a:effectLst/>
              </a:rPr>
              <a:t> </a:t>
            </a:r>
            <a:endParaRPr lang="en-US"/>
          </a:p>
        </p:txBody>
      </p:sp>
      <p:sp>
        <p:nvSpPr>
          <p:cNvPr id="97210" name="Rectangle 97209">
            <a:extLst>
              <a:ext uri="{FF2B5EF4-FFF2-40B4-BE49-F238E27FC236}">
                <a16:creationId xmlns:a16="http://schemas.microsoft.com/office/drawing/2014/main" id="{9F09E33C-F663-46DF-1684-CEDD71AE394F}"/>
              </a:ext>
            </a:extLst>
          </p:cNvPr>
          <p:cNvSpPr/>
          <p:nvPr/>
        </p:nvSpPr>
        <p:spPr>
          <a:xfrm>
            <a:off x="2659600" y="1634321"/>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Confirm your environment, data, and authority rules before building</a:t>
            </a:r>
          </a:p>
          <a:p>
            <a:pPr algn="l">
              <a:buNone/>
            </a:pPr>
            <a:r>
              <a:rPr lang="en-US" sz="100">
                <a:effectLst/>
              </a:rPr>
              <a:t> </a:t>
            </a:r>
            <a:endParaRPr lang="en-US"/>
          </a:p>
        </p:txBody>
      </p:sp>
      <p:sp>
        <p:nvSpPr>
          <p:cNvPr id="97217" name="Rectangle 97216">
            <a:extLst>
              <a:ext uri="{FF2B5EF4-FFF2-40B4-BE49-F238E27FC236}">
                <a16:creationId xmlns:a16="http://schemas.microsoft.com/office/drawing/2014/main" id="{B51A901F-A3BC-4554-6F28-6CEAA7852CC7}"/>
              </a:ext>
            </a:extLst>
          </p:cNvPr>
          <p:cNvSpPr/>
          <p:nvPr/>
        </p:nvSpPr>
        <p:spPr>
          <a:xfrm>
            <a:off x="609600" y="2172819"/>
            <a:ext cx="10972800" cy="801736"/>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25" name="Rectangle 97224">
            <a:extLst>
              <a:ext uri="{FF2B5EF4-FFF2-40B4-BE49-F238E27FC236}">
                <a16:creationId xmlns:a16="http://schemas.microsoft.com/office/drawing/2014/main" id="{9C2F27ED-D3CF-7AAD-49E1-010EB6E136CA}"/>
              </a:ext>
            </a:extLst>
          </p:cNvPr>
          <p:cNvSpPr/>
          <p:nvPr/>
        </p:nvSpPr>
        <p:spPr>
          <a:xfrm>
            <a:off x="669600" y="2383187"/>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6E9BFF"/>
                </a:solidFill>
                <a:effectLst/>
                <a:latin typeface="Segoe UI" panose="020B0502040204020203" pitchFamily="34" charset="0"/>
              </a:rPr>
              <a:t>STARTING POINT</a:t>
            </a:r>
          </a:p>
          <a:p>
            <a:pPr algn="l">
              <a:buNone/>
            </a:pPr>
            <a:r>
              <a:rPr lang="en-US" sz="100">
                <a:effectLst/>
              </a:rPr>
              <a:t> </a:t>
            </a:r>
            <a:endParaRPr lang="en-US"/>
          </a:p>
        </p:txBody>
      </p:sp>
      <p:sp>
        <p:nvSpPr>
          <p:cNvPr id="97234" name="Rectangle 97233">
            <a:extLst>
              <a:ext uri="{FF2B5EF4-FFF2-40B4-BE49-F238E27FC236}">
                <a16:creationId xmlns:a16="http://schemas.microsoft.com/office/drawing/2014/main" id="{E529087B-A00E-B144-EE78-15B8E6DB8438}"/>
              </a:ext>
            </a:extLst>
          </p:cNvPr>
          <p:cNvSpPr/>
          <p:nvPr/>
        </p:nvSpPr>
        <p:spPr>
          <a:xfrm>
            <a:off x="2659600" y="2145189"/>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Facilitator-prepared DEV environment with Northwind data and the app shell</a:t>
            </a:r>
          </a:p>
          <a:p>
            <a:pPr algn="l">
              <a:buNone/>
            </a:pPr>
            <a:r>
              <a:rPr lang="en-US" sz="100">
                <a:effectLst/>
              </a:rPr>
              <a:t> </a:t>
            </a:r>
            <a:endParaRPr lang="en-US"/>
          </a:p>
        </p:txBody>
      </p:sp>
      <p:sp>
        <p:nvSpPr>
          <p:cNvPr id="97244" name="Rectangle 97243">
            <a:extLst>
              <a:ext uri="{FF2B5EF4-FFF2-40B4-BE49-F238E27FC236}">
                <a16:creationId xmlns:a16="http://schemas.microsoft.com/office/drawing/2014/main" id="{137720CB-8C6E-993B-322C-5353CE9A2DBE}"/>
              </a:ext>
            </a:extLst>
          </p:cNvPr>
          <p:cNvSpPr/>
          <p:nvPr/>
        </p:nvSpPr>
        <p:spPr>
          <a:xfrm>
            <a:off x="609600" y="3024555"/>
            <a:ext cx="10972800" cy="801736"/>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55" name="Rectangle 97254">
            <a:extLst>
              <a:ext uri="{FF2B5EF4-FFF2-40B4-BE49-F238E27FC236}">
                <a16:creationId xmlns:a16="http://schemas.microsoft.com/office/drawing/2014/main" id="{C3DA0A33-9488-0B84-3D83-C182A970DDB6}"/>
              </a:ext>
            </a:extLst>
          </p:cNvPr>
          <p:cNvSpPr/>
          <p:nvPr/>
        </p:nvSpPr>
        <p:spPr>
          <a:xfrm>
            <a:off x="669600" y="3234923"/>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6E9BFF"/>
                </a:solidFill>
                <a:effectLst/>
                <a:latin typeface="Segoe UI" panose="020B0502040204020203" pitchFamily="34" charset="0"/>
              </a:rPr>
              <a:t>MAJOR TASKS</a:t>
            </a:r>
          </a:p>
          <a:p>
            <a:pPr algn="l">
              <a:buNone/>
            </a:pPr>
            <a:r>
              <a:rPr lang="en-US" sz="100">
                <a:effectLst/>
              </a:rPr>
              <a:t> </a:t>
            </a:r>
            <a:endParaRPr lang="en-US"/>
          </a:p>
        </p:txBody>
      </p:sp>
      <p:sp>
        <p:nvSpPr>
          <p:cNvPr id="97267" name="Rectangle 97266">
            <a:extLst>
              <a:ext uri="{FF2B5EF4-FFF2-40B4-BE49-F238E27FC236}">
                <a16:creationId xmlns:a16="http://schemas.microsoft.com/office/drawing/2014/main" id="{EAC60ECA-D80E-60D7-6056-2BD8762C39B9}"/>
              </a:ext>
            </a:extLst>
          </p:cNvPr>
          <p:cNvSpPr/>
          <p:nvPr/>
        </p:nvSpPr>
        <p:spPr>
          <a:xfrm>
            <a:off x="2659600" y="2996925"/>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Open the DEV app  ·  Inspect order data  ·  Check purchase orders  ·  Record the authority boundary</a:t>
            </a:r>
          </a:p>
          <a:p>
            <a:pPr algn="l">
              <a:buNone/>
            </a:pPr>
            <a:r>
              <a:rPr lang="en-US" sz="100">
                <a:effectLst/>
              </a:rPr>
              <a:t> </a:t>
            </a:r>
            <a:endParaRPr lang="en-US"/>
          </a:p>
        </p:txBody>
      </p:sp>
      <p:sp>
        <p:nvSpPr>
          <p:cNvPr id="97280" name="Rectangle 97279">
            <a:extLst>
              <a:ext uri="{FF2B5EF4-FFF2-40B4-BE49-F238E27FC236}">
                <a16:creationId xmlns:a16="http://schemas.microsoft.com/office/drawing/2014/main" id="{A4F4B18B-8CC0-F7F8-7F92-4EBD0AC77D69}"/>
              </a:ext>
            </a:extLst>
          </p:cNvPr>
          <p:cNvSpPr/>
          <p:nvPr/>
        </p:nvSpPr>
        <p:spPr>
          <a:xfrm>
            <a:off x="609600" y="3876291"/>
            <a:ext cx="10972800" cy="5848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94" name="Rectangle 97293">
            <a:extLst>
              <a:ext uri="{FF2B5EF4-FFF2-40B4-BE49-F238E27FC236}">
                <a16:creationId xmlns:a16="http://schemas.microsoft.com/office/drawing/2014/main" id="{0F75A744-475F-E9DF-D692-64E0E1556A9A}"/>
              </a:ext>
            </a:extLst>
          </p:cNvPr>
          <p:cNvSpPr/>
          <p:nvPr/>
        </p:nvSpPr>
        <p:spPr>
          <a:xfrm>
            <a:off x="669600" y="3861996"/>
            <a:ext cx="1900000" cy="6134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6E9BFF"/>
                </a:solidFill>
                <a:effectLst/>
                <a:latin typeface="Segoe UI" panose="020B0502040204020203" pitchFamily="34" charset="0"/>
              </a:rPr>
              <a:t>COMPONENTS CREATED</a:t>
            </a:r>
          </a:p>
          <a:p>
            <a:pPr algn="l">
              <a:buNone/>
            </a:pPr>
            <a:r>
              <a:rPr lang="en-US" sz="100">
                <a:effectLst/>
              </a:rPr>
              <a:t> </a:t>
            </a:r>
            <a:endParaRPr lang="en-US"/>
          </a:p>
        </p:txBody>
      </p:sp>
      <p:sp>
        <p:nvSpPr>
          <p:cNvPr id="97309" name="Rectangle 97308">
            <a:extLst>
              <a:ext uri="{FF2B5EF4-FFF2-40B4-BE49-F238E27FC236}">
                <a16:creationId xmlns:a16="http://schemas.microsoft.com/office/drawing/2014/main" id="{44712810-9723-B68E-70CE-F487384644CE}"/>
              </a:ext>
            </a:extLst>
          </p:cNvPr>
          <p:cNvSpPr/>
          <p:nvPr/>
        </p:nvSpPr>
        <p:spPr>
          <a:xfrm>
            <a:off x="2659600" y="3910637"/>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None — verification only</a:t>
            </a:r>
          </a:p>
          <a:p>
            <a:pPr algn="l">
              <a:buNone/>
            </a:pPr>
            <a:r>
              <a:rPr lang="en-US" sz="100">
                <a:effectLst/>
              </a:rPr>
              <a:t> </a:t>
            </a:r>
            <a:endParaRPr lang="en-US"/>
          </a:p>
        </p:txBody>
      </p:sp>
      <p:sp>
        <p:nvSpPr>
          <p:cNvPr id="97325" name="Rectangle 97324">
            <a:extLst>
              <a:ext uri="{FF2B5EF4-FFF2-40B4-BE49-F238E27FC236}">
                <a16:creationId xmlns:a16="http://schemas.microsoft.com/office/drawing/2014/main" id="{496F0527-E0FF-F230-524D-635B4FCCFB36}"/>
              </a:ext>
            </a:extLst>
          </p:cNvPr>
          <p:cNvSpPr/>
          <p:nvPr/>
        </p:nvSpPr>
        <p:spPr>
          <a:xfrm>
            <a:off x="609600" y="4511111"/>
            <a:ext cx="10972800" cy="46086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42" name="Rectangle 97341">
            <a:extLst>
              <a:ext uri="{FF2B5EF4-FFF2-40B4-BE49-F238E27FC236}">
                <a16:creationId xmlns:a16="http://schemas.microsoft.com/office/drawing/2014/main" id="{F06935D8-4324-1057-A96B-92569E36F3A8}"/>
              </a:ext>
            </a:extLst>
          </p:cNvPr>
          <p:cNvSpPr/>
          <p:nvPr/>
        </p:nvSpPr>
        <p:spPr>
          <a:xfrm>
            <a:off x="669600" y="4551045"/>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6E9BFF"/>
                </a:solidFill>
                <a:effectLst/>
                <a:latin typeface="Segoe UI" panose="020B0502040204020203" pitchFamily="34" charset="0"/>
              </a:rPr>
              <a:t>DEPENDS ON</a:t>
            </a:r>
          </a:p>
          <a:p>
            <a:pPr algn="l">
              <a:buNone/>
            </a:pPr>
            <a:r>
              <a:rPr lang="en-US" sz="100">
                <a:effectLst/>
              </a:rPr>
              <a:t> </a:t>
            </a:r>
            <a:endParaRPr lang="en-US"/>
          </a:p>
        </p:txBody>
      </p:sp>
      <p:sp>
        <p:nvSpPr>
          <p:cNvPr id="97360" name="Rectangle 97359">
            <a:extLst>
              <a:ext uri="{FF2B5EF4-FFF2-40B4-BE49-F238E27FC236}">
                <a16:creationId xmlns:a16="http://schemas.microsoft.com/office/drawing/2014/main" id="{9D19C6B2-F547-D3F0-139D-60D3A9CEDAA3}"/>
              </a:ext>
            </a:extLst>
          </p:cNvPr>
          <p:cNvSpPr/>
          <p:nvPr/>
        </p:nvSpPr>
        <p:spPr>
          <a:xfrm>
            <a:off x="2659600" y="4483481"/>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Workshop access card</a:t>
            </a:r>
          </a:p>
          <a:p>
            <a:pPr algn="l">
              <a:buNone/>
            </a:pPr>
            <a:r>
              <a:rPr lang="en-US" sz="100">
                <a:effectLst/>
              </a:rPr>
              <a:t> </a:t>
            </a:r>
            <a:endParaRPr lang="en-US"/>
          </a:p>
        </p:txBody>
      </p:sp>
      <p:sp>
        <p:nvSpPr>
          <p:cNvPr id="97379" name="Rectangle 97378">
            <a:extLst>
              <a:ext uri="{FF2B5EF4-FFF2-40B4-BE49-F238E27FC236}">
                <a16:creationId xmlns:a16="http://schemas.microsoft.com/office/drawing/2014/main" id="{2B9DE32E-3F91-043D-1080-D7675DB6ECAE}"/>
              </a:ext>
            </a:extLst>
          </p:cNvPr>
          <p:cNvSpPr/>
          <p:nvPr/>
        </p:nvSpPr>
        <p:spPr>
          <a:xfrm>
            <a:off x="609600" y="5021979"/>
            <a:ext cx="10972800" cy="801736"/>
          </a:xfrm>
          <a:prstGeom prst="rect">
            <a:avLst/>
          </a:prstGeom>
          <a:solidFill>
            <a:srgbClr val="FFFFFF">
              <a:alpha val="12000"/>
            </a:srgbClr>
          </a:solidFill>
          <a:ln w="19050">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99" name="Rectangle 97398">
            <a:extLst>
              <a:ext uri="{FF2B5EF4-FFF2-40B4-BE49-F238E27FC236}">
                <a16:creationId xmlns:a16="http://schemas.microsoft.com/office/drawing/2014/main" id="{B447E676-2B41-A989-5B0C-8F63722A4401}"/>
              </a:ext>
            </a:extLst>
          </p:cNvPr>
          <p:cNvSpPr/>
          <p:nvPr/>
        </p:nvSpPr>
        <p:spPr>
          <a:xfrm>
            <a:off x="669600" y="5116142"/>
            <a:ext cx="1900000" cy="6134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6E9BFF"/>
                </a:solidFill>
                <a:effectLst/>
                <a:latin typeface="Segoe UI" panose="020B0502040204020203" pitchFamily="34" charset="0"/>
              </a:rPr>
              <a:t>SUCCESS LOOKS LIKE</a:t>
            </a:r>
          </a:p>
          <a:p>
            <a:pPr algn="l">
              <a:buNone/>
            </a:pPr>
            <a:r>
              <a:rPr lang="en-US" sz="100">
                <a:effectLst/>
              </a:rPr>
              <a:t> </a:t>
            </a:r>
            <a:endParaRPr lang="en-US"/>
          </a:p>
        </p:txBody>
      </p:sp>
      <p:sp>
        <p:nvSpPr>
          <p:cNvPr id="97420" name="Rectangle 97419">
            <a:extLst>
              <a:ext uri="{FF2B5EF4-FFF2-40B4-BE49-F238E27FC236}">
                <a16:creationId xmlns:a16="http://schemas.microsoft.com/office/drawing/2014/main" id="{57697C3F-DD7D-AAB0-672A-762A101FB4D6}"/>
              </a:ext>
            </a:extLst>
          </p:cNvPr>
          <p:cNvSpPr/>
          <p:nvPr/>
        </p:nvSpPr>
        <p:spPr>
          <a:xfrm>
            <a:off x="2659600" y="4994349"/>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App opens in DEV, orders 0915/0920/0935 total USD 868.50, no participant “CL” purchase order exists</a:t>
            </a:r>
          </a:p>
          <a:p>
            <a:pPr algn="l">
              <a:buNone/>
            </a:pPr>
            <a:r>
              <a:rPr lang="en-US" sz="100">
                <a:effectLst/>
              </a:rPr>
              <a:t> </a:t>
            </a:r>
            <a:endParaRPr lang="en-US"/>
          </a:p>
        </p:txBody>
      </p:sp>
    </p:spTree>
    <p:extLst>
      <p:ext uri="{BB962C8B-B14F-4D97-AF65-F5344CB8AC3E}">
        <p14:creationId xmlns:p14="http://schemas.microsoft.com/office/powerpoint/2010/main" val="4231290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98785" name="Rectangle: Rounded Corners 98784">
            <a:extLst>
              <a:ext uri="{FF2B5EF4-FFF2-40B4-BE49-F238E27FC236}">
                <a16:creationId xmlns:a16="http://schemas.microsoft.com/office/drawing/2014/main" id="{3E24A942-85E3-87DB-8DD9-89DE10B9CB6C}"/>
              </a:ext>
            </a:extLst>
          </p:cNvPr>
          <p:cNvSpPr/>
          <p:nvPr/>
        </p:nvSpPr>
        <p:spPr>
          <a:xfrm>
            <a:off x="609600" y="400000"/>
            <a:ext cx="1446414" cy="340000"/>
          </a:xfrm>
          <a:prstGeom prst="round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1</a:t>
            </a:r>
          </a:p>
          <a:p>
            <a:pPr algn="ctr">
              <a:buNone/>
            </a:pPr>
            <a:r>
              <a:rPr lang="en-US" sz="100">
                <a:effectLst/>
              </a:rPr>
              <a:t> </a:t>
            </a:r>
            <a:endParaRPr lang="en-US"/>
          </a:p>
        </p:txBody>
      </p:sp>
      <p:sp>
        <p:nvSpPr>
          <p:cNvPr id="98842" name="Rectangle 98841">
            <a:extLst>
              <a:ext uri="{FF2B5EF4-FFF2-40B4-BE49-F238E27FC236}">
                <a16:creationId xmlns:a16="http://schemas.microsoft.com/office/drawing/2014/main" id="{4D6E79DE-0A05-7D2A-064D-41D8B64654DB}"/>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1 recap: verified baseline, shared rules</a:t>
            </a:r>
          </a:p>
          <a:p>
            <a:pPr algn="l">
              <a:buNone/>
            </a:pPr>
            <a:r>
              <a:rPr lang="en-US" sz="100">
                <a:effectLst/>
              </a:rPr>
              <a:t> </a:t>
            </a:r>
            <a:endParaRPr lang="en-US"/>
          </a:p>
        </p:txBody>
      </p:sp>
      <p:sp>
        <p:nvSpPr>
          <p:cNvPr id="98900" name="Rectangle 98899">
            <a:extLst>
              <a:ext uri="{FF2B5EF4-FFF2-40B4-BE49-F238E27FC236}">
                <a16:creationId xmlns:a16="http://schemas.microsoft.com/office/drawing/2014/main" id="{010118D2-8D5B-9C07-713B-84ACD20A5718}"/>
              </a:ext>
            </a:extLst>
          </p:cNvPr>
          <p:cNvSpPr/>
          <p:nvPr/>
        </p:nvSpPr>
        <p:spPr>
          <a:xfrm>
            <a:off x="609600" y="1661951"/>
            <a:ext cx="6300000" cy="6944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BUILT</a:t>
            </a:r>
          </a:p>
          <a:p>
            <a:pPr algn="l">
              <a:buNone/>
            </a:pPr>
            <a:r>
              <a:rPr lang="en-US" sz="2000">
                <a:solidFill>
                  <a:srgbClr val="FFFFFF"/>
                </a:solidFill>
                <a:effectLst/>
                <a:latin typeface="Segoe UI" panose="020B0502040204020203" pitchFamily="34" charset="0"/>
              </a:rPr>
              <a:t>A verified starting point (no components yet)</a:t>
            </a:r>
            <a:endParaRPr lang="en-US"/>
          </a:p>
        </p:txBody>
      </p:sp>
      <p:sp>
        <p:nvSpPr>
          <p:cNvPr id="98959" name="Rectangle 98958">
            <a:extLst>
              <a:ext uri="{FF2B5EF4-FFF2-40B4-BE49-F238E27FC236}">
                <a16:creationId xmlns:a16="http://schemas.microsoft.com/office/drawing/2014/main" id="{C4E294BD-699B-0190-549F-7C66B289DD93}"/>
              </a:ext>
            </a:extLst>
          </p:cNvPr>
          <p:cNvSpPr/>
          <p:nvPr/>
        </p:nvSpPr>
        <p:spPr>
          <a:xfrm>
            <a:off x="609600" y="2556386"/>
            <a:ext cx="6300000" cy="6944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CAPABILITIES USED</a:t>
            </a:r>
          </a:p>
          <a:p>
            <a:pPr algn="l">
              <a:buNone/>
            </a:pPr>
            <a:r>
              <a:rPr lang="en-US" sz="2000">
                <a:solidFill>
                  <a:srgbClr val="FFFFFF"/>
                </a:solidFill>
                <a:effectLst/>
                <a:latin typeface="Segoe UI" panose="020B0502040204020203" pitchFamily="34" charset="0"/>
              </a:rPr>
              <a:t>DEV environment, model-driven app, Dataverse data</a:t>
            </a:r>
            <a:endParaRPr lang="en-US"/>
          </a:p>
        </p:txBody>
      </p:sp>
      <p:sp>
        <p:nvSpPr>
          <p:cNvPr id="99019" name="Rectangle 99018">
            <a:extLst>
              <a:ext uri="{FF2B5EF4-FFF2-40B4-BE49-F238E27FC236}">
                <a16:creationId xmlns:a16="http://schemas.microsoft.com/office/drawing/2014/main" id="{2655EAA5-45D6-F595-A288-ADE6D66932B1}"/>
              </a:ext>
            </a:extLst>
          </p:cNvPr>
          <p:cNvSpPr/>
          <p:nvPr/>
        </p:nvSpPr>
        <p:spPr>
          <a:xfrm>
            <a:off x="609600" y="345082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BUSINESS VALUE</a:t>
            </a:r>
          </a:p>
          <a:p>
            <a:pPr algn="l">
              <a:buNone/>
            </a:pPr>
            <a:r>
              <a:rPr lang="en-US" sz="2000">
                <a:solidFill>
                  <a:srgbClr val="FFFFFF"/>
                </a:solidFill>
                <a:effectLst/>
                <a:latin typeface="Segoe UI" panose="020B0502040204020203" pitchFamily="34" charset="0"/>
              </a:rPr>
              <a:t>Everyone works from the same facts and the same authority rules</a:t>
            </a:r>
            <a:endParaRPr lang="en-US"/>
          </a:p>
        </p:txBody>
      </p:sp>
      <p:sp>
        <p:nvSpPr>
          <p:cNvPr id="99080" name="Rectangle 99079">
            <a:extLst>
              <a:ext uri="{FF2B5EF4-FFF2-40B4-BE49-F238E27FC236}">
                <a16:creationId xmlns:a16="http://schemas.microsoft.com/office/drawing/2014/main" id="{0B9CA605-2828-FB0B-D33C-2F17AD0CF185}"/>
              </a:ext>
            </a:extLst>
          </p:cNvPr>
          <p:cNvSpPr/>
          <p:nvPr/>
        </p:nvSpPr>
        <p:spPr>
          <a:xfrm>
            <a:off x="7309600" y="1661951"/>
            <a:ext cx="4272800" cy="1554195"/>
          </a:xfrm>
          <a:prstGeom prst="rect">
            <a:avLst/>
          </a:prstGeom>
          <a:solidFill>
            <a:srgbClr val="FFFFFF">
              <a:alpha val="12000"/>
            </a:srgbClr>
          </a:solidFill>
          <a:ln w="19050">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42" name="Rectangle 99141">
            <a:extLst>
              <a:ext uri="{FF2B5EF4-FFF2-40B4-BE49-F238E27FC236}">
                <a16:creationId xmlns:a16="http://schemas.microsoft.com/office/drawing/2014/main" id="{F46FD52A-F81D-E4E6-28DE-900AB70B0FDE}"/>
              </a:ext>
            </a:extLst>
          </p:cNvPr>
          <p:cNvSpPr/>
          <p:nvPr/>
        </p:nvSpPr>
        <p:spPr>
          <a:xfrm>
            <a:off x="7429600" y="1781951"/>
            <a:ext cx="4032800" cy="131419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6E9BFF"/>
                </a:solidFill>
                <a:effectLst/>
                <a:latin typeface="Segoe UI" panose="020B0502040204020203" pitchFamily="34" charset="0"/>
              </a:rPr>
              <a:t>BEFORE YOU CONTINUE</a:t>
            </a:r>
          </a:p>
          <a:p>
            <a:pPr algn="l">
              <a:buNone/>
            </a:pPr>
            <a:r>
              <a:rPr lang="en-US" sz="2000">
                <a:solidFill>
                  <a:srgbClr val="FFFFFF"/>
                </a:solidFill>
                <a:effectLst/>
                <a:latin typeface="Segoe UI" panose="020B0502040204020203" pitchFamily="34" charset="0"/>
              </a:rPr>
              <a:t>✓  Correct DEV environment</a:t>
            </a:r>
          </a:p>
          <a:p>
            <a:pPr algn="l">
              <a:buNone/>
            </a:pPr>
            <a:r>
              <a:rPr lang="en-US" sz="2000">
                <a:solidFill>
                  <a:srgbClr val="FFFFFF"/>
                </a:solidFill>
                <a:effectLst/>
                <a:latin typeface="Segoe UI" panose="020B0502040204020203" pitchFamily="34" charset="0"/>
              </a:rPr>
              <a:t>✓  USD 868.50 recorded</a:t>
            </a:r>
          </a:p>
          <a:p>
            <a:pPr algn="l">
              <a:buNone/>
            </a:pPr>
            <a:r>
              <a:rPr lang="en-US" sz="2000">
                <a:solidFill>
                  <a:srgbClr val="FFFFFF"/>
                </a:solidFill>
                <a:effectLst/>
                <a:latin typeface="Segoe UI" panose="020B0502040204020203" pitchFamily="34" charset="0"/>
              </a:rPr>
              <a:t>✓  No CL purchase order</a:t>
            </a:r>
            <a:endParaRPr lang="en-US"/>
          </a:p>
        </p:txBody>
      </p:sp>
      <p:sp>
        <p:nvSpPr>
          <p:cNvPr id="99205" name="Rectangle 99204">
            <a:extLst>
              <a:ext uri="{FF2B5EF4-FFF2-40B4-BE49-F238E27FC236}">
                <a16:creationId xmlns:a16="http://schemas.microsoft.com/office/drawing/2014/main" id="{F2E0C49E-F52F-6654-0F97-027EEDEF371B}"/>
              </a:ext>
            </a:extLst>
          </p:cNvPr>
          <p:cNvSpPr/>
          <p:nvPr/>
        </p:nvSpPr>
        <p:spPr>
          <a:xfrm>
            <a:off x="609600" y="4755136"/>
            <a:ext cx="10972800" cy="9474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69" name="Rectangle: Rounded Corners 99268">
            <a:extLst>
              <a:ext uri="{FF2B5EF4-FFF2-40B4-BE49-F238E27FC236}">
                <a16:creationId xmlns:a16="http://schemas.microsoft.com/office/drawing/2014/main" id="{CBE1A882-95E0-B83D-71EA-4EBEF99E4182}"/>
              </a:ext>
            </a:extLst>
          </p:cNvPr>
          <p:cNvSpPr/>
          <p:nvPr/>
        </p:nvSpPr>
        <p:spPr>
          <a:xfrm>
            <a:off x="759600" y="5058836"/>
            <a:ext cx="2192999"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NEXT · MODULE 2</a:t>
            </a:r>
          </a:p>
          <a:p>
            <a:pPr algn="ctr">
              <a:buNone/>
            </a:pPr>
            <a:r>
              <a:rPr lang="en-US" sz="100">
                <a:effectLst/>
              </a:rPr>
              <a:t> </a:t>
            </a:r>
            <a:endParaRPr lang="en-US"/>
          </a:p>
        </p:txBody>
      </p:sp>
      <p:sp>
        <p:nvSpPr>
          <p:cNvPr id="99334" name="Rectangle 99333">
            <a:extLst>
              <a:ext uri="{FF2B5EF4-FFF2-40B4-BE49-F238E27FC236}">
                <a16:creationId xmlns:a16="http://schemas.microsoft.com/office/drawing/2014/main" id="{2E760A45-E70D-060C-2021-ABB92D2BD917}"/>
              </a:ext>
            </a:extLst>
          </p:cNvPr>
          <p:cNvSpPr/>
          <p:nvPr/>
        </p:nvSpPr>
        <p:spPr>
          <a:xfrm>
            <a:off x="3102599" y="4835136"/>
            <a:ext cx="8329801" cy="787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Module 2 extends the Control Tower so analysts can compare recovery offers</a:t>
            </a:r>
          </a:p>
          <a:p>
            <a:pPr algn="l">
              <a:buNone/>
            </a:pPr>
            <a:r>
              <a:rPr lang="en-US" sz="100">
                <a:effectLst/>
              </a:rPr>
              <a:t> </a:t>
            </a:r>
            <a:endParaRPr lang="en-US"/>
          </a:p>
        </p:txBody>
      </p:sp>
    </p:spTree>
    <p:extLst>
      <p:ext uri="{BB962C8B-B14F-4D97-AF65-F5344CB8AC3E}">
        <p14:creationId xmlns:p14="http://schemas.microsoft.com/office/powerpoint/2010/main" val="599663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99400" name="Rectangle: Rounded Corners 99399">
            <a:extLst>
              <a:ext uri="{FF2B5EF4-FFF2-40B4-BE49-F238E27FC236}">
                <a16:creationId xmlns:a16="http://schemas.microsoft.com/office/drawing/2014/main" id="{12788566-D87D-CF13-BB43-478B60A35047}"/>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99467" name="Rectangle 99466">
            <a:extLst>
              <a:ext uri="{FF2B5EF4-FFF2-40B4-BE49-F238E27FC236}">
                <a16:creationId xmlns:a16="http://schemas.microsoft.com/office/drawing/2014/main" id="{B433F989-F8C7-E168-1FFD-E79F56535C43}"/>
              </a:ext>
            </a:extLst>
          </p:cNvPr>
          <p:cNvSpPr/>
          <p:nvPr/>
        </p:nvSpPr>
        <p:spPr>
          <a:xfrm>
            <a:off x="609600" y="1500000"/>
            <a:ext cx="2600000" cy="2600000"/>
          </a:xfrm>
          <a:prstGeom prst="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0" b="1">
                <a:solidFill>
                  <a:srgbClr val="0B1020"/>
                </a:solidFill>
                <a:effectLst/>
                <a:latin typeface="Segoe UI" panose="020B0502040204020203" pitchFamily="34" charset="0"/>
              </a:rPr>
              <a:t>2</a:t>
            </a:r>
          </a:p>
          <a:p>
            <a:pPr algn="ctr">
              <a:buNone/>
            </a:pPr>
            <a:r>
              <a:rPr lang="en-US" sz="100">
                <a:effectLst/>
              </a:rPr>
              <a:t> </a:t>
            </a:r>
            <a:endParaRPr lang="en-US"/>
          </a:p>
        </p:txBody>
      </p:sp>
      <p:sp>
        <p:nvSpPr>
          <p:cNvPr id="99535" name="Rectangle 99534">
            <a:extLst>
              <a:ext uri="{FF2B5EF4-FFF2-40B4-BE49-F238E27FC236}">
                <a16:creationId xmlns:a16="http://schemas.microsoft.com/office/drawing/2014/main" id="{556AAEA4-027B-AE1F-ACB7-916ADB710689}"/>
              </a:ext>
            </a:extLst>
          </p:cNvPr>
          <p:cNvSpPr/>
          <p:nvPr/>
        </p:nvSpPr>
        <p:spPr>
          <a:xfrm>
            <a:off x="3659600" y="1537073"/>
            <a:ext cx="792280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300">
                <a:solidFill>
                  <a:srgbClr val="2FFFE0"/>
                </a:solidFill>
                <a:effectLst/>
                <a:latin typeface="Segoe UI" panose="020B0502040204020203" pitchFamily="34" charset="0"/>
              </a:rPr>
              <a:t>MODULE 2</a:t>
            </a:r>
          </a:p>
          <a:p>
            <a:pPr algn="l">
              <a:buNone/>
            </a:pPr>
            <a:r>
              <a:rPr lang="en-US" sz="100">
                <a:effectLst/>
              </a:rPr>
              <a:t> </a:t>
            </a:r>
            <a:endParaRPr lang="en-US"/>
          </a:p>
        </p:txBody>
      </p:sp>
      <p:sp>
        <p:nvSpPr>
          <p:cNvPr id="99604" name="Rectangle 99603">
            <a:extLst>
              <a:ext uri="{FF2B5EF4-FFF2-40B4-BE49-F238E27FC236}">
                <a16:creationId xmlns:a16="http://schemas.microsoft.com/office/drawing/2014/main" id="{2A751DFF-5FB4-A2B0-9BF3-2A03F98AD7E5}"/>
              </a:ext>
            </a:extLst>
          </p:cNvPr>
          <p:cNvSpPr/>
          <p:nvPr/>
        </p:nvSpPr>
        <p:spPr>
          <a:xfrm>
            <a:off x="3659600" y="2014593"/>
            <a:ext cx="7922800" cy="863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Building the Control Tower</a:t>
            </a:r>
          </a:p>
          <a:p>
            <a:pPr algn="l">
              <a:buNone/>
            </a:pPr>
            <a:r>
              <a:rPr lang="en-US" sz="100">
                <a:effectLst/>
              </a:rPr>
              <a:t> </a:t>
            </a:r>
            <a:endParaRPr lang="en-US"/>
          </a:p>
        </p:txBody>
      </p:sp>
      <p:sp>
        <p:nvSpPr>
          <p:cNvPr id="99674" name="Rectangle 99673">
            <a:extLst>
              <a:ext uri="{FF2B5EF4-FFF2-40B4-BE49-F238E27FC236}">
                <a16:creationId xmlns:a16="http://schemas.microsoft.com/office/drawing/2014/main" id="{4E4163CB-DA76-CDC8-09CC-45414271069E}"/>
              </a:ext>
            </a:extLst>
          </p:cNvPr>
          <p:cNvSpPr/>
          <p:nvPr/>
        </p:nvSpPr>
        <p:spPr>
          <a:xfrm>
            <a:off x="3659600" y="2938193"/>
            <a:ext cx="7922800" cy="5547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a:solidFill>
                  <a:srgbClr val="D6D2E8"/>
                </a:solidFill>
                <a:effectLst/>
                <a:latin typeface="Segoe UI" panose="020B0502040204020203" pitchFamily="34" charset="0"/>
              </a:rPr>
              <a:t>Extend the Control Tower with App Builder</a:t>
            </a:r>
          </a:p>
          <a:p>
            <a:pPr algn="l">
              <a:buNone/>
            </a:pPr>
            <a:r>
              <a:rPr lang="en-US" sz="100">
                <a:effectLst/>
              </a:rPr>
              <a:t> </a:t>
            </a:r>
            <a:endParaRPr lang="en-US"/>
          </a:p>
        </p:txBody>
      </p:sp>
      <p:sp>
        <p:nvSpPr>
          <p:cNvPr id="99745" name="Rectangle: Rounded Corners 99744">
            <a:extLst>
              <a:ext uri="{FF2B5EF4-FFF2-40B4-BE49-F238E27FC236}">
                <a16:creationId xmlns:a16="http://schemas.microsoft.com/office/drawing/2014/main" id="{9243A0C2-A980-3394-6455-55379C8969BC}"/>
              </a:ext>
            </a:extLst>
          </p:cNvPr>
          <p:cNvSpPr/>
          <p:nvPr/>
        </p:nvSpPr>
        <p:spPr>
          <a:xfrm>
            <a:off x="3751040" y="3642928"/>
            <a:ext cx="1143451" cy="420000"/>
          </a:xfrm>
          <a:prstGeom prst="roundRect">
            <a:avLst/>
          </a:prstGeom>
          <a:solidFill>
            <a:srgbClr val="2FFFE0">
              <a:alpha val="22000"/>
            </a:srgbClr>
          </a:solidFill>
          <a:ln w="1270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spc="50">
                <a:solidFill>
                  <a:srgbClr val="FFFFFF"/>
                </a:solidFill>
                <a:latin typeface="Segoe UI"/>
                <a:cs typeface="Segoe UI"/>
              </a:rPr>
              <a:t>60 min</a:t>
            </a:r>
            <a:endParaRPr lang="en-US" sz="1800" b="1" spc="50">
              <a:solidFill>
                <a:srgbClr val="FFFFFF"/>
              </a:solidFill>
              <a:effectLst/>
              <a:latin typeface="Segoe UI"/>
              <a:cs typeface="Segoe UI"/>
            </a:endParaRPr>
          </a:p>
        </p:txBody>
      </p:sp>
      <p:sp>
        <p:nvSpPr>
          <p:cNvPr id="99817" name="Arrow: Pentagon 99816">
            <a:extLst>
              <a:ext uri="{FF2B5EF4-FFF2-40B4-BE49-F238E27FC236}">
                <a16:creationId xmlns:a16="http://schemas.microsoft.com/office/drawing/2014/main" id="{0C8D212C-99FE-FB26-06B1-36C435826AAF}"/>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99890" name="Arrow: Chevron 99889">
            <a:extLst>
              <a:ext uri="{FF2B5EF4-FFF2-40B4-BE49-F238E27FC236}">
                <a16:creationId xmlns:a16="http://schemas.microsoft.com/office/drawing/2014/main" id="{0D31C0C4-BBA9-D583-0EC6-CA0B052D3C5C}"/>
              </a:ext>
            </a:extLst>
          </p:cNvPr>
          <p:cNvSpPr/>
          <p:nvPr/>
        </p:nvSpPr>
        <p:spPr>
          <a:xfrm>
            <a:off x="2418400" y="5250000"/>
            <a:ext cx="1928800" cy="600000"/>
          </a:xfrm>
          <a:prstGeom prst="chevron">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99964" name="Arrow: Chevron 99963">
            <a:extLst>
              <a:ext uri="{FF2B5EF4-FFF2-40B4-BE49-F238E27FC236}">
                <a16:creationId xmlns:a16="http://schemas.microsoft.com/office/drawing/2014/main" id="{DB9BE582-9353-CB62-B457-1762D8081F89}"/>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100039" name="Arrow: Chevron 100038">
            <a:extLst>
              <a:ext uri="{FF2B5EF4-FFF2-40B4-BE49-F238E27FC236}">
                <a16:creationId xmlns:a16="http://schemas.microsoft.com/office/drawing/2014/main" id="{F7D4FB2D-BECB-FDFA-66E6-2C8FF619A1AB}"/>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100115" name="Arrow: Chevron 100114">
            <a:extLst>
              <a:ext uri="{FF2B5EF4-FFF2-40B4-BE49-F238E27FC236}">
                <a16:creationId xmlns:a16="http://schemas.microsoft.com/office/drawing/2014/main" id="{7E6F1386-1625-A902-F6B0-86A7B201D734}"/>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100192" name="Arrow: Chevron 100191">
            <a:extLst>
              <a:ext uri="{FF2B5EF4-FFF2-40B4-BE49-F238E27FC236}">
                <a16:creationId xmlns:a16="http://schemas.microsoft.com/office/drawing/2014/main" id="{EB536DB1-98CB-9650-396A-FE6AE51D002A}"/>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4185952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00270" name="Rectangle: Rounded Corners 100269">
            <a:extLst>
              <a:ext uri="{FF2B5EF4-FFF2-40B4-BE49-F238E27FC236}">
                <a16:creationId xmlns:a16="http://schemas.microsoft.com/office/drawing/2014/main" id="{DB8175FD-D7BC-0926-0D89-B1D354AAFDC9}"/>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00349" name="Rectangle 100348">
            <a:extLst>
              <a:ext uri="{FF2B5EF4-FFF2-40B4-BE49-F238E27FC236}">
                <a16:creationId xmlns:a16="http://schemas.microsoft.com/office/drawing/2014/main" id="{B6723D70-24BA-26F5-B436-0323908491E3}"/>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Extend the Control Tower with App Builder</a:t>
            </a:r>
          </a:p>
          <a:p>
            <a:pPr algn="l">
              <a:buNone/>
            </a:pPr>
            <a:r>
              <a:rPr lang="en-US" sz="100">
                <a:effectLst/>
              </a:rPr>
              <a:t> </a:t>
            </a:r>
            <a:endParaRPr lang="en-US"/>
          </a:p>
        </p:txBody>
      </p:sp>
      <p:sp>
        <p:nvSpPr>
          <p:cNvPr id="100429" name="Rectangle 100428">
            <a:extLst>
              <a:ext uri="{FF2B5EF4-FFF2-40B4-BE49-F238E27FC236}">
                <a16:creationId xmlns:a16="http://schemas.microsoft.com/office/drawing/2014/main" id="{30BED5E7-5F3C-DCAC-5D61-858B050FEC43}"/>
              </a:ext>
            </a:extLst>
          </p:cNvPr>
          <p:cNvSpPr/>
          <p:nvPr/>
        </p:nvSpPr>
        <p:spPr>
          <a:xfrm>
            <a:off x="609600" y="1661951"/>
            <a:ext cx="6500000" cy="141477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WHAT YOU WILL BUILD</a:t>
            </a:r>
          </a:p>
          <a:p>
            <a:pPr algn="l">
              <a:buNone/>
            </a:pPr>
            <a:r>
              <a:rPr lang="en-US" sz="2200">
                <a:solidFill>
                  <a:srgbClr val="FFFFFF"/>
                </a:solidFill>
                <a:effectLst/>
                <a:latin typeface="Segoe UI" panose="020B0502040204020203" pitchFamily="34" charset="0"/>
              </a:rPr>
              <a:t>A Supplier Recovery Offer extension — table, form, two views, navigation, and a related grid on Disruption Case</a:t>
            </a:r>
            <a:endParaRPr lang="en-US"/>
          </a:p>
        </p:txBody>
      </p:sp>
      <p:sp>
        <p:nvSpPr>
          <p:cNvPr id="100510" name="Rectangle 100509">
            <a:extLst>
              <a:ext uri="{FF2B5EF4-FFF2-40B4-BE49-F238E27FC236}">
                <a16:creationId xmlns:a16="http://schemas.microsoft.com/office/drawing/2014/main" id="{EFB3171A-4DF9-44AA-81D8-C4E08E1AB005}"/>
              </a:ext>
            </a:extLst>
          </p:cNvPr>
          <p:cNvSpPr/>
          <p:nvPr/>
        </p:nvSpPr>
        <p:spPr>
          <a:xfrm>
            <a:off x="609600" y="3296730"/>
            <a:ext cx="6500000" cy="107391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BUSINESS OUTCOME</a:t>
            </a:r>
          </a:p>
          <a:p>
            <a:pPr algn="l">
              <a:buNone/>
            </a:pPr>
            <a:r>
              <a:rPr lang="en-US" sz="2200">
                <a:solidFill>
                  <a:srgbClr val="FFFFFF"/>
                </a:solidFill>
                <a:effectLst/>
                <a:latin typeface="Segoe UI" panose="020B0502040204020203" pitchFamily="34" charset="0"/>
              </a:rPr>
              <a:t>Analysts compare supplier offers in a structured way before anyone approves recovery</a:t>
            </a:r>
            <a:endParaRPr lang="en-US"/>
          </a:p>
        </p:txBody>
      </p:sp>
      <p:sp>
        <p:nvSpPr>
          <p:cNvPr id="100592" name="Rectangle 100591">
            <a:extLst>
              <a:ext uri="{FF2B5EF4-FFF2-40B4-BE49-F238E27FC236}">
                <a16:creationId xmlns:a16="http://schemas.microsoft.com/office/drawing/2014/main" id="{AABC03B1-5C0C-34E3-8CF1-D10456F32580}"/>
              </a:ext>
            </a:extLst>
          </p:cNvPr>
          <p:cNvSpPr/>
          <p:nvPr/>
        </p:nvSpPr>
        <p:spPr>
          <a:xfrm>
            <a:off x="7489600" y="1661951"/>
            <a:ext cx="4092800" cy="1357731"/>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75" name="Rectangle 100674">
            <a:extLst>
              <a:ext uri="{FF2B5EF4-FFF2-40B4-BE49-F238E27FC236}">
                <a16:creationId xmlns:a16="http://schemas.microsoft.com/office/drawing/2014/main" id="{5331D592-0EA3-ABE8-9684-057CDB989270}"/>
              </a:ext>
            </a:extLst>
          </p:cNvPr>
          <p:cNvSpPr/>
          <p:nvPr/>
        </p:nvSpPr>
        <p:spPr>
          <a:xfrm>
            <a:off x="7589600" y="1761951"/>
            <a:ext cx="3892800" cy="11577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400" b="1">
                <a:solidFill>
                  <a:srgbClr val="2FFFE0"/>
                </a:solidFill>
                <a:effectLst/>
                <a:latin typeface="Segoe UI" panose="020B0502040204020203" pitchFamily="34" charset="0"/>
              </a:rPr>
              <a:t>DURATION</a:t>
            </a:r>
          </a:p>
          <a:p>
            <a:pPr algn="l">
              <a:buNone/>
            </a:pPr>
            <a:r>
              <a:rPr lang="en-US" sz="4400" b="1">
                <a:solidFill>
                  <a:srgbClr val="FFFFFF"/>
                </a:solidFill>
                <a:latin typeface="Segoe UI"/>
                <a:cs typeface="Segoe UI"/>
              </a:rPr>
              <a:t>60</a:t>
            </a:r>
            <a:r>
              <a:rPr lang="en-US" sz="4400" b="1">
                <a:solidFill>
                  <a:srgbClr val="FFFFFF"/>
                </a:solidFill>
                <a:effectLst/>
                <a:latin typeface="Segoe UI"/>
                <a:cs typeface="Segoe UI"/>
              </a:rPr>
              <a:t> min</a:t>
            </a:r>
            <a:endParaRPr lang="en-US">
              <a:latin typeface="Segoe UI"/>
              <a:cs typeface="Segoe UI"/>
            </a:endParaRPr>
          </a:p>
        </p:txBody>
      </p:sp>
      <p:sp>
        <p:nvSpPr>
          <p:cNvPr id="100759" name="Rectangle 100758">
            <a:extLst>
              <a:ext uri="{FF2B5EF4-FFF2-40B4-BE49-F238E27FC236}">
                <a16:creationId xmlns:a16="http://schemas.microsoft.com/office/drawing/2014/main" id="{CF1824D4-9D5D-9312-2817-45E87310B2FA}"/>
              </a:ext>
            </a:extLst>
          </p:cNvPr>
          <p:cNvSpPr/>
          <p:nvPr/>
        </p:nvSpPr>
        <p:spPr>
          <a:xfrm>
            <a:off x="7489600" y="3199682"/>
            <a:ext cx="4092800" cy="131419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WHERE IT FITS</a:t>
            </a:r>
          </a:p>
          <a:p>
            <a:pPr algn="l">
              <a:buNone/>
            </a:pPr>
            <a:r>
              <a:rPr lang="en-US" sz="2000">
                <a:solidFill>
                  <a:srgbClr val="FFFFFF"/>
                </a:solidFill>
                <a:effectLst/>
                <a:latin typeface="Segoe UI" panose="020B0502040204020203" pitchFamily="34" charset="0"/>
              </a:rPr>
              <a:t>Adds decision-support data to the app that people use to supervise the process</a:t>
            </a:r>
            <a:endParaRPr lang="en-US"/>
          </a:p>
        </p:txBody>
      </p:sp>
      <p:sp>
        <p:nvSpPr>
          <p:cNvPr id="100844" name="Rectangle 100843">
            <a:extLst>
              <a:ext uri="{FF2B5EF4-FFF2-40B4-BE49-F238E27FC236}">
                <a16:creationId xmlns:a16="http://schemas.microsoft.com/office/drawing/2014/main" id="{2E75F6C9-0887-902B-531A-67D7BF31F51B}"/>
              </a:ext>
            </a:extLst>
          </p:cNvPr>
          <p:cNvSpPr/>
          <p:nvPr/>
        </p:nvSpPr>
        <p:spPr>
          <a:xfrm>
            <a:off x="609600" y="4813877"/>
            <a:ext cx="5076400" cy="1204315"/>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30" name="Rectangle 100929">
            <a:extLst>
              <a:ext uri="{FF2B5EF4-FFF2-40B4-BE49-F238E27FC236}">
                <a16:creationId xmlns:a16="http://schemas.microsoft.com/office/drawing/2014/main" id="{490E7056-0FC0-7C2A-0793-5EE6AEAE6E0B}"/>
              </a:ext>
            </a:extLst>
          </p:cNvPr>
          <p:cNvSpPr/>
          <p:nvPr/>
        </p:nvSpPr>
        <p:spPr>
          <a:xfrm>
            <a:off x="709600" y="4913877"/>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D6D2E8"/>
                </a:solidFill>
                <a:effectLst/>
                <a:latin typeface="Segoe UI" panose="020B0502040204020203" pitchFamily="34" charset="0"/>
              </a:rPr>
              <a:t>FROM</a:t>
            </a:r>
          </a:p>
          <a:p>
            <a:pPr algn="l">
              <a:buNone/>
            </a:pPr>
            <a:r>
              <a:rPr lang="en-US" sz="2000">
                <a:solidFill>
                  <a:srgbClr val="FFFFFF"/>
                </a:solidFill>
                <a:effectLst/>
                <a:latin typeface="Segoe UI" panose="020B0502040204020203" pitchFamily="34" charset="0"/>
              </a:rPr>
              <a:t>A verified baseline (Module 1)</a:t>
            </a:r>
            <a:endParaRPr lang="en-US"/>
          </a:p>
        </p:txBody>
      </p:sp>
      <p:sp>
        <p:nvSpPr>
          <p:cNvPr id="101017" name="Arrow: Right 101016">
            <a:extLst>
              <a:ext uri="{FF2B5EF4-FFF2-40B4-BE49-F238E27FC236}">
                <a16:creationId xmlns:a16="http://schemas.microsoft.com/office/drawing/2014/main" id="{49CBD644-081D-032C-6722-2A92ED6E19D7}"/>
              </a:ext>
            </a:extLst>
          </p:cNvPr>
          <p:cNvSpPr/>
          <p:nvPr/>
        </p:nvSpPr>
        <p:spPr>
          <a:xfrm>
            <a:off x="5836000" y="5216034"/>
            <a:ext cx="520000" cy="400000"/>
          </a:xfrm>
          <a:prstGeom prst="rightArrow">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05" name="Rectangle 101104">
            <a:extLst>
              <a:ext uri="{FF2B5EF4-FFF2-40B4-BE49-F238E27FC236}">
                <a16:creationId xmlns:a16="http://schemas.microsoft.com/office/drawing/2014/main" id="{91EE0DFE-3BE1-476C-41C5-0F09944A327A}"/>
              </a:ext>
            </a:extLst>
          </p:cNvPr>
          <p:cNvSpPr/>
          <p:nvPr/>
        </p:nvSpPr>
        <p:spPr>
          <a:xfrm>
            <a:off x="6506000" y="4813877"/>
            <a:ext cx="5076400" cy="1204315"/>
          </a:xfrm>
          <a:prstGeom prst="rect">
            <a:avLst/>
          </a:prstGeom>
          <a:solidFill>
            <a:srgbClr val="FFFFFF">
              <a:alpha val="7000"/>
            </a:srgbClr>
          </a:solidFill>
          <a:ln w="1905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94" name="Rectangle 101193">
            <a:extLst>
              <a:ext uri="{FF2B5EF4-FFF2-40B4-BE49-F238E27FC236}">
                <a16:creationId xmlns:a16="http://schemas.microsoft.com/office/drawing/2014/main" id="{CDA416A5-1DAE-F4CA-4DF2-DC8642E2C67B}"/>
              </a:ext>
            </a:extLst>
          </p:cNvPr>
          <p:cNvSpPr/>
          <p:nvPr/>
        </p:nvSpPr>
        <p:spPr>
          <a:xfrm>
            <a:off x="6606000" y="4913877"/>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TO</a:t>
            </a:r>
          </a:p>
          <a:p>
            <a:pPr algn="l">
              <a:buNone/>
            </a:pPr>
            <a:r>
              <a:rPr lang="en-US" sz="2000">
                <a:solidFill>
                  <a:srgbClr val="FFFFFF"/>
                </a:solidFill>
                <a:effectLst/>
                <a:latin typeface="Segoe UI" panose="020B0502040204020203" pitchFamily="34" charset="0"/>
              </a:rPr>
              <a:t>An app extended with AI-assisted building</a:t>
            </a:r>
            <a:endParaRPr lang="en-US"/>
          </a:p>
        </p:txBody>
      </p:sp>
    </p:spTree>
    <p:extLst>
      <p:ext uri="{BB962C8B-B14F-4D97-AF65-F5344CB8AC3E}">
        <p14:creationId xmlns:p14="http://schemas.microsoft.com/office/powerpoint/2010/main" val="2082045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01284" name="Rectangle: Rounded Corners 101283">
            <a:extLst>
              <a:ext uri="{FF2B5EF4-FFF2-40B4-BE49-F238E27FC236}">
                <a16:creationId xmlns:a16="http://schemas.microsoft.com/office/drawing/2014/main" id="{AB309304-02C8-36D6-526A-F60E649E0E64}"/>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233649" name="Rectangle 233648">
            <a:extLst>
              <a:ext uri="{FF2B5EF4-FFF2-40B4-BE49-F238E27FC236}">
                <a16:creationId xmlns:a16="http://schemas.microsoft.com/office/drawing/2014/main" id="{3B060F4D-E0C2-3063-FB9A-FB4DA44F7B6F}"/>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2 key features: build the app with AI</a:t>
            </a:r>
          </a:p>
          <a:p>
            <a:pPr algn="l">
              <a:buNone/>
            </a:pPr>
            <a:r>
              <a:rPr lang="en-US" sz="100">
                <a:effectLst/>
              </a:rPr>
              <a:t> </a:t>
            </a:r>
            <a:endParaRPr lang="en-US"/>
          </a:p>
        </p:txBody>
      </p:sp>
      <p:sp>
        <p:nvSpPr>
          <p:cNvPr id="233651" name="Rectangle 233650">
            <a:extLst>
              <a:ext uri="{FF2B5EF4-FFF2-40B4-BE49-F238E27FC236}">
                <a16:creationId xmlns:a16="http://schemas.microsoft.com/office/drawing/2014/main" id="{032D300A-F012-AA8F-A295-50B38DA7B049}"/>
              </a:ext>
            </a:extLst>
          </p:cNvPr>
          <p:cNvSpPr/>
          <p:nvPr/>
        </p:nvSpPr>
        <p:spPr>
          <a:xfrm>
            <a:off x="609600" y="1560000"/>
            <a:ext cx="10972800" cy="340000"/>
          </a:xfrm>
          <a:prstGeom prst="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654" name="Rectangle 233653">
            <a:extLst>
              <a:ext uri="{FF2B5EF4-FFF2-40B4-BE49-F238E27FC236}">
                <a16:creationId xmlns:a16="http://schemas.microsoft.com/office/drawing/2014/main" id="{7A1594DF-7E00-D102-56C4-5803C37932BA}"/>
              </a:ext>
            </a:extLst>
          </p:cNvPr>
          <p:cNvSpPr/>
          <p:nvPr/>
        </p:nvSpPr>
        <p:spPr>
          <a:xfrm>
            <a:off x="639600" y="1560000"/>
            <a:ext cx="19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Feature</a:t>
            </a:r>
          </a:p>
          <a:p>
            <a:pPr algn="l">
              <a:buNone/>
            </a:pPr>
            <a:r>
              <a:rPr lang="en-US" sz="100">
                <a:effectLst/>
              </a:rPr>
              <a:t> </a:t>
            </a:r>
            <a:endParaRPr lang="en-US"/>
          </a:p>
        </p:txBody>
      </p:sp>
      <p:sp>
        <p:nvSpPr>
          <p:cNvPr id="233658" name="Rectangle 233657">
            <a:extLst>
              <a:ext uri="{FF2B5EF4-FFF2-40B4-BE49-F238E27FC236}">
                <a16:creationId xmlns:a16="http://schemas.microsoft.com/office/drawing/2014/main" id="{1206DBC2-6F85-45E8-9484-FFD8A9D39965}"/>
              </a:ext>
            </a:extLst>
          </p:cNvPr>
          <p:cNvSpPr/>
          <p:nvPr/>
        </p:nvSpPr>
        <p:spPr>
          <a:xfrm>
            <a:off x="2639600" y="1560000"/>
            <a:ext cx="339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What it is</a:t>
            </a:r>
          </a:p>
          <a:p>
            <a:pPr algn="l">
              <a:buNone/>
            </a:pPr>
            <a:r>
              <a:rPr lang="en-US" sz="100">
                <a:effectLst/>
              </a:rPr>
              <a:t> </a:t>
            </a:r>
            <a:endParaRPr lang="en-US"/>
          </a:p>
        </p:txBody>
      </p:sp>
      <p:sp>
        <p:nvSpPr>
          <p:cNvPr id="233663" name="Rectangle 233662">
            <a:extLst>
              <a:ext uri="{FF2B5EF4-FFF2-40B4-BE49-F238E27FC236}">
                <a16:creationId xmlns:a16="http://schemas.microsoft.com/office/drawing/2014/main" id="{434F03B1-6C8A-A1B2-32DE-02330B0767EE}"/>
              </a:ext>
            </a:extLst>
          </p:cNvPr>
          <p:cNvSpPr/>
          <p:nvPr/>
        </p:nvSpPr>
        <p:spPr>
          <a:xfrm>
            <a:off x="6089600" y="1560000"/>
            <a:ext cx="31628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What it helps accomplish</a:t>
            </a:r>
          </a:p>
          <a:p>
            <a:pPr algn="l">
              <a:buNone/>
            </a:pPr>
            <a:r>
              <a:rPr lang="en-US" sz="100">
                <a:effectLst/>
              </a:rPr>
              <a:t> </a:t>
            </a:r>
            <a:endParaRPr lang="en-US"/>
          </a:p>
        </p:txBody>
      </p:sp>
      <p:sp>
        <p:nvSpPr>
          <p:cNvPr id="233669" name="Rectangle 233668">
            <a:extLst>
              <a:ext uri="{FF2B5EF4-FFF2-40B4-BE49-F238E27FC236}">
                <a16:creationId xmlns:a16="http://schemas.microsoft.com/office/drawing/2014/main" id="{3946933C-246A-B283-F251-C911A11FE395}"/>
              </a:ext>
            </a:extLst>
          </p:cNvPr>
          <p:cNvSpPr/>
          <p:nvPr/>
        </p:nvSpPr>
        <p:spPr>
          <a:xfrm>
            <a:off x="9312400" y="1560000"/>
            <a:ext cx="22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In this workshop</a:t>
            </a:r>
          </a:p>
          <a:p>
            <a:pPr algn="ctr">
              <a:buNone/>
            </a:pPr>
            <a:r>
              <a:rPr lang="en-US" sz="100">
                <a:effectLst/>
              </a:rPr>
              <a:t> </a:t>
            </a:r>
            <a:endParaRPr lang="en-US"/>
          </a:p>
        </p:txBody>
      </p:sp>
      <p:sp>
        <p:nvSpPr>
          <p:cNvPr id="233676" name="Rectangle 233675">
            <a:extLst>
              <a:ext uri="{FF2B5EF4-FFF2-40B4-BE49-F238E27FC236}">
                <a16:creationId xmlns:a16="http://schemas.microsoft.com/office/drawing/2014/main" id="{5A498C01-4937-B3F5-9648-2127FE03F673}"/>
              </a:ext>
            </a:extLst>
          </p:cNvPr>
          <p:cNvSpPr/>
          <p:nvPr/>
        </p:nvSpPr>
        <p:spPr>
          <a:xfrm>
            <a:off x="609600" y="1900000"/>
            <a:ext cx="10972800" cy="1565900"/>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684" name="Rectangle 233683">
            <a:extLst>
              <a:ext uri="{FF2B5EF4-FFF2-40B4-BE49-F238E27FC236}">
                <a16:creationId xmlns:a16="http://schemas.microsoft.com/office/drawing/2014/main" id="{87D7153E-7F59-4C32-B414-877CFAE601AD}"/>
              </a:ext>
            </a:extLst>
          </p:cNvPr>
          <p:cNvSpPr/>
          <p:nvPr/>
        </p:nvSpPr>
        <p:spPr>
          <a:xfrm>
            <a:off x="609600" y="3453200"/>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693" name="Rectangle 233692">
            <a:extLst>
              <a:ext uri="{FF2B5EF4-FFF2-40B4-BE49-F238E27FC236}">
                <a16:creationId xmlns:a16="http://schemas.microsoft.com/office/drawing/2014/main" id="{A89CEE37-5097-BEA2-A47C-FA848AC5B225}"/>
              </a:ext>
            </a:extLst>
          </p:cNvPr>
          <p:cNvSpPr/>
          <p:nvPr/>
        </p:nvSpPr>
        <p:spPr>
          <a:xfrm>
            <a:off x="639600" y="1900000"/>
            <a:ext cx="1940000" cy="1565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FFFE0"/>
                </a:solidFill>
                <a:effectLst/>
                <a:latin typeface="Segoe UI" panose="020B0502040204020203" pitchFamily="34" charset="0"/>
              </a:rPr>
              <a:t>Generative pages</a:t>
            </a:r>
          </a:p>
          <a:p>
            <a:pPr algn="l">
              <a:buNone/>
            </a:pPr>
            <a:r>
              <a:rPr lang="en-US" sz="100">
                <a:effectLst/>
              </a:rPr>
              <a:t> </a:t>
            </a:r>
            <a:endParaRPr lang="en-US"/>
          </a:p>
        </p:txBody>
      </p:sp>
      <p:sp>
        <p:nvSpPr>
          <p:cNvPr id="233703" name="Rectangle 233702">
            <a:extLst>
              <a:ext uri="{FF2B5EF4-FFF2-40B4-BE49-F238E27FC236}">
                <a16:creationId xmlns:a16="http://schemas.microsoft.com/office/drawing/2014/main" id="{7AEC17FA-0B9E-5E12-CB84-26184CBDC88C}"/>
              </a:ext>
            </a:extLst>
          </p:cNvPr>
          <p:cNvSpPr/>
          <p:nvPr/>
        </p:nvSpPr>
        <p:spPr>
          <a:xfrm>
            <a:off x="2639600" y="1900000"/>
            <a:ext cx="3390000" cy="1565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Describe a page in natural language; AI generates a React-based page for a model-driven app from Dataverse tables</a:t>
            </a:r>
          </a:p>
          <a:p>
            <a:pPr algn="l">
              <a:buNone/>
            </a:pPr>
            <a:r>
              <a:rPr lang="en-US" sz="100">
                <a:effectLst/>
              </a:rPr>
              <a:t> </a:t>
            </a:r>
            <a:endParaRPr lang="en-US"/>
          </a:p>
        </p:txBody>
      </p:sp>
      <p:sp>
        <p:nvSpPr>
          <p:cNvPr id="233714" name="Rectangle 233713">
            <a:extLst>
              <a:ext uri="{FF2B5EF4-FFF2-40B4-BE49-F238E27FC236}">
                <a16:creationId xmlns:a16="http://schemas.microsoft.com/office/drawing/2014/main" id="{BB99C9DF-9E90-1643-A41B-E5C952F19790}"/>
              </a:ext>
            </a:extLst>
          </p:cNvPr>
          <p:cNvSpPr/>
          <p:nvPr/>
        </p:nvSpPr>
        <p:spPr>
          <a:xfrm>
            <a:off x="6089600" y="1900000"/>
            <a:ext cx="3162800" cy="1565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Modern, task-focused pages without hand-coding — like the Control Tower Home page</a:t>
            </a:r>
          </a:p>
          <a:p>
            <a:pPr algn="l">
              <a:buNone/>
            </a:pPr>
            <a:r>
              <a:rPr lang="en-US" sz="100">
                <a:effectLst/>
              </a:rPr>
              <a:t> </a:t>
            </a:r>
            <a:endParaRPr lang="en-US"/>
          </a:p>
        </p:txBody>
      </p:sp>
      <p:sp>
        <p:nvSpPr>
          <p:cNvPr id="233726" name="Rectangle: Rounded Corners 233725">
            <a:extLst>
              <a:ext uri="{FF2B5EF4-FFF2-40B4-BE49-F238E27FC236}">
                <a16:creationId xmlns:a16="http://schemas.microsoft.com/office/drawing/2014/main" id="{687612A8-E53E-A5C0-91B5-E3457168F4FF}"/>
              </a:ext>
            </a:extLst>
          </p:cNvPr>
          <p:cNvSpPr/>
          <p:nvPr/>
        </p:nvSpPr>
        <p:spPr>
          <a:xfrm>
            <a:off x="9332400" y="2482950"/>
            <a:ext cx="2200000" cy="400000"/>
          </a:xfrm>
          <a:prstGeom prst="roundRect">
            <a:avLst/>
          </a:prstGeom>
          <a:solidFill>
            <a:srgbClr val="2FFFE0">
              <a:alpha val="0"/>
            </a:srgbClr>
          </a:solidFill>
          <a:ln w="1905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Segoe UI" panose="020B0502040204020203" pitchFamily="34" charset="0"/>
              </a:rPr>
              <a:t>Used in lab</a:t>
            </a:r>
          </a:p>
          <a:p>
            <a:pPr algn="ctr">
              <a:buNone/>
            </a:pPr>
            <a:r>
              <a:rPr lang="en-US" sz="100">
                <a:effectLst/>
              </a:rPr>
              <a:t> </a:t>
            </a:r>
            <a:endParaRPr lang="en-US"/>
          </a:p>
        </p:txBody>
      </p:sp>
      <p:sp>
        <p:nvSpPr>
          <p:cNvPr id="233739" name="Rectangle 233738">
            <a:extLst>
              <a:ext uri="{FF2B5EF4-FFF2-40B4-BE49-F238E27FC236}">
                <a16:creationId xmlns:a16="http://schemas.microsoft.com/office/drawing/2014/main" id="{4FF83826-95ED-4E1D-C229-C503239C6201}"/>
              </a:ext>
            </a:extLst>
          </p:cNvPr>
          <p:cNvSpPr/>
          <p:nvPr/>
        </p:nvSpPr>
        <p:spPr>
          <a:xfrm>
            <a:off x="609600" y="3465900"/>
            <a:ext cx="10972800" cy="1287008"/>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753" name="Rectangle 233752">
            <a:extLst>
              <a:ext uri="{FF2B5EF4-FFF2-40B4-BE49-F238E27FC236}">
                <a16:creationId xmlns:a16="http://schemas.microsoft.com/office/drawing/2014/main" id="{EA05BB39-803C-01C4-9FDA-5781ECE486CB}"/>
              </a:ext>
            </a:extLst>
          </p:cNvPr>
          <p:cNvSpPr/>
          <p:nvPr/>
        </p:nvSpPr>
        <p:spPr>
          <a:xfrm>
            <a:off x="609600" y="4740208"/>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768" name="Rectangle 233767">
            <a:extLst>
              <a:ext uri="{FF2B5EF4-FFF2-40B4-BE49-F238E27FC236}">
                <a16:creationId xmlns:a16="http://schemas.microsoft.com/office/drawing/2014/main" id="{AB4C7D7F-50DD-1AB6-E05C-F29DBF6CDA6E}"/>
              </a:ext>
            </a:extLst>
          </p:cNvPr>
          <p:cNvSpPr/>
          <p:nvPr/>
        </p:nvSpPr>
        <p:spPr>
          <a:xfrm>
            <a:off x="639600" y="3465900"/>
            <a:ext cx="19400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FFFE0"/>
                </a:solidFill>
                <a:effectLst/>
                <a:latin typeface="Segoe UI" panose="020B0502040204020203" pitchFamily="34" charset="0"/>
              </a:rPr>
              <a:t>App Builder for model-driven apps (vibe coding)</a:t>
            </a:r>
          </a:p>
          <a:p>
            <a:pPr algn="l">
              <a:buNone/>
            </a:pPr>
            <a:r>
              <a:rPr lang="en-US" sz="100">
                <a:effectLst/>
              </a:rPr>
              <a:t> </a:t>
            </a:r>
            <a:endParaRPr lang="en-US"/>
          </a:p>
        </p:txBody>
      </p:sp>
      <p:sp>
        <p:nvSpPr>
          <p:cNvPr id="233784" name="Rectangle 233783">
            <a:extLst>
              <a:ext uri="{FF2B5EF4-FFF2-40B4-BE49-F238E27FC236}">
                <a16:creationId xmlns:a16="http://schemas.microsoft.com/office/drawing/2014/main" id="{99346FE7-B575-0432-C15D-172052F52520}"/>
              </a:ext>
            </a:extLst>
          </p:cNvPr>
          <p:cNvSpPr/>
          <p:nvPr/>
        </p:nvSpPr>
        <p:spPr>
          <a:xfrm>
            <a:off x="2639600" y="3465900"/>
            <a:ext cx="33900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The app-builder skill in the Power Apps model-apps plugin for GitHub Copilot CLI</a:t>
            </a:r>
          </a:p>
          <a:p>
            <a:pPr algn="l">
              <a:buNone/>
            </a:pPr>
            <a:r>
              <a:rPr lang="en-US" sz="100">
                <a:effectLst/>
              </a:rPr>
              <a:t> </a:t>
            </a:r>
            <a:endParaRPr lang="en-US"/>
          </a:p>
        </p:txBody>
      </p:sp>
      <p:sp>
        <p:nvSpPr>
          <p:cNvPr id="233801" name="Rectangle 233800">
            <a:extLst>
              <a:ext uri="{FF2B5EF4-FFF2-40B4-BE49-F238E27FC236}">
                <a16:creationId xmlns:a16="http://schemas.microsoft.com/office/drawing/2014/main" id="{2A92F9AE-A507-443B-5B62-D2C74C50B753}"/>
              </a:ext>
            </a:extLst>
          </p:cNvPr>
          <p:cNvSpPr/>
          <p:nvPr/>
        </p:nvSpPr>
        <p:spPr>
          <a:xfrm>
            <a:off x="6089600" y="3465900"/>
            <a:ext cx="31628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Extend an existing app from a requirements spec, with a reviewed dry-run plan before any change</a:t>
            </a:r>
          </a:p>
          <a:p>
            <a:pPr algn="l">
              <a:buNone/>
            </a:pPr>
            <a:r>
              <a:rPr lang="en-US" sz="100">
                <a:effectLst/>
              </a:rPr>
              <a:t> </a:t>
            </a:r>
            <a:endParaRPr lang="en-US"/>
          </a:p>
        </p:txBody>
      </p:sp>
      <p:sp>
        <p:nvSpPr>
          <p:cNvPr id="233819" name="Rectangle: Rounded Corners 233818">
            <a:extLst>
              <a:ext uri="{FF2B5EF4-FFF2-40B4-BE49-F238E27FC236}">
                <a16:creationId xmlns:a16="http://schemas.microsoft.com/office/drawing/2014/main" id="{67C72DB9-AA57-4404-4EFD-36628E59EE42}"/>
              </a:ext>
            </a:extLst>
          </p:cNvPr>
          <p:cNvSpPr/>
          <p:nvPr/>
        </p:nvSpPr>
        <p:spPr>
          <a:xfrm>
            <a:off x="9332400" y="3909404"/>
            <a:ext cx="2200000" cy="40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3838" name="Rectangle 233837">
            <a:extLst>
              <a:ext uri="{FF2B5EF4-FFF2-40B4-BE49-F238E27FC236}">
                <a16:creationId xmlns:a16="http://schemas.microsoft.com/office/drawing/2014/main" id="{52E34934-5DDA-DC38-41A0-39D91C1D581D}"/>
              </a:ext>
            </a:extLst>
          </p:cNvPr>
          <p:cNvSpPr/>
          <p:nvPr/>
        </p:nvSpPr>
        <p:spPr>
          <a:xfrm>
            <a:off x="609600" y="4752908"/>
            <a:ext cx="10972800" cy="1287008"/>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858" name="Rectangle 233857">
            <a:extLst>
              <a:ext uri="{FF2B5EF4-FFF2-40B4-BE49-F238E27FC236}">
                <a16:creationId xmlns:a16="http://schemas.microsoft.com/office/drawing/2014/main" id="{BD671E10-FB4C-A56D-C1F4-43129ADB899A}"/>
              </a:ext>
            </a:extLst>
          </p:cNvPr>
          <p:cNvSpPr/>
          <p:nvPr/>
        </p:nvSpPr>
        <p:spPr>
          <a:xfrm>
            <a:off x="609600" y="6027216"/>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879" name="Rectangle 233878">
            <a:extLst>
              <a:ext uri="{FF2B5EF4-FFF2-40B4-BE49-F238E27FC236}">
                <a16:creationId xmlns:a16="http://schemas.microsoft.com/office/drawing/2014/main" id="{ED648E8D-13E8-C995-EDE8-72E241D2E3FD}"/>
              </a:ext>
            </a:extLst>
          </p:cNvPr>
          <p:cNvSpPr/>
          <p:nvPr/>
        </p:nvSpPr>
        <p:spPr>
          <a:xfrm>
            <a:off x="639600" y="4752908"/>
            <a:ext cx="19400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FFFE0"/>
                </a:solidFill>
                <a:effectLst/>
                <a:latin typeface="Segoe UI" panose="020B0502040204020203" pitchFamily="34" charset="0"/>
              </a:rPr>
              <a:t>Vibe coding canvas apps</a:t>
            </a:r>
          </a:p>
          <a:p>
            <a:pPr algn="l">
              <a:buNone/>
            </a:pPr>
            <a:r>
              <a:rPr lang="en-US" sz="100">
                <a:effectLst/>
              </a:rPr>
              <a:t> </a:t>
            </a:r>
            <a:endParaRPr lang="en-US"/>
          </a:p>
        </p:txBody>
      </p:sp>
      <p:sp>
        <p:nvSpPr>
          <p:cNvPr id="233901" name="Rectangle 233900">
            <a:extLst>
              <a:ext uri="{FF2B5EF4-FFF2-40B4-BE49-F238E27FC236}">
                <a16:creationId xmlns:a16="http://schemas.microsoft.com/office/drawing/2014/main" id="{447FFE25-3F6C-C7D6-A4E4-3D3E64BABD0C}"/>
              </a:ext>
            </a:extLst>
          </p:cNvPr>
          <p:cNvSpPr/>
          <p:nvPr/>
        </p:nvSpPr>
        <p:spPr>
          <a:xfrm>
            <a:off x="2639600" y="4752908"/>
            <a:ext cx="33900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AI coding agents such as GitHub Copilot author canvas apps through the Canvas Authoring MCP Server</a:t>
            </a:r>
          </a:p>
          <a:p>
            <a:pPr algn="l">
              <a:buNone/>
            </a:pPr>
            <a:r>
              <a:rPr lang="en-US" sz="100">
                <a:effectLst/>
              </a:rPr>
              <a:t> </a:t>
            </a:r>
            <a:endParaRPr lang="en-US"/>
          </a:p>
        </p:txBody>
      </p:sp>
      <p:sp>
        <p:nvSpPr>
          <p:cNvPr id="233924" name="Rectangle 233923">
            <a:extLst>
              <a:ext uri="{FF2B5EF4-FFF2-40B4-BE49-F238E27FC236}">
                <a16:creationId xmlns:a16="http://schemas.microsoft.com/office/drawing/2014/main" id="{8B753653-8507-BFFC-B3CF-4EE00D166F75}"/>
              </a:ext>
            </a:extLst>
          </p:cNvPr>
          <p:cNvSpPr/>
          <p:nvPr/>
        </p:nvSpPr>
        <p:spPr>
          <a:xfrm>
            <a:off x="6089600" y="4752908"/>
            <a:ext cx="31628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Create or migrate canvas apps through conversation</a:t>
            </a:r>
          </a:p>
          <a:p>
            <a:pPr algn="l">
              <a:buNone/>
            </a:pPr>
            <a:r>
              <a:rPr lang="en-US" sz="100">
                <a:effectLst/>
              </a:rPr>
              <a:t> </a:t>
            </a:r>
            <a:endParaRPr lang="en-US"/>
          </a:p>
        </p:txBody>
      </p:sp>
      <p:sp>
        <p:nvSpPr>
          <p:cNvPr id="233948" name="Rectangle: Rounded Corners 233947">
            <a:extLst>
              <a:ext uri="{FF2B5EF4-FFF2-40B4-BE49-F238E27FC236}">
                <a16:creationId xmlns:a16="http://schemas.microsoft.com/office/drawing/2014/main" id="{AC484448-30C7-9719-0BC5-FA748FC38127}"/>
              </a:ext>
            </a:extLst>
          </p:cNvPr>
          <p:cNvSpPr/>
          <p:nvPr/>
        </p:nvSpPr>
        <p:spPr>
          <a:xfrm>
            <a:off x="9332400" y="5196412"/>
            <a:ext cx="2200000" cy="400000"/>
          </a:xfrm>
          <a:prstGeom prst="roundRect">
            <a:avLst/>
          </a:prstGeom>
          <a:solidFill>
            <a:srgbClr val="4B5163"/>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E6E3F0"/>
                </a:solidFill>
                <a:effectLst/>
                <a:latin typeface="Segoe UI" panose="020B0502040204020203" pitchFamily="34" charset="0"/>
              </a:rPr>
              <a:t>Presenter talk track</a:t>
            </a:r>
          </a:p>
          <a:p>
            <a:pPr algn="ctr">
              <a:buNone/>
            </a:pPr>
            <a:r>
              <a:rPr lang="en-US" sz="100">
                <a:effectLst/>
              </a:rPr>
              <a:t> </a:t>
            </a:r>
            <a:endParaRPr lang="en-US"/>
          </a:p>
        </p:txBody>
      </p:sp>
    </p:spTree>
    <p:extLst>
      <p:ext uri="{BB962C8B-B14F-4D97-AF65-F5344CB8AC3E}">
        <p14:creationId xmlns:p14="http://schemas.microsoft.com/office/powerpoint/2010/main" val="2532128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05967" name="Rectangle: Rounded Corners 105966">
            <a:extLst>
              <a:ext uri="{FF2B5EF4-FFF2-40B4-BE49-F238E27FC236}">
                <a16:creationId xmlns:a16="http://schemas.microsoft.com/office/drawing/2014/main" id="{13905B4F-DEC8-F258-7A67-87DF54B651A2}"/>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06100" name="Rectangle: Rounded Corners 106099">
            <a:extLst>
              <a:ext uri="{FF2B5EF4-FFF2-40B4-BE49-F238E27FC236}">
                <a16:creationId xmlns:a16="http://schemas.microsoft.com/office/drawing/2014/main" id="{99BE42FA-11D0-1C48-9DFA-B0149E7417BF}"/>
              </a:ext>
            </a:extLst>
          </p:cNvPr>
          <p:cNvSpPr/>
          <p:nvPr/>
        </p:nvSpPr>
        <p:spPr>
          <a:xfrm>
            <a:off x="2176014" y="400000"/>
            <a:ext cx="996413"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2</a:t>
            </a:r>
          </a:p>
          <a:p>
            <a:pPr algn="ctr">
              <a:buNone/>
            </a:pPr>
            <a:r>
              <a:rPr lang="en-US" sz="100">
                <a:effectLst/>
              </a:rPr>
              <a:t> </a:t>
            </a:r>
            <a:endParaRPr lang="en-US"/>
          </a:p>
        </p:txBody>
      </p:sp>
      <p:sp>
        <p:nvSpPr>
          <p:cNvPr id="106234" name="Rectangle 106233">
            <a:extLst>
              <a:ext uri="{FF2B5EF4-FFF2-40B4-BE49-F238E27FC236}">
                <a16:creationId xmlns:a16="http://schemas.microsoft.com/office/drawing/2014/main" id="{8612749D-6A5B-41BC-B06A-EBFCA17A27B4}"/>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2 · Add supplier recovery offers to the Control Tower</a:t>
            </a:r>
          </a:p>
          <a:p>
            <a:pPr algn="l">
              <a:buNone/>
            </a:pPr>
            <a:r>
              <a:rPr lang="en-US" sz="100">
                <a:effectLst/>
              </a:rPr>
              <a:t> </a:t>
            </a:r>
            <a:endParaRPr lang="en-US"/>
          </a:p>
        </p:txBody>
      </p:sp>
      <p:sp>
        <p:nvSpPr>
          <p:cNvPr id="106369" name="Rectangle 106368">
            <a:extLst>
              <a:ext uri="{FF2B5EF4-FFF2-40B4-BE49-F238E27FC236}">
                <a16:creationId xmlns:a16="http://schemas.microsoft.com/office/drawing/2014/main" id="{B52D9AD1-044A-F027-6FBF-1AD0E4EFDB2B}"/>
              </a:ext>
            </a:extLst>
          </p:cNvPr>
          <p:cNvSpPr/>
          <p:nvPr/>
        </p:nvSpPr>
        <p:spPr>
          <a:xfrm>
            <a:off x="609600" y="1661951"/>
            <a:ext cx="10972800" cy="46086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05" name="Rectangle 106504">
            <a:extLst>
              <a:ext uri="{FF2B5EF4-FFF2-40B4-BE49-F238E27FC236}">
                <a16:creationId xmlns:a16="http://schemas.microsoft.com/office/drawing/2014/main" id="{EF1019AD-D535-FE90-26FB-E55EE6B61FD8}"/>
              </a:ext>
            </a:extLst>
          </p:cNvPr>
          <p:cNvSpPr/>
          <p:nvPr/>
        </p:nvSpPr>
        <p:spPr>
          <a:xfrm>
            <a:off x="669600" y="1701885"/>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2FFFE0"/>
                </a:solidFill>
                <a:effectLst/>
                <a:latin typeface="Segoe UI" panose="020B0502040204020203" pitchFamily="34" charset="0"/>
              </a:rPr>
              <a:t>OBJECTIVE</a:t>
            </a:r>
          </a:p>
          <a:p>
            <a:pPr algn="l">
              <a:buNone/>
            </a:pPr>
            <a:r>
              <a:rPr lang="en-US" sz="100">
                <a:effectLst/>
              </a:rPr>
              <a:t> </a:t>
            </a:r>
            <a:endParaRPr lang="en-US"/>
          </a:p>
        </p:txBody>
      </p:sp>
      <p:sp>
        <p:nvSpPr>
          <p:cNvPr id="106642" name="Rectangle 106641">
            <a:extLst>
              <a:ext uri="{FF2B5EF4-FFF2-40B4-BE49-F238E27FC236}">
                <a16:creationId xmlns:a16="http://schemas.microsoft.com/office/drawing/2014/main" id="{6685A029-8FD2-D96C-7F4A-DDB766FA6958}"/>
              </a:ext>
            </a:extLst>
          </p:cNvPr>
          <p:cNvSpPr/>
          <p:nvPr/>
        </p:nvSpPr>
        <p:spPr>
          <a:xfrm>
            <a:off x="2659600" y="1634321"/>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Use app-builder to extend the installed app with offer comparison</a:t>
            </a:r>
          </a:p>
          <a:p>
            <a:pPr algn="l">
              <a:buNone/>
            </a:pPr>
            <a:r>
              <a:rPr lang="en-US" sz="100">
                <a:effectLst/>
              </a:rPr>
              <a:t> </a:t>
            </a:r>
            <a:endParaRPr lang="en-US"/>
          </a:p>
        </p:txBody>
      </p:sp>
      <p:sp>
        <p:nvSpPr>
          <p:cNvPr id="106780" name="Rectangle 106779">
            <a:extLst>
              <a:ext uri="{FF2B5EF4-FFF2-40B4-BE49-F238E27FC236}">
                <a16:creationId xmlns:a16="http://schemas.microsoft.com/office/drawing/2014/main" id="{2955E9A8-9010-271E-BC7D-B2F2C71D4F9C}"/>
              </a:ext>
            </a:extLst>
          </p:cNvPr>
          <p:cNvSpPr/>
          <p:nvPr/>
        </p:nvSpPr>
        <p:spPr>
          <a:xfrm>
            <a:off x="609600" y="2172819"/>
            <a:ext cx="10972800" cy="801736"/>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19" name="Rectangle 106918">
            <a:extLst>
              <a:ext uri="{FF2B5EF4-FFF2-40B4-BE49-F238E27FC236}">
                <a16:creationId xmlns:a16="http://schemas.microsoft.com/office/drawing/2014/main" id="{58890501-C1FF-075F-D555-96CAB09AD09E}"/>
              </a:ext>
            </a:extLst>
          </p:cNvPr>
          <p:cNvSpPr/>
          <p:nvPr/>
        </p:nvSpPr>
        <p:spPr>
          <a:xfrm>
            <a:off x="669600" y="2383187"/>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2FFFE0"/>
                </a:solidFill>
                <a:effectLst/>
                <a:latin typeface="Segoe UI" panose="020B0502040204020203" pitchFamily="34" charset="0"/>
              </a:rPr>
              <a:t>STARTING POINT</a:t>
            </a:r>
          </a:p>
          <a:p>
            <a:pPr algn="l">
              <a:buNone/>
            </a:pPr>
            <a:r>
              <a:rPr lang="en-US" sz="100">
                <a:effectLst/>
              </a:rPr>
              <a:t> </a:t>
            </a:r>
            <a:endParaRPr lang="en-US"/>
          </a:p>
        </p:txBody>
      </p:sp>
      <p:sp>
        <p:nvSpPr>
          <p:cNvPr id="107059" name="Rectangle 107058">
            <a:extLst>
              <a:ext uri="{FF2B5EF4-FFF2-40B4-BE49-F238E27FC236}">
                <a16:creationId xmlns:a16="http://schemas.microsoft.com/office/drawing/2014/main" id="{38311207-5246-BD69-6FFB-15E2F580479D}"/>
              </a:ext>
            </a:extLst>
          </p:cNvPr>
          <p:cNvSpPr/>
          <p:nvPr/>
        </p:nvSpPr>
        <p:spPr>
          <a:xfrm>
            <a:off x="2659600" y="2145189"/>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Installed Northwind Traders and Control Tower managed solutions with a seeded Pending disruption</a:t>
            </a:r>
          </a:p>
          <a:p>
            <a:pPr algn="l">
              <a:buNone/>
            </a:pPr>
            <a:r>
              <a:rPr lang="en-US" sz="100">
                <a:effectLst/>
              </a:rPr>
              <a:t> </a:t>
            </a:r>
            <a:endParaRPr lang="en-US"/>
          </a:p>
        </p:txBody>
      </p:sp>
      <p:sp>
        <p:nvSpPr>
          <p:cNvPr id="107200" name="Rectangle 107199">
            <a:extLst>
              <a:ext uri="{FF2B5EF4-FFF2-40B4-BE49-F238E27FC236}">
                <a16:creationId xmlns:a16="http://schemas.microsoft.com/office/drawing/2014/main" id="{DC5BA31F-5A41-10B7-4349-FC2189DABDAA}"/>
              </a:ext>
            </a:extLst>
          </p:cNvPr>
          <p:cNvSpPr/>
          <p:nvPr/>
        </p:nvSpPr>
        <p:spPr>
          <a:xfrm>
            <a:off x="609600" y="3024555"/>
            <a:ext cx="10972800" cy="801736"/>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42" name="Rectangle 107341">
            <a:extLst>
              <a:ext uri="{FF2B5EF4-FFF2-40B4-BE49-F238E27FC236}">
                <a16:creationId xmlns:a16="http://schemas.microsoft.com/office/drawing/2014/main" id="{44E9FE8D-5FBB-F692-7AD0-1266AD339A3F}"/>
              </a:ext>
            </a:extLst>
          </p:cNvPr>
          <p:cNvSpPr/>
          <p:nvPr/>
        </p:nvSpPr>
        <p:spPr>
          <a:xfrm>
            <a:off x="669600" y="3234923"/>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2FFFE0"/>
                </a:solidFill>
                <a:effectLst/>
                <a:latin typeface="Segoe UI" panose="020B0502040204020203" pitchFamily="34" charset="0"/>
              </a:rPr>
              <a:t>MAJOR TASKS</a:t>
            </a:r>
          </a:p>
          <a:p>
            <a:pPr algn="l">
              <a:buNone/>
            </a:pPr>
            <a:r>
              <a:rPr lang="en-US" sz="100">
                <a:effectLst/>
              </a:rPr>
              <a:t> </a:t>
            </a:r>
            <a:endParaRPr lang="en-US"/>
          </a:p>
        </p:txBody>
      </p:sp>
      <p:sp>
        <p:nvSpPr>
          <p:cNvPr id="107485" name="Rectangle 107484">
            <a:extLst>
              <a:ext uri="{FF2B5EF4-FFF2-40B4-BE49-F238E27FC236}">
                <a16:creationId xmlns:a16="http://schemas.microsoft.com/office/drawing/2014/main" id="{7F48D5BA-0984-5032-3072-A688D37FFAC8}"/>
              </a:ext>
            </a:extLst>
          </p:cNvPr>
          <p:cNvSpPr/>
          <p:nvPr/>
        </p:nvSpPr>
        <p:spPr>
          <a:xfrm>
            <a:off x="2659600" y="2996925"/>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Inspect app  ·  Install plugin  ·  Authenticate  ·  Prompt with spec  ·  Review and build  ·  Compare offers</a:t>
            </a:r>
          </a:p>
          <a:p>
            <a:pPr algn="l">
              <a:buNone/>
            </a:pPr>
            <a:r>
              <a:rPr lang="en-US" sz="100">
                <a:effectLst/>
              </a:rPr>
              <a:t> </a:t>
            </a:r>
            <a:endParaRPr lang="en-US"/>
          </a:p>
        </p:txBody>
      </p:sp>
      <p:sp>
        <p:nvSpPr>
          <p:cNvPr id="107629" name="Rectangle 107628">
            <a:extLst>
              <a:ext uri="{FF2B5EF4-FFF2-40B4-BE49-F238E27FC236}">
                <a16:creationId xmlns:a16="http://schemas.microsoft.com/office/drawing/2014/main" id="{825E172D-2F76-B7B8-1912-7941C8462B4E}"/>
              </a:ext>
            </a:extLst>
          </p:cNvPr>
          <p:cNvSpPr/>
          <p:nvPr/>
        </p:nvSpPr>
        <p:spPr>
          <a:xfrm>
            <a:off x="609600" y="3876291"/>
            <a:ext cx="10972800" cy="801736"/>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74" name="Rectangle 107773">
            <a:extLst>
              <a:ext uri="{FF2B5EF4-FFF2-40B4-BE49-F238E27FC236}">
                <a16:creationId xmlns:a16="http://schemas.microsoft.com/office/drawing/2014/main" id="{C9B85BD0-6B0D-C1E8-B70A-DC028385FF1E}"/>
              </a:ext>
            </a:extLst>
          </p:cNvPr>
          <p:cNvSpPr/>
          <p:nvPr/>
        </p:nvSpPr>
        <p:spPr>
          <a:xfrm>
            <a:off x="669600" y="3970454"/>
            <a:ext cx="1900000" cy="6134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2FFFE0"/>
                </a:solidFill>
                <a:effectLst/>
                <a:latin typeface="Segoe UI" panose="020B0502040204020203" pitchFamily="34" charset="0"/>
              </a:rPr>
              <a:t>COMPONENTS CREATED</a:t>
            </a:r>
          </a:p>
          <a:p>
            <a:pPr algn="l">
              <a:buNone/>
            </a:pPr>
            <a:r>
              <a:rPr lang="en-US" sz="100">
                <a:effectLst/>
              </a:rPr>
              <a:t> </a:t>
            </a:r>
            <a:endParaRPr lang="en-US"/>
          </a:p>
        </p:txBody>
      </p:sp>
      <p:sp>
        <p:nvSpPr>
          <p:cNvPr id="107920" name="Rectangle 107919">
            <a:extLst>
              <a:ext uri="{FF2B5EF4-FFF2-40B4-BE49-F238E27FC236}">
                <a16:creationId xmlns:a16="http://schemas.microsoft.com/office/drawing/2014/main" id="{5B9871D2-398A-A7CB-973A-A7508FF15638}"/>
              </a:ext>
            </a:extLst>
          </p:cNvPr>
          <p:cNvSpPr/>
          <p:nvPr/>
        </p:nvSpPr>
        <p:spPr>
          <a:xfrm>
            <a:off x="2659600" y="3848661"/>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Supplier Recovery Offer table, Main form, Open Offers and Offers by Disruption views, navigation entry, related grid on Disruption Case</a:t>
            </a:r>
          </a:p>
          <a:p>
            <a:pPr algn="l">
              <a:buNone/>
            </a:pPr>
            <a:r>
              <a:rPr lang="en-US" sz="100">
                <a:effectLst/>
              </a:rPr>
              <a:t> </a:t>
            </a:r>
            <a:endParaRPr lang="en-US"/>
          </a:p>
        </p:txBody>
      </p:sp>
      <p:sp>
        <p:nvSpPr>
          <p:cNvPr id="108067" name="Rectangle 108066">
            <a:extLst>
              <a:ext uri="{FF2B5EF4-FFF2-40B4-BE49-F238E27FC236}">
                <a16:creationId xmlns:a16="http://schemas.microsoft.com/office/drawing/2014/main" id="{CCF89DBB-03DA-018B-EAC8-AAF9AF358EB5}"/>
              </a:ext>
            </a:extLst>
          </p:cNvPr>
          <p:cNvSpPr/>
          <p:nvPr/>
        </p:nvSpPr>
        <p:spPr>
          <a:xfrm>
            <a:off x="609600" y="4728027"/>
            <a:ext cx="10972800" cy="46086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15" name="Rectangle 108214">
            <a:extLst>
              <a:ext uri="{FF2B5EF4-FFF2-40B4-BE49-F238E27FC236}">
                <a16:creationId xmlns:a16="http://schemas.microsoft.com/office/drawing/2014/main" id="{C11767B2-1F9F-8044-27A1-1CE9ADE9BD39}"/>
              </a:ext>
            </a:extLst>
          </p:cNvPr>
          <p:cNvSpPr/>
          <p:nvPr/>
        </p:nvSpPr>
        <p:spPr>
          <a:xfrm>
            <a:off x="669600" y="4767961"/>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2FFFE0"/>
                </a:solidFill>
                <a:effectLst/>
                <a:latin typeface="Segoe UI" panose="020B0502040204020203" pitchFamily="34" charset="0"/>
              </a:rPr>
              <a:t>DEPENDS ON</a:t>
            </a:r>
          </a:p>
          <a:p>
            <a:pPr algn="l">
              <a:buNone/>
            </a:pPr>
            <a:r>
              <a:rPr lang="en-US" sz="100">
                <a:effectLst/>
              </a:rPr>
              <a:t> </a:t>
            </a:r>
            <a:endParaRPr lang="en-US"/>
          </a:p>
        </p:txBody>
      </p:sp>
      <p:sp>
        <p:nvSpPr>
          <p:cNvPr id="108364" name="Rectangle 108363">
            <a:extLst>
              <a:ext uri="{FF2B5EF4-FFF2-40B4-BE49-F238E27FC236}">
                <a16:creationId xmlns:a16="http://schemas.microsoft.com/office/drawing/2014/main" id="{1CE72B95-146A-E6BF-58AC-76AF8D415907}"/>
              </a:ext>
            </a:extLst>
          </p:cNvPr>
          <p:cNvSpPr/>
          <p:nvPr/>
        </p:nvSpPr>
        <p:spPr>
          <a:xfrm>
            <a:off x="2659600" y="4700397"/>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Module 1 baseline; local CLI tooling</a:t>
            </a:r>
          </a:p>
          <a:p>
            <a:pPr algn="l">
              <a:buNone/>
            </a:pPr>
            <a:r>
              <a:rPr lang="en-US" sz="100">
                <a:effectLst/>
              </a:rPr>
              <a:t> </a:t>
            </a:r>
            <a:endParaRPr lang="en-US"/>
          </a:p>
        </p:txBody>
      </p:sp>
      <p:sp>
        <p:nvSpPr>
          <p:cNvPr id="108514" name="Rectangle 108513">
            <a:extLst>
              <a:ext uri="{FF2B5EF4-FFF2-40B4-BE49-F238E27FC236}">
                <a16:creationId xmlns:a16="http://schemas.microsoft.com/office/drawing/2014/main" id="{B290EA60-D7CA-69E3-E54F-88FED81D0ED5}"/>
              </a:ext>
            </a:extLst>
          </p:cNvPr>
          <p:cNvSpPr/>
          <p:nvPr/>
        </p:nvSpPr>
        <p:spPr>
          <a:xfrm>
            <a:off x="609600" y="5238895"/>
            <a:ext cx="10972800" cy="801736"/>
          </a:xfrm>
          <a:prstGeom prst="rect">
            <a:avLst/>
          </a:prstGeom>
          <a:solidFill>
            <a:srgbClr val="FFFFFF">
              <a:alpha val="12000"/>
            </a:srgbClr>
          </a:solidFill>
          <a:ln w="1905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65" name="Rectangle 108664">
            <a:extLst>
              <a:ext uri="{FF2B5EF4-FFF2-40B4-BE49-F238E27FC236}">
                <a16:creationId xmlns:a16="http://schemas.microsoft.com/office/drawing/2014/main" id="{DF52C7C8-6913-92E5-4D68-8FE749E5D64E}"/>
              </a:ext>
            </a:extLst>
          </p:cNvPr>
          <p:cNvSpPr/>
          <p:nvPr/>
        </p:nvSpPr>
        <p:spPr>
          <a:xfrm>
            <a:off x="669600" y="5333058"/>
            <a:ext cx="1900000" cy="6134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2FFFE0"/>
                </a:solidFill>
                <a:effectLst/>
                <a:latin typeface="Segoe UI" panose="020B0502040204020203" pitchFamily="34" charset="0"/>
              </a:rPr>
              <a:t>SUCCESS LOOKS LIKE</a:t>
            </a:r>
          </a:p>
          <a:p>
            <a:pPr algn="l">
              <a:buNone/>
            </a:pPr>
            <a:r>
              <a:rPr lang="en-US" sz="100">
                <a:effectLst/>
              </a:rPr>
              <a:t> </a:t>
            </a:r>
            <a:endParaRPr lang="en-US"/>
          </a:p>
        </p:txBody>
      </p:sp>
      <p:sp>
        <p:nvSpPr>
          <p:cNvPr id="108817" name="Rectangle 108816">
            <a:extLst>
              <a:ext uri="{FF2B5EF4-FFF2-40B4-BE49-F238E27FC236}">
                <a16:creationId xmlns:a16="http://schemas.microsoft.com/office/drawing/2014/main" id="{B80796C4-AF78-C93A-3E1B-B8923E797866}"/>
              </a:ext>
            </a:extLst>
          </p:cNvPr>
          <p:cNvSpPr/>
          <p:nvPr/>
        </p:nvSpPr>
        <p:spPr>
          <a:xfrm>
            <a:off x="2659600" y="5211265"/>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Two offers compared in both views; Recovery Decision still Pending; no carrier or evidence records created</a:t>
            </a:r>
          </a:p>
          <a:p>
            <a:pPr algn="l">
              <a:buNone/>
            </a:pPr>
            <a:r>
              <a:rPr lang="en-US" sz="100">
                <a:effectLst/>
              </a:rPr>
              <a:t> </a:t>
            </a:r>
            <a:endParaRPr lang="en-US"/>
          </a:p>
        </p:txBody>
      </p:sp>
    </p:spTree>
    <p:extLst>
      <p:ext uri="{BB962C8B-B14F-4D97-AF65-F5344CB8AC3E}">
        <p14:creationId xmlns:p14="http://schemas.microsoft.com/office/powerpoint/2010/main" val="751133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08970" name="Rectangle: Rounded Corners 108969">
            <a:extLst>
              <a:ext uri="{FF2B5EF4-FFF2-40B4-BE49-F238E27FC236}">
                <a16:creationId xmlns:a16="http://schemas.microsoft.com/office/drawing/2014/main" id="{7A41AFC4-25A5-D40A-580D-56FB60425C2B}"/>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09124" name="Rectangle: Rounded Corners 109123">
            <a:extLst>
              <a:ext uri="{FF2B5EF4-FFF2-40B4-BE49-F238E27FC236}">
                <a16:creationId xmlns:a16="http://schemas.microsoft.com/office/drawing/2014/main" id="{A6FFCB1A-E763-A9AA-42B6-2586D23208BA}"/>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2 · STEPS 1–2 OF 6</a:t>
            </a:r>
          </a:p>
          <a:p>
            <a:pPr algn="ctr">
              <a:buNone/>
            </a:pPr>
            <a:r>
              <a:rPr lang="en-US" sz="100">
                <a:effectLst/>
              </a:rPr>
              <a:t> </a:t>
            </a:r>
            <a:endParaRPr lang="en-US"/>
          </a:p>
        </p:txBody>
      </p:sp>
      <p:sp>
        <p:nvSpPr>
          <p:cNvPr id="109279" name="Rectangle 109278">
            <a:extLst>
              <a:ext uri="{FF2B5EF4-FFF2-40B4-BE49-F238E27FC236}">
                <a16:creationId xmlns:a16="http://schemas.microsoft.com/office/drawing/2014/main" id="{E05E9C98-4CD5-0571-823D-0D12C14E5457}"/>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2 steps: extend the Control Tower</a:t>
            </a:r>
          </a:p>
          <a:p>
            <a:pPr algn="l">
              <a:buNone/>
            </a:pPr>
            <a:r>
              <a:rPr lang="en-US" sz="100">
                <a:effectLst/>
              </a:rPr>
              <a:t> </a:t>
            </a:r>
            <a:endParaRPr lang="en-US"/>
          </a:p>
        </p:txBody>
      </p:sp>
      <p:sp>
        <p:nvSpPr>
          <p:cNvPr id="109435" name="Rectangle 109434">
            <a:extLst>
              <a:ext uri="{FF2B5EF4-FFF2-40B4-BE49-F238E27FC236}">
                <a16:creationId xmlns:a16="http://schemas.microsoft.com/office/drawing/2014/main" id="{4591DE50-7C96-E8D5-E4E1-DE095D69E0D0}"/>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92" name="Rectangle: Rounded Corners 109591">
            <a:extLst>
              <a:ext uri="{FF2B5EF4-FFF2-40B4-BE49-F238E27FC236}">
                <a16:creationId xmlns:a16="http://schemas.microsoft.com/office/drawing/2014/main" id="{6F7AE161-6797-E5EB-22FF-E06EB5413B90}"/>
              </a:ext>
            </a:extLst>
          </p:cNvPr>
          <p:cNvSpPr/>
          <p:nvPr/>
        </p:nvSpPr>
        <p:spPr>
          <a:xfrm>
            <a:off x="779600" y="1831951"/>
            <a:ext cx="560000" cy="56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1</a:t>
            </a:r>
          </a:p>
          <a:p>
            <a:pPr algn="ctr">
              <a:buNone/>
            </a:pPr>
            <a:r>
              <a:rPr lang="en-US" sz="100">
                <a:effectLst/>
              </a:rPr>
              <a:t> </a:t>
            </a:r>
            <a:endParaRPr lang="en-US"/>
          </a:p>
        </p:txBody>
      </p:sp>
      <p:sp>
        <p:nvSpPr>
          <p:cNvPr id="109750" name="Rectangle 109749">
            <a:extLst>
              <a:ext uri="{FF2B5EF4-FFF2-40B4-BE49-F238E27FC236}">
                <a16:creationId xmlns:a16="http://schemas.microsoft.com/office/drawing/2014/main" id="{6B3927F8-AC27-3282-CAA4-432E0E41DDFF}"/>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Inspect the installed app</a:t>
            </a:r>
          </a:p>
          <a:p>
            <a:pPr algn="l">
              <a:buNone/>
            </a:pPr>
            <a:r>
              <a:rPr lang="en-US" sz="100">
                <a:effectLst/>
              </a:rPr>
              <a:t> </a:t>
            </a:r>
            <a:endParaRPr lang="en-US"/>
          </a:p>
        </p:txBody>
      </p:sp>
      <p:sp>
        <p:nvSpPr>
          <p:cNvPr id="109909" name="Rectangle 109908">
            <a:extLst>
              <a:ext uri="{FF2B5EF4-FFF2-40B4-BE49-F238E27FC236}">
                <a16:creationId xmlns:a16="http://schemas.microsoft.com/office/drawing/2014/main" id="{7E623C58-9E27-4075-E5E3-AC990E0CE158}"/>
              </a:ext>
            </a:extLst>
          </p:cNvPr>
          <p:cNvSpPr/>
          <p:nvPr/>
        </p:nvSpPr>
        <p:spPr>
          <a:xfrm>
            <a:off x="779600" y="2511951"/>
            <a:ext cx="5021400" cy="15387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Open the seeded Supplier F / Clam Chowder case; record environment URL and current carrier/evidence records</a:t>
            </a:r>
          </a:p>
          <a:p>
            <a:pPr algn="l">
              <a:buNone/>
            </a:pPr>
            <a:r>
              <a:rPr lang="en-US" sz="100">
                <a:effectLst/>
              </a:rPr>
              <a:t> </a:t>
            </a:r>
            <a:endParaRPr lang="en-US"/>
          </a:p>
        </p:txBody>
      </p:sp>
      <p:sp>
        <p:nvSpPr>
          <p:cNvPr id="110069" name="Rectangle 110068">
            <a:extLst>
              <a:ext uri="{FF2B5EF4-FFF2-40B4-BE49-F238E27FC236}">
                <a16:creationId xmlns:a16="http://schemas.microsoft.com/office/drawing/2014/main" id="{618E6267-D215-81A5-9EBD-450DAD686BF0}"/>
              </a:ext>
            </a:extLst>
          </p:cNvPr>
          <p:cNvSpPr/>
          <p:nvPr/>
        </p:nvSpPr>
        <p:spPr>
          <a:xfrm>
            <a:off x="779600" y="4190683"/>
            <a:ext cx="5021400" cy="105841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2FFFE0"/>
                </a:solidFill>
                <a:effectLst/>
                <a:latin typeface="Segoe UI" panose="020B0502040204020203" pitchFamily="34" charset="0"/>
              </a:rPr>
              <a:t>WHY IT MATTERS</a:t>
            </a:r>
          </a:p>
          <a:p>
            <a:pPr algn="l">
              <a:buNone/>
            </a:pPr>
            <a:r>
              <a:rPr lang="en-US" sz="2200">
                <a:solidFill>
                  <a:srgbClr val="D6D2E8"/>
                </a:solidFill>
                <a:effectLst/>
                <a:latin typeface="Segoe UI" panose="020B0502040204020203" pitchFamily="34" charset="0"/>
              </a:rPr>
              <a:t>Baseline to prove nothing executes later</a:t>
            </a:r>
            <a:endParaRPr lang="en-US"/>
          </a:p>
        </p:txBody>
      </p:sp>
      <p:sp>
        <p:nvSpPr>
          <p:cNvPr id="110230" name="Rectangle 110229">
            <a:extLst>
              <a:ext uri="{FF2B5EF4-FFF2-40B4-BE49-F238E27FC236}">
                <a16:creationId xmlns:a16="http://schemas.microsoft.com/office/drawing/2014/main" id="{62EC0619-5C8C-0A58-A893-44F4D249840A}"/>
              </a:ext>
            </a:extLst>
          </p:cNvPr>
          <p:cNvSpPr/>
          <p:nvPr/>
        </p:nvSpPr>
        <p:spPr>
          <a:xfrm>
            <a:off x="609600" y="5793872"/>
            <a:ext cx="5361400" cy="636128"/>
          </a:xfrm>
          <a:prstGeom prst="rect">
            <a:avLst/>
          </a:prstGeom>
          <a:solidFill>
            <a:srgbClr val="2FFFE0">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92" name="Rectangle 110391">
            <a:extLst>
              <a:ext uri="{FF2B5EF4-FFF2-40B4-BE49-F238E27FC236}">
                <a16:creationId xmlns:a16="http://schemas.microsoft.com/office/drawing/2014/main" id="{20028B94-EF1C-39FA-6347-E7898BBC952F}"/>
              </a:ext>
            </a:extLst>
          </p:cNvPr>
          <p:cNvSpPr/>
          <p:nvPr/>
        </p:nvSpPr>
        <p:spPr>
          <a:xfrm>
            <a:off x="779600" y="5853872"/>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Decision is Pending</a:t>
            </a:r>
          </a:p>
          <a:p>
            <a:pPr algn="l">
              <a:buNone/>
            </a:pPr>
            <a:r>
              <a:rPr lang="en-US" sz="100">
                <a:effectLst/>
              </a:rPr>
              <a:t> </a:t>
            </a:r>
            <a:endParaRPr lang="en-US"/>
          </a:p>
        </p:txBody>
      </p:sp>
      <p:sp>
        <p:nvSpPr>
          <p:cNvPr id="110555" name="Rectangle 110554">
            <a:extLst>
              <a:ext uri="{FF2B5EF4-FFF2-40B4-BE49-F238E27FC236}">
                <a16:creationId xmlns:a16="http://schemas.microsoft.com/office/drawing/2014/main" id="{1C7BC1D8-1804-27B7-8AA4-E1B4DBADECCE}"/>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19" name="Rectangle: Rounded Corners 110718">
            <a:extLst>
              <a:ext uri="{FF2B5EF4-FFF2-40B4-BE49-F238E27FC236}">
                <a16:creationId xmlns:a16="http://schemas.microsoft.com/office/drawing/2014/main" id="{B9A48CEE-88A2-9324-7F3F-2CD72B6A9C1C}"/>
              </a:ext>
            </a:extLst>
          </p:cNvPr>
          <p:cNvSpPr/>
          <p:nvPr/>
        </p:nvSpPr>
        <p:spPr>
          <a:xfrm>
            <a:off x="6391000" y="1831951"/>
            <a:ext cx="560000" cy="56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2</a:t>
            </a:r>
          </a:p>
          <a:p>
            <a:pPr algn="ctr">
              <a:buNone/>
            </a:pPr>
            <a:r>
              <a:rPr lang="en-US" sz="100">
                <a:effectLst/>
              </a:rPr>
              <a:t> </a:t>
            </a:r>
            <a:endParaRPr lang="en-US"/>
          </a:p>
        </p:txBody>
      </p:sp>
      <p:sp>
        <p:nvSpPr>
          <p:cNvPr id="110884" name="Rectangle 110883">
            <a:extLst>
              <a:ext uri="{FF2B5EF4-FFF2-40B4-BE49-F238E27FC236}">
                <a16:creationId xmlns:a16="http://schemas.microsoft.com/office/drawing/2014/main" id="{79E74A12-702B-F0A6-4A46-2C9B28475863}"/>
              </a:ext>
            </a:extLst>
          </p:cNvPr>
          <p:cNvSpPr/>
          <p:nvPr/>
        </p:nvSpPr>
        <p:spPr>
          <a:xfrm>
            <a:off x="71010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Start GitHub Copilot CLI and install the plugin</a:t>
            </a:r>
          </a:p>
          <a:p>
            <a:pPr algn="l">
              <a:buNone/>
            </a:pPr>
            <a:r>
              <a:rPr lang="en-US" sz="100">
                <a:effectLst/>
              </a:rPr>
              <a:t> </a:t>
            </a:r>
            <a:endParaRPr lang="en-US"/>
          </a:p>
        </p:txBody>
      </p:sp>
      <p:sp>
        <p:nvSpPr>
          <p:cNvPr id="111050" name="Rectangle 111049">
            <a:extLst>
              <a:ext uri="{FF2B5EF4-FFF2-40B4-BE49-F238E27FC236}">
                <a16:creationId xmlns:a16="http://schemas.microsoft.com/office/drawing/2014/main" id="{95BF530E-15D8-76F9-F9E0-73E8AB07BD2C}"/>
              </a:ext>
            </a:extLst>
          </p:cNvPr>
          <p:cNvSpPr/>
          <p:nvPr/>
        </p:nvSpPr>
        <p:spPr>
          <a:xfrm>
            <a:off x="6391000" y="2808947"/>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Run copilot from the repo root, add the power-platform-skills marketplace, install model-apps, restart</a:t>
            </a:r>
          </a:p>
          <a:p>
            <a:pPr algn="l">
              <a:buNone/>
            </a:pPr>
            <a:r>
              <a:rPr lang="en-US" sz="100">
                <a:effectLst/>
              </a:rPr>
              <a:t> </a:t>
            </a:r>
            <a:endParaRPr lang="en-US"/>
          </a:p>
        </p:txBody>
      </p:sp>
      <p:sp>
        <p:nvSpPr>
          <p:cNvPr id="111217" name="Rectangle 111216">
            <a:extLst>
              <a:ext uri="{FF2B5EF4-FFF2-40B4-BE49-F238E27FC236}">
                <a16:creationId xmlns:a16="http://schemas.microsoft.com/office/drawing/2014/main" id="{4AE36F0B-6D9E-2D25-BF36-059E67E716EA}"/>
              </a:ext>
            </a:extLst>
          </p:cNvPr>
          <p:cNvSpPr/>
          <p:nvPr/>
        </p:nvSpPr>
        <p:spPr>
          <a:xfrm>
            <a:off x="6221000" y="5793872"/>
            <a:ext cx="5361400" cy="636128"/>
          </a:xfrm>
          <a:prstGeom prst="rect">
            <a:avLst/>
          </a:prstGeom>
          <a:solidFill>
            <a:srgbClr val="2FFFE0">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85" name="Rectangle 111384">
            <a:extLst>
              <a:ext uri="{FF2B5EF4-FFF2-40B4-BE49-F238E27FC236}">
                <a16:creationId xmlns:a16="http://schemas.microsoft.com/office/drawing/2014/main" id="{8A2F9825-A437-CE07-EE3B-60EF4E6AC7AF}"/>
              </a:ext>
            </a:extLst>
          </p:cNvPr>
          <p:cNvSpPr/>
          <p:nvPr/>
        </p:nvSpPr>
        <p:spPr>
          <a:xfrm>
            <a:off x="6391000" y="5853872"/>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/skills lists app-builder</a:t>
            </a:r>
          </a:p>
          <a:p>
            <a:pPr algn="l">
              <a:buNone/>
            </a:pPr>
            <a:r>
              <a:rPr lang="en-US" sz="100">
                <a:effectLst/>
              </a:rPr>
              <a:t> </a:t>
            </a:r>
            <a:endParaRPr lang="en-US"/>
          </a:p>
        </p:txBody>
      </p:sp>
    </p:spTree>
    <p:extLst>
      <p:ext uri="{BB962C8B-B14F-4D97-AF65-F5344CB8AC3E}">
        <p14:creationId xmlns:p14="http://schemas.microsoft.com/office/powerpoint/2010/main" val="693253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39108" name="Rectangle: Rounded Corners 139107">
            <a:extLst>
              <a:ext uri="{FF2B5EF4-FFF2-40B4-BE49-F238E27FC236}">
                <a16:creationId xmlns:a16="http://schemas.microsoft.com/office/drawing/2014/main" id="{691D59E6-E6F6-F0C9-8248-F3A626B265D6}"/>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39110" name="Rectangle: Rounded Corners 139109">
            <a:extLst>
              <a:ext uri="{FF2B5EF4-FFF2-40B4-BE49-F238E27FC236}">
                <a16:creationId xmlns:a16="http://schemas.microsoft.com/office/drawing/2014/main" id="{C724ED46-2212-86FD-68B3-D2206BB22C0C}"/>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2 · STEPS 3–4 OF 6</a:t>
            </a:r>
          </a:p>
          <a:p>
            <a:pPr algn="ctr">
              <a:buNone/>
            </a:pPr>
            <a:r>
              <a:rPr lang="en-US" sz="100">
                <a:effectLst/>
              </a:rPr>
              <a:t> </a:t>
            </a:r>
            <a:endParaRPr lang="en-US"/>
          </a:p>
        </p:txBody>
      </p:sp>
      <p:sp>
        <p:nvSpPr>
          <p:cNvPr id="139113" name="Rectangle 139112">
            <a:extLst>
              <a:ext uri="{FF2B5EF4-FFF2-40B4-BE49-F238E27FC236}">
                <a16:creationId xmlns:a16="http://schemas.microsoft.com/office/drawing/2014/main" id="{4A14EA77-C20D-5137-5201-8179AA9B5CEA}"/>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2 steps: extend the Control Tower</a:t>
            </a:r>
          </a:p>
          <a:p>
            <a:pPr algn="l">
              <a:buNone/>
            </a:pPr>
            <a:r>
              <a:rPr lang="en-US" sz="100">
                <a:effectLst/>
              </a:rPr>
              <a:t> </a:t>
            </a:r>
            <a:endParaRPr lang="en-US"/>
          </a:p>
        </p:txBody>
      </p:sp>
      <p:sp>
        <p:nvSpPr>
          <p:cNvPr id="139117" name="Rectangle 139116">
            <a:extLst>
              <a:ext uri="{FF2B5EF4-FFF2-40B4-BE49-F238E27FC236}">
                <a16:creationId xmlns:a16="http://schemas.microsoft.com/office/drawing/2014/main" id="{00D0E84B-E1C1-9434-F8E0-6192BF55E9DD}"/>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122" name="Rectangle: Rounded Corners 139121">
            <a:extLst>
              <a:ext uri="{FF2B5EF4-FFF2-40B4-BE49-F238E27FC236}">
                <a16:creationId xmlns:a16="http://schemas.microsoft.com/office/drawing/2014/main" id="{D0251CA2-E47D-E87C-C063-5DDEFC596905}"/>
              </a:ext>
            </a:extLst>
          </p:cNvPr>
          <p:cNvSpPr/>
          <p:nvPr/>
        </p:nvSpPr>
        <p:spPr>
          <a:xfrm>
            <a:off x="779600" y="1831951"/>
            <a:ext cx="560000" cy="56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3</a:t>
            </a:r>
          </a:p>
          <a:p>
            <a:pPr algn="ctr">
              <a:buNone/>
            </a:pPr>
            <a:r>
              <a:rPr lang="en-US" sz="100">
                <a:effectLst/>
              </a:rPr>
              <a:t> </a:t>
            </a:r>
            <a:endParaRPr lang="en-US"/>
          </a:p>
        </p:txBody>
      </p:sp>
      <p:sp>
        <p:nvSpPr>
          <p:cNvPr id="139128" name="Rectangle 139127">
            <a:extLst>
              <a:ext uri="{FF2B5EF4-FFF2-40B4-BE49-F238E27FC236}">
                <a16:creationId xmlns:a16="http://schemas.microsoft.com/office/drawing/2014/main" id="{3B6456DB-5561-8EF6-A833-2F5F5F3FD25C}"/>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Authenticate to DEV</a:t>
            </a:r>
          </a:p>
          <a:p>
            <a:pPr algn="l">
              <a:buNone/>
            </a:pPr>
            <a:r>
              <a:rPr lang="en-US" sz="100">
                <a:effectLst/>
              </a:rPr>
              <a:t> </a:t>
            </a:r>
            <a:endParaRPr lang="en-US"/>
          </a:p>
        </p:txBody>
      </p:sp>
      <p:sp>
        <p:nvSpPr>
          <p:cNvPr id="139135" name="Rectangle 139134">
            <a:extLst>
              <a:ext uri="{FF2B5EF4-FFF2-40B4-BE49-F238E27FC236}">
                <a16:creationId xmlns:a16="http://schemas.microsoft.com/office/drawing/2014/main" id="{C7F34662-52EE-F358-4B24-31CD069DF057}"/>
              </a:ext>
            </a:extLst>
          </p:cNvPr>
          <p:cNvSpPr/>
          <p:nvPr/>
        </p:nvSpPr>
        <p:spPr>
          <a:xfrm>
            <a:off x="7796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200" err="1">
                <a:solidFill>
                  <a:srgbClr val="FFFFFF"/>
                </a:solidFill>
                <a:effectLst/>
                <a:latin typeface="Segoe UI"/>
                <a:cs typeface="Segoe UI"/>
              </a:rPr>
              <a:t>pac</a:t>
            </a:r>
            <a:r>
              <a:rPr lang="en-US" sz="2200">
                <a:solidFill>
                  <a:srgbClr val="FFFFFF"/>
                </a:solidFill>
                <a:effectLst/>
                <a:latin typeface="Segoe UI"/>
                <a:cs typeface="Segoe UI"/>
              </a:rPr>
              <a:t> auth create</a:t>
            </a:r>
            <a:r>
              <a:rPr lang="en-US" sz="2200">
                <a:solidFill>
                  <a:srgbClr val="FFFFFF"/>
                </a:solidFill>
                <a:latin typeface="Segoe UI"/>
                <a:cs typeface="Segoe UI"/>
              </a:rPr>
              <a:t> </a:t>
            </a:r>
            <a:r>
              <a:rPr lang="en-US" sz="2200">
                <a:solidFill>
                  <a:srgbClr val="FFFFFF"/>
                </a:solidFill>
                <a:effectLst/>
                <a:latin typeface="Segoe UI"/>
                <a:cs typeface="Segoe UI"/>
              </a:rPr>
              <a:t>, </a:t>
            </a:r>
            <a:r>
              <a:rPr lang="en-US" sz="2200" err="1">
                <a:solidFill>
                  <a:srgbClr val="FFFFFF"/>
                </a:solidFill>
                <a:effectLst/>
                <a:latin typeface="Segoe UI"/>
                <a:cs typeface="Segoe UI"/>
              </a:rPr>
              <a:t>az</a:t>
            </a:r>
            <a:r>
              <a:rPr lang="en-US" sz="2200">
                <a:solidFill>
                  <a:srgbClr val="FFFFFF"/>
                </a:solidFill>
                <a:effectLst/>
                <a:latin typeface="Segoe UI"/>
                <a:cs typeface="Segoe UI"/>
              </a:rPr>
              <a:t> login </a:t>
            </a:r>
            <a:r>
              <a:rPr lang="en-US" sz="2200">
                <a:solidFill>
                  <a:srgbClr val="FFFFFF"/>
                </a:solidFill>
                <a:latin typeface="Segoe UI"/>
                <a:cs typeface="Segoe UI"/>
              </a:rPr>
              <a:t>–use-device-code with</a:t>
            </a:r>
            <a:r>
              <a:rPr lang="en-US" sz="2200">
                <a:solidFill>
                  <a:srgbClr val="FFFFFF"/>
                </a:solidFill>
                <a:effectLst/>
                <a:latin typeface="Segoe UI"/>
                <a:cs typeface="Segoe UI"/>
              </a:rPr>
              <a:t> the same account</a:t>
            </a:r>
          </a:p>
          <a:p>
            <a:pPr algn="l">
              <a:buNone/>
            </a:pPr>
            <a:endParaRPr lang="en-US"/>
          </a:p>
        </p:txBody>
      </p:sp>
      <p:sp>
        <p:nvSpPr>
          <p:cNvPr id="139143" name="Rectangle 139142">
            <a:extLst>
              <a:ext uri="{FF2B5EF4-FFF2-40B4-BE49-F238E27FC236}">
                <a16:creationId xmlns:a16="http://schemas.microsoft.com/office/drawing/2014/main" id="{3510938A-D7FF-7728-06F5-D2B136A486BD}"/>
              </a:ext>
            </a:extLst>
          </p:cNvPr>
          <p:cNvSpPr/>
          <p:nvPr/>
        </p:nvSpPr>
        <p:spPr>
          <a:xfrm>
            <a:off x="609600" y="5453004"/>
            <a:ext cx="5361400" cy="976996"/>
          </a:xfrm>
          <a:prstGeom prst="rect">
            <a:avLst/>
          </a:prstGeom>
          <a:solidFill>
            <a:srgbClr val="2FFFE0">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152" name="Rectangle 139151">
            <a:extLst>
              <a:ext uri="{FF2B5EF4-FFF2-40B4-BE49-F238E27FC236}">
                <a16:creationId xmlns:a16="http://schemas.microsoft.com/office/drawing/2014/main" id="{AD655D7D-9449-5ACF-AAFD-3510CA77D308}"/>
              </a:ext>
            </a:extLst>
          </p:cNvPr>
          <p:cNvSpPr/>
          <p:nvPr/>
        </p:nvSpPr>
        <p:spPr>
          <a:xfrm>
            <a:off x="7796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a:t>
            </a:r>
            <a:r>
              <a:rPr lang="en-US" sz="2200" err="1">
                <a:solidFill>
                  <a:srgbClr val="FFFFFF"/>
                </a:solidFill>
                <a:effectLst/>
                <a:latin typeface="Segoe UI" panose="020B0502040204020203" pitchFamily="34" charset="0"/>
              </a:rPr>
              <a:t>pac</a:t>
            </a:r>
            <a:r>
              <a:rPr lang="en-US" sz="2200">
                <a:solidFill>
                  <a:srgbClr val="FFFFFF"/>
                </a:solidFill>
                <a:effectLst/>
                <a:latin typeface="Segoe UI" panose="020B0502040204020203" pitchFamily="34" charset="0"/>
              </a:rPr>
              <a:t> auth and </a:t>
            </a:r>
            <a:r>
              <a:rPr lang="en-US" sz="2200" err="1">
                <a:solidFill>
                  <a:srgbClr val="FFFFFF"/>
                </a:solidFill>
                <a:effectLst/>
                <a:latin typeface="Segoe UI" panose="020B0502040204020203" pitchFamily="34" charset="0"/>
              </a:rPr>
              <a:t>az</a:t>
            </a:r>
            <a:r>
              <a:rPr lang="en-US" sz="2200">
                <a:solidFill>
                  <a:srgbClr val="FFFFFF"/>
                </a:solidFill>
                <a:effectLst/>
                <a:latin typeface="Segoe UI" panose="020B0502040204020203" pitchFamily="34" charset="0"/>
              </a:rPr>
              <a:t> login gets configured</a:t>
            </a:r>
          </a:p>
          <a:p>
            <a:pPr algn="l">
              <a:buNone/>
            </a:pPr>
            <a:r>
              <a:rPr lang="en-US" sz="100">
                <a:effectLst/>
              </a:rPr>
              <a:t> </a:t>
            </a:r>
            <a:endParaRPr lang="en-US"/>
          </a:p>
        </p:txBody>
      </p:sp>
      <p:sp>
        <p:nvSpPr>
          <p:cNvPr id="139162" name="Rectangle 139161">
            <a:extLst>
              <a:ext uri="{FF2B5EF4-FFF2-40B4-BE49-F238E27FC236}">
                <a16:creationId xmlns:a16="http://schemas.microsoft.com/office/drawing/2014/main" id="{A2C74F05-C106-779F-C90B-2F1595FCCFD4}"/>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173" name="Rectangle: Rounded Corners 139172">
            <a:extLst>
              <a:ext uri="{FF2B5EF4-FFF2-40B4-BE49-F238E27FC236}">
                <a16:creationId xmlns:a16="http://schemas.microsoft.com/office/drawing/2014/main" id="{90B3D0D8-A546-FCB2-909D-E1B696FF5A6E}"/>
              </a:ext>
            </a:extLst>
          </p:cNvPr>
          <p:cNvSpPr/>
          <p:nvPr/>
        </p:nvSpPr>
        <p:spPr>
          <a:xfrm>
            <a:off x="6391000" y="1831951"/>
            <a:ext cx="560000" cy="56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4</a:t>
            </a:r>
          </a:p>
          <a:p>
            <a:pPr algn="ctr">
              <a:buNone/>
            </a:pPr>
            <a:r>
              <a:rPr lang="en-US" sz="100">
                <a:effectLst/>
              </a:rPr>
              <a:t> </a:t>
            </a:r>
            <a:endParaRPr lang="en-US"/>
          </a:p>
        </p:txBody>
      </p:sp>
      <p:sp>
        <p:nvSpPr>
          <p:cNvPr id="139185" name="Rectangle 139184">
            <a:extLst>
              <a:ext uri="{FF2B5EF4-FFF2-40B4-BE49-F238E27FC236}">
                <a16:creationId xmlns:a16="http://schemas.microsoft.com/office/drawing/2014/main" id="{1D4354CB-6877-86B3-81D5-213C71D1B155}"/>
              </a:ext>
            </a:extLst>
          </p:cNvPr>
          <p:cNvSpPr/>
          <p:nvPr/>
        </p:nvSpPr>
        <p:spPr>
          <a:xfrm>
            <a:off x="71010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Prompt app-builder with the extension spec</a:t>
            </a:r>
          </a:p>
          <a:p>
            <a:pPr algn="l">
              <a:buNone/>
            </a:pPr>
            <a:r>
              <a:rPr lang="en-US" sz="100">
                <a:effectLst/>
              </a:rPr>
              <a:t> </a:t>
            </a:r>
            <a:endParaRPr lang="en-US"/>
          </a:p>
        </p:txBody>
      </p:sp>
      <p:sp>
        <p:nvSpPr>
          <p:cNvPr id="139198" name="Rectangle 139197">
            <a:extLst>
              <a:ext uri="{FF2B5EF4-FFF2-40B4-BE49-F238E27FC236}">
                <a16:creationId xmlns:a16="http://schemas.microsoft.com/office/drawing/2014/main" id="{7BDCF87A-83B5-44F9-28BD-8B6A8E5CED94}"/>
              </a:ext>
            </a:extLst>
          </p:cNvPr>
          <p:cNvSpPr/>
          <p:nvPr/>
        </p:nvSpPr>
        <p:spPr>
          <a:xfrm>
            <a:off x="6391000" y="2808947"/>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Attach the Supplier Recovery Offer spec; ask for proposed changes and a dry-run plan before any write</a:t>
            </a:r>
          </a:p>
          <a:p>
            <a:pPr algn="l">
              <a:buNone/>
            </a:pPr>
            <a:r>
              <a:rPr lang="en-US" sz="100">
                <a:effectLst/>
              </a:rPr>
              <a:t> </a:t>
            </a:r>
            <a:endParaRPr lang="en-US"/>
          </a:p>
        </p:txBody>
      </p:sp>
      <p:sp>
        <p:nvSpPr>
          <p:cNvPr id="139212" name="Rectangle 139211">
            <a:extLst>
              <a:ext uri="{FF2B5EF4-FFF2-40B4-BE49-F238E27FC236}">
                <a16:creationId xmlns:a16="http://schemas.microsoft.com/office/drawing/2014/main" id="{EDB6702D-E251-FC08-00C6-C964F1B8705E}"/>
              </a:ext>
            </a:extLst>
          </p:cNvPr>
          <p:cNvSpPr/>
          <p:nvPr/>
        </p:nvSpPr>
        <p:spPr>
          <a:xfrm>
            <a:off x="6221000" y="5453004"/>
            <a:ext cx="5361400" cy="976996"/>
          </a:xfrm>
          <a:prstGeom prst="rect">
            <a:avLst/>
          </a:prstGeom>
          <a:solidFill>
            <a:srgbClr val="2FFFE0">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27" name="Rectangle 139226">
            <a:extLst>
              <a:ext uri="{FF2B5EF4-FFF2-40B4-BE49-F238E27FC236}">
                <a16:creationId xmlns:a16="http://schemas.microsoft.com/office/drawing/2014/main" id="{00E32603-6C57-32E9-E8D0-0B7EEFE88D47}"/>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Proposal reuses the installed app and existing components</a:t>
            </a:r>
          </a:p>
          <a:p>
            <a:pPr algn="l">
              <a:buNone/>
            </a:pPr>
            <a:r>
              <a:rPr lang="en-US" sz="100">
                <a:effectLst/>
              </a:rPr>
              <a:t> </a:t>
            </a:r>
            <a:endParaRPr lang="en-US"/>
          </a:p>
        </p:txBody>
      </p:sp>
    </p:spTree>
    <p:extLst>
      <p:ext uri="{BB962C8B-B14F-4D97-AF65-F5344CB8AC3E}">
        <p14:creationId xmlns:p14="http://schemas.microsoft.com/office/powerpoint/2010/main" val="2305827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39243" name="Rectangle: Rounded Corners 139242">
            <a:extLst>
              <a:ext uri="{FF2B5EF4-FFF2-40B4-BE49-F238E27FC236}">
                <a16:creationId xmlns:a16="http://schemas.microsoft.com/office/drawing/2014/main" id="{D64B83FB-1898-CFB9-0D6F-81CF0C22C072}"/>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39260" name="Rectangle: Rounded Corners 139259">
            <a:extLst>
              <a:ext uri="{FF2B5EF4-FFF2-40B4-BE49-F238E27FC236}">
                <a16:creationId xmlns:a16="http://schemas.microsoft.com/office/drawing/2014/main" id="{3299E469-CDC0-F45A-1BE2-6FA6957DB3DD}"/>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2 · STEPS 5–6 OF 6</a:t>
            </a:r>
          </a:p>
          <a:p>
            <a:pPr algn="ctr">
              <a:buNone/>
            </a:pPr>
            <a:r>
              <a:rPr lang="en-US" sz="100">
                <a:effectLst/>
              </a:rPr>
              <a:t> </a:t>
            </a:r>
            <a:endParaRPr lang="en-US"/>
          </a:p>
        </p:txBody>
      </p:sp>
      <p:sp>
        <p:nvSpPr>
          <p:cNvPr id="139278" name="Rectangle 139277">
            <a:extLst>
              <a:ext uri="{FF2B5EF4-FFF2-40B4-BE49-F238E27FC236}">
                <a16:creationId xmlns:a16="http://schemas.microsoft.com/office/drawing/2014/main" id="{8ABB35C7-A003-AE2F-D481-50449A3FBFD2}"/>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2 steps: extend the Control Tower</a:t>
            </a:r>
          </a:p>
          <a:p>
            <a:pPr algn="l">
              <a:buNone/>
            </a:pPr>
            <a:r>
              <a:rPr lang="en-US" sz="100">
                <a:effectLst/>
              </a:rPr>
              <a:t> </a:t>
            </a:r>
            <a:endParaRPr lang="en-US"/>
          </a:p>
        </p:txBody>
      </p:sp>
      <p:sp>
        <p:nvSpPr>
          <p:cNvPr id="139297" name="Rectangle 139296">
            <a:extLst>
              <a:ext uri="{FF2B5EF4-FFF2-40B4-BE49-F238E27FC236}">
                <a16:creationId xmlns:a16="http://schemas.microsoft.com/office/drawing/2014/main" id="{C344642A-428D-6E97-97B0-D5682B6518BB}"/>
              </a:ext>
            </a:extLst>
          </p:cNvPr>
          <p:cNvSpPr/>
          <p:nvPr/>
        </p:nvSpPr>
        <p:spPr>
          <a:xfrm>
            <a:off x="609600" y="1661951"/>
            <a:ext cx="5361400" cy="411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317" name="Rectangle: Rounded Corners 139316">
            <a:extLst>
              <a:ext uri="{FF2B5EF4-FFF2-40B4-BE49-F238E27FC236}">
                <a16:creationId xmlns:a16="http://schemas.microsoft.com/office/drawing/2014/main" id="{7DCE5D49-A885-E6BE-11D6-9C761A647E1C}"/>
              </a:ext>
            </a:extLst>
          </p:cNvPr>
          <p:cNvSpPr/>
          <p:nvPr/>
        </p:nvSpPr>
        <p:spPr>
          <a:xfrm>
            <a:off x="779600" y="1831951"/>
            <a:ext cx="560000" cy="56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5</a:t>
            </a:r>
          </a:p>
          <a:p>
            <a:pPr algn="ctr">
              <a:buNone/>
            </a:pPr>
            <a:r>
              <a:rPr lang="en-US" sz="100">
                <a:effectLst/>
              </a:rPr>
              <a:t> </a:t>
            </a:r>
            <a:endParaRPr lang="en-US"/>
          </a:p>
        </p:txBody>
      </p:sp>
      <p:sp>
        <p:nvSpPr>
          <p:cNvPr id="139338" name="Rectangle 139337">
            <a:extLst>
              <a:ext uri="{FF2B5EF4-FFF2-40B4-BE49-F238E27FC236}">
                <a16:creationId xmlns:a16="http://schemas.microsoft.com/office/drawing/2014/main" id="{55E503E3-8E31-8A89-0E74-A147D2490561}"/>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Review, approve, and build</a:t>
            </a:r>
          </a:p>
          <a:p>
            <a:pPr algn="l">
              <a:buNone/>
            </a:pPr>
            <a:r>
              <a:rPr lang="en-US" sz="100">
                <a:effectLst/>
              </a:rPr>
              <a:t> </a:t>
            </a:r>
            <a:endParaRPr lang="en-US"/>
          </a:p>
        </p:txBody>
      </p:sp>
      <p:sp>
        <p:nvSpPr>
          <p:cNvPr id="139360" name="Rectangle 139359">
            <a:extLst>
              <a:ext uri="{FF2B5EF4-FFF2-40B4-BE49-F238E27FC236}">
                <a16:creationId xmlns:a16="http://schemas.microsoft.com/office/drawing/2014/main" id="{5C44D498-9F2B-C871-BA44-FCC6B03DBCD2}"/>
              </a:ext>
            </a:extLst>
          </p:cNvPr>
          <p:cNvSpPr/>
          <p:nvPr/>
        </p:nvSpPr>
        <p:spPr>
          <a:xfrm>
            <a:off x="7796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Check solution, table, choice, form, views, navigation, roles, authority; then approve</a:t>
            </a:r>
          </a:p>
          <a:p>
            <a:pPr algn="l">
              <a:buNone/>
            </a:pPr>
            <a:r>
              <a:rPr lang="en-US" sz="100">
                <a:effectLst/>
              </a:rPr>
              <a:t> </a:t>
            </a:r>
            <a:endParaRPr lang="en-US"/>
          </a:p>
        </p:txBody>
      </p:sp>
      <p:sp>
        <p:nvSpPr>
          <p:cNvPr id="139383" name="Rectangle 139382">
            <a:extLst>
              <a:ext uri="{FF2B5EF4-FFF2-40B4-BE49-F238E27FC236}">
                <a16:creationId xmlns:a16="http://schemas.microsoft.com/office/drawing/2014/main" id="{F11843DC-C295-2965-D3E5-D44DD724FEB6}"/>
              </a:ext>
            </a:extLst>
          </p:cNvPr>
          <p:cNvSpPr/>
          <p:nvPr/>
        </p:nvSpPr>
        <p:spPr>
          <a:xfrm>
            <a:off x="609600" y="4803004"/>
            <a:ext cx="5361400" cy="976996"/>
          </a:xfrm>
          <a:prstGeom prst="rect">
            <a:avLst/>
          </a:prstGeom>
          <a:solidFill>
            <a:srgbClr val="2FFFE0">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407" name="Rectangle 139406">
            <a:extLst>
              <a:ext uri="{FF2B5EF4-FFF2-40B4-BE49-F238E27FC236}">
                <a16:creationId xmlns:a16="http://schemas.microsoft.com/office/drawing/2014/main" id="{B2BB91F8-A1AB-ADEE-65DF-08BADDF505C5}"/>
              </a:ext>
            </a:extLst>
          </p:cNvPr>
          <p:cNvSpPr/>
          <p:nvPr/>
        </p:nvSpPr>
        <p:spPr>
          <a:xfrm>
            <a:off x="779600" y="486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Extension published in its own unmanaged solution; gaps reported</a:t>
            </a:r>
          </a:p>
          <a:p>
            <a:pPr algn="l">
              <a:buNone/>
            </a:pPr>
            <a:r>
              <a:rPr lang="en-US" sz="100">
                <a:effectLst/>
              </a:rPr>
              <a:t> </a:t>
            </a:r>
            <a:endParaRPr lang="en-US"/>
          </a:p>
        </p:txBody>
      </p:sp>
      <p:sp>
        <p:nvSpPr>
          <p:cNvPr id="139432" name="Rectangle 139431">
            <a:extLst>
              <a:ext uri="{FF2B5EF4-FFF2-40B4-BE49-F238E27FC236}">
                <a16:creationId xmlns:a16="http://schemas.microsoft.com/office/drawing/2014/main" id="{A7750AFC-34A5-DBBF-0FFE-BB7E25F42BE7}"/>
              </a:ext>
            </a:extLst>
          </p:cNvPr>
          <p:cNvSpPr/>
          <p:nvPr/>
        </p:nvSpPr>
        <p:spPr>
          <a:xfrm>
            <a:off x="6221000" y="1661951"/>
            <a:ext cx="5361400" cy="411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458" name="Rectangle: Rounded Corners 139457">
            <a:extLst>
              <a:ext uri="{FF2B5EF4-FFF2-40B4-BE49-F238E27FC236}">
                <a16:creationId xmlns:a16="http://schemas.microsoft.com/office/drawing/2014/main" id="{387D7A78-D74B-F7B9-8146-313A171C40B8}"/>
              </a:ext>
            </a:extLst>
          </p:cNvPr>
          <p:cNvSpPr/>
          <p:nvPr/>
        </p:nvSpPr>
        <p:spPr>
          <a:xfrm>
            <a:off x="6391000" y="1831951"/>
            <a:ext cx="560000" cy="56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6</a:t>
            </a:r>
          </a:p>
          <a:p>
            <a:pPr algn="ctr">
              <a:buNone/>
            </a:pPr>
            <a:r>
              <a:rPr lang="en-US" sz="100">
                <a:effectLst/>
              </a:rPr>
              <a:t> </a:t>
            </a:r>
            <a:endParaRPr lang="en-US"/>
          </a:p>
        </p:txBody>
      </p:sp>
      <p:sp>
        <p:nvSpPr>
          <p:cNvPr id="139485" name="Rectangle 139484">
            <a:extLst>
              <a:ext uri="{FF2B5EF4-FFF2-40B4-BE49-F238E27FC236}">
                <a16:creationId xmlns:a16="http://schemas.microsoft.com/office/drawing/2014/main" id="{0633EDFA-6CD3-53B2-950F-DACC8A98E2CE}"/>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Compare two offers</a:t>
            </a:r>
          </a:p>
          <a:p>
            <a:pPr algn="l">
              <a:buNone/>
            </a:pPr>
            <a:r>
              <a:rPr lang="en-US" sz="100">
                <a:effectLst/>
              </a:rPr>
              <a:t> </a:t>
            </a:r>
            <a:endParaRPr lang="en-US"/>
          </a:p>
        </p:txBody>
      </p:sp>
      <p:sp>
        <p:nvSpPr>
          <p:cNvPr id="139513" name="Rectangle 139512">
            <a:extLst>
              <a:ext uri="{FF2B5EF4-FFF2-40B4-BE49-F238E27FC236}">
                <a16:creationId xmlns:a16="http://schemas.microsoft.com/office/drawing/2014/main" id="{687BAA7F-0521-AF73-81A1-32603CBDF0BC}"/>
              </a:ext>
            </a:extLst>
          </p:cNvPr>
          <p:cNvSpPr/>
          <p:nvPr/>
        </p:nvSpPr>
        <p:spPr>
          <a:xfrm>
            <a:off x="6391000" y="2511951"/>
            <a:ext cx="5021400" cy="15387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Create a faster/higher-cost and a slower/lower-cost offer; move one Received → Shortlisted → Not Selected</a:t>
            </a:r>
          </a:p>
          <a:p>
            <a:pPr algn="l">
              <a:buNone/>
            </a:pPr>
            <a:r>
              <a:rPr lang="en-US" sz="100">
                <a:effectLst/>
              </a:rPr>
              <a:t> </a:t>
            </a:r>
            <a:endParaRPr lang="en-US"/>
          </a:p>
        </p:txBody>
      </p:sp>
      <p:sp>
        <p:nvSpPr>
          <p:cNvPr id="139542" name="Rectangle 139541">
            <a:extLst>
              <a:ext uri="{FF2B5EF4-FFF2-40B4-BE49-F238E27FC236}">
                <a16:creationId xmlns:a16="http://schemas.microsoft.com/office/drawing/2014/main" id="{167AA3DF-3394-D9E8-B44E-9F9D62C8FA08}"/>
              </a:ext>
            </a:extLst>
          </p:cNvPr>
          <p:cNvSpPr/>
          <p:nvPr/>
        </p:nvSpPr>
        <p:spPr>
          <a:xfrm>
            <a:off x="6221000" y="4803004"/>
            <a:ext cx="5361400" cy="976996"/>
          </a:xfrm>
          <a:prstGeom prst="rect">
            <a:avLst/>
          </a:prstGeom>
          <a:solidFill>
            <a:srgbClr val="2FFFE0">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572" name="Rectangle 139571">
            <a:extLst>
              <a:ext uri="{FF2B5EF4-FFF2-40B4-BE49-F238E27FC236}">
                <a16:creationId xmlns:a16="http://schemas.microsoft.com/office/drawing/2014/main" id="{B593F652-B3A0-5331-B3BF-80AF0B408378}"/>
              </a:ext>
            </a:extLst>
          </p:cNvPr>
          <p:cNvSpPr/>
          <p:nvPr/>
        </p:nvSpPr>
        <p:spPr>
          <a:xfrm>
            <a:off x="6391000" y="486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Views behave as specified; decision still Pending</a:t>
            </a:r>
          </a:p>
          <a:p>
            <a:pPr algn="l">
              <a:buNone/>
            </a:pPr>
            <a:r>
              <a:rPr lang="en-US" sz="100">
                <a:effectLst/>
              </a:rPr>
              <a:t> </a:t>
            </a:r>
            <a:endParaRPr lang="en-US"/>
          </a:p>
        </p:txBody>
      </p:sp>
      <p:sp>
        <p:nvSpPr>
          <p:cNvPr id="139603" name="Rectangle 139602">
            <a:extLst>
              <a:ext uri="{FF2B5EF4-FFF2-40B4-BE49-F238E27FC236}">
                <a16:creationId xmlns:a16="http://schemas.microsoft.com/office/drawing/2014/main" id="{4FB47467-4462-96A2-D38D-748A9F902D16}"/>
              </a:ext>
            </a:extLst>
          </p:cNvPr>
          <p:cNvSpPr/>
          <p:nvPr/>
        </p:nvSpPr>
        <p:spPr>
          <a:xfrm>
            <a:off x="609600" y="5980000"/>
            <a:ext cx="10972800" cy="450000"/>
          </a:xfrm>
          <a:prstGeom prst="rect">
            <a:avLst/>
          </a:prstGeom>
          <a:solidFill>
            <a:srgbClr val="2FFFE0">
              <a:alpha val="22000"/>
            </a:srgbClr>
          </a:solidFill>
          <a:ln w="1905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FFFFFF"/>
                </a:solidFill>
                <a:effectLst/>
                <a:latin typeface="Segoe UI" panose="020B0502040204020203" pitchFamily="34" charset="0"/>
              </a:rPr>
              <a:t>Shortlisting an offer is never approval to execute it.</a:t>
            </a:r>
          </a:p>
          <a:p>
            <a:pPr algn="ctr">
              <a:buNone/>
            </a:pPr>
            <a:r>
              <a:rPr lang="en-US" sz="100">
                <a:effectLst/>
              </a:rPr>
              <a:t> </a:t>
            </a:r>
            <a:endParaRPr lang="en-US"/>
          </a:p>
        </p:txBody>
      </p:sp>
    </p:spTree>
    <p:extLst>
      <p:ext uri="{BB962C8B-B14F-4D97-AF65-F5344CB8AC3E}">
        <p14:creationId xmlns:p14="http://schemas.microsoft.com/office/powerpoint/2010/main" val="979111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B5305-2E7B-5D97-981A-C48111ACD371}"/>
            </a:ext>
          </a:extLst>
        </p:cNvPr>
        <p:cNvGrpSpPr/>
        <p:nvPr/>
      </p:nvGrpSpPr>
      <p:grpSpPr>
        <a:xfrm>
          <a:off x="0" y="0"/>
          <a:ext cx="0" cy="0"/>
          <a:chOff x="0" y="0"/>
          <a:chExt cx="0" cy="0"/>
        </a:xfrm>
      </p:grpSpPr>
      <p:sp>
        <p:nvSpPr>
          <p:cNvPr id="139243" name="Rectangle: Rounded Corners 139242">
            <a:extLst>
              <a:ext uri="{FF2B5EF4-FFF2-40B4-BE49-F238E27FC236}">
                <a16:creationId xmlns:a16="http://schemas.microsoft.com/office/drawing/2014/main" id="{11E55A27-1C47-78AF-80EC-EEC2D255AB34}"/>
              </a:ext>
            </a:extLst>
          </p:cNvPr>
          <p:cNvSpPr/>
          <p:nvPr/>
        </p:nvSpPr>
        <p:spPr>
          <a:xfrm>
            <a:off x="166255"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39260" name="Rectangle: Rounded Corners 139259">
            <a:extLst>
              <a:ext uri="{FF2B5EF4-FFF2-40B4-BE49-F238E27FC236}">
                <a16:creationId xmlns:a16="http://schemas.microsoft.com/office/drawing/2014/main" id="{5AE05B4B-3C07-7CE6-A07D-3631EEE71930}"/>
              </a:ext>
            </a:extLst>
          </p:cNvPr>
          <p:cNvSpPr/>
          <p:nvPr/>
        </p:nvSpPr>
        <p:spPr>
          <a:xfrm>
            <a:off x="166255" y="1011521"/>
            <a:ext cx="1446414" cy="768787"/>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1400" b="1" spc="150">
                <a:solidFill>
                  <a:srgbClr val="0B1020"/>
                </a:solidFill>
                <a:effectLst/>
                <a:latin typeface="Segoe UI" panose="020B0502040204020203" pitchFamily="34" charset="0"/>
              </a:rPr>
              <a:t>LAB 2 · SNEAK PEEK</a:t>
            </a:r>
          </a:p>
          <a:p>
            <a:pPr>
              <a:buNone/>
            </a:pPr>
            <a:r>
              <a:rPr lang="en-US" sz="100">
                <a:effectLst/>
              </a:rPr>
              <a:t> </a:t>
            </a:r>
            <a:endParaRPr lang="en-US"/>
          </a:p>
        </p:txBody>
      </p:sp>
      <p:pic>
        <p:nvPicPr>
          <p:cNvPr id="2" name="model-app-builder-cowork-2.3.4-edited-no-captions">
            <a:hlinkClick r:id="" action="ppaction://media"/>
            <a:extLst>
              <a:ext uri="{FF2B5EF4-FFF2-40B4-BE49-F238E27FC236}">
                <a16:creationId xmlns:a16="http://schemas.microsoft.com/office/drawing/2014/main" id="{EAA154C5-7D20-D928-E660-F153CD315DE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052167" y="0"/>
            <a:ext cx="10139833" cy="6858000"/>
          </a:xfrm>
          <a:prstGeom prst="rect">
            <a:avLst/>
          </a:prstGeom>
        </p:spPr>
      </p:pic>
    </p:spTree>
    <p:extLst>
      <p:ext uri="{BB962C8B-B14F-4D97-AF65-F5344CB8AC3E}">
        <p14:creationId xmlns:p14="http://schemas.microsoft.com/office/powerpoint/2010/main" val="349317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11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39635" name="Rectangle: Rounded Corners 139634">
            <a:extLst>
              <a:ext uri="{FF2B5EF4-FFF2-40B4-BE49-F238E27FC236}">
                <a16:creationId xmlns:a16="http://schemas.microsoft.com/office/drawing/2014/main" id="{FA0DD55A-2690-8043-F32A-B56E718EF9D8}"/>
              </a:ext>
            </a:extLst>
          </p:cNvPr>
          <p:cNvSpPr/>
          <p:nvPr/>
        </p:nvSpPr>
        <p:spPr>
          <a:xfrm>
            <a:off x="609600" y="400000"/>
            <a:ext cx="1446414" cy="340000"/>
          </a:xfrm>
          <a:prstGeom prst="round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2</a:t>
            </a:r>
          </a:p>
          <a:p>
            <a:pPr algn="ctr">
              <a:buNone/>
            </a:pPr>
            <a:r>
              <a:rPr lang="en-US" sz="100">
                <a:effectLst/>
              </a:rPr>
              <a:t> </a:t>
            </a:r>
            <a:endParaRPr lang="en-US"/>
          </a:p>
        </p:txBody>
      </p:sp>
      <p:sp>
        <p:nvSpPr>
          <p:cNvPr id="139668" name="Rectangle 139667">
            <a:extLst>
              <a:ext uri="{FF2B5EF4-FFF2-40B4-BE49-F238E27FC236}">
                <a16:creationId xmlns:a16="http://schemas.microsoft.com/office/drawing/2014/main" id="{2BAF2535-628A-D0B9-CCA2-FF35DBC26C79}"/>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2 recap: an extended app, not a rebuilt one</a:t>
            </a:r>
          </a:p>
          <a:p>
            <a:pPr algn="l">
              <a:buNone/>
            </a:pPr>
            <a:r>
              <a:rPr lang="en-US" sz="100">
                <a:effectLst/>
              </a:rPr>
              <a:t> </a:t>
            </a:r>
            <a:endParaRPr lang="en-US"/>
          </a:p>
        </p:txBody>
      </p:sp>
      <p:sp>
        <p:nvSpPr>
          <p:cNvPr id="139702" name="Rectangle 139701">
            <a:extLst>
              <a:ext uri="{FF2B5EF4-FFF2-40B4-BE49-F238E27FC236}">
                <a16:creationId xmlns:a16="http://schemas.microsoft.com/office/drawing/2014/main" id="{ED27C5EE-B966-D73B-156D-1B3A9F0C7405}"/>
              </a:ext>
            </a:extLst>
          </p:cNvPr>
          <p:cNvSpPr/>
          <p:nvPr/>
        </p:nvSpPr>
        <p:spPr>
          <a:xfrm>
            <a:off x="609600" y="166195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BUILT</a:t>
            </a:r>
          </a:p>
          <a:p>
            <a:pPr algn="l">
              <a:buNone/>
            </a:pPr>
            <a:r>
              <a:rPr lang="en-US" sz="2000">
                <a:solidFill>
                  <a:srgbClr val="FFFFFF"/>
                </a:solidFill>
                <a:effectLst/>
                <a:latin typeface="Segoe UI" panose="020B0502040204020203" pitchFamily="34" charset="0"/>
              </a:rPr>
              <a:t>Supplier Recovery Offer table, form, views, navigation, related grid</a:t>
            </a:r>
            <a:endParaRPr lang="en-US"/>
          </a:p>
        </p:txBody>
      </p:sp>
      <p:sp>
        <p:nvSpPr>
          <p:cNvPr id="139737" name="Rectangle 139736">
            <a:extLst>
              <a:ext uri="{FF2B5EF4-FFF2-40B4-BE49-F238E27FC236}">
                <a16:creationId xmlns:a16="http://schemas.microsoft.com/office/drawing/2014/main" id="{14088B57-4E9C-CCE7-F4AF-D7070ACEFFD3}"/>
              </a:ext>
            </a:extLst>
          </p:cNvPr>
          <p:cNvSpPr/>
          <p:nvPr/>
        </p:nvSpPr>
        <p:spPr>
          <a:xfrm>
            <a:off x="609600" y="2866266"/>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CAPABILITIES USED</a:t>
            </a:r>
          </a:p>
          <a:p>
            <a:pPr algn="l">
              <a:buNone/>
            </a:pPr>
            <a:r>
              <a:rPr lang="en-US" sz="2000">
                <a:solidFill>
                  <a:srgbClr val="FFFFFF"/>
                </a:solidFill>
                <a:effectLst/>
                <a:latin typeface="Segoe UI" panose="020B0502040204020203" pitchFamily="34" charset="0"/>
              </a:rPr>
              <a:t>App Builder in GitHub Copilot CLI, Dataverse, solution layering</a:t>
            </a:r>
            <a:endParaRPr lang="en-US"/>
          </a:p>
        </p:txBody>
      </p:sp>
      <p:sp>
        <p:nvSpPr>
          <p:cNvPr id="139773" name="Rectangle 139772">
            <a:extLst>
              <a:ext uri="{FF2B5EF4-FFF2-40B4-BE49-F238E27FC236}">
                <a16:creationId xmlns:a16="http://schemas.microsoft.com/office/drawing/2014/main" id="{50B0F930-D56A-8FEC-B0D8-6A57854E051B}"/>
              </a:ext>
            </a:extLst>
          </p:cNvPr>
          <p:cNvSpPr/>
          <p:nvPr/>
        </p:nvSpPr>
        <p:spPr>
          <a:xfrm>
            <a:off x="609600" y="4070581"/>
            <a:ext cx="6300000" cy="6944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BUSINESS VALUE</a:t>
            </a:r>
          </a:p>
          <a:p>
            <a:pPr algn="l">
              <a:buNone/>
            </a:pPr>
            <a:r>
              <a:rPr lang="en-US" sz="2000">
                <a:solidFill>
                  <a:srgbClr val="FFFFFF"/>
                </a:solidFill>
                <a:effectLst/>
                <a:latin typeface="Segoe UI" panose="020B0502040204020203" pitchFamily="34" charset="0"/>
              </a:rPr>
              <a:t>Structured offer comparison before a decision</a:t>
            </a:r>
            <a:endParaRPr lang="en-US"/>
          </a:p>
        </p:txBody>
      </p:sp>
      <p:sp>
        <p:nvSpPr>
          <p:cNvPr id="139810" name="Rectangle 139809">
            <a:extLst>
              <a:ext uri="{FF2B5EF4-FFF2-40B4-BE49-F238E27FC236}">
                <a16:creationId xmlns:a16="http://schemas.microsoft.com/office/drawing/2014/main" id="{D501CD81-9742-4B07-B0C3-9DED8D1C3566}"/>
              </a:ext>
            </a:extLst>
          </p:cNvPr>
          <p:cNvSpPr/>
          <p:nvPr/>
        </p:nvSpPr>
        <p:spPr>
          <a:xfrm>
            <a:off x="7309600" y="1661951"/>
            <a:ext cx="4272800" cy="1864075"/>
          </a:xfrm>
          <a:prstGeom prst="rect">
            <a:avLst/>
          </a:prstGeom>
          <a:solidFill>
            <a:srgbClr val="FFFFFF">
              <a:alpha val="12000"/>
            </a:srgbClr>
          </a:solidFill>
          <a:ln w="1905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848" name="Rectangle 139847">
            <a:extLst>
              <a:ext uri="{FF2B5EF4-FFF2-40B4-BE49-F238E27FC236}">
                <a16:creationId xmlns:a16="http://schemas.microsoft.com/office/drawing/2014/main" id="{63678C4B-AB9A-9427-5681-69F3746024CA}"/>
              </a:ext>
            </a:extLst>
          </p:cNvPr>
          <p:cNvSpPr/>
          <p:nvPr/>
        </p:nvSpPr>
        <p:spPr>
          <a:xfrm>
            <a:off x="7429600" y="1781951"/>
            <a:ext cx="4032800" cy="162407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2FFFE0"/>
                </a:solidFill>
                <a:effectLst/>
                <a:latin typeface="Segoe UI" panose="020B0502040204020203" pitchFamily="34" charset="0"/>
              </a:rPr>
              <a:t>VALIDATE</a:t>
            </a:r>
          </a:p>
          <a:p>
            <a:pPr algn="l">
              <a:buNone/>
            </a:pPr>
            <a:r>
              <a:rPr lang="en-US" sz="2000">
                <a:solidFill>
                  <a:srgbClr val="FFFFFF"/>
                </a:solidFill>
                <a:effectLst/>
                <a:latin typeface="Segoe UI" panose="020B0502040204020203" pitchFamily="34" charset="0"/>
              </a:rPr>
              <a:t>✓  Both views show your offers</a:t>
            </a:r>
          </a:p>
          <a:p>
            <a:pPr algn="l">
              <a:buNone/>
            </a:pPr>
            <a:r>
              <a:rPr lang="en-US" sz="2000">
                <a:solidFill>
                  <a:srgbClr val="FFFFFF"/>
                </a:solidFill>
                <a:effectLst/>
                <a:latin typeface="Segoe UI" panose="020B0502040204020203" pitchFamily="34" charset="0"/>
              </a:rPr>
              <a:t>✓  Recovery Decision is Pending</a:t>
            </a:r>
          </a:p>
          <a:p>
            <a:pPr algn="l">
              <a:buNone/>
            </a:pPr>
            <a:r>
              <a:rPr lang="en-US" sz="2000">
                <a:solidFill>
                  <a:srgbClr val="FFFFFF"/>
                </a:solidFill>
                <a:effectLst/>
                <a:latin typeface="Segoe UI" panose="020B0502040204020203" pitchFamily="34" charset="0"/>
              </a:rPr>
              <a:t>✓  No new Carrier Operation or Execution Evidence</a:t>
            </a:r>
            <a:endParaRPr lang="en-US"/>
          </a:p>
        </p:txBody>
      </p:sp>
      <p:sp>
        <p:nvSpPr>
          <p:cNvPr id="139887" name="Rectangle 139886">
            <a:extLst>
              <a:ext uri="{FF2B5EF4-FFF2-40B4-BE49-F238E27FC236}">
                <a16:creationId xmlns:a16="http://schemas.microsoft.com/office/drawing/2014/main" id="{DE0AE503-C582-05DF-0799-F2AD4B52F986}"/>
              </a:ext>
            </a:extLst>
          </p:cNvPr>
          <p:cNvSpPr/>
          <p:nvPr/>
        </p:nvSpPr>
        <p:spPr>
          <a:xfrm>
            <a:off x="609600" y="5065016"/>
            <a:ext cx="10972800" cy="6375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68" name="Rectangle 139967">
            <a:extLst>
              <a:ext uri="{FF2B5EF4-FFF2-40B4-BE49-F238E27FC236}">
                <a16:creationId xmlns:a16="http://schemas.microsoft.com/office/drawing/2014/main" id="{01AAAE59-2031-5579-611A-A24D766B9C16}"/>
              </a:ext>
            </a:extLst>
          </p:cNvPr>
          <p:cNvSpPr/>
          <p:nvPr/>
        </p:nvSpPr>
        <p:spPr>
          <a:xfrm>
            <a:off x="3102599" y="5145016"/>
            <a:ext cx="8329801"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Module 3 automates how disruption cases and impact get into the app</a:t>
            </a:r>
          </a:p>
          <a:p>
            <a:pPr algn="l">
              <a:buNone/>
            </a:pPr>
            <a:r>
              <a:rPr lang="en-US" sz="100">
                <a:effectLst/>
              </a:rPr>
              <a:t> </a:t>
            </a:r>
            <a:endParaRPr lang="en-US"/>
          </a:p>
        </p:txBody>
      </p:sp>
      <p:sp>
        <p:nvSpPr>
          <p:cNvPr id="7" name="Rectangle: Rounded Corners 6">
            <a:extLst>
              <a:ext uri="{FF2B5EF4-FFF2-40B4-BE49-F238E27FC236}">
                <a16:creationId xmlns:a16="http://schemas.microsoft.com/office/drawing/2014/main" id="{0D32A999-9DDF-0833-43F6-F94E386EABFB}"/>
              </a:ext>
            </a:extLst>
          </p:cNvPr>
          <p:cNvSpPr/>
          <p:nvPr/>
        </p:nvSpPr>
        <p:spPr>
          <a:xfrm>
            <a:off x="759600" y="5213776"/>
            <a:ext cx="2192999"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NEXT · MODULE 3</a:t>
            </a:r>
          </a:p>
          <a:p>
            <a:pPr algn="ctr">
              <a:buNone/>
            </a:pPr>
            <a:r>
              <a:rPr lang="en-US" sz="100">
                <a:effectLst/>
              </a:rPr>
              <a:t> </a:t>
            </a:r>
            <a:endParaRPr lang="en-US"/>
          </a:p>
        </p:txBody>
      </p:sp>
    </p:spTree>
    <p:extLst>
      <p:ext uri="{BB962C8B-B14F-4D97-AF65-F5344CB8AC3E}">
        <p14:creationId xmlns:p14="http://schemas.microsoft.com/office/powerpoint/2010/main" val="1812457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12417" name="Rectangle: Rounded Corners 212416">
            <a:extLst>
              <a:ext uri="{FF2B5EF4-FFF2-40B4-BE49-F238E27FC236}">
                <a16:creationId xmlns:a16="http://schemas.microsoft.com/office/drawing/2014/main" id="{3A94051C-C142-6BED-6831-F926156FA8B1}"/>
              </a:ext>
            </a:extLst>
          </p:cNvPr>
          <p:cNvSpPr/>
          <p:nvPr/>
        </p:nvSpPr>
        <p:spPr>
          <a:xfrm>
            <a:off x="609600" y="400000"/>
            <a:ext cx="1647295"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TRANSITION</a:t>
            </a:r>
          </a:p>
          <a:p>
            <a:pPr algn="ctr">
              <a:buNone/>
            </a:pPr>
            <a:r>
              <a:rPr lang="en-US" sz="100">
                <a:effectLst/>
              </a:rPr>
              <a:t> </a:t>
            </a:r>
            <a:endParaRPr lang="en-US"/>
          </a:p>
        </p:txBody>
      </p:sp>
      <p:sp>
        <p:nvSpPr>
          <p:cNvPr id="212569" name="Rectangle 212568">
            <a:extLst>
              <a:ext uri="{FF2B5EF4-FFF2-40B4-BE49-F238E27FC236}">
                <a16:creationId xmlns:a16="http://schemas.microsoft.com/office/drawing/2014/main" id="{9C6346B0-1F55-2F90-3B1E-2539888742C5}"/>
              </a:ext>
            </a:extLst>
          </p:cNvPr>
          <p:cNvSpPr/>
          <p:nvPr/>
        </p:nvSpPr>
        <p:spPr>
          <a:xfrm>
            <a:off x="609600" y="1450000"/>
            <a:ext cx="1097280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7200" b="1">
                <a:solidFill>
                  <a:srgbClr val="FFFFFF"/>
                </a:solidFill>
                <a:effectLst/>
                <a:latin typeface="Segoe UI" panose="020B0502040204020203" pitchFamily="34" charset="0"/>
              </a:rPr>
              <a:t>Break</a:t>
            </a:r>
          </a:p>
          <a:p>
            <a:pPr algn="ctr">
              <a:buNone/>
            </a:pPr>
            <a:r>
              <a:rPr lang="en-US" sz="100">
                <a:effectLst/>
              </a:rPr>
              <a:t> </a:t>
            </a:r>
            <a:endParaRPr lang="en-US"/>
          </a:p>
        </p:txBody>
      </p:sp>
      <p:sp>
        <p:nvSpPr>
          <p:cNvPr id="212722" name="Rectangle 212721">
            <a:extLst>
              <a:ext uri="{FF2B5EF4-FFF2-40B4-BE49-F238E27FC236}">
                <a16:creationId xmlns:a16="http://schemas.microsoft.com/office/drawing/2014/main" id="{AF96436C-62D6-A09E-6D9F-FDA76CBC942D}"/>
              </a:ext>
            </a:extLst>
          </p:cNvPr>
          <p:cNvSpPr/>
          <p:nvPr/>
        </p:nvSpPr>
        <p:spPr>
          <a:xfrm>
            <a:off x="609600" y="3081328"/>
            <a:ext cx="109728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300">
                <a:solidFill>
                  <a:srgbClr val="D6D2E8"/>
                </a:solidFill>
                <a:effectLst/>
                <a:latin typeface="Segoe UI" panose="020B0502040204020203" pitchFamily="34" charset="0"/>
              </a:rPr>
              <a:t>UP NEXT</a:t>
            </a:r>
          </a:p>
          <a:p>
            <a:pPr algn="ctr">
              <a:buNone/>
            </a:pPr>
            <a:r>
              <a:rPr lang="en-US" sz="100">
                <a:effectLst/>
              </a:rPr>
              <a:t> </a:t>
            </a:r>
            <a:endParaRPr lang="en-US"/>
          </a:p>
        </p:txBody>
      </p:sp>
      <p:sp>
        <p:nvSpPr>
          <p:cNvPr id="212876" name="Rectangle: Rounded Corners 212875">
            <a:extLst>
              <a:ext uri="{FF2B5EF4-FFF2-40B4-BE49-F238E27FC236}">
                <a16:creationId xmlns:a16="http://schemas.microsoft.com/office/drawing/2014/main" id="{430C9737-7145-A4E5-01EF-2367B62178AC}"/>
              </a:ext>
            </a:extLst>
          </p:cNvPr>
          <p:cNvSpPr/>
          <p:nvPr/>
        </p:nvSpPr>
        <p:spPr>
          <a:xfrm>
            <a:off x="3044768" y="3996191"/>
            <a:ext cx="1573719" cy="40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213031" name="Rectangle 213030">
            <a:extLst>
              <a:ext uri="{FF2B5EF4-FFF2-40B4-BE49-F238E27FC236}">
                <a16:creationId xmlns:a16="http://schemas.microsoft.com/office/drawing/2014/main" id="{731C4EDA-4C59-0D25-2CBC-4DD168E6EE34}"/>
              </a:ext>
            </a:extLst>
          </p:cNvPr>
          <p:cNvSpPr/>
          <p:nvPr/>
        </p:nvSpPr>
        <p:spPr>
          <a:xfrm>
            <a:off x="4948585" y="4075363"/>
            <a:ext cx="6726256" cy="112003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800" b="1">
                <a:solidFill>
                  <a:srgbClr val="FFFFFF"/>
                </a:solidFill>
                <a:latin typeface="Segoe UI"/>
                <a:cs typeface="Segoe UI"/>
              </a:rPr>
              <a:t>Build Power Automate Intake</a:t>
            </a:r>
            <a:r>
              <a:rPr lang="en-US" sz="2800" b="1">
                <a:solidFill>
                  <a:srgbClr val="FFFFFF"/>
                </a:solidFill>
                <a:effectLst/>
                <a:latin typeface="Segoe UI"/>
                <a:cs typeface="Segoe UI"/>
              </a:rPr>
              <a:t> and live impact</a:t>
            </a:r>
            <a:r>
              <a:rPr lang="en-US" sz="2800" b="1">
                <a:solidFill>
                  <a:srgbClr val="FFFFFF"/>
                </a:solidFill>
                <a:latin typeface="Segoe UI"/>
                <a:cs typeface="Segoe UI"/>
              </a:rPr>
              <a:t> workflows</a:t>
            </a:r>
            <a:endParaRPr lang="en-US" sz="2800" b="1">
              <a:solidFill>
                <a:srgbClr val="FFFFFF"/>
              </a:solidFill>
              <a:effectLst/>
              <a:latin typeface="Segoe UI"/>
              <a:cs typeface="Segoe UI"/>
            </a:endParaRPr>
          </a:p>
          <a:p>
            <a:pPr algn="l">
              <a:buNone/>
            </a:pPr>
            <a:endParaRPr lang="en-US"/>
          </a:p>
        </p:txBody>
      </p:sp>
      <p:sp>
        <p:nvSpPr>
          <p:cNvPr id="213187" name="Arrow: Pentagon 213186">
            <a:extLst>
              <a:ext uri="{FF2B5EF4-FFF2-40B4-BE49-F238E27FC236}">
                <a16:creationId xmlns:a16="http://schemas.microsoft.com/office/drawing/2014/main" id="{9C58E4B8-420B-E962-58D7-C52669EAC320}"/>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213344" name="Arrow: Chevron 213343">
            <a:extLst>
              <a:ext uri="{FF2B5EF4-FFF2-40B4-BE49-F238E27FC236}">
                <a16:creationId xmlns:a16="http://schemas.microsoft.com/office/drawing/2014/main" id="{62B4485E-D575-D4D5-BE79-8B2E460D313C}"/>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213502" name="Arrow: Chevron 213501">
            <a:extLst>
              <a:ext uri="{FF2B5EF4-FFF2-40B4-BE49-F238E27FC236}">
                <a16:creationId xmlns:a16="http://schemas.microsoft.com/office/drawing/2014/main" id="{965D16CE-9943-43CE-B316-393D50C51305}"/>
              </a:ext>
            </a:extLst>
          </p:cNvPr>
          <p:cNvSpPr/>
          <p:nvPr/>
        </p:nvSpPr>
        <p:spPr>
          <a:xfrm>
            <a:off x="4227200" y="5250000"/>
            <a:ext cx="1928800" cy="600000"/>
          </a:xfrm>
          <a:prstGeom prst="chevron">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213661" name="Arrow: Chevron 213660">
            <a:extLst>
              <a:ext uri="{FF2B5EF4-FFF2-40B4-BE49-F238E27FC236}">
                <a16:creationId xmlns:a16="http://schemas.microsoft.com/office/drawing/2014/main" id="{66DDD680-D18D-E6B8-95EC-00BFC0B76255}"/>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213821" name="Arrow: Chevron 213820">
            <a:extLst>
              <a:ext uri="{FF2B5EF4-FFF2-40B4-BE49-F238E27FC236}">
                <a16:creationId xmlns:a16="http://schemas.microsoft.com/office/drawing/2014/main" id="{9C6EF4FC-A28F-F51E-81C2-F921E85708A8}"/>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213982" name="Arrow: Chevron 213981">
            <a:extLst>
              <a:ext uri="{FF2B5EF4-FFF2-40B4-BE49-F238E27FC236}">
                <a16:creationId xmlns:a16="http://schemas.microsoft.com/office/drawing/2014/main" id="{F82CDC33-C155-8C71-599D-A90761DF85F8}"/>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3971269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0538" name="Rectangle: Rounded Corners 140537">
            <a:extLst>
              <a:ext uri="{FF2B5EF4-FFF2-40B4-BE49-F238E27FC236}">
                <a16:creationId xmlns:a16="http://schemas.microsoft.com/office/drawing/2014/main" id="{5D43AE37-39E4-6F71-D9D9-CCA72A3819B1}"/>
              </a:ext>
            </a:extLst>
          </p:cNvPr>
          <p:cNvSpPr/>
          <p:nvPr/>
        </p:nvSpPr>
        <p:spPr>
          <a:xfrm>
            <a:off x="609600" y="400000"/>
            <a:ext cx="1446414" cy="340000"/>
          </a:xfrm>
          <a:prstGeom prst="roundRect">
            <a:avLst/>
          </a:prstGeom>
          <a:solidFill>
            <a:srgbClr val="B78FAD"/>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0592" name="Rectangle 140591">
            <a:extLst>
              <a:ext uri="{FF2B5EF4-FFF2-40B4-BE49-F238E27FC236}">
                <a16:creationId xmlns:a16="http://schemas.microsoft.com/office/drawing/2014/main" id="{D927E01F-C675-D89A-CD77-FC23051CCA64}"/>
              </a:ext>
            </a:extLst>
          </p:cNvPr>
          <p:cNvSpPr/>
          <p:nvPr/>
        </p:nvSpPr>
        <p:spPr>
          <a:xfrm>
            <a:off x="609600" y="1500000"/>
            <a:ext cx="2600000" cy="2600000"/>
          </a:xfrm>
          <a:prstGeom prst="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0" b="1">
                <a:solidFill>
                  <a:srgbClr val="0B1020"/>
                </a:solidFill>
                <a:effectLst/>
                <a:latin typeface="Segoe UI" panose="020B0502040204020203" pitchFamily="34" charset="0"/>
              </a:rPr>
              <a:t>3</a:t>
            </a:r>
          </a:p>
          <a:p>
            <a:pPr algn="ctr">
              <a:buNone/>
            </a:pPr>
            <a:r>
              <a:rPr lang="en-US" sz="100">
                <a:effectLst/>
              </a:rPr>
              <a:t> </a:t>
            </a:r>
            <a:endParaRPr lang="en-US"/>
          </a:p>
        </p:txBody>
      </p:sp>
      <p:sp>
        <p:nvSpPr>
          <p:cNvPr id="140818" name="Rectangle: Rounded Corners 140817">
            <a:extLst>
              <a:ext uri="{FF2B5EF4-FFF2-40B4-BE49-F238E27FC236}">
                <a16:creationId xmlns:a16="http://schemas.microsoft.com/office/drawing/2014/main" id="{9142AE43-DC9F-9BB0-5C17-7157EF56D2DE}"/>
              </a:ext>
            </a:extLst>
          </p:cNvPr>
          <p:cNvSpPr/>
          <p:nvPr/>
        </p:nvSpPr>
        <p:spPr>
          <a:xfrm>
            <a:off x="3751040" y="4138736"/>
            <a:ext cx="1143451" cy="420000"/>
          </a:xfrm>
          <a:prstGeom prst="roundRect">
            <a:avLst/>
          </a:prstGeom>
          <a:solidFill>
            <a:srgbClr val="B78FAD">
              <a:alpha val="22000"/>
            </a:srgbClr>
          </a:solidFill>
          <a:ln w="12700">
            <a:solidFill>
              <a:srgbClr val="B78FAD"/>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50">
                <a:solidFill>
                  <a:srgbClr val="FFFFFF"/>
                </a:solidFill>
                <a:effectLst/>
                <a:latin typeface="Segoe UI" panose="020B0502040204020203" pitchFamily="34" charset="0"/>
              </a:rPr>
              <a:t>60 min</a:t>
            </a:r>
          </a:p>
          <a:p>
            <a:pPr algn="ctr">
              <a:buNone/>
            </a:pPr>
            <a:r>
              <a:rPr lang="en-US" sz="100">
                <a:effectLst/>
              </a:rPr>
              <a:t> </a:t>
            </a:r>
            <a:endParaRPr lang="en-US"/>
          </a:p>
        </p:txBody>
      </p:sp>
      <p:sp>
        <p:nvSpPr>
          <p:cNvPr id="140877" name="Arrow: Pentagon 140876">
            <a:extLst>
              <a:ext uri="{FF2B5EF4-FFF2-40B4-BE49-F238E27FC236}">
                <a16:creationId xmlns:a16="http://schemas.microsoft.com/office/drawing/2014/main" id="{350CF975-12CE-EFB5-76B0-2727FAD092AF}"/>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140937" name="Arrow: Chevron 140936">
            <a:extLst>
              <a:ext uri="{FF2B5EF4-FFF2-40B4-BE49-F238E27FC236}">
                <a16:creationId xmlns:a16="http://schemas.microsoft.com/office/drawing/2014/main" id="{3E721FB0-6E00-F7B4-96CA-3CA9AD01A19E}"/>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140998" name="Arrow: Chevron 140997">
            <a:extLst>
              <a:ext uri="{FF2B5EF4-FFF2-40B4-BE49-F238E27FC236}">
                <a16:creationId xmlns:a16="http://schemas.microsoft.com/office/drawing/2014/main" id="{02417AF6-2C51-903E-CEDB-4D017F6B0461}"/>
              </a:ext>
            </a:extLst>
          </p:cNvPr>
          <p:cNvSpPr/>
          <p:nvPr/>
        </p:nvSpPr>
        <p:spPr>
          <a:xfrm>
            <a:off x="4227200" y="5250000"/>
            <a:ext cx="1928800" cy="600000"/>
          </a:xfrm>
          <a:prstGeom prst="chevron">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141060" name="Arrow: Chevron 141059">
            <a:extLst>
              <a:ext uri="{FF2B5EF4-FFF2-40B4-BE49-F238E27FC236}">
                <a16:creationId xmlns:a16="http://schemas.microsoft.com/office/drawing/2014/main" id="{8366B41E-0235-14BE-5793-3C7E4C445ABB}"/>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141123" name="Arrow: Chevron 141122">
            <a:extLst>
              <a:ext uri="{FF2B5EF4-FFF2-40B4-BE49-F238E27FC236}">
                <a16:creationId xmlns:a16="http://schemas.microsoft.com/office/drawing/2014/main" id="{11CC8C29-9786-AB26-356D-6543103F0875}"/>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141187" name="Arrow: Chevron 141186">
            <a:extLst>
              <a:ext uri="{FF2B5EF4-FFF2-40B4-BE49-F238E27FC236}">
                <a16:creationId xmlns:a16="http://schemas.microsoft.com/office/drawing/2014/main" id="{08E35225-463E-1A2C-AB97-212B459572EF}"/>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
        <p:nvSpPr>
          <p:cNvPr id="236228" name="M3 recolor 30-2">
            <a:extLst>
              <a:ext uri="{FF2B5EF4-FFF2-40B4-BE49-F238E27FC236}">
                <a16:creationId xmlns:a16="http://schemas.microsoft.com/office/drawing/2014/main" id="{BF9B0846-D5B4-DC9F-70B6-C696BABA5DC9}"/>
              </a:ext>
            </a:extLst>
          </p:cNvPr>
          <p:cNvSpPr/>
          <p:nvPr/>
        </p:nvSpPr>
        <p:spPr>
          <a:xfrm>
            <a:off x="3659600" y="1041265"/>
            <a:ext cx="792280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CBAFC5"/>
                </a:solidFill>
                <a:effectLst/>
                <a:latin typeface="Segoe UI" panose="020B0502040204020203" pitchFamily="34" charset="0"/>
              </a:rPr>
              <a:t>MODULE 3</a:t>
            </a:r>
          </a:p>
          <a:p>
            <a:pPr algn="l">
              <a:buNone/>
            </a:pPr>
            <a:r>
              <a:rPr lang="en-US" sz="100">
                <a:effectLst/>
              </a:rPr>
              <a:t> </a:t>
            </a:r>
            <a:endParaRPr lang="en-US"/>
          </a:p>
        </p:txBody>
      </p:sp>
      <p:sp>
        <p:nvSpPr>
          <p:cNvPr id="241401" name="business-opener-title">
            <a:extLst>
              <a:ext uri="{FF2B5EF4-FFF2-40B4-BE49-F238E27FC236}">
                <a16:creationId xmlns:a16="http://schemas.microsoft.com/office/drawing/2014/main" id="{C9E4FBDB-C225-8BE3-B00C-FE909E395732}"/>
              </a:ext>
            </a:extLst>
          </p:cNvPr>
          <p:cNvSpPr/>
          <p:nvPr/>
        </p:nvSpPr>
        <p:spPr>
          <a:xfrm>
            <a:off x="3659600" y="1500000"/>
            <a:ext cx="7922800" cy="1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400" b="1">
                <a:solidFill>
                  <a:srgbClr val="FFFFFF"/>
                </a:solidFill>
                <a:effectLst/>
                <a:latin typeface="Segoe UI" panose="020B0502040204020203" pitchFamily="34" charset="0"/>
              </a:rPr>
              <a:t>A supplier is late.</a:t>
            </a:r>
          </a:p>
          <a:p>
            <a:pPr algn="l">
              <a:buNone/>
            </a:pPr>
            <a:r>
              <a:rPr lang="en-US" sz="3400" b="1">
                <a:solidFill>
                  <a:srgbClr val="FFFFFF"/>
                </a:solidFill>
                <a:effectLst/>
                <a:latin typeface="Segoe UI" panose="020B0502040204020203" pitchFamily="34" charset="0"/>
              </a:rPr>
              <a:t>Managing Impact and Risk with Power Automate</a:t>
            </a:r>
            <a:endParaRPr lang="en-US"/>
          </a:p>
        </p:txBody>
      </p:sp>
      <p:sp>
        <p:nvSpPr>
          <p:cNvPr id="241403" name="business-opener-subtitle">
            <a:extLst>
              <a:ext uri="{FF2B5EF4-FFF2-40B4-BE49-F238E27FC236}">
                <a16:creationId xmlns:a16="http://schemas.microsoft.com/office/drawing/2014/main" id="{CE9E98B5-0E9A-ACC0-CF07-68DB1CEE6324}"/>
              </a:ext>
            </a:extLst>
          </p:cNvPr>
          <p:cNvSpPr/>
          <p:nvPr/>
        </p:nvSpPr>
        <p:spPr>
          <a:xfrm>
            <a:off x="3673385" y="3166215"/>
            <a:ext cx="7922800" cy="7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solidFill>
                  <a:srgbClr val="D6D2E8"/>
                </a:solidFill>
                <a:latin typeface="Segoe UI" panose="020B0502040204020203" pitchFamily="34" charset="0"/>
              </a:rPr>
              <a:t>Create supplier-delay intake and live impact Workflows</a:t>
            </a:r>
          </a:p>
        </p:txBody>
      </p:sp>
    </p:spTree>
    <p:extLst>
      <p:ext uri="{BB962C8B-B14F-4D97-AF65-F5344CB8AC3E}">
        <p14:creationId xmlns:p14="http://schemas.microsoft.com/office/powerpoint/2010/main" val="954105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1252" name="Rectangle: Rounded Corners 141251">
            <a:extLst>
              <a:ext uri="{FF2B5EF4-FFF2-40B4-BE49-F238E27FC236}">
                <a16:creationId xmlns:a16="http://schemas.microsoft.com/office/drawing/2014/main" id="{22C5A374-B28E-A190-21F7-0637753EC0FC}"/>
              </a:ext>
            </a:extLst>
          </p:cNvPr>
          <p:cNvSpPr/>
          <p:nvPr/>
        </p:nvSpPr>
        <p:spPr>
          <a:xfrm>
            <a:off x="609600" y="400000"/>
            <a:ext cx="1446414" cy="340000"/>
          </a:xfrm>
          <a:prstGeom prst="roundRect">
            <a:avLst/>
          </a:prstGeom>
          <a:solidFill>
            <a:srgbClr val="F75ECE"/>
          </a:solidFill>
          <a:ln>
            <a:solidFill>
              <a:schemeClr val="accent1">
                <a:alpha val="0"/>
              </a:scheme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1318" name="Rectangle 141317">
            <a:extLst>
              <a:ext uri="{FF2B5EF4-FFF2-40B4-BE49-F238E27FC236}">
                <a16:creationId xmlns:a16="http://schemas.microsoft.com/office/drawing/2014/main" id="{53985C8D-8BEF-B657-A1E5-FBAB69557EC1}"/>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Turn a supplier email into live business impact</a:t>
            </a:r>
          </a:p>
          <a:p>
            <a:pPr algn="l">
              <a:buNone/>
            </a:pPr>
            <a:r>
              <a:rPr lang="en-US" sz="100">
                <a:effectLst/>
              </a:rPr>
              <a:t> </a:t>
            </a:r>
            <a:endParaRPr lang="en-US"/>
          </a:p>
        </p:txBody>
      </p:sp>
      <p:sp>
        <p:nvSpPr>
          <p:cNvPr id="141385" name="Rectangle 141384">
            <a:extLst>
              <a:ext uri="{FF2B5EF4-FFF2-40B4-BE49-F238E27FC236}">
                <a16:creationId xmlns:a16="http://schemas.microsoft.com/office/drawing/2014/main" id="{F0E3DDD8-194F-2F5E-0D55-A97B983DD33B}"/>
              </a:ext>
            </a:extLst>
          </p:cNvPr>
          <p:cNvSpPr/>
          <p:nvPr/>
        </p:nvSpPr>
        <p:spPr>
          <a:xfrm>
            <a:off x="609600" y="1661951"/>
            <a:ext cx="6500000" cy="107391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WHAT YOU WILL BUILD</a:t>
            </a:r>
          </a:p>
          <a:p>
            <a:pPr algn="l">
              <a:buNone/>
            </a:pPr>
            <a:r>
              <a:rPr lang="en-US" sz="2200">
                <a:solidFill>
                  <a:srgbClr val="FFFFFF"/>
                </a:solidFill>
                <a:effectLst/>
                <a:latin typeface="Segoe UI" panose="020B0502040204020203" pitchFamily="34" charset="0"/>
              </a:rPr>
              <a:t>Two automated cloud flows — Order Disruption, and Supplier Disruption Impact Assessment</a:t>
            </a:r>
            <a:endParaRPr lang="en-US"/>
          </a:p>
        </p:txBody>
      </p:sp>
      <p:sp>
        <p:nvSpPr>
          <p:cNvPr id="141453" name="Rectangle 141452">
            <a:extLst>
              <a:ext uri="{FF2B5EF4-FFF2-40B4-BE49-F238E27FC236}">
                <a16:creationId xmlns:a16="http://schemas.microsoft.com/office/drawing/2014/main" id="{A5215781-4743-E204-2F0A-2442061C0CCB}"/>
              </a:ext>
            </a:extLst>
          </p:cNvPr>
          <p:cNvSpPr/>
          <p:nvPr/>
        </p:nvSpPr>
        <p:spPr>
          <a:xfrm>
            <a:off x="609600" y="2955862"/>
            <a:ext cx="6500000" cy="141477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BUSINESS OUTCOME</a:t>
            </a:r>
          </a:p>
          <a:p>
            <a:pPr algn="l">
              <a:buNone/>
            </a:pPr>
            <a:r>
              <a:rPr lang="en-US" sz="2200">
                <a:solidFill>
                  <a:srgbClr val="FFFFFF"/>
                </a:solidFill>
                <a:effectLst/>
                <a:latin typeface="Segoe UI" panose="020B0502040204020203" pitchFamily="34" charset="0"/>
              </a:rPr>
              <a:t>A supplier notice becomes a case, impacted orders, calculated exposure, and a Pending decision — in minutes, without retyping</a:t>
            </a:r>
            <a:endParaRPr lang="en-US"/>
          </a:p>
        </p:txBody>
      </p:sp>
      <p:sp>
        <p:nvSpPr>
          <p:cNvPr id="141522" name="Rectangle 141521">
            <a:extLst>
              <a:ext uri="{FF2B5EF4-FFF2-40B4-BE49-F238E27FC236}">
                <a16:creationId xmlns:a16="http://schemas.microsoft.com/office/drawing/2014/main" id="{DBED3E6C-94D5-B85C-13E5-224EC6A20FFF}"/>
              </a:ext>
            </a:extLst>
          </p:cNvPr>
          <p:cNvSpPr/>
          <p:nvPr/>
        </p:nvSpPr>
        <p:spPr>
          <a:xfrm>
            <a:off x="7489600" y="1661951"/>
            <a:ext cx="4092800" cy="1357731"/>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92" name="Rectangle 141591">
            <a:extLst>
              <a:ext uri="{FF2B5EF4-FFF2-40B4-BE49-F238E27FC236}">
                <a16:creationId xmlns:a16="http://schemas.microsoft.com/office/drawing/2014/main" id="{C4F5E3D6-5D15-5AE1-5A28-310686188526}"/>
              </a:ext>
            </a:extLst>
          </p:cNvPr>
          <p:cNvSpPr/>
          <p:nvPr/>
        </p:nvSpPr>
        <p:spPr>
          <a:xfrm>
            <a:off x="7589600" y="1761951"/>
            <a:ext cx="3892800" cy="11577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DURATION</a:t>
            </a:r>
          </a:p>
          <a:p>
            <a:pPr algn="l">
              <a:buNone/>
            </a:pPr>
            <a:r>
              <a:rPr lang="en-US" sz="4400" b="1">
                <a:solidFill>
                  <a:srgbClr val="FFFFFF"/>
                </a:solidFill>
                <a:effectLst/>
                <a:latin typeface="Segoe UI" panose="020B0502040204020203" pitchFamily="34" charset="0"/>
              </a:rPr>
              <a:t>60 min</a:t>
            </a:r>
            <a:endParaRPr lang="en-US"/>
          </a:p>
        </p:txBody>
      </p:sp>
      <p:sp>
        <p:nvSpPr>
          <p:cNvPr id="141663" name="Rectangle 141662">
            <a:extLst>
              <a:ext uri="{FF2B5EF4-FFF2-40B4-BE49-F238E27FC236}">
                <a16:creationId xmlns:a16="http://schemas.microsoft.com/office/drawing/2014/main" id="{F3539074-DAB9-7D63-77B1-2F3A64CA403B}"/>
              </a:ext>
            </a:extLst>
          </p:cNvPr>
          <p:cNvSpPr/>
          <p:nvPr/>
        </p:nvSpPr>
        <p:spPr>
          <a:xfrm>
            <a:off x="7489600" y="3199682"/>
            <a:ext cx="40928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WHERE IT FITS</a:t>
            </a:r>
          </a:p>
          <a:p>
            <a:pPr algn="l">
              <a:buNone/>
            </a:pPr>
            <a:r>
              <a:rPr lang="en-US" sz="2000">
                <a:solidFill>
                  <a:srgbClr val="FFFFFF"/>
                </a:solidFill>
                <a:effectLst/>
                <a:latin typeface="Segoe UI" panose="020B0502040204020203" pitchFamily="34" charset="0"/>
              </a:rPr>
              <a:t>Feeds the Control Tower with the facts agents and people will act on</a:t>
            </a:r>
            <a:endParaRPr lang="en-US"/>
          </a:p>
        </p:txBody>
      </p:sp>
      <p:sp>
        <p:nvSpPr>
          <p:cNvPr id="141735" name="Rectangle 141734">
            <a:extLst>
              <a:ext uri="{FF2B5EF4-FFF2-40B4-BE49-F238E27FC236}">
                <a16:creationId xmlns:a16="http://schemas.microsoft.com/office/drawing/2014/main" id="{E5531BF0-803B-C821-3B83-1D5313DF9FDE}"/>
              </a:ext>
            </a:extLst>
          </p:cNvPr>
          <p:cNvSpPr/>
          <p:nvPr/>
        </p:nvSpPr>
        <p:spPr>
          <a:xfrm>
            <a:off x="609600" y="4670641"/>
            <a:ext cx="5076400" cy="1204315"/>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08" name="Rectangle 141807">
            <a:extLst>
              <a:ext uri="{FF2B5EF4-FFF2-40B4-BE49-F238E27FC236}">
                <a16:creationId xmlns:a16="http://schemas.microsoft.com/office/drawing/2014/main" id="{58CE5522-62EC-5B39-AB35-954501F86218}"/>
              </a:ext>
            </a:extLst>
          </p:cNvPr>
          <p:cNvSpPr/>
          <p:nvPr/>
        </p:nvSpPr>
        <p:spPr>
          <a:xfrm>
            <a:off x="709600" y="4770641"/>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D6D2E8"/>
                </a:solidFill>
                <a:effectLst/>
                <a:latin typeface="Segoe UI" panose="020B0502040204020203" pitchFamily="34" charset="0"/>
              </a:rPr>
              <a:t>FROM</a:t>
            </a:r>
          </a:p>
          <a:p>
            <a:pPr algn="l">
              <a:buNone/>
            </a:pPr>
            <a:r>
              <a:rPr lang="en-US" sz="2000">
                <a:solidFill>
                  <a:srgbClr val="FFFFFF"/>
                </a:solidFill>
                <a:effectLst/>
                <a:latin typeface="Segoe UI" panose="020B0502040204020203" pitchFamily="34" charset="0"/>
              </a:rPr>
              <a:t>An app that displays disruptions (Module 2)</a:t>
            </a:r>
            <a:endParaRPr lang="en-US"/>
          </a:p>
        </p:txBody>
      </p:sp>
      <p:sp>
        <p:nvSpPr>
          <p:cNvPr id="141882" name="Arrow: Right 141881">
            <a:extLst>
              <a:ext uri="{FF2B5EF4-FFF2-40B4-BE49-F238E27FC236}">
                <a16:creationId xmlns:a16="http://schemas.microsoft.com/office/drawing/2014/main" id="{09629CAE-2CBB-92FC-B191-8A59DA2C8EBD}"/>
              </a:ext>
            </a:extLst>
          </p:cNvPr>
          <p:cNvSpPr/>
          <p:nvPr/>
        </p:nvSpPr>
        <p:spPr>
          <a:xfrm>
            <a:off x="5836000" y="5072798"/>
            <a:ext cx="520000" cy="400000"/>
          </a:xfrm>
          <a:prstGeom prst="rightArrow">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957" name="Rectangle 141956">
            <a:extLst>
              <a:ext uri="{FF2B5EF4-FFF2-40B4-BE49-F238E27FC236}">
                <a16:creationId xmlns:a16="http://schemas.microsoft.com/office/drawing/2014/main" id="{23ADF316-4755-95B1-C207-C6CDA3F56631}"/>
              </a:ext>
            </a:extLst>
          </p:cNvPr>
          <p:cNvSpPr/>
          <p:nvPr/>
        </p:nvSpPr>
        <p:spPr>
          <a:xfrm>
            <a:off x="6506000" y="4670641"/>
            <a:ext cx="5076400" cy="1204315"/>
          </a:xfrm>
          <a:prstGeom prst="rect">
            <a:avLst/>
          </a:prstGeom>
          <a:solidFill>
            <a:srgbClr val="FFFFFF">
              <a:alpha val="7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33" name="Rectangle 142032">
            <a:extLst>
              <a:ext uri="{FF2B5EF4-FFF2-40B4-BE49-F238E27FC236}">
                <a16:creationId xmlns:a16="http://schemas.microsoft.com/office/drawing/2014/main" id="{F6C930B4-D559-FC9E-A783-948DB9F9248C}"/>
              </a:ext>
            </a:extLst>
          </p:cNvPr>
          <p:cNvSpPr/>
          <p:nvPr/>
        </p:nvSpPr>
        <p:spPr>
          <a:xfrm>
            <a:off x="6606000" y="4770641"/>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TO</a:t>
            </a:r>
          </a:p>
          <a:p>
            <a:pPr algn="l">
              <a:buNone/>
            </a:pPr>
            <a:r>
              <a:rPr lang="en-US" sz="2000">
                <a:solidFill>
                  <a:srgbClr val="FFFFFF"/>
                </a:solidFill>
                <a:effectLst/>
                <a:latin typeface="Segoe UI" panose="020B0502040204020203" pitchFamily="34" charset="0"/>
              </a:rPr>
              <a:t>Automation that creates them</a:t>
            </a:r>
            <a:endParaRPr lang="en-US"/>
          </a:p>
        </p:txBody>
      </p:sp>
    </p:spTree>
    <p:extLst>
      <p:ext uri="{BB962C8B-B14F-4D97-AF65-F5344CB8AC3E}">
        <p14:creationId xmlns:p14="http://schemas.microsoft.com/office/powerpoint/2010/main" val="1988265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2110" name="Rectangle: Rounded Corners 142109">
            <a:extLst>
              <a:ext uri="{FF2B5EF4-FFF2-40B4-BE49-F238E27FC236}">
                <a16:creationId xmlns:a16="http://schemas.microsoft.com/office/drawing/2014/main" id="{94F866C1-5AF2-FA01-D269-FBE8649FF14D}"/>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233949" name="Rectangle 233948">
            <a:extLst>
              <a:ext uri="{FF2B5EF4-FFF2-40B4-BE49-F238E27FC236}">
                <a16:creationId xmlns:a16="http://schemas.microsoft.com/office/drawing/2014/main" id="{3E567155-4595-00FA-EAC3-160CD29DD25C}"/>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3 key features: automation with AI where it helps</a:t>
            </a:r>
          </a:p>
          <a:p>
            <a:pPr algn="l">
              <a:buNone/>
            </a:pPr>
            <a:r>
              <a:rPr lang="en-US" sz="100">
                <a:effectLst/>
              </a:rPr>
              <a:t> </a:t>
            </a:r>
            <a:endParaRPr lang="en-US"/>
          </a:p>
        </p:txBody>
      </p:sp>
      <p:sp>
        <p:nvSpPr>
          <p:cNvPr id="233951" name="Rectangle 233950">
            <a:extLst>
              <a:ext uri="{FF2B5EF4-FFF2-40B4-BE49-F238E27FC236}">
                <a16:creationId xmlns:a16="http://schemas.microsoft.com/office/drawing/2014/main" id="{7AB9E708-C5C1-F9A7-2CDC-E3C8A8036373}"/>
              </a:ext>
            </a:extLst>
          </p:cNvPr>
          <p:cNvSpPr/>
          <p:nvPr/>
        </p:nvSpPr>
        <p:spPr>
          <a:xfrm>
            <a:off x="609600" y="1560000"/>
            <a:ext cx="10972800" cy="340000"/>
          </a:xfrm>
          <a:prstGeom prst="rect">
            <a:avLst/>
          </a:prstGeom>
          <a:solidFill>
            <a:srgbClr val="FF00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54" name="Rectangle 233953">
            <a:extLst>
              <a:ext uri="{FF2B5EF4-FFF2-40B4-BE49-F238E27FC236}">
                <a16:creationId xmlns:a16="http://schemas.microsoft.com/office/drawing/2014/main" id="{7F12F9A1-18BF-D56D-0E2A-229D5BB19827}"/>
              </a:ext>
            </a:extLst>
          </p:cNvPr>
          <p:cNvSpPr/>
          <p:nvPr/>
        </p:nvSpPr>
        <p:spPr>
          <a:xfrm>
            <a:off x="639600" y="1560000"/>
            <a:ext cx="1740000" cy="340000"/>
          </a:xfrm>
          <a:prstGeom prst="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Feature</a:t>
            </a:r>
          </a:p>
          <a:p>
            <a:pPr algn="l">
              <a:buNone/>
            </a:pPr>
            <a:r>
              <a:rPr lang="en-US" sz="100">
                <a:effectLst/>
              </a:rPr>
              <a:t> </a:t>
            </a:r>
            <a:endParaRPr lang="en-US"/>
          </a:p>
        </p:txBody>
      </p:sp>
      <p:sp>
        <p:nvSpPr>
          <p:cNvPr id="233958" name="Rectangle 233957">
            <a:extLst>
              <a:ext uri="{FF2B5EF4-FFF2-40B4-BE49-F238E27FC236}">
                <a16:creationId xmlns:a16="http://schemas.microsoft.com/office/drawing/2014/main" id="{12557634-20EB-5621-5D7D-19C77E33F37E}"/>
              </a:ext>
            </a:extLst>
          </p:cNvPr>
          <p:cNvSpPr/>
          <p:nvPr/>
        </p:nvSpPr>
        <p:spPr>
          <a:xfrm>
            <a:off x="2439600" y="1560000"/>
            <a:ext cx="3590000" cy="340000"/>
          </a:xfrm>
          <a:prstGeom prst="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What it is</a:t>
            </a:r>
          </a:p>
          <a:p>
            <a:pPr algn="l">
              <a:buNone/>
            </a:pPr>
            <a:r>
              <a:rPr lang="en-US" sz="100">
                <a:effectLst/>
              </a:rPr>
              <a:t> </a:t>
            </a:r>
            <a:endParaRPr lang="en-US"/>
          </a:p>
        </p:txBody>
      </p:sp>
      <p:sp>
        <p:nvSpPr>
          <p:cNvPr id="233963" name="Rectangle 233962">
            <a:extLst>
              <a:ext uri="{FF2B5EF4-FFF2-40B4-BE49-F238E27FC236}">
                <a16:creationId xmlns:a16="http://schemas.microsoft.com/office/drawing/2014/main" id="{F1A09A21-034C-EAC5-78C6-0489B38E7768}"/>
              </a:ext>
            </a:extLst>
          </p:cNvPr>
          <p:cNvSpPr/>
          <p:nvPr/>
        </p:nvSpPr>
        <p:spPr>
          <a:xfrm>
            <a:off x="6089600" y="1560000"/>
            <a:ext cx="3162800" cy="340000"/>
          </a:xfrm>
          <a:prstGeom prst="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What it helps accomplish</a:t>
            </a:r>
          </a:p>
          <a:p>
            <a:pPr algn="l">
              <a:buNone/>
            </a:pPr>
            <a:r>
              <a:rPr lang="en-US" sz="100">
                <a:effectLst/>
              </a:rPr>
              <a:t> </a:t>
            </a:r>
            <a:endParaRPr lang="en-US"/>
          </a:p>
        </p:txBody>
      </p:sp>
      <p:sp>
        <p:nvSpPr>
          <p:cNvPr id="233969" name="Rectangle 233968">
            <a:extLst>
              <a:ext uri="{FF2B5EF4-FFF2-40B4-BE49-F238E27FC236}">
                <a16:creationId xmlns:a16="http://schemas.microsoft.com/office/drawing/2014/main" id="{ADB33D31-1C47-0B1E-41A5-42302B977154}"/>
              </a:ext>
            </a:extLst>
          </p:cNvPr>
          <p:cNvSpPr/>
          <p:nvPr/>
        </p:nvSpPr>
        <p:spPr>
          <a:xfrm>
            <a:off x="9312400" y="1560000"/>
            <a:ext cx="2240000" cy="340000"/>
          </a:xfrm>
          <a:prstGeom prst="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In this workshop</a:t>
            </a:r>
          </a:p>
          <a:p>
            <a:pPr algn="ctr">
              <a:buNone/>
            </a:pPr>
            <a:r>
              <a:rPr lang="en-US" sz="100">
                <a:effectLst/>
              </a:rPr>
              <a:t> </a:t>
            </a:r>
            <a:endParaRPr lang="en-US"/>
          </a:p>
        </p:txBody>
      </p:sp>
      <p:sp>
        <p:nvSpPr>
          <p:cNvPr id="233976" name="Rectangle 233975">
            <a:extLst>
              <a:ext uri="{FF2B5EF4-FFF2-40B4-BE49-F238E27FC236}">
                <a16:creationId xmlns:a16="http://schemas.microsoft.com/office/drawing/2014/main" id="{7791B6AF-4499-E2FE-E41F-81904A479152}"/>
              </a:ext>
            </a:extLst>
          </p:cNvPr>
          <p:cNvSpPr/>
          <p:nvPr/>
        </p:nvSpPr>
        <p:spPr>
          <a:xfrm>
            <a:off x="609600" y="1900000"/>
            <a:ext cx="10972800" cy="1008116"/>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84" name="Rectangle 233983">
            <a:extLst>
              <a:ext uri="{FF2B5EF4-FFF2-40B4-BE49-F238E27FC236}">
                <a16:creationId xmlns:a16="http://schemas.microsoft.com/office/drawing/2014/main" id="{0375A603-3F00-EF25-5A16-4BF827931EF6}"/>
              </a:ext>
            </a:extLst>
          </p:cNvPr>
          <p:cNvSpPr/>
          <p:nvPr/>
        </p:nvSpPr>
        <p:spPr>
          <a:xfrm>
            <a:off x="609600" y="2895416"/>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93" name="Rectangle 233992">
            <a:extLst>
              <a:ext uri="{FF2B5EF4-FFF2-40B4-BE49-F238E27FC236}">
                <a16:creationId xmlns:a16="http://schemas.microsoft.com/office/drawing/2014/main" id="{5F580DB4-375B-952A-50D0-2E38D614C753}"/>
              </a:ext>
            </a:extLst>
          </p:cNvPr>
          <p:cNvSpPr/>
          <p:nvPr/>
        </p:nvSpPr>
        <p:spPr>
          <a:xfrm>
            <a:off x="639600" y="1900000"/>
            <a:ext cx="1740000" cy="10081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75ECE"/>
                </a:solidFill>
                <a:effectLst/>
                <a:latin typeface="Segoe UI" panose="020B0502040204020203" pitchFamily="34" charset="0"/>
              </a:rPr>
              <a:t>Vibe coding cloud flows (preview)</a:t>
            </a:r>
          </a:p>
          <a:p>
            <a:pPr algn="l">
              <a:buNone/>
            </a:pPr>
            <a:r>
              <a:rPr lang="en-US" sz="100">
                <a:solidFill>
                  <a:srgbClr val="F75ECE"/>
                </a:solidFill>
                <a:effectLst/>
              </a:rPr>
              <a:t> </a:t>
            </a:r>
            <a:endParaRPr lang="en-US">
              <a:solidFill>
                <a:srgbClr val="F75ECE"/>
              </a:solidFill>
            </a:endParaRPr>
          </a:p>
        </p:txBody>
      </p:sp>
      <p:sp>
        <p:nvSpPr>
          <p:cNvPr id="234003" name="Rectangle 234002">
            <a:extLst>
              <a:ext uri="{FF2B5EF4-FFF2-40B4-BE49-F238E27FC236}">
                <a16:creationId xmlns:a16="http://schemas.microsoft.com/office/drawing/2014/main" id="{93BB5656-05ED-5A90-EE74-55F5EDE0586A}"/>
              </a:ext>
            </a:extLst>
          </p:cNvPr>
          <p:cNvSpPr/>
          <p:nvPr/>
        </p:nvSpPr>
        <p:spPr>
          <a:xfrm>
            <a:off x="2439600" y="1900000"/>
            <a:ext cx="3590000" cy="10081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Describe the automation in natural language; Copilot creates and edits the cloud flow</a:t>
            </a:r>
          </a:p>
          <a:p>
            <a:pPr algn="l">
              <a:buNone/>
            </a:pPr>
            <a:r>
              <a:rPr lang="en-US" sz="100">
                <a:effectLst/>
              </a:rPr>
              <a:t> </a:t>
            </a:r>
            <a:endParaRPr lang="en-US"/>
          </a:p>
        </p:txBody>
      </p:sp>
      <p:sp>
        <p:nvSpPr>
          <p:cNvPr id="234014" name="Rectangle 234013">
            <a:extLst>
              <a:ext uri="{FF2B5EF4-FFF2-40B4-BE49-F238E27FC236}">
                <a16:creationId xmlns:a16="http://schemas.microsoft.com/office/drawing/2014/main" id="{03AA22AA-24C1-5DFB-A264-0A5D9423C295}"/>
              </a:ext>
            </a:extLst>
          </p:cNvPr>
          <p:cNvSpPr/>
          <p:nvPr/>
        </p:nvSpPr>
        <p:spPr>
          <a:xfrm>
            <a:off x="6089600" y="1900000"/>
            <a:ext cx="3162800" cy="10081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Start from intent instead of a blank designer, then refine</a:t>
            </a:r>
          </a:p>
          <a:p>
            <a:pPr algn="l">
              <a:buNone/>
            </a:pPr>
            <a:r>
              <a:rPr lang="en-US" sz="100">
                <a:effectLst/>
              </a:rPr>
              <a:t> </a:t>
            </a:r>
            <a:endParaRPr lang="en-US"/>
          </a:p>
        </p:txBody>
      </p:sp>
      <p:sp>
        <p:nvSpPr>
          <p:cNvPr id="234026" name="Rectangle: Rounded Corners 234025">
            <a:extLst>
              <a:ext uri="{FF2B5EF4-FFF2-40B4-BE49-F238E27FC236}">
                <a16:creationId xmlns:a16="http://schemas.microsoft.com/office/drawing/2014/main" id="{65A2A60C-2580-B13D-236E-ECE504C53BD2}"/>
              </a:ext>
            </a:extLst>
          </p:cNvPr>
          <p:cNvSpPr/>
          <p:nvPr/>
        </p:nvSpPr>
        <p:spPr>
          <a:xfrm>
            <a:off x="9332400" y="2204058"/>
            <a:ext cx="2200000" cy="400000"/>
          </a:xfrm>
          <a:prstGeom prst="roundRect">
            <a:avLst/>
          </a:prstGeom>
          <a:solidFill>
            <a:srgbClr val="4B5163"/>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E6E3F0"/>
                </a:solidFill>
                <a:effectLst/>
                <a:latin typeface="Segoe UI" panose="020B0502040204020203" pitchFamily="34" charset="0"/>
              </a:rPr>
              <a:t>Presenter talk track</a:t>
            </a:r>
          </a:p>
          <a:p>
            <a:pPr algn="ctr">
              <a:buNone/>
            </a:pPr>
            <a:r>
              <a:rPr lang="en-US" sz="100">
                <a:effectLst/>
              </a:rPr>
              <a:t> </a:t>
            </a:r>
            <a:endParaRPr lang="en-US"/>
          </a:p>
        </p:txBody>
      </p:sp>
      <p:sp>
        <p:nvSpPr>
          <p:cNvPr id="234039" name="Rectangle 234038">
            <a:extLst>
              <a:ext uri="{FF2B5EF4-FFF2-40B4-BE49-F238E27FC236}">
                <a16:creationId xmlns:a16="http://schemas.microsoft.com/office/drawing/2014/main" id="{21D4ED7B-FA13-C002-63A8-761AC658E9A1}"/>
              </a:ext>
            </a:extLst>
          </p:cNvPr>
          <p:cNvSpPr/>
          <p:nvPr/>
        </p:nvSpPr>
        <p:spPr>
          <a:xfrm>
            <a:off x="609600" y="2908116"/>
            <a:ext cx="10972800" cy="1287008"/>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053" name="Rectangle 234052">
            <a:extLst>
              <a:ext uri="{FF2B5EF4-FFF2-40B4-BE49-F238E27FC236}">
                <a16:creationId xmlns:a16="http://schemas.microsoft.com/office/drawing/2014/main" id="{CB32CAEB-D04F-9690-1F1E-E9FE7E07CAFD}"/>
              </a:ext>
            </a:extLst>
          </p:cNvPr>
          <p:cNvSpPr/>
          <p:nvPr/>
        </p:nvSpPr>
        <p:spPr>
          <a:xfrm>
            <a:off x="609600" y="4182424"/>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068" name="Rectangle 234067">
            <a:extLst>
              <a:ext uri="{FF2B5EF4-FFF2-40B4-BE49-F238E27FC236}">
                <a16:creationId xmlns:a16="http://schemas.microsoft.com/office/drawing/2014/main" id="{93B2F2C9-C65B-D810-575B-8ADC1C0D10A3}"/>
              </a:ext>
            </a:extLst>
          </p:cNvPr>
          <p:cNvSpPr/>
          <p:nvPr/>
        </p:nvSpPr>
        <p:spPr>
          <a:xfrm>
            <a:off x="639600" y="2908116"/>
            <a:ext cx="17400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75ECE"/>
                </a:solidFill>
                <a:effectLst/>
                <a:latin typeface="Segoe UI" panose="020B0502040204020203" pitchFamily="34" charset="0"/>
              </a:rPr>
              <a:t>AI prompts (Run a prompt)</a:t>
            </a:r>
          </a:p>
          <a:p>
            <a:pPr algn="l">
              <a:buNone/>
            </a:pPr>
            <a:r>
              <a:rPr lang="en-US" sz="100">
                <a:effectLst/>
              </a:rPr>
              <a:t> </a:t>
            </a:r>
            <a:endParaRPr lang="en-US"/>
          </a:p>
        </p:txBody>
      </p:sp>
      <p:sp>
        <p:nvSpPr>
          <p:cNvPr id="234084" name="Rectangle 234083">
            <a:extLst>
              <a:ext uri="{FF2B5EF4-FFF2-40B4-BE49-F238E27FC236}">
                <a16:creationId xmlns:a16="http://schemas.microsoft.com/office/drawing/2014/main" id="{2A2C7697-D839-0D1B-7368-801F308D1A32}"/>
              </a:ext>
            </a:extLst>
          </p:cNvPr>
          <p:cNvSpPr/>
          <p:nvPr/>
        </p:nvSpPr>
        <p:spPr>
          <a:xfrm>
            <a:off x="2439600" y="2908116"/>
            <a:ext cx="35900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Reusable custom prompts with typed inputs, returning JSON or text that the flow uses directly</a:t>
            </a:r>
          </a:p>
          <a:p>
            <a:pPr algn="l">
              <a:buNone/>
            </a:pPr>
            <a:r>
              <a:rPr lang="en-US" sz="100">
                <a:effectLst/>
              </a:rPr>
              <a:t> </a:t>
            </a:r>
            <a:endParaRPr lang="en-US"/>
          </a:p>
        </p:txBody>
      </p:sp>
      <p:sp>
        <p:nvSpPr>
          <p:cNvPr id="234101" name="Rectangle 234100">
            <a:extLst>
              <a:ext uri="{FF2B5EF4-FFF2-40B4-BE49-F238E27FC236}">
                <a16:creationId xmlns:a16="http://schemas.microsoft.com/office/drawing/2014/main" id="{A946F651-E76B-4E84-BF63-B5D58D85B016}"/>
              </a:ext>
            </a:extLst>
          </p:cNvPr>
          <p:cNvSpPr/>
          <p:nvPr/>
        </p:nvSpPr>
        <p:spPr>
          <a:xfrm>
            <a:off x="6089600" y="2908116"/>
            <a:ext cx="3162800" cy="1287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Classify the supplier email and explain the impact — while the flow keeps control of numbers and records</a:t>
            </a:r>
          </a:p>
          <a:p>
            <a:pPr algn="l">
              <a:buNone/>
            </a:pPr>
            <a:r>
              <a:rPr lang="en-US" sz="100">
                <a:effectLst/>
              </a:rPr>
              <a:t> </a:t>
            </a:r>
            <a:endParaRPr lang="en-US"/>
          </a:p>
        </p:txBody>
      </p:sp>
      <p:sp>
        <p:nvSpPr>
          <p:cNvPr id="234119" name="Rectangle: Rounded Corners 234118">
            <a:extLst>
              <a:ext uri="{FF2B5EF4-FFF2-40B4-BE49-F238E27FC236}">
                <a16:creationId xmlns:a16="http://schemas.microsoft.com/office/drawing/2014/main" id="{A2CE27BF-6408-C4FC-F7BB-E301FABED2D3}"/>
              </a:ext>
            </a:extLst>
          </p:cNvPr>
          <p:cNvSpPr/>
          <p:nvPr/>
        </p:nvSpPr>
        <p:spPr>
          <a:xfrm>
            <a:off x="9332400" y="3351620"/>
            <a:ext cx="2200000" cy="40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4138" name="Rectangle 234137">
            <a:extLst>
              <a:ext uri="{FF2B5EF4-FFF2-40B4-BE49-F238E27FC236}">
                <a16:creationId xmlns:a16="http://schemas.microsoft.com/office/drawing/2014/main" id="{423124B0-DD1D-CE3E-3866-0CE0139CE4BF}"/>
              </a:ext>
            </a:extLst>
          </p:cNvPr>
          <p:cNvSpPr/>
          <p:nvPr/>
        </p:nvSpPr>
        <p:spPr>
          <a:xfrm>
            <a:off x="609600" y="4195124"/>
            <a:ext cx="10972800" cy="1565900"/>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158" name="Rectangle 234157">
            <a:extLst>
              <a:ext uri="{FF2B5EF4-FFF2-40B4-BE49-F238E27FC236}">
                <a16:creationId xmlns:a16="http://schemas.microsoft.com/office/drawing/2014/main" id="{917859FC-117C-B3FC-D071-0040A7EE4D93}"/>
              </a:ext>
            </a:extLst>
          </p:cNvPr>
          <p:cNvSpPr/>
          <p:nvPr/>
        </p:nvSpPr>
        <p:spPr>
          <a:xfrm>
            <a:off x="609600" y="5748324"/>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179" name="Rectangle 234178">
            <a:extLst>
              <a:ext uri="{FF2B5EF4-FFF2-40B4-BE49-F238E27FC236}">
                <a16:creationId xmlns:a16="http://schemas.microsoft.com/office/drawing/2014/main" id="{06C2B7EE-7BDB-BD13-9EBE-850CEA87CB8F}"/>
              </a:ext>
            </a:extLst>
          </p:cNvPr>
          <p:cNvSpPr/>
          <p:nvPr/>
        </p:nvSpPr>
        <p:spPr>
          <a:xfrm>
            <a:off x="639600" y="4195124"/>
            <a:ext cx="1740000" cy="1565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75ECE"/>
                </a:solidFill>
                <a:effectLst/>
                <a:latin typeface="Segoe UI" panose="020B0502040204020203" pitchFamily="34" charset="0"/>
              </a:rPr>
              <a:t>Expressions in cloud flows</a:t>
            </a:r>
          </a:p>
          <a:p>
            <a:pPr algn="l">
              <a:buNone/>
            </a:pPr>
            <a:r>
              <a:rPr lang="en-US" sz="100">
                <a:effectLst/>
              </a:rPr>
              <a:t> </a:t>
            </a:r>
            <a:endParaRPr lang="en-US"/>
          </a:p>
        </p:txBody>
      </p:sp>
      <p:sp>
        <p:nvSpPr>
          <p:cNvPr id="234201" name="Rectangle 234200">
            <a:extLst>
              <a:ext uri="{FF2B5EF4-FFF2-40B4-BE49-F238E27FC236}">
                <a16:creationId xmlns:a16="http://schemas.microsoft.com/office/drawing/2014/main" id="{7F278D56-1020-EEE0-1816-35D66581A481}"/>
              </a:ext>
            </a:extLst>
          </p:cNvPr>
          <p:cNvSpPr/>
          <p:nvPr/>
        </p:nvSpPr>
        <p:spPr>
          <a:xfrm>
            <a:off x="2439600" y="4195124"/>
            <a:ext cx="3590000" cy="1565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Workflow expressions calculate exposure, distinct order counts, and record references; Copilot expression assistant (preview) can create and fix them</a:t>
            </a:r>
          </a:p>
          <a:p>
            <a:pPr algn="l">
              <a:buNone/>
            </a:pPr>
            <a:r>
              <a:rPr lang="en-US" sz="100">
                <a:effectLst/>
              </a:rPr>
              <a:t> </a:t>
            </a:r>
            <a:endParaRPr lang="en-US"/>
          </a:p>
        </p:txBody>
      </p:sp>
      <p:sp>
        <p:nvSpPr>
          <p:cNvPr id="234224" name="Rectangle 234223">
            <a:extLst>
              <a:ext uri="{FF2B5EF4-FFF2-40B4-BE49-F238E27FC236}">
                <a16:creationId xmlns:a16="http://schemas.microsoft.com/office/drawing/2014/main" id="{032CBCFC-37FE-3C38-6834-FE18AC7ED2CB}"/>
              </a:ext>
            </a:extLst>
          </p:cNvPr>
          <p:cNvSpPr/>
          <p:nvPr/>
        </p:nvSpPr>
        <p:spPr>
          <a:xfrm>
            <a:off x="6089600" y="4195124"/>
            <a:ext cx="3162800" cy="1565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Deterministic, auditable calculations</a:t>
            </a:r>
          </a:p>
          <a:p>
            <a:pPr algn="l">
              <a:buNone/>
            </a:pPr>
            <a:r>
              <a:rPr lang="en-US" sz="100">
                <a:effectLst/>
              </a:rPr>
              <a:t> </a:t>
            </a:r>
            <a:endParaRPr lang="en-US"/>
          </a:p>
        </p:txBody>
      </p:sp>
      <p:sp>
        <p:nvSpPr>
          <p:cNvPr id="234248" name="Rectangle: Rounded Corners 234247">
            <a:extLst>
              <a:ext uri="{FF2B5EF4-FFF2-40B4-BE49-F238E27FC236}">
                <a16:creationId xmlns:a16="http://schemas.microsoft.com/office/drawing/2014/main" id="{3B1E9912-F6AA-CE6B-F573-CE0EA1E0C104}"/>
              </a:ext>
            </a:extLst>
          </p:cNvPr>
          <p:cNvSpPr/>
          <p:nvPr/>
        </p:nvSpPr>
        <p:spPr>
          <a:xfrm>
            <a:off x="9332400" y="4778074"/>
            <a:ext cx="2200000" cy="791565"/>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0B1020"/>
              </a:solidFill>
              <a:latin typeface="Segoe UI" panose="020B0502040204020203" pitchFamily="34" charset="0"/>
            </a:endParaRPr>
          </a:p>
          <a:p>
            <a:pPr algn="ctr"/>
            <a:r>
              <a:rPr lang="en-US" sz="1600" b="1">
                <a:solidFill>
                  <a:srgbClr val="0B1020"/>
                </a:solidFill>
                <a:latin typeface="Segoe UI" panose="020B0502040204020203" pitchFamily="34" charset="0"/>
              </a:rPr>
              <a:t>Built in lab</a:t>
            </a:r>
          </a:p>
          <a:p>
            <a:pPr algn="ctr"/>
            <a:r>
              <a:rPr lang="en-US" sz="1600" b="1">
                <a:solidFill>
                  <a:srgbClr val="0B1020"/>
                </a:solidFill>
                <a:latin typeface="Segoe UI" panose="020B0502040204020203" pitchFamily="34" charset="0"/>
              </a:rPr>
              <a:t> </a:t>
            </a:r>
          </a:p>
        </p:txBody>
      </p:sp>
    </p:spTree>
    <p:extLst>
      <p:ext uri="{BB962C8B-B14F-4D97-AF65-F5344CB8AC3E}">
        <p14:creationId xmlns:p14="http://schemas.microsoft.com/office/powerpoint/2010/main" val="2780304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14144" name="Rectangle: Rounded Corners 214143">
            <a:extLst>
              <a:ext uri="{FF2B5EF4-FFF2-40B4-BE49-F238E27FC236}">
                <a16:creationId xmlns:a16="http://schemas.microsoft.com/office/drawing/2014/main" id="{C89521C6-8030-8EE8-4076-E58546482374}"/>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214307" name="Rectangle 214306">
            <a:extLst>
              <a:ext uri="{FF2B5EF4-FFF2-40B4-BE49-F238E27FC236}">
                <a16:creationId xmlns:a16="http://schemas.microsoft.com/office/drawing/2014/main" id="{4CF0CD13-9B82-75B7-D6A0-F8C401872216}"/>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The flow calculates. AI explains.</a:t>
            </a:r>
          </a:p>
          <a:p>
            <a:pPr algn="l">
              <a:buNone/>
            </a:pPr>
            <a:r>
              <a:rPr lang="en-US" sz="100">
                <a:effectLst/>
              </a:rPr>
              <a:t> </a:t>
            </a:r>
            <a:endParaRPr lang="en-US"/>
          </a:p>
        </p:txBody>
      </p:sp>
      <p:sp>
        <p:nvSpPr>
          <p:cNvPr id="214471" name="Rectangle 214470">
            <a:extLst>
              <a:ext uri="{FF2B5EF4-FFF2-40B4-BE49-F238E27FC236}">
                <a16:creationId xmlns:a16="http://schemas.microsoft.com/office/drawing/2014/main" id="{671261AE-AF4A-877C-DDA8-2A1EC833C52C}"/>
              </a:ext>
            </a:extLst>
          </p:cNvPr>
          <p:cNvSpPr/>
          <p:nvPr/>
        </p:nvSpPr>
        <p:spPr>
          <a:xfrm>
            <a:off x="2259600" y="2302066"/>
            <a:ext cx="1400000" cy="9000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New email (subject filter)</a:t>
            </a:r>
          </a:p>
          <a:p>
            <a:pPr algn="ctr">
              <a:buNone/>
            </a:pPr>
            <a:r>
              <a:rPr lang="en-US" sz="100">
                <a:effectLst/>
              </a:rPr>
              <a:t> </a:t>
            </a:r>
            <a:endParaRPr lang="en-US"/>
          </a:p>
        </p:txBody>
      </p:sp>
      <p:sp>
        <p:nvSpPr>
          <p:cNvPr id="214636" name="Arrow: Right 214635">
            <a:extLst>
              <a:ext uri="{FF2B5EF4-FFF2-40B4-BE49-F238E27FC236}">
                <a16:creationId xmlns:a16="http://schemas.microsoft.com/office/drawing/2014/main" id="{8E7B1CE7-38B0-3117-9280-BD69C06D5230}"/>
              </a:ext>
            </a:extLst>
          </p:cNvPr>
          <p:cNvSpPr/>
          <p:nvPr/>
        </p:nvSpPr>
        <p:spPr>
          <a:xfrm>
            <a:off x="3689600" y="2642066"/>
            <a:ext cx="27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802" name="Rectangle 214801">
            <a:extLst>
              <a:ext uri="{FF2B5EF4-FFF2-40B4-BE49-F238E27FC236}">
                <a16:creationId xmlns:a16="http://schemas.microsoft.com/office/drawing/2014/main" id="{5200EFD4-4A52-7B2A-9A6D-1F6F627CD5AE}"/>
              </a:ext>
            </a:extLst>
          </p:cNvPr>
          <p:cNvSpPr/>
          <p:nvPr/>
        </p:nvSpPr>
        <p:spPr>
          <a:xfrm>
            <a:off x="3989600" y="2302066"/>
            <a:ext cx="1750000" cy="900000"/>
          </a:xfrm>
          <a:prstGeom prst="rect">
            <a:avLst/>
          </a:prstGeom>
          <a:solidFill>
            <a:srgbClr val="FF00FF">
              <a:alpha val="22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Run a prompt: classify + extract (JSON)</a:t>
            </a:r>
          </a:p>
          <a:p>
            <a:pPr algn="ctr">
              <a:buNone/>
            </a:pPr>
            <a:r>
              <a:rPr lang="en-US" sz="100">
                <a:effectLst/>
              </a:rPr>
              <a:t> </a:t>
            </a:r>
            <a:endParaRPr lang="en-US"/>
          </a:p>
        </p:txBody>
      </p:sp>
      <p:sp>
        <p:nvSpPr>
          <p:cNvPr id="214969" name="Arrow: Right 214968">
            <a:extLst>
              <a:ext uri="{FF2B5EF4-FFF2-40B4-BE49-F238E27FC236}">
                <a16:creationId xmlns:a16="http://schemas.microsoft.com/office/drawing/2014/main" id="{7983A644-C044-EF36-2E98-39FA926959A4}"/>
              </a:ext>
            </a:extLst>
          </p:cNvPr>
          <p:cNvSpPr/>
          <p:nvPr/>
        </p:nvSpPr>
        <p:spPr>
          <a:xfrm>
            <a:off x="5769600" y="2642066"/>
            <a:ext cx="27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37" name="Rectangle 215136">
            <a:extLst>
              <a:ext uri="{FF2B5EF4-FFF2-40B4-BE49-F238E27FC236}">
                <a16:creationId xmlns:a16="http://schemas.microsoft.com/office/drawing/2014/main" id="{327AC91F-8713-6969-FC39-80A332571ED1}"/>
              </a:ext>
            </a:extLst>
          </p:cNvPr>
          <p:cNvSpPr/>
          <p:nvPr/>
        </p:nvSpPr>
        <p:spPr>
          <a:xfrm>
            <a:off x="6069600" y="2302066"/>
            <a:ext cx="950000" cy="9000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Switch</a:t>
            </a:r>
          </a:p>
          <a:p>
            <a:pPr algn="ctr">
              <a:buNone/>
            </a:pPr>
            <a:r>
              <a:rPr lang="en-US" sz="100">
                <a:effectLst/>
              </a:rPr>
              <a:t> </a:t>
            </a:r>
            <a:endParaRPr lang="en-US"/>
          </a:p>
        </p:txBody>
      </p:sp>
      <p:sp>
        <p:nvSpPr>
          <p:cNvPr id="215306" name="Arrow: Right 215305">
            <a:extLst>
              <a:ext uri="{FF2B5EF4-FFF2-40B4-BE49-F238E27FC236}">
                <a16:creationId xmlns:a16="http://schemas.microsoft.com/office/drawing/2014/main" id="{726FFAC6-597D-2370-33F2-9849AB0B0E77}"/>
              </a:ext>
            </a:extLst>
          </p:cNvPr>
          <p:cNvSpPr/>
          <p:nvPr/>
        </p:nvSpPr>
        <p:spPr>
          <a:xfrm>
            <a:off x="7049600" y="2642066"/>
            <a:ext cx="27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476" name="Rectangle 215475">
            <a:extLst>
              <a:ext uri="{FF2B5EF4-FFF2-40B4-BE49-F238E27FC236}">
                <a16:creationId xmlns:a16="http://schemas.microsoft.com/office/drawing/2014/main" id="{BEC46CAF-7BC0-B8B9-2925-108D505A233C}"/>
              </a:ext>
            </a:extLst>
          </p:cNvPr>
          <p:cNvSpPr/>
          <p:nvPr/>
        </p:nvSpPr>
        <p:spPr>
          <a:xfrm>
            <a:off x="7395313" y="1882451"/>
            <a:ext cx="28575" cy="1506820"/>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647" name="Rectangle 215646">
            <a:extLst>
              <a:ext uri="{FF2B5EF4-FFF2-40B4-BE49-F238E27FC236}">
                <a16:creationId xmlns:a16="http://schemas.microsoft.com/office/drawing/2014/main" id="{7472C7C1-F790-969A-ECCF-37BE004957D4}"/>
              </a:ext>
            </a:extLst>
          </p:cNvPr>
          <p:cNvSpPr/>
          <p:nvPr/>
        </p:nvSpPr>
        <p:spPr>
          <a:xfrm>
            <a:off x="7409600" y="1868164"/>
            <a:ext cx="180000" cy="28575"/>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819" name="Rectangle 215818">
            <a:extLst>
              <a:ext uri="{FF2B5EF4-FFF2-40B4-BE49-F238E27FC236}">
                <a16:creationId xmlns:a16="http://schemas.microsoft.com/office/drawing/2014/main" id="{A36AB230-E405-F2BB-7A3D-B89F70F273D8}"/>
              </a:ext>
            </a:extLst>
          </p:cNvPr>
          <p:cNvSpPr/>
          <p:nvPr/>
        </p:nvSpPr>
        <p:spPr>
          <a:xfrm>
            <a:off x="7409600" y="2505369"/>
            <a:ext cx="180000" cy="28575"/>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992" name="Rectangle 215991">
            <a:extLst>
              <a:ext uri="{FF2B5EF4-FFF2-40B4-BE49-F238E27FC236}">
                <a16:creationId xmlns:a16="http://schemas.microsoft.com/office/drawing/2014/main" id="{30CFE39C-27E9-5E08-7DE5-0AFD78EDD63E}"/>
              </a:ext>
            </a:extLst>
          </p:cNvPr>
          <p:cNvSpPr/>
          <p:nvPr/>
        </p:nvSpPr>
        <p:spPr>
          <a:xfrm>
            <a:off x="7409600" y="3374984"/>
            <a:ext cx="180000" cy="28575"/>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166" name="Rectangle 216165">
            <a:extLst>
              <a:ext uri="{FF2B5EF4-FFF2-40B4-BE49-F238E27FC236}">
                <a16:creationId xmlns:a16="http://schemas.microsoft.com/office/drawing/2014/main" id="{17A30DEB-C1AA-B36A-EC63-7E0071294D3E}"/>
              </a:ext>
            </a:extLst>
          </p:cNvPr>
          <p:cNvSpPr/>
          <p:nvPr/>
        </p:nvSpPr>
        <p:spPr>
          <a:xfrm>
            <a:off x="7609600" y="1661951"/>
            <a:ext cx="3972800" cy="4410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FFFFFF"/>
                </a:solidFill>
                <a:effectLst/>
                <a:latin typeface="Segoe UI" panose="020B0502040204020203" pitchFamily="34" charset="0"/>
              </a:rPr>
              <a:t>Other → end successfully</a:t>
            </a:r>
          </a:p>
          <a:p>
            <a:pPr algn="l">
              <a:buNone/>
            </a:pPr>
            <a:r>
              <a:rPr lang="en-US" sz="100">
                <a:effectLst/>
              </a:rPr>
              <a:t> </a:t>
            </a:r>
            <a:endParaRPr lang="en-US"/>
          </a:p>
        </p:txBody>
      </p:sp>
      <p:sp>
        <p:nvSpPr>
          <p:cNvPr id="216341" name="Rectangle 216340">
            <a:extLst>
              <a:ext uri="{FF2B5EF4-FFF2-40B4-BE49-F238E27FC236}">
                <a16:creationId xmlns:a16="http://schemas.microsoft.com/office/drawing/2014/main" id="{FD42E4C7-DAA3-02FB-8ED5-D4E148782101}"/>
              </a:ext>
            </a:extLst>
          </p:cNvPr>
          <p:cNvSpPr/>
          <p:nvPr/>
        </p:nvSpPr>
        <p:spPr>
          <a:xfrm>
            <a:off x="7609600" y="2182951"/>
            <a:ext cx="3972800" cy="67341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FFFFFF"/>
                </a:solidFill>
                <a:effectLst/>
                <a:latin typeface="Segoe UI" panose="020B0502040204020203" pitchFamily="34" charset="0"/>
              </a:rPr>
              <a:t>NeedsReview / default → create manual-review Task</a:t>
            </a:r>
          </a:p>
          <a:p>
            <a:pPr algn="l">
              <a:buNone/>
            </a:pPr>
            <a:r>
              <a:rPr lang="en-US" sz="100">
                <a:effectLst/>
              </a:rPr>
              <a:t> </a:t>
            </a:r>
            <a:endParaRPr lang="en-US"/>
          </a:p>
        </p:txBody>
      </p:sp>
      <p:sp>
        <p:nvSpPr>
          <p:cNvPr id="216517" name="Rectangle 216516">
            <a:extLst>
              <a:ext uri="{FF2B5EF4-FFF2-40B4-BE49-F238E27FC236}">
                <a16:creationId xmlns:a16="http://schemas.microsoft.com/office/drawing/2014/main" id="{216AE784-5D02-D987-603F-02E3D0281618}"/>
              </a:ext>
            </a:extLst>
          </p:cNvPr>
          <p:cNvSpPr/>
          <p:nvPr/>
        </p:nvSpPr>
        <p:spPr>
          <a:xfrm>
            <a:off x="7609600" y="2936361"/>
            <a:ext cx="3972800" cy="905820"/>
          </a:xfrm>
          <a:prstGeom prst="rect">
            <a:avLst/>
          </a:prstGeom>
          <a:solidFill>
            <a:srgbClr val="FF00FF">
              <a:alpha val="22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sz="1400">
                <a:solidFill>
                  <a:srgbClr val="FFFFFF"/>
                </a:solidFill>
                <a:latin typeface="Segoe UI" panose="020B0502040204020203" pitchFamily="34" charset="0"/>
              </a:rPr>
            </a:br>
            <a:r>
              <a:rPr lang="en-US" sz="1400" err="1">
                <a:solidFill>
                  <a:srgbClr val="FFFFFF"/>
                </a:solidFill>
                <a:latin typeface="Segoe UI" panose="020B0502040204020203" pitchFamily="34" charset="0"/>
              </a:rPr>
              <a:t>SupplierDelay</a:t>
            </a:r>
            <a:r>
              <a:rPr lang="en-US" sz="1400">
                <a:solidFill>
                  <a:srgbClr val="FFFFFF"/>
                </a:solidFill>
                <a:latin typeface="Segoe UI" panose="020B0502040204020203" pitchFamily="34" charset="0"/>
              </a:rPr>
              <a:t> → find product &amp; supplier (Learn Copilot generated expressions)  → create Disruption Case (New) → create review Task</a:t>
            </a:r>
          </a:p>
          <a:p>
            <a:pPr algn="ctr"/>
            <a:r>
              <a:rPr lang="en-US" sz="1400">
                <a:solidFill>
                  <a:srgbClr val="FFFFFF"/>
                </a:solidFill>
                <a:latin typeface="Segoe UI" panose="020B0502040204020203" pitchFamily="34" charset="0"/>
              </a:rPr>
              <a:t> </a:t>
            </a:r>
          </a:p>
        </p:txBody>
      </p:sp>
      <p:sp>
        <p:nvSpPr>
          <p:cNvPr id="216694" name="Rectangle 216693">
            <a:extLst>
              <a:ext uri="{FF2B5EF4-FFF2-40B4-BE49-F238E27FC236}">
                <a16:creationId xmlns:a16="http://schemas.microsoft.com/office/drawing/2014/main" id="{F60982F7-FC54-8540-837B-5D6999F81558}"/>
              </a:ext>
            </a:extLst>
          </p:cNvPr>
          <p:cNvSpPr/>
          <p:nvPr/>
        </p:nvSpPr>
        <p:spPr>
          <a:xfrm>
            <a:off x="609600" y="2087095"/>
            <a:ext cx="1550000" cy="132994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75ECE"/>
                </a:solidFill>
                <a:effectLst/>
                <a:latin typeface="Segoe UI" panose="020B0502040204020203" pitchFamily="34" charset="0"/>
              </a:rPr>
              <a:t>FLOW 1</a:t>
            </a:r>
          </a:p>
          <a:p>
            <a:pPr algn="l">
              <a:buNone/>
            </a:pPr>
            <a:r>
              <a:rPr lang="en-US" sz="1600" b="1">
                <a:solidFill>
                  <a:srgbClr val="FFFFFF"/>
                </a:solidFill>
                <a:effectLst/>
                <a:latin typeface="Segoe UI" panose="020B0502040204020203" pitchFamily="34" charset="0"/>
              </a:rPr>
              <a:t>Order Disruption</a:t>
            </a:r>
          </a:p>
          <a:p>
            <a:pPr algn="l">
              <a:buNone/>
            </a:pPr>
            <a:r>
              <a:rPr lang="en-US" sz="1400">
                <a:solidFill>
                  <a:srgbClr val="D6D2E8"/>
                </a:solidFill>
                <a:effectLst/>
                <a:latin typeface="Segoe UI" panose="020B0502040204020203" pitchFamily="34" charset="0"/>
              </a:rPr>
              <a:t>trigger: new email</a:t>
            </a:r>
            <a:endParaRPr lang="en-US"/>
          </a:p>
        </p:txBody>
      </p:sp>
      <p:sp>
        <p:nvSpPr>
          <p:cNvPr id="216872" name="Rectangle 216871">
            <a:extLst>
              <a:ext uri="{FF2B5EF4-FFF2-40B4-BE49-F238E27FC236}">
                <a16:creationId xmlns:a16="http://schemas.microsoft.com/office/drawing/2014/main" id="{BC31C4FD-FA18-8A8B-7EB2-EFA4728E3FCA}"/>
              </a:ext>
            </a:extLst>
          </p:cNvPr>
          <p:cNvSpPr/>
          <p:nvPr/>
        </p:nvSpPr>
        <p:spPr>
          <a:xfrm>
            <a:off x="9581713" y="3842181"/>
            <a:ext cx="28575" cy="110000"/>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051" name="Rectangle 217050">
            <a:extLst>
              <a:ext uri="{FF2B5EF4-FFF2-40B4-BE49-F238E27FC236}">
                <a16:creationId xmlns:a16="http://schemas.microsoft.com/office/drawing/2014/main" id="{1BAFDDDE-9362-E04C-CA6F-525881C8EB93}"/>
              </a:ext>
            </a:extLst>
          </p:cNvPr>
          <p:cNvSpPr/>
          <p:nvPr/>
        </p:nvSpPr>
        <p:spPr>
          <a:xfrm>
            <a:off x="2924000" y="3937894"/>
            <a:ext cx="6686287" cy="28575"/>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231" name="Arrow: Down 217230">
            <a:extLst>
              <a:ext uri="{FF2B5EF4-FFF2-40B4-BE49-F238E27FC236}">
                <a16:creationId xmlns:a16="http://schemas.microsoft.com/office/drawing/2014/main" id="{85CA64F2-8C46-71C6-4FA1-94FB352B5BE1}"/>
              </a:ext>
            </a:extLst>
          </p:cNvPr>
          <p:cNvSpPr/>
          <p:nvPr/>
        </p:nvSpPr>
        <p:spPr>
          <a:xfrm>
            <a:off x="2814000" y="3952181"/>
            <a:ext cx="220000" cy="380000"/>
          </a:xfrm>
          <a:prstGeom prst="down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412" name="Rectangle 217411">
            <a:extLst>
              <a:ext uri="{FF2B5EF4-FFF2-40B4-BE49-F238E27FC236}">
                <a16:creationId xmlns:a16="http://schemas.microsoft.com/office/drawing/2014/main" id="{18ACAF8E-505B-D09F-4BC7-990413B39407}"/>
              </a:ext>
            </a:extLst>
          </p:cNvPr>
          <p:cNvSpPr/>
          <p:nvPr/>
        </p:nvSpPr>
        <p:spPr>
          <a:xfrm>
            <a:off x="2259600" y="3380000"/>
            <a:ext cx="50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6D2E8"/>
                </a:solidFill>
                <a:effectLst/>
                <a:latin typeface="Segoe UI" panose="020B0502040204020203" pitchFamily="34" charset="0"/>
              </a:rPr>
              <a:t>Creating the case triggers Flow 2 (new Supplier Notice case)</a:t>
            </a:r>
          </a:p>
          <a:p>
            <a:pPr algn="l">
              <a:buNone/>
            </a:pPr>
            <a:r>
              <a:rPr lang="en-US" sz="100">
                <a:effectLst/>
              </a:rPr>
              <a:t> </a:t>
            </a:r>
            <a:endParaRPr lang="en-US"/>
          </a:p>
        </p:txBody>
      </p:sp>
      <p:sp>
        <p:nvSpPr>
          <p:cNvPr id="217594" name="Rectangle 217593">
            <a:extLst>
              <a:ext uri="{FF2B5EF4-FFF2-40B4-BE49-F238E27FC236}">
                <a16:creationId xmlns:a16="http://schemas.microsoft.com/office/drawing/2014/main" id="{5EF433E7-720B-E383-C98C-98BE3F4967E0}"/>
              </a:ext>
            </a:extLst>
          </p:cNvPr>
          <p:cNvSpPr/>
          <p:nvPr/>
        </p:nvSpPr>
        <p:spPr>
          <a:xfrm>
            <a:off x="2259600" y="4352181"/>
            <a:ext cx="1328800" cy="141064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
                <a:solidFill>
                  <a:srgbClr val="FFFFFF"/>
                </a:solidFill>
                <a:effectLst/>
                <a:latin typeface="Segoe UI" panose="020B0502040204020203" pitchFamily="34" charset="0"/>
              </a:rPr>
              <a:t>Get case</a:t>
            </a:r>
          </a:p>
          <a:p>
            <a:pPr algn="ctr">
              <a:buNone/>
            </a:pPr>
            <a:r>
              <a:rPr lang="en-US" sz="100">
                <a:effectLst/>
              </a:rPr>
              <a:t> </a:t>
            </a:r>
            <a:endParaRPr lang="en-US"/>
          </a:p>
        </p:txBody>
      </p:sp>
      <p:sp>
        <p:nvSpPr>
          <p:cNvPr id="217777" name="Arrow: Right 217776">
            <a:extLst>
              <a:ext uri="{FF2B5EF4-FFF2-40B4-BE49-F238E27FC236}">
                <a16:creationId xmlns:a16="http://schemas.microsoft.com/office/drawing/2014/main" id="{5FE2585F-83BB-D78C-3528-4D48819189C9}"/>
              </a:ext>
            </a:extLst>
          </p:cNvPr>
          <p:cNvSpPr/>
          <p:nvPr/>
        </p:nvSpPr>
        <p:spPr>
          <a:xfrm>
            <a:off x="3608400" y="4947501"/>
            <a:ext cx="23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961" name="Rectangle 217960">
            <a:extLst>
              <a:ext uri="{FF2B5EF4-FFF2-40B4-BE49-F238E27FC236}">
                <a16:creationId xmlns:a16="http://schemas.microsoft.com/office/drawing/2014/main" id="{D19B983F-68B1-CB07-F48F-6FDE8C7452EF}"/>
              </a:ext>
            </a:extLst>
          </p:cNvPr>
          <p:cNvSpPr/>
          <p:nvPr/>
        </p:nvSpPr>
        <p:spPr>
          <a:xfrm>
            <a:off x="3858400" y="4352181"/>
            <a:ext cx="1328800" cy="141064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
                <a:solidFill>
                  <a:srgbClr val="FFFFFF"/>
                </a:solidFill>
                <a:effectLst/>
                <a:latin typeface="Segoe UI" panose="020B0502040204020203" pitchFamily="34" charset="0"/>
              </a:rPr>
              <a:t>List eligible order lines</a:t>
            </a:r>
          </a:p>
          <a:p>
            <a:pPr algn="ctr">
              <a:buNone/>
            </a:pPr>
            <a:r>
              <a:rPr lang="en-US" sz="100">
                <a:effectLst/>
              </a:rPr>
              <a:t> </a:t>
            </a:r>
            <a:endParaRPr lang="en-US"/>
          </a:p>
        </p:txBody>
      </p:sp>
      <p:sp>
        <p:nvSpPr>
          <p:cNvPr id="218146" name="Arrow: Right 218145">
            <a:extLst>
              <a:ext uri="{FF2B5EF4-FFF2-40B4-BE49-F238E27FC236}">
                <a16:creationId xmlns:a16="http://schemas.microsoft.com/office/drawing/2014/main" id="{AB3A800D-1578-E0FE-AE18-DDA72F513FAD}"/>
              </a:ext>
            </a:extLst>
          </p:cNvPr>
          <p:cNvSpPr/>
          <p:nvPr/>
        </p:nvSpPr>
        <p:spPr>
          <a:xfrm>
            <a:off x="5207200" y="4947501"/>
            <a:ext cx="23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332" name="Rectangle 218331">
            <a:extLst>
              <a:ext uri="{FF2B5EF4-FFF2-40B4-BE49-F238E27FC236}">
                <a16:creationId xmlns:a16="http://schemas.microsoft.com/office/drawing/2014/main" id="{BA4EAE27-4BD2-E9D3-D5F1-B3DE66C90291}"/>
              </a:ext>
            </a:extLst>
          </p:cNvPr>
          <p:cNvSpPr/>
          <p:nvPr/>
        </p:nvSpPr>
        <p:spPr>
          <a:xfrm>
            <a:off x="5457200" y="4352181"/>
            <a:ext cx="1328800" cy="141064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
                <a:solidFill>
                  <a:srgbClr val="FFFFFF"/>
                </a:solidFill>
                <a:effectLst/>
                <a:latin typeface="Segoe UI" panose="020B0502040204020203" pitchFamily="34" charset="0"/>
              </a:rPr>
              <a:t>Create Impacted Orders + sum exposure</a:t>
            </a:r>
          </a:p>
          <a:p>
            <a:pPr algn="ctr">
              <a:buNone/>
            </a:pPr>
            <a:r>
              <a:rPr lang="en-US" sz="100">
                <a:effectLst/>
              </a:rPr>
              <a:t> </a:t>
            </a:r>
            <a:endParaRPr lang="en-US"/>
          </a:p>
        </p:txBody>
      </p:sp>
      <p:sp>
        <p:nvSpPr>
          <p:cNvPr id="218519" name="Arrow: Right 218518">
            <a:extLst>
              <a:ext uri="{FF2B5EF4-FFF2-40B4-BE49-F238E27FC236}">
                <a16:creationId xmlns:a16="http://schemas.microsoft.com/office/drawing/2014/main" id="{D6322C7D-73C9-FACF-FD88-9F7486ED9625}"/>
              </a:ext>
            </a:extLst>
          </p:cNvPr>
          <p:cNvSpPr/>
          <p:nvPr/>
        </p:nvSpPr>
        <p:spPr>
          <a:xfrm>
            <a:off x="6806000" y="4947501"/>
            <a:ext cx="23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707" name="Rectangle 218706">
            <a:extLst>
              <a:ext uri="{FF2B5EF4-FFF2-40B4-BE49-F238E27FC236}">
                <a16:creationId xmlns:a16="http://schemas.microsoft.com/office/drawing/2014/main" id="{69B63EDC-11ED-9A3B-DB86-7FF928DDAB05}"/>
              </a:ext>
            </a:extLst>
          </p:cNvPr>
          <p:cNvSpPr/>
          <p:nvPr/>
        </p:nvSpPr>
        <p:spPr>
          <a:xfrm>
            <a:off x="7056000" y="4352181"/>
            <a:ext cx="1328800" cy="1410640"/>
          </a:xfrm>
          <a:prstGeom prst="rect">
            <a:avLst/>
          </a:prstGeom>
          <a:solidFill>
            <a:srgbClr val="FF00FF">
              <a:alpha val="22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
                <a:solidFill>
                  <a:srgbClr val="FFFFFF"/>
                </a:solidFill>
                <a:effectLst/>
                <a:latin typeface="Segoe UI" panose="020B0502040204020203" pitchFamily="34" charset="0"/>
              </a:rPr>
              <a:t>Run a prompt: explain impact</a:t>
            </a:r>
          </a:p>
          <a:p>
            <a:pPr algn="ctr">
              <a:buNone/>
            </a:pPr>
            <a:r>
              <a:rPr lang="en-US" sz="100">
                <a:effectLst/>
              </a:rPr>
              <a:t> </a:t>
            </a:r>
            <a:endParaRPr lang="en-US"/>
          </a:p>
        </p:txBody>
      </p:sp>
      <p:sp>
        <p:nvSpPr>
          <p:cNvPr id="218896" name="Arrow: Right 218895">
            <a:extLst>
              <a:ext uri="{FF2B5EF4-FFF2-40B4-BE49-F238E27FC236}">
                <a16:creationId xmlns:a16="http://schemas.microsoft.com/office/drawing/2014/main" id="{6A8BDCAE-19C7-2EEE-B9B7-43F0F8A21306}"/>
              </a:ext>
            </a:extLst>
          </p:cNvPr>
          <p:cNvSpPr/>
          <p:nvPr/>
        </p:nvSpPr>
        <p:spPr>
          <a:xfrm>
            <a:off x="8404800" y="4947501"/>
            <a:ext cx="23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086" name="Rectangle 219085">
            <a:extLst>
              <a:ext uri="{FF2B5EF4-FFF2-40B4-BE49-F238E27FC236}">
                <a16:creationId xmlns:a16="http://schemas.microsoft.com/office/drawing/2014/main" id="{6F786577-65C8-FEE6-2D9C-BA3CEA6277E3}"/>
              </a:ext>
            </a:extLst>
          </p:cNvPr>
          <p:cNvSpPr/>
          <p:nvPr/>
        </p:nvSpPr>
        <p:spPr>
          <a:xfrm>
            <a:off x="8654800" y="4352181"/>
            <a:ext cx="1328800" cy="141064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
                <a:solidFill>
                  <a:srgbClr val="FFFFFF"/>
                </a:solidFill>
                <a:effectLst/>
                <a:latin typeface="Segoe UI" panose="020B0502040204020203" pitchFamily="34" charset="0"/>
              </a:rPr>
              <a:t>Create Pending Recovery Decision</a:t>
            </a:r>
          </a:p>
          <a:p>
            <a:pPr algn="ctr">
              <a:buNone/>
            </a:pPr>
            <a:r>
              <a:rPr lang="en-US" sz="100">
                <a:effectLst/>
              </a:rPr>
              <a:t> </a:t>
            </a:r>
            <a:endParaRPr lang="en-US"/>
          </a:p>
        </p:txBody>
      </p:sp>
      <p:sp>
        <p:nvSpPr>
          <p:cNvPr id="219087" name="Arrow: Right 219086">
            <a:extLst>
              <a:ext uri="{FF2B5EF4-FFF2-40B4-BE49-F238E27FC236}">
                <a16:creationId xmlns:a16="http://schemas.microsoft.com/office/drawing/2014/main" id="{3372258E-35D0-6785-9C02-5D76C027A99A}"/>
              </a:ext>
            </a:extLst>
          </p:cNvPr>
          <p:cNvSpPr/>
          <p:nvPr/>
        </p:nvSpPr>
        <p:spPr>
          <a:xfrm>
            <a:off x="10003600" y="4947501"/>
            <a:ext cx="230000" cy="22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089" name="Rectangle 219088">
            <a:extLst>
              <a:ext uri="{FF2B5EF4-FFF2-40B4-BE49-F238E27FC236}">
                <a16:creationId xmlns:a16="http://schemas.microsoft.com/office/drawing/2014/main" id="{23C61564-D123-D338-89E2-C78DE26D6803}"/>
              </a:ext>
            </a:extLst>
          </p:cNvPr>
          <p:cNvSpPr/>
          <p:nvPr/>
        </p:nvSpPr>
        <p:spPr>
          <a:xfrm>
            <a:off x="10253600" y="4352181"/>
            <a:ext cx="1328800" cy="141064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
                <a:solidFill>
                  <a:srgbClr val="FFFFFF"/>
                </a:solidFill>
                <a:effectLst/>
                <a:latin typeface="Segoe UI" panose="020B0502040204020203" pitchFamily="34" charset="0"/>
              </a:rPr>
              <a:t>Update case to Decision Pending</a:t>
            </a:r>
          </a:p>
          <a:p>
            <a:pPr algn="ctr">
              <a:buNone/>
            </a:pPr>
            <a:r>
              <a:rPr lang="en-US" sz="100">
                <a:effectLst/>
              </a:rPr>
              <a:t> </a:t>
            </a:r>
            <a:endParaRPr lang="en-US"/>
          </a:p>
        </p:txBody>
      </p:sp>
      <p:sp>
        <p:nvSpPr>
          <p:cNvPr id="219092" name="Rectangle 219091">
            <a:extLst>
              <a:ext uri="{FF2B5EF4-FFF2-40B4-BE49-F238E27FC236}">
                <a16:creationId xmlns:a16="http://schemas.microsoft.com/office/drawing/2014/main" id="{B9975745-26A1-AB90-A529-9523EE856E7B}"/>
              </a:ext>
            </a:extLst>
          </p:cNvPr>
          <p:cNvSpPr/>
          <p:nvPr/>
        </p:nvSpPr>
        <p:spPr>
          <a:xfrm>
            <a:off x="609600" y="4284071"/>
            <a:ext cx="1550000" cy="15468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75ECE"/>
                </a:solidFill>
                <a:effectLst/>
                <a:latin typeface="Segoe UI" panose="020B0502040204020203" pitchFamily="34" charset="0"/>
              </a:rPr>
              <a:t>FLOW 2</a:t>
            </a:r>
          </a:p>
          <a:p>
            <a:pPr algn="l">
              <a:buNone/>
            </a:pPr>
            <a:r>
              <a:rPr lang="en-US" sz="1600" b="1">
                <a:solidFill>
                  <a:srgbClr val="FFFFFF"/>
                </a:solidFill>
                <a:effectLst/>
                <a:latin typeface="Segoe UI" panose="020B0502040204020203" pitchFamily="34" charset="0"/>
              </a:rPr>
              <a:t>Impact Assessment</a:t>
            </a:r>
          </a:p>
          <a:p>
            <a:pPr algn="l">
              <a:buNone/>
            </a:pPr>
            <a:r>
              <a:rPr lang="en-US" sz="1400">
                <a:solidFill>
                  <a:srgbClr val="D6D2E8"/>
                </a:solidFill>
                <a:effectLst/>
                <a:latin typeface="Segoe UI" panose="020B0502040204020203" pitchFamily="34" charset="0"/>
              </a:rPr>
              <a:t>trigger: new Supplier Notice case</a:t>
            </a:r>
            <a:endParaRPr lang="en-US"/>
          </a:p>
        </p:txBody>
      </p:sp>
      <p:sp>
        <p:nvSpPr>
          <p:cNvPr id="219096" name="Rectangle 219095">
            <a:extLst>
              <a:ext uri="{FF2B5EF4-FFF2-40B4-BE49-F238E27FC236}">
                <a16:creationId xmlns:a16="http://schemas.microsoft.com/office/drawing/2014/main" id="{E4D6A478-8DC3-2C82-743C-DD7521F22280}"/>
              </a:ext>
            </a:extLst>
          </p:cNvPr>
          <p:cNvSpPr/>
          <p:nvPr/>
        </p:nvSpPr>
        <p:spPr>
          <a:xfrm>
            <a:off x="609600" y="5982821"/>
            <a:ext cx="10972800" cy="450000"/>
          </a:xfrm>
          <a:prstGeom prst="rect">
            <a:avLst/>
          </a:prstGeom>
          <a:solidFill>
            <a:srgbClr val="F75ECE">
              <a:alpha val="22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FFFFFF"/>
                </a:solidFill>
                <a:effectLst/>
                <a:latin typeface="Segoe UI" panose="020B0502040204020203" pitchFamily="34" charset="0"/>
              </a:rPr>
              <a:t>Prompts helps with classification and summarization</a:t>
            </a:r>
          </a:p>
          <a:p>
            <a:pPr algn="ctr">
              <a:buNone/>
            </a:pPr>
            <a:r>
              <a:rPr lang="en-US" sz="100">
                <a:effectLst/>
              </a:rPr>
              <a:t> </a:t>
            </a:r>
            <a:endParaRPr lang="en-US"/>
          </a:p>
        </p:txBody>
      </p:sp>
    </p:spTree>
    <p:extLst>
      <p:ext uri="{BB962C8B-B14F-4D97-AF65-F5344CB8AC3E}">
        <p14:creationId xmlns:p14="http://schemas.microsoft.com/office/powerpoint/2010/main" val="2354869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4752" name="Rectangle: Rounded Corners 144751">
            <a:extLst>
              <a:ext uri="{FF2B5EF4-FFF2-40B4-BE49-F238E27FC236}">
                <a16:creationId xmlns:a16="http://schemas.microsoft.com/office/drawing/2014/main" id="{35ED1DAC-1AA9-67CD-01DF-F59ADC0FBE0D}"/>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241537" name="s34-eyebrow">
            <a:extLst>
              <a:ext uri="{FF2B5EF4-FFF2-40B4-BE49-F238E27FC236}">
                <a16:creationId xmlns:a16="http://schemas.microsoft.com/office/drawing/2014/main" id="{83DEE7BC-0E78-B82B-E2DC-BCC37E86419E}"/>
              </a:ext>
            </a:extLst>
          </p:cNvPr>
          <p:cNvSpPr/>
          <p:nvPr/>
        </p:nvSpPr>
        <p:spPr>
          <a:xfrm>
            <a:off x="2420000" y="400000"/>
            <a:ext cx="91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CBAFC5"/>
                </a:solidFill>
                <a:effectLst/>
                <a:latin typeface="Segoe UI" panose="020B0502040204020203" pitchFamily="34" charset="0"/>
              </a:rPr>
              <a:t>DEMO · POWER AUTOMATE MCP</a:t>
            </a:r>
            <a:endParaRPr lang="en-US"/>
          </a:p>
        </p:txBody>
      </p:sp>
      <p:sp>
        <p:nvSpPr>
          <p:cNvPr id="241539" name="s34-title">
            <a:extLst>
              <a:ext uri="{FF2B5EF4-FFF2-40B4-BE49-F238E27FC236}">
                <a16:creationId xmlns:a16="http://schemas.microsoft.com/office/drawing/2014/main" id="{C29095D0-F77B-9539-CA27-1B04F4BCC7B8}"/>
              </a:ext>
            </a:extLst>
          </p:cNvPr>
          <p:cNvSpPr/>
          <p:nvPr/>
        </p:nvSpPr>
        <p:spPr>
          <a:xfrm>
            <a:off x="609600" y="880000"/>
            <a:ext cx="10972800"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From prompt to running flow</a:t>
            </a:r>
            <a:endParaRPr lang="en-US"/>
          </a:p>
        </p:txBody>
      </p:sp>
      <p:pic>
        <p:nvPicPr>
          <p:cNvPr id="3" name="Picture 2">
            <a:extLst>
              <a:ext uri="{FF2B5EF4-FFF2-40B4-BE49-F238E27FC236}">
                <a16:creationId xmlns:a16="http://schemas.microsoft.com/office/drawing/2014/main" id="{9F3BC3BD-0F1A-33F8-ADBE-7C9B2622C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512" y="1626622"/>
            <a:ext cx="8653300" cy="5059066"/>
          </a:xfrm>
          <a:prstGeom prst="rect">
            <a:avLst/>
          </a:prstGeom>
        </p:spPr>
      </p:pic>
    </p:spTree>
    <p:extLst>
      <p:ext uri="{BB962C8B-B14F-4D97-AF65-F5344CB8AC3E}">
        <p14:creationId xmlns:p14="http://schemas.microsoft.com/office/powerpoint/2010/main" val="2714911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4752" name="Rectangle: Rounded Corners 144751">
            <a:extLst>
              <a:ext uri="{FF2B5EF4-FFF2-40B4-BE49-F238E27FC236}">
                <a16:creationId xmlns:a16="http://schemas.microsoft.com/office/drawing/2014/main" id="{35ED1DAC-1AA9-67CD-01DF-F59ADC0FBE0D}"/>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241537" name="s34-eyebrow">
            <a:extLst>
              <a:ext uri="{FF2B5EF4-FFF2-40B4-BE49-F238E27FC236}">
                <a16:creationId xmlns:a16="http://schemas.microsoft.com/office/drawing/2014/main" id="{83DEE7BC-0E78-B82B-E2DC-BCC37E86419E}"/>
              </a:ext>
            </a:extLst>
          </p:cNvPr>
          <p:cNvSpPr/>
          <p:nvPr/>
        </p:nvSpPr>
        <p:spPr>
          <a:xfrm>
            <a:off x="2420000" y="400000"/>
            <a:ext cx="91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CBAFC5"/>
                </a:solidFill>
                <a:effectLst/>
                <a:latin typeface="Segoe UI" panose="020B0502040204020203" pitchFamily="34" charset="0"/>
              </a:rPr>
              <a:t>POWER AUTOMATE MCP · FROM YOUR CODING AGENT</a:t>
            </a:r>
            <a:endParaRPr lang="en-US"/>
          </a:p>
        </p:txBody>
      </p:sp>
      <p:sp>
        <p:nvSpPr>
          <p:cNvPr id="241539" name="s34-title">
            <a:extLst>
              <a:ext uri="{FF2B5EF4-FFF2-40B4-BE49-F238E27FC236}">
                <a16:creationId xmlns:a16="http://schemas.microsoft.com/office/drawing/2014/main" id="{C29095D0-F77B-9539-CA27-1B04F4BCC7B8}"/>
              </a:ext>
            </a:extLst>
          </p:cNvPr>
          <p:cNvSpPr/>
          <p:nvPr/>
        </p:nvSpPr>
        <p:spPr>
          <a:xfrm>
            <a:off x="609600" y="880000"/>
            <a:ext cx="10972800"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Build and fix flows by asking</a:t>
            </a:r>
            <a:endParaRPr lang="en-US"/>
          </a:p>
        </p:txBody>
      </p:sp>
      <p:sp>
        <p:nvSpPr>
          <p:cNvPr id="241542" name="s34-card-609600">
            <a:extLst>
              <a:ext uri="{FF2B5EF4-FFF2-40B4-BE49-F238E27FC236}">
                <a16:creationId xmlns:a16="http://schemas.microsoft.com/office/drawing/2014/main" id="{2CE6C43B-A415-89D7-DAC7-C72FAEE24AE9}"/>
              </a:ext>
            </a:extLst>
          </p:cNvPr>
          <p:cNvSpPr/>
          <p:nvPr/>
        </p:nvSpPr>
        <p:spPr>
          <a:xfrm>
            <a:off x="609600" y="1840000"/>
            <a:ext cx="5361400" cy="2700000"/>
          </a:xfrm>
          <a:prstGeom prst="rect">
            <a:avLst/>
          </a:prstGeom>
          <a:solidFill>
            <a:srgbClr val="1B2136"/>
          </a:solidFill>
          <a:ln w="12700">
            <a:solidFill>
              <a:srgbClr val="1B213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46" name="s34-card-6221000">
            <a:extLst>
              <a:ext uri="{FF2B5EF4-FFF2-40B4-BE49-F238E27FC236}">
                <a16:creationId xmlns:a16="http://schemas.microsoft.com/office/drawing/2014/main" id="{729771A9-5481-95F6-6D42-29AFB05149EA}"/>
              </a:ext>
            </a:extLst>
          </p:cNvPr>
          <p:cNvSpPr/>
          <p:nvPr/>
        </p:nvSpPr>
        <p:spPr>
          <a:xfrm>
            <a:off x="6221000" y="1840000"/>
            <a:ext cx="5361400" cy="2700000"/>
          </a:xfrm>
          <a:prstGeom prst="rect">
            <a:avLst/>
          </a:prstGeom>
          <a:solidFill>
            <a:srgbClr val="1B2136"/>
          </a:solidFill>
          <a:ln w="12700">
            <a:solidFill>
              <a:srgbClr val="1B213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51" name="s34-build-time">
            <a:extLst>
              <a:ext uri="{FF2B5EF4-FFF2-40B4-BE49-F238E27FC236}">
                <a16:creationId xmlns:a16="http://schemas.microsoft.com/office/drawing/2014/main" id="{29C8FDDA-F566-01AD-2A40-1F1DAB71F359}"/>
              </a:ext>
            </a:extLst>
          </p:cNvPr>
          <p:cNvSpPr/>
          <p:nvPr/>
        </p:nvSpPr>
        <p:spPr>
          <a:xfrm>
            <a:off x="829600" y="1980000"/>
            <a:ext cx="49214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WHAT IT IS</a:t>
            </a:r>
            <a:endParaRPr lang="en-US"/>
          </a:p>
        </p:txBody>
      </p:sp>
      <p:sp>
        <p:nvSpPr>
          <p:cNvPr id="241557" name="s34-run-time">
            <a:extLst>
              <a:ext uri="{FF2B5EF4-FFF2-40B4-BE49-F238E27FC236}">
                <a16:creationId xmlns:a16="http://schemas.microsoft.com/office/drawing/2014/main" id="{24A3583C-4ED7-7B3C-14F5-708FB4BF85AC}"/>
              </a:ext>
            </a:extLst>
          </p:cNvPr>
          <p:cNvSpPr/>
          <p:nvPr/>
        </p:nvSpPr>
        <p:spPr>
          <a:xfrm>
            <a:off x="6441000" y="1980000"/>
            <a:ext cx="49214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WHAT YOU CAN ASK IT TO DO</a:t>
            </a:r>
            <a:endParaRPr lang="en-US"/>
          </a:p>
        </p:txBody>
      </p:sp>
      <p:sp>
        <p:nvSpPr>
          <p:cNvPr id="241689" name="s34-source">
            <a:extLst>
              <a:ext uri="{FF2B5EF4-FFF2-40B4-BE49-F238E27FC236}">
                <a16:creationId xmlns:a16="http://schemas.microsoft.com/office/drawing/2014/main" id="{B002B92F-8065-9DCB-80EC-573DC9552181}"/>
              </a:ext>
            </a:extLst>
          </p:cNvPr>
          <p:cNvSpPr/>
          <p:nvPr/>
        </p:nvSpPr>
        <p:spPr>
          <a:xfrm>
            <a:off x="609600" y="6100000"/>
            <a:ext cx="10972800" cy="30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Source: github.com/microsoft/power-platform-skills · plugins/power-automate</a:t>
            </a:r>
            <a:endParaRPr lang="en-US"/>
          </a:p>
        </p:txBody>
      </p:sp>
      <p:sp>
        <p:nvSpPr>
          <p:cNvPr id="241690" name="Rectangle 241689">
            <a:extLst>
              <a:ext uri="{FF2B5EF4-FFF2-40B4-BE49-F238E27FC236}">
                <a16:creationId xmlns:a16="http://schemas.microsoft.com/office/drawing/2014/main" id="{0A2BCA0C-DAFB-81D7-8502-8CCE254DCA73}"/>
              </a:ext>
            </a:extLst>
          </p:cNvPr>
          <p:cNvSpPr/>
          <p:nvPr/>
        </p:nvSpPr>
        <p:spPr>
          <a:xfrm>
            <a:off x="829600" y="2400000"/>
            <a:ext cx="49214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b="1">
                <a:solidFill>
                  <a:srgbClr val="FFFFFF"/>
                </a:solidFill>
                <a:effectLst/>
                <a:latin typeface="Segoe UI" panose="020B0502040204020203" pitchFamily="34" charset="0"/>
              </a:rPr>
              <a:t>Power Automate plugin</a:t>
            </a:r>
          </a:p>
          <a:p>
            <a:pPr algn="l">
              <a:buNone/>
            </a:pPr>
            <a:r>
              <a:rPr lang="en-US" sz="100">
                <a:effectLst/>
              </a:rPr>
              <a:t> </a:t>
            </a:r>
            <a:endParaRPr lang="en-US"/>
          </a:p>
        </p:txBody>
      </p:sp>
      <p:sp>
        <p:nvSpPr>
          <p:cNvPr id="241692" name="Rectangle 241691">
            <a:extLst>
              <a:ext uri="{FF2B5EF4-FFF2-40B4-BE49-F238E27FC236}">
                <a16:creationId xmlns:a16="http://schemas.microsoft.com/office/drawing/2014/main" id="{B625809C-4B2A-2C16-E87F-D25AD90D8223}"/>
              </a:ext>
            </a:extLst>
          </p:cNvPr>
          <p:cNvSpPr/>
          <p:nvPr/>
        </p:nvSpPr>
        <p:spPr>
          <a:xfrm>
            <a:off x="829600" y="2930000"/>
            <a:ext cx="4921400"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a:solidFill>
                  <a:srgbClr val="D6D2E8"/>
                </a:solidFill>
                <a:effectLst/>
                <a:latin typeface="Segoe UI" panose="020B0502040204020203" pitchFamily="34" charset="0"/>
              </a:rPr>
              <a:t>For GitHub Copilot CLI and Claude Code, powered by the FlowAgent MCP server and its 50+ flow tools.</a:t>
            </a:r>
          </a:p>
          <a:p>
            <a:pPr algn="l">
              <a:buNone/>
            </a:pPr>
            <a:r>
              <a:rPr lang="en-US" sz="100">
                <a:effectLst/>
              </a:rPr>
              <a:t> </a:t>
            </a:r>
            <a:endParaRPr lang="en-US"/>
          </a:p>
        </p:txBody>
      </p:sp>
      <p:sp>
        <p:nvSpPr>
          <p:cNvPr id="241695" name="Rectangle 241694">
            <a:extLst>
              <a:ext uri="{FF2B5EF4-FFF2-40B4-BE49-F238E27FC236}">
                <a16:creationId xmlns:a16="http://schemas.microsoft.com/office/drawing/2014/main" id="{05275633-C97C-0F6E-3066-2AA4882CA51B}"/>
              </a:ext>
            </a:extLst>
          </p:cNvPr>
          <p:cNvSpPr/>
          <p:nvPr/>
        </p:nvSpPr>
        <p:spPr>
          <a:xfrm>
            <a:off x="829600" y="3980000"/>
            <a:ext cx="49214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F75ECE"/>
                </a:solidFill>
                <a:effectLst/>
                <a:latin typeface="Segoe UI" panose="020B0502040204020203" pitchFamily="34" charset="0"/>
              </a:rPr>
              <a:t>Runs locally · Node.js 18+ · your az login</a:t>
            </a:r>
          </a:p>
          <a:p>
            <a:pPr algn="l">
              <a:buNone/>
            </a:pPr>
            <a:r>
              <a:rPr lang="en-US" sz="100">
                <a:effectLst/>
              </a:rPr>
              <a:t> </a:t>
            </a:r>
            <a:endParaRPr lang="en-US"/>
          </a:p>
        </p:txBody>
      </p:sp>
      <p:sp>
        <p:nvSpPr>
          <p:cNvPr id="241699" name="Rectangle 241698">
            <a:extLst>
              <a:ext uri="{FF2B5EF4-FFF2-40B4-BE49-F238E27FC236}">
                <a16:creationId xmlns:a16="http://schemas.microsoft.com/office/drawing/2014/main" id="{89767E71-2042-D165-34F4-33BA8AF458B0}"/>
              </a:ext>
            </a:extLst>
          </p:cNvPr>
          <p:cNvSpPr/>
          <p:nvPr/>
        </p:nvSpPr>
        <p:spPr>
          <a:xfrm>
            <a:off x="6441000" y="2420000"/>
            <a:ext cx="4921400" cy="6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Build flows</a:t>
            </a:r>
          </a:p>
          <a:p>
            <a:pPr algn="l">
              <a:buNone/>
            </a:pPr>
            <a:r>
              <a:rPr lang="en-US" sz="1500">
                <a:solidFill>
                  <a:srgbClr val="D6D2E8"/>
                </a:solidFill>
                <a:effectLst/>
                <a:latin typeface="Segoe UI" panose="020B0502040204020203" pitchFamily="34" charset="0"/>
              </a:rPr>
              <a:t>Create, edit per action, copy, publish</a:t>
            </a:r>
            <a:endParaRPr lang="en-US"/>
          </a:p>
        </p:txBody>
      </p:sp>
      <p:sp>
        <p:nvSpPr>
          <p:cNvPr id="241704" name="Rectangle 241703">
            <a:extLst>
              <a:ext uri="{FF2B5EF4-FFF2-40B4-BE49-F238E27FC236}">
                <a16:creationId xmlns:a16="http://schemas.microsoft.com/office/drawing/2014/main" id="{BE968D77-1C83-C42A-819D-F914F7FC3485}"/>
              </a:ext>
            </a:extLst>
          </p:cNvPr>
          <p:cNvSpPr/>
          <p:nvPr/>
        </p:nvSpPr>
        <p:spPr>
          <a:xfrm>
            <a:off x="6441000" y="3110000"/>
            <a:ext cx="4921400" cy="6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Debug runs</a:t>
            </a:r>
          </a:p>
          <a:p>
            <a:pPr algn="l">
              <a:buNone/>
            </a:pPr>
            <a:r>
              <a:rPr lang="en-US" sz="1500">
                <a:solidFill>
                  <a:srgbClr val="D6D2E8"/>
                </a:solidFill>
                <a:effectLst/>
                <a:latin typeface="Segoe UI" panose="020B0502040204020203" pitchFamily="34" charset="0"/>
              </a:rPr>
              <a:t>Run history, loop drill-down, diagnosis</a:t>
            </a:r>
            <a:endParaRPr lang="en-US"/>
          </a:p>
        </p:txBody>
      </p:sp>
      <p:sp>
        <p:nvSpPr>
          <p:cNvPr id="241710" name="Rectangle 241709">
            <a:extLst>
              <a:ext uri="{FF2B5EF4-FFF2-40B4-BE49-F238E27FC236}">
                <a16:creationId xmlns:a16="http://schemas.microsoft.com/office/drawing/2014/main" id="{C2E4EF63-F47F-FB5B-9AE6-74BC01D0B414}"/>
              </a:ext>
            </a:extLst>
          </p:cNvPr>
          <p:cNvSpPr/>
          <p:nvPr/>
        </p:nvSpPr>
        <p:spPr>
          <a:xfrm>
            <a:off x="6441000" y="3800000"/>
            <a:ext cx="4921400" cy="6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Manage connections</a:t>
            </a:r>
          </a:p>
          <a:p>
            <a:pPr algn="l">
              <a:buNone/>
            </a:pPr>
            <a:r>
              <a:rPr lang="en-US" sz="1500">
                <a:solidFill>
                  <a:srgbClr val="D6D2E8"/>
                </a:solidFill>
                <a:effectLst/>
                <a:latin typeface="Segoe UI" panose="020B0502040204020203" pitchFamily="34" charset="0"/>
              </a:rPr>
              <a:t>Create, fix, discover, resolve values</a:t>
            </a:r>
            <a:endParaRPr lang="en-US"/>
          </a:p>
        </p:txBody>
      </p:sp>
      <p:sp>
        <p:nvSpPr>
          <p:cNvPr id="241717" name="Rectangle 241716">
            <a:extLst>
              <a:ext uri="{FF2B5EF4-FFF2-40B4-BE49-F238E27FC236}">
                <a16:creationId xmlns:a16="http://schemas.microsoft.com/office/drawing/2014/main" id="{5386030A-6451-E672-5A5A-BFA97D1D8C6F}"/>
              </a:ext>
            </a:extLst>
          </p:cNvPr>
          <p:cNvSpPr/>
          <p:nvPr/>
        </p:nvSpPr>
        <p:spPr>
          <a:xfrm>
            <a:off x="609600" y="4760000"/>
            <a:ext cx="10972800" cy="1000000"/>
          </a:xfrm>
          <a:prstGeom prst="rect">
            <a:avLst/>
          </a:prstGeom>
          <a:solidFill>
            <a:srgbClr val="1B2136"/>
          </a:solidFill>
          <a:ln w="12700">
            <a:solidFill>
              <a:srgbClr val="F75EC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725" name="Rectangle 241724">
            <a:extLst>
              <a:ext uri="{FF2B5EF4-FFF2-40B4-BE49-F238E27FC236}">
                <a16:creationId xmlns:a16="http://schemas.microsoft.com/office/drawing/2014/main" id="{7E5C4C0A-4EC1-43D8-8BD2-036B3A91856A}"/>
              </a:ext>
            </a:extLst>
          </p:cNvPr>
          <p:cNvSpPr/>
          <p:nvPr/>
        </p:nvSpPr>
        <p:spPr>
          <a:xfrm>
            <a:off x="829600" y="5070000"/>
            <a:ext cx="15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INSTALL</a:t>
            </a:r>
          </a:p>
          <a:p>
            <a:pPr algn="l">
              <a:buNone/>
            </a:pPr>
            <a:r>
              <a:rPr lang="en-US" sz="100">
                <a:effectLst/>
              </a:rPr>
              <a:t> </a:t>
            </a:r>
            <a:endParaRPr lang="en-US"/>
          </a:p>
        </p:txBody>
      </p:sp>
      <p:sp>
        <p:nvSpPr>
          <p:cNvPr id="241734" name="Rectangle 241733">
            <a:extLst>
              <a:ext uri="{FF2B5EF4-FFF2-40B4-BE49-F238E27FC236}">
                <a16:creationId xmlns:a16="http://schemas.microsoft.com/office/drawing/2014/main" id="{A4D41600-B5F6-0092-16D9-6AE3EEF94535}"/>
              </a:ext>
            </a:extLst>
          </p:cNvPr>
          <p:cNvSpPr/>
          <p:nvPr/>
        </p:nvSpPr>
        <p:spPr>
          <a:xfrm>
            <a:off x="2400000" y="4840000"/>
            <a:ext cx="9000000" cy="8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FFFFFF"/>
                </a:solidFill>
                <a:effectLst/>
                <a:latin typeface="Consolas" panose="020B0609020204030204" pitchFamily="49" charset="0"/>
              </a:rPr>
              <a:t>/plugin marketplace add microsoft/power-platform-skills</a:t>
            </a:r>
          </a:p>
          <a:p>
            <a:pPr algn="l">
              <a:buNone/>
            </a:pPr>
            <a:r>
              <a:rPr lang="en-US" sz="1500">
                <a:solidFill>
                  <a:srgbClr val="FFFFFF"/>
                </a:solidFill>
                <a:effectLst/>
                <a:latin typeface="Consolas" panose="020B0609020204030204" pitchFamily="49" charset="0"/>
              </a:rPr>
              <a:t>/plugin install power-automate@power-platform-skills</a:t>
            </a:r>
            <a:endParaRPr lang="en-US"/>
          </a:p>
        </p:txBody>
      </p:sp>
    </p:spTree>
    <p:extLst>
      <p:ext uri="{BB962C8B-B14F-4D97-AF65-F5344CB8AC3E}">
        <p14:creationId xmlns:p14="http://schemas.microsoft.com/office/powerpoint/2010/main" val="948180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4752" name="Rectangle: Rounded Corners 144751">
            <a:extLst>
              <a:ext uri="{FF2B5EF4-FFF2-40B4-BE49-F238E27FC236}">
                <a16:creationId xmlns:a16="http://schemas.microsoft.com/office/drawing/2014/main" id="{35ED1DAC-1AA9-67CD-01DF-F59ADC0FBE0D}"/>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241537" name="s34-eyebrow">
            <a:extLst>
              <a:ext uri="{FF2B5EF4-FFF2-40B4-BE49-F238E27FC236}">
                <a16:creationId xmlns:a16="http://schemas.microsoft.com/office/drawing/2014/main" id="{83DEE7BC-0E78-B82B-E2DC-BCC37E86419E}"/>
              </a:ext>
            </a:extLst>
          </p:cNvPr>
          <p:cNvSpPr/>
          <p:nvPr/>
        </p:nvSpPr>
        <p:spPr>
          <a:xfrm>
            <a:off x="2420000" y="400000"/>
            <a:ext cx="91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CBAFC5"/>
                </a:solidFill>
                <a:effectLst/>
                <a:latin typeface="Segoe UI" panose="020B0502040204020203" pitchFamily="34" charset="0"/>
              </a:rPr>
              <a:t>AI CAPABILITIES · TWO DIFFERENT JOBS</a:t>
            </a:r>
          </a:p>
          <a:p>
            <a:pPr algn="l">
              <a:buNone/>
            </a:pPr>
            <a:r>
              <a:rPr lang="en-US" sz="100">
                <a:effectLst/>
              </a:rPr>
              <a:t> </a:t>
            </a:r>
            <a:endParaRPr lang="en-US"/>
          </a:p>
        </p:txBody>
      </p:sp>
      <p:sp>
        <p:nvSpPr>
          <p:cNvPr id="241539" name="s34-title">
            <a:extLst>
              <a:ext uri="{FF2B5EF4-FFF2-40B4-BE49-F238E27FC236}">
                <a16:creationId xmlns:a16="http://schemas.microsoft.com/office/drawing/2014/main" id="{C29095D0-F77B-9539-CA27-1B04F4BCC7B8}"/>
              </a:ext>
            </a:extLst>
          </p:cNvPr>
          <p:cNvSpPr/>
          <p:nvPr/>
        </p:nvSpPr>
        <p:spPr>
          <a:xfrm>
            <a:off x="609600" y="880000"/>
            <a:ext cx="10972800"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AI helps us assist during build and runtime</a:t>
            </a:r>
          </a:p>
          <a:p>
            <a:pPr algn="l">
              <a:buNone/>
            </a:pPr>
            <a:r>
              <a:rPr lang="en-US" sz="100">
                <a:effectLst/>
              </a:rPr>
              <a:t> </a:t>
            </a:r>
            <a:endParaRPr lang="en-US"/>
          </a:p>
        </p:txBody>
      </p:sp>
      <p:sp>
        <p:nvSpPr>
          <p:cNvPr id="241542" name="s34-card-609600">
            <a:extLst>
              <a:ext uri="{FF2B5EF4-FFF2-40B4-BE49-F238E27FC236}">
                <a16:creationId xmlns:a16="http://schemas.microsoft.com/office/drawing/2014/main" id="{2CE6C43B-A415-89D7-DAC7-C72FAEE24AE9}"/>
              </a:ext>
            </a:extLst>
          </p:cNvPr>
          <p:cNvSpPr/>
          <p:nvPr/>
        </p:nvSpPr>
        <p:spPr>
          <a:xfrm>
            <a:off x="609600" y="1840000"/>
            <a:ext cx="5361400" cy="3670000"/>
          </a:xfrm>
          <a:prstGeom prst="rect">
            <a:avLst/>
          </a:prstGeom>
          <a:solidFill>
            <a:srgbClr val="1B2136"/>
          </a:solidFill>
          <a:ln w="12700">
            <a:solidFill>
              <a:srgbClr val="1B213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46" name="s34-card-6221000">
            <a:extLst>
              <a:ext uri="{FF2B5EF4-FFF2-40B4-BE49-F238E27FC236}">
                <a16:creationId xmlns:a16="http://schemas.microsoft.com/office/drawing/2014/main" id="{729771A9-5481-95F6-6D42-29AFB05149EA}"/>
              </a:ext>
            </a:extLst>
          </p:cNvPr>
          <p:cNvSpPr/>
          <p:nvPr/>
        </p:nvSpPr>
        <p:spPr>
          <a:xfrm>
            <a:off x="6221000" y="1840000"/>
            <a:ext cx="5361400" cy="3670000"/>
          </a:xfrm>
          <a:prstGeom prst="rect">
            <a:avLst/>
          </a:prstGeom>
          <a:solidFill>
            <a:srgbClr val="1B2136"/>
          </a:solidFill>
          <a:ln w="12700">
            <a:solidFill>
              <a:srgbClr val="1B213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51" name="s34-build-time">
            <a:extLst>
              <a:ext uri="{FF2B5EF4-FFF2-40B4-BE49-F238E27FC236}">
                <a16:creationId xmlns:a16="http://schemas.microsoft.com/office/drawing/2014/main" id="{29C8FDDA-F566-01AD-2A40-1F1DAB71F359}"/>
              </a:ext>
            </a:extLst>
          </p:cNvPr>
          <p:cNvSpPr/>
          <p:nvPr/>
        </p:nvSpPr>
        <p:spPr>
          <a:xfrm>
            <a:off x="829600" y="1980000"/>
            <a:ext cx="49214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BUILD TIME · MAKER HELP</a:t>
            </a:r>
          </a:p>
          <a:p>
            <a:pPr algn="l">
              <a:buNone/>
            </a:pPr>
            <a:r>
              <a:rPr lang="en-US" sz="100">
                <a:effectLst/>
              </a:rPr>
              <a:t> </a:t>
            </a:r>
            <a:endParaRPr lang="en-US"/>
          </a:p>
        </p:txBody>
      </p:sp>
      <p:sp>
        <p:nvSpPr>
          <p:cNvPr id="241557" name="s34-run-time">
            <a:extLst>
              <a:ext uri="{FF2B5EF4-FFF2-40B4-BE49-F238E27FC236}">
                <a16:creationId xmlns:a16="http://schemas.microsoft.com/office/drawing/2014/main" id="{24A3583C-4ED7-7B3C-14F5-708FB4BF85AC}"/>
              </a:ext>
            </a:extLst>
          </p:cNvPr>
          <p:cNvSpPr/>
          <p:nvPr/>
        </p:nvSpPr>
        <p:spPr>
          <a:xfrm>
            <a:off x="6441000" y="1980000"/>
            <a:ext cx="49214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RUNTIME · EACH FLOW RUN</a:t>
            </a:r>
          </a:p>
          <a:p>
            <a:pPr algn="l">
              <a:buNone/>
            </a:pPr>
            <a:r>
              <a:rPr lang="en-US" sz="100">
                <a:effectLst/>
              </a:rPr>
              <a:t> </a:t>
            </a:r>
            <a:endParaRPr lang="en-US"/>
          </a:p>
        </p:txBody>
      </p:sp>
      <p:sp>
        <p:nvSpPr>
          <p:cNvPr id="241564" name="s34-build-name">
            <a:extLst>
              <a:ext uri="{FF2B5EF4-FFF2-40B4-BE49-F238E27FC236}">
                <a16:creationId xmlns:a16="http://schemas.microsoft.com/office/drawing/2014/main" id="{3CDCBA92-627C-1070-D2DD-18567D1FF496}"/>
              </a:ext>
            </a:extLst>
          </p:cNvPr>
          <p:cNvSpPr/>
          <p:nvPr/>
        </p:nvSpPr>
        <p:spPr>
          <a:xfrm>
            <a:off x="829600" y="2390000"/>
            <a:ext cx="4921400" cy="8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b="1">
                <a:solidFill>
                  <a:srgbClr val="FFFFFF"/>
                </a:solidFill>
                <a:effectLst/>
                <a:latin typeface="Segoe UI" panose="020B0502040204020203" pitchFamily="34" charset="0"/>
              </a:rPr>
              <a:t>Copilot expression</a:t>
            </a:r>
          </a:p>
          <a:p>
            <a:pPr algn="l">
              <a:buNone/>
            </a:pPr>
            <a:r>
              <a:rPr lang="en-US" sz="2400" b="1">
                <a:solidFill>
                  <a:srgbClr val="FFFFFF"/>
                </a:solidFill>
                <a:effectLst/>
                <a:latin typeface="Segoe UI" panose="020B0502040204020203" pitchFamily="34" charset="0"/>
              </a:rPr>
              <a:t>assistant (preview)</a:t>
            </a:r>
            <a:endParaRPr lang="en-US"/>
          </a:p>
        </p:txBody>
      </p:sp>
      <p:sp>
        <p:nvSpPr>
          <p:cNvPr id="241572" name="s34-run-name">
            <a:extLst>
              <a:ext uri="{FF2B5EF4-FFF2-40B4-BE49-F238E27FC236}">
                <a16:creationId xmlns:a16="http://schemas.microsoft.com/office/drawing/2014/main" id="{BBCC7670-6797-030E-7605-6EA0A8910390}"/>
              </a:ext>
            </a:extLst>
          </p:cNvPr>
          <p:cNvSpPr/>
          <p:nvPr/>
        </p:nvSpPr>
        <p:spPr>
          <a:xfrm>
            <a:off x="6441000" y="2390000"/>
            <a:ext cx="4921400" cy="8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b="1">
                <a:solidFill>
                  <a:srgbClr val="FFFFFF"/>
                </a:solidFill>
                <a:effectLst/>
                <a:latin typeface="Segoe UI" panose="020B0502040204020203" pitchFamily="34" charset="0"/>
              </a:rPr>
              <a:t>Run a prompt</a:t>
            </a:r>
          </a:p>
          <a:p>
            <a:pPr algn="l">
              <a:buNone/>
            </a:pPr>
            <a:r>
              <a:rPr lang="en-US" sz="100">
                <a:effectLst/>
              </a:rPr>
              <a:t> </a:t>
            </a:r>
            <a:endParaRPr lang="en-US"/>
          </a:p>
        </p:txBody>
      </p:sp>
      <p:sp>
        <p:nvSpPr>
          <p:cNvPr id="241581" name="s34-build-when">
            <a:extLst>
              <a:ext uri="{FF2B5EF4-FFF2-40B4-BE49-F238E27FC236}">
                <a16:creationId xmlns:a16="http://schemas.microsoft.com/office/drawing/2014/main" id="{6F138E10-A24B-127B-BAEF-5BFA92C997E1}"/>
              </a:ext>
            </a:extLst>
          </p:cNvPr>
          <p:cNvSpPr/>
          <p:nvPr/>
        </p:nvSpPr>
        <p:spPr>
          <a:xfrm>
            <a:off x="829600" y="3270000"/>
            <a:ext cx="4921400" cy="7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Use when lookup or formatting</a:t>
            </a:r>
          </a:p>
          <a:p>
            <a:pPr algn="l">
              <a:buNone/>
            </a:pPr>
            <a:r>
              <a:rPr lang="en-US" sz="2000">
                <a:solidFill>
                  <a:srgbClr val="FFFFFF"/>
                </a:solidFill>
                <a:effectLst/>
                <a:latin typeface="Segoe UI" panose="020B0502040204020203" pitchFamily="34" charset="0"/>
              </a:rPr>
              <a:t>syntax is hard to write.</a:t>
            </a:r>
            <a:endParaRPr lang="en-US"/>
          </a:p>
        </p:txBody>
      </p:sp>
      <p:sp>
        <p:nvSpPr>
          <p:cNvPr id="241591" name="s34-run-when">
            <a:extLst>
              <a:ext uri="{FF2B5EF4-FFF2-40B4-BE49-F238E27FC236}">
                <a16:creationId xmlns:a16="http://schemas.microsoft.com/office/drawing/2014/main" id="{DCBB40C6-AC9B-8A6A-F318-BC84A06A5C21}"/>
              </a:ext>
            </a:extLst>
          </p:cNvPr>
          <p:cNvSpPr/>
          <p:nvPr/>
        </p:nvSpPr>
        <p:spPr>
          <a:xfrm>
            <a:off x="6441000" y="3270000"/>
            <a:ext cx="4921400" cy="7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Use when text needs interpreting</a:t>
            </a:r>
          </a:p>
          <a:p>
            <a:pPr algn="l">
              <a:buNone/>
            </a:pPr>
            <a:r>
              <a:rPr lang="en-US" sz="2000">
                <a:solidFill>
                  <a:srgbClr val="FFFFFF"/>
                </a:solidFill>
                <a:effectLst/>
                <a:latin typeface="Segoe UI" panose="020B0502040204020203" pitchFamily="34" charset="0"/>
              </a:rPr>
              <a:t>or known facts need explaining.</a:t>
            </a:r>
            <a:endParaRPr lang="en-US"/>
          </a:p>
        </p:txBody>
      </p:sp>
      <p:sp>
        <p:nvSpPr>
          <p:cNvPr id="241602" name="s34-build-benefit">
            <a:extLst>
              <a:ext uri="{FF2B5EF4-FFF2-40B4-BE49-F238E27FC236}">
                <a16:creationId xmlns:a16="http://schemas.microsoft.com/office/drawing/2014/main" id="{6B7CBE83-5438-2538-32B3-49DB713BAD63}"/>
              </a:ext>
            </a:extLst>
          </p:cNvPr>
          <p:cNvSpPr/>
          <p:nvPr/>
        </p:nvSpPr>
        <p:spPr>
          <a:xfrm>
            <a:off x="829600" y="4030000"/>
            <a:ext cx="4921400" cy="7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a:solidFill>
                  <a:srgbClr val="D6D2E8"/>
                </a:solidFill>
                <a:effectLst/>
                <a:latin typeface="Segoe UI" panose="020B0502040204020203" pitchFamily="34" charset="0"/>
              </a:rPr>
              <a:t>Less syntax to author;</a:t>
            </a:r>
          </a:p>
          <a:p>
            <a:pPr algn="l">
              <a:buNone/>
            </a:pPr>
            <a:r>
              <a:rPr lang="en-US" sz="1900">
                <a:solidFill>
                  <a:srgbClr val="D6D2E8"/>
                </a:solidFill>
                <a:effectLst/>
                <a:latin typeface="Segoe UI" panose="020B0502040204020203" pitchFamily="34" charset="0"/>
              </a:rPr>
              <a:t>you still inspect and test.</a:t>
            </a:r>
            <a:endParaRPr lang="en-US"/>
          </a:p>
        </p:txBody>
      </p:sp>
      <p:sp>
        <p:nvSpPr>
          <p:cNvPr id="241614" name="s34-run-benefit">
            <a:extLst>
              <a:ext uri="{FF2B5EF4-FFF2-40B4-BE49-F238E27FC236}">
                <a16:creationId xmlns:a16="http://schemas.microsoft.com/office/drawing/2014/main" id="{26782360-0DB1-4262-C2C2-F1803D8AD8D2}"/>
              </a:ext>
            </a:extLst>
          </p:cNvPr>
          <p:cNvSpPr/>
          <p:nvPr/>
        </p:nvSpPr>
        <p:spPr>
          <a:xfrm>
            <a:off x="6441000" y="4030000"/>
            <a:ext cx="4921400" cy="7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a:solidFill>
                  <a:srgbClr val="D6D2E8"/>
                </a:solidFill>
                <a:effectLst/>
                <a:latin typeface="Segoe UI" panose="020B0502040204020203" pitchFamily="34" charset="0"/>
              </a:rPr>
              <a:t>Less manual reading and writing;</a:t>
            </a:r>
          </a:p>
          <a:p>
            <a:pPr algn="l">
              <a:buNone/>
            </a:pPr>
            <a:r>
              <a:rPr lang="en-US" sz="1900">
                <a:solidFill>
                  <a:srgbClr val="D6D2E8"/>
                </a:solidFill>
                <a:effectLst/>
                <a:latin typeface="Segoe UI" panose="020B0502040204020203" pitchFamily="34" charset="0"/>
              </a:rPr>
              <a:t>the flow keeps control.</a:t>
            </a:r>
            <a:endParaRPr lang="en-US"/>
          </a:p>
        </p:txBody>
      </p:sp>
      <p:sp>
        <p:nvSpPr>
          <p:cNvPr id="241627" name="s34-build-demo">
            <a:extLst>
              <a:ext uri="{FF2B5EF4-FFF2-40B4-BE49-F238E27FC236}">
                <a16:creationId xmlns:a16="http://schemas.microsoft.com/office/drawing/2014/main" id="{06F2607C-7AAC-BAA8-B2B1-293799C26AA1}"/>
              </a:ext>
            </a:extLst>
          </p:cNvPr>
          <p:cNvSpPr/>
          <p:nvPr/>
        </p:nvSpPr>
        <p:spPr>
          <a:xfrm>
            <a:off x="829600" y="4780000"/>
            <a:ext cx="49214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F75ECE"/>
                </a:solidFill>
                <a:effectLst/>
                <a:latin typeface="Segoe UI" panose="020B0502040204020203" pitchFamily="34" charset="0"/>
              </a:rPr>
              <a:t>TRY: link the case</a:t>
            </a:r>
          </a:p>
          <a:p>
            <a:pPr algn="l">
              <a:buNone/>
            </a:pPr>
            <a:r>
              <a:rPr lang="en-US" sz="1700" b="1">
                <a:solidFill>
                  <a:srgbClr val="F75ECE"/>
                </a:solidFill>
                <a:effectLst/>
                <a:latin typeface="Segoe UI" panose="020B0502040204020203" pitchFamily="34" charset="0"/>
              </a:rPr>
              <a:t>to the found product.</a:t>
            </a:r>
            <a:endParaRPr lang="en-US">
              <a:solidFill>
                <a:srgbClr val="F75ECE"/>
              </a:solidFill>
            </a:endParaRPr>
          </a:p>
        </p:txBody>
      </p:sp>
      <p:sp>
        <p:nvSpPr>
          <p:cNvPr id="241641" name="s34-run-demo">
            <a:extLst>
              <a:ext uri="{FF2B5EF4-FFF2-40B4-BE49-F238E27FC236}">
                <a16:creationId xmlns:a16="http://schemas.microsoft.com/office/drawing/2014/main" id="{4E01CE9A-1CA3-D624-F4D7-7032DEAF2123}"/>
              </a:ext>
            </a:extLst>
          </p:cNvPr>
          <p:cNvSpPr/>
          <p:nvPr/>
        </p:nvSpPr>
        <p:spPr>
          <a:xfrm>
            <a:off x="6441000" y="4780000"/>
            <a:ext cx="49214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F75ECE"/>
                </a:solidFill>
                <a:effectLst/>
                <a:latin typeface="Segoe UI" panose="020B0502040204020203" pitchFamily="34" charset="0"/>
              </a:rPr>
              <a:t>TRY: classify the notice;</a:t>
            </a:r>
          </a:p>
          <a:p>
            <a:pPr algn="l">
              <a:buNone/>
            </a:pPr>
            <a:r>
              <a:rPr lang="en-US" sz="1700" b="1">
                <a:solidFill>
                  <a:srgbClr val="F75ECE"/>
                </a:solidFill>
                <a:effectLst/>
                <a:latin typeface="Segoe UI" panose="020B0502040204020203" pitchFamily="34" charset="0"/>
              </a:rPr>
              <a:t>explain the computed impact.</a:t>
            </a:r>
            <a:endParaRPr lang="en-US">
              <a:solidFill>
                <a:srgbClr val="F75ECE"/>
              </a:solidFill>
            </a:endParaRPr>
          </a:p>
        </p:txBody>
      </p:sp>
      <p:sp>
        <p:nvSpPr>
          <p:cNvPr id="241672" name="s34-boundary-text">
            <a:extLst>
              <a:ext uri="{FF2B5EF4-FFF2-40B4-BE49-F238E27FC236}">
                <a16:creationId xmlns:a16="http://schemas.microsoft.com/office/drawing/2014/main" id="{F1DCB84C-84D7-3863-8AAA-A0D30C45B074}"/>
              </a:ext>
            </a:extLst>
          </p:cNvPr>
          <p:cNvSpPr/>
          <p:nvPr/>
        </p:nvSpPr>
        <p:spPr>
          <a:xfrm>
            <a:off x="797435" y="5640000"/>
            <a:ext cx="10532800" cy="440000"/>
          </a:xfrm>
          <a:prstGeom prst="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B1020"/>
                </a:solidFill>
                <a:effectLst/>
                <a:latin typeface="Segoe UI" panose="020B0502040204020203" pitchFamily="34" charset="0"/>
              </a:rPr>
              <a:t>Expression: deterministic logic. Prompt: AI interprets or explains.</a:t>
            </a:r>
          </a:p>
          <a:p>
            <a:pPr algn="l">
              <a:buNone/>
            </a:pPr>
            <a:r>
              <a:rPr lang="en-US" sz="100">
                <a:effectLst/>
              </a:rPr>
              <a:t> </a:t>
            </a:r>
            <a:endParaRPr lang="en-US"/>
          </a:p>
        </p:txBody>
      </p:sp>
      <p:sp>
        <p:nvSpPr>
          <p:cNvPr id="241689" name="s34-source">
            <a:extLst>
              <a:ext uri="{FF2B5EF4-FFF2-40B4-BE49-F238E27FC236}">
                <a16:creationId xmlns:a16="http://schemas.microsoft.com/office/drawing/2014/main" id="{B002B92F-8065-9DCB-80EC-573DC9552181}"/>
              </a:ext>
            </a:extLst>
          </p:cNvPr>
          <p:cNvSpPr/>
          <p:nvPr/>
        </p:nvSpPr>
        <p:spPr>
          <a:xfrm>
            <a:off x="609600" y="6100000"/>
            <a:ext cx="10972800" cy="30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D6D2E8"/>
                </a:solidFill>
                <a:effectLst/>
                <a:latin typeface="Segoe UI" panose="020B0502040204020203" pitchFamily="34" charset="0"/>
              </a:rPr>
              <a:t>Microsoft Learn + Module 3 lab · References and demo cues in speaker notes</a:t>
            </a:r>
          </a:p>
          <a:p>
            <a:pPr algn="l">
              <a:buNone/>
            </a:pPr>
            <a:r>
              <a:rPr lang="en-US" sz="100">
                <a:effectLst/>
              </a:rPr>
              <a:t> </a:t>
            </a:r>
            <a:endParaRPr lang="en-US"/>
          </a:p>
        </p:txBody>
      </p:sp>
    </p:spTree>
    <p:extLst>
      <p:ext uri="{BB962C8B-B14F-4D97-AF65-F5344CB8AC3E}">
        <p14:creationId xmlns:p14="http://schemas.microsoft.com/office/powerpoint/2010/main" val="3033368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4752" name="Rectangle: Rounded Corners 144751">
            <a:extLst>
              <a:ext uri="{FF2B5EF4-FFF2-40B4-BE49-F238E27FC236}">
                <a16:creationId xmlns:a16="http://schemas.microsoft.com/office/drawing/2014/main" id="{35ED1DAC-1AA9-67CD-01DF-F59ADC0FBE0D}"/>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4787" name="Rectangle: Rounded Corners 144786">
            <a:extLst>
              <a:ext uri="{FF2B5EF4-FFF2-40B4-BE49-F238E27FC236}">
                <a16:creationId xmlns:a16="http://schemas.microsoft.com/office/drawing/2014/main" id="{C7D0E27F-B4DE-63B2-330F-CAC08DB469C8}"/>
              </a:ext>
            </a:extLst>
          </p:cNvPr>
          <p:cNvSpPr/>
          <p:nvPr/>
        </p:nvSpPr>
        <p:spPr>
          <a:xfrm>
            <a:off x="2176014" y="400000"/>
            <a:ext cx="996413"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3</a:t>
            </a:r>
          </a:p>
          <a:p>
            <a:pPr algn="ctr">
              <a:buNone/>
            </a:pPr>
            <a:r>
              <a:rPr lang="en-US" sz="100">
                <a:effectLst/>
              </a:rPr>
              <a:t> </a:t>
            </a:r>
            <a:endParaRPr lang="en-US"/>
          </a:p>
        </p:txBody>
      </p:sp>
      <p:sp>
        <p:nvSpPr>
          <p:cNvPr id="144823" name="Rectangle 144822">
            <a:extLst>
              <a:ext uri="{FF2B5EF4-FFF2-40B4-BE49-F238E27FC236}">
                <a16:creationId xmlns:a16="http://schemas.microsoft.com/office/drawing/2014/main" id="{FF0CA6A2-537A-3E37-EE5C-FD301B91A717}"/>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3 · Build intake and impact assessment flows</a:t>
            </a:r>
          </a:p>
          <a:p>
            <a:pPr algn="l">
              <a:buNone/>
            </a:pPr>
            <a:r>
              <a:rPr lang="en-US" sz="100">
                <a:effectLst/>
              </a:rPr>
              <a:t> </a:t>
            </a:r>
            <a:endParaRPr lang="en-US"/>
          </a:p>
        </p:txBody>
      </p:sp>
      <p:sp>
        <p:nvSpPr>
          <p:cNvPr id="144860" name="Rectangle 144859">
            <a:extLst>
              <a:ext uri="{FF2B5EF4-FFF2-40B4-BE49-F238E27FC236}">
                <a16:creationId xmlns:a16="http://schemas.microsoft.com/office/drawing/2014/main" id="{FFA2FE4D-5AE1-D735-A84B-103D4FFC99FC}"/>
              </a:ext>
            </a:extLst>
          </p:cNvPr>
          <p:cNvSpPr/>
          <p:nvPr/>
        </p:nvSpPr>
        <p:spPr>
          <a:xfrm>
            <a:off x="609600" y="1661951"/>
            <a:ext cx="10972800" cy="46086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898" name="Rectangle 144897">
            <a:extLst>
              <a:ext uri="{FF2B5EF4-FFF2-40B4-BE49-F238E27FC236}">
                <a16:creationId xmlns:a16="http://schemas.microsoft.com/office/drawing/2014/main" id="{5947A322-FDAC-43DF-FDAB-9A08EAACFC18}"/>
              </a:ext>
            </a:extLst>
          </p:cNvPr>
          <p:cNvSpPr/>
          <p:nvPr/>
        </p:nvSpPr>
        <p:spPr>
          <a:xfrm>
            <a:off x="669600" y="1701885"/>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F75ECE"/>
                </a:solidFill>
                <a:effectLst/>
                <a:latin typeface="Segoe UI" panose="020B0502040204020203" pitchFamily="34" charset="0"/>
              </a:rPr>
              <a:t>OBJECTIVE</a:t>
            </a:r>
          </a:p>
          <a:p>
            <a:pPr algn="l">
              <a:buNone/>
            </a:pPr>
            <a:r>
              <a:rPr lang="en-US" sz="100">
                <a:effectLst/>
              </a:rPr>
              <a:t> </a:t>
            </a:r>
            <a:endParaRPr lang="en-US"/>
          </a:p>
        </p:txBody>
      </p:sp>
      <p:sp>
        <p:nvSpPr>
          <p:cNvPr id="144937" name="Rectangle 144936">
            <a:extLst>
              <a:ext uri="{FF2B5EF4-FFF2-40B4-BE49-F238E27FC236}">
                <a16:creationId xmlns:a16="http://schemas.microsoft.com/office/drawing/2014/main" id="{E49919E1-2A8E-CC85-9146-EA3D9BC49BF0}"/>
              </a:ext>
            </a:extLst>
          </p:cNvPr>
          <p:cNvSpPr/>
          <p:nvPr/>
        </p:nvSpPr>
        <p:spPr>
          <a:xfrm>
            <a:off x="2659600" y="1634321"/>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Automate supplier-delay intake and calculate live order impact</a:t>
            </a:r>
          </a:p>
          <a:p>
            <a:pPr algn="l">
              <a:buNone/>
            </a:pPr>
            <a:r>
              <a:rPr lang="en-US" sz="100">
                <a:effectLst/>
              </a:rPr>
              <a:t> </a:t>
            </a:r>
            <a:endParaRPr lang="en-US"/>
          </a:p>
        </p:txBody>
      </p:sp>
      <p:sp>
        <p:nvSpPr>
          <p:cNvPr id="144977" name="Rectangle 144976">
            <a:extLst>
              <a:ext uri="{FF2B5EF4-FFF2-40B4-BE49-F238E27FC236}">
                <a16:creationId xmlns:a16="http://schemas.microsoft.com/office/drawing/2014/main" id="{45A593BC-AC1A-FA02-7C44-5A6155A93BBA}"/>
              </a:ext>
            </a:extLst>
          </p:cNvPr>
          <p:cNvSpPr/>
          <p:nvPr/>
        </p:nvSpPr>
        <p:spPr>
          <a:xfrm>
            <a:off x="609600" y="2172819"/>
            <a:ext cx="10972800" cy="801736"/>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018" name="Rectangle 145017">
            <a:extLst>
              <a:ext uri="{FF2B5EF4-FFF2-40B4-BE49-F238E27FC236}">
                <a16:creationId xmlns:a16="http://schemas.microsoft.com/office/drawing/2014/main" id="{FE1E0459-1398-1D44-5FCF-AD3E1B8D2E2C}"/>
              </a:ext>
            </a:extLst>
          </p:cNvPr>
          <p:cNvSpPr/>
          <p:nvPr/>
        </p:nvSpPr>
        <p:spPr>
          <a:xfrm>
            <a:off x="669600" y="2383187"/>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F75ECE"/>
                </a:solidFill>
                <a:effectLst/>
                <a:latin typeface="Segoe UI" panose="020B0502040204020203" pitchFamily="34" charset="0"/>
              </a:rPr>
              <a:t>STARTING POINT</a:t>
            </a:r>
          </a:p>
          <a:p>
            <a:pPr algn="l">
              <a:buNone/>
            </a:pPr>
            <a:r>
              <a:rPr lang="en-US" sz="100">
                <a:effectLst/>
              </a:rPr>
              <a:t> </a:t>
            </a:r>
            <a:endParaRPr lang="en-US"/>
          </a:p>
        </p:txBody>
      </p:sp>
      <p:sp>
        <p:nvSpPr>
          <p:cNvPr id="145060" name="Rectangle 145059">
            <a:extLst>
              <a:ext uri="{FF2B5EF4-FFF2-40B4-BE49-F238E27FC236}">
                <a16:creationId xmlns:a16="http://schemas.microsoft.com/office/drawing/2014/main" id="{A1EB9438-3C9B-90FC-EB52-563A52F36AED}"/>
              </a:ext>
            </a:extLst>
          </p:cNvPr>
          <p:cNvSpPr/>
          <p:nvPr/>
        </p:nvSpPr>
        <p:spPr>
          <a:xfrm>
            <a:off x="2659600" y="2145189"/>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Control Tower solution, Northwind data, prepared Outlook and Dataverse connections, workshop mailbox</a:t>
            </a:r>
          </a:p>
          <a:p>
            <a:pPr algn="l">
              <a:buNone/>
            </a:pPr>
            <a:r>
              <a:rPr lang="en-US" sz="100">
                <a:effectLst/>
              </a:rPr>
              <a:t> </a:t>
            </a:r>
            <a:endParaRPr lang="en-US"/>
          </a:p>
        </p:txBody>
      </p:sp>
      <p:sp>
        <p:nvSpPr>
          <p:cNvPr id="145103" name="Rectangle 145102">
            <a:extLst>
              <a:ext uri="{FF2B5EF4-FFF2-40B4-BE49-F238E27FC236}">
                <a16:creationId xmlns:a16="http://schemas.microsoft.com/office/drawing/2014/main" id="{E9EFF3D5-D11C-72BD-7D98-2530509D1684}"/>
              </a:ext>
            </a:extLst>
          </p:cNvPr>
          <p:cNvSpPr/>
          <p:nvPr/>
        </p:nvSpPr>
        <p:spPr>
          <a:xfrm>
            <a:off x="609600" y="3024555"/>
            <a:ext cx="10972800" cy="114260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147" name="Rectangle 145146">
            <a:extLst>
              <a:ext uri="{FF2B5EF4-FFF2-40B4-BE49-F238E27FC236}">
                <a16:creationId xmlns:a16="http://schemas.microsoft.com/office/drawing/2014/main" id="{97BCCBD5-28B4-EE8B-4D96-C11506D80E48}"/>
              </a:ext>
            </a:extLst>
          </p:cNvPr>
          <p:cNvSpPr/>
          <p:nvPr/>
        </p:nvSpPr>
        <p:spPr>
          <a:xfrm>
            <a:off x="669600" y="3405357"/>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F75ECE"/>
                </a:solidFill>
                <a:effectLst/>
                <a:latin typeface="Segoe UI" panose="020B0502040204020203" pitchFamily="34" charset="0"/>
              </a:rPr>
              <a:t>MAJOR TASKS</a:t>
            </a:r>
          </a:p>
          <a:p>
            <a:pPr algn="l">
              <a:buNone/>
            </a:pPr>
            <a:r>
              <a:rPr lang="en-US" sz="100">
                <a:effectLst/>
              </a:rPr>
              <a:t> </a:t>
            </a:r>
            <a:endParaRPr lang="en-US"/>
          </a:p>
        </p:txBody>
      </p:sp>
      <p:sp>
        <p:nvSpPr>
          <p:cNvPr id="145192" name="Rectangle 145191">
            <a:extLst>
              <a:ext uri="{FF2B5EF4-FFF2-40B4-BE49-F238E27FC236}">
                <a16:creationId xmlns:a16="http://schemas.microsoft.com/office/drawing/2014/main" id="{758E2911-3D63-AEDC-280C-48E7FC8EE10F}"/>
              </a:ext>
            </a:extLst>
          </p:cNvPr>
          <p:cNvSpPr/>
          <p:nvPr/>
        </p:nvSpPr>
        <p:spPr>
          <a:xfrm>
            <a:off x="2659600" y="2996925"/>
            <a:ext cx="88628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Build intake flow with AI classification  ·  Build assessment flow with AI explanation  ·  Add flows to the solution  ·  Test end to end  ·  Review in the Control Tower</a:t>
            </a:r>
          </a:p>
          <a:p>
            <a:pPr algn="l">
              <a:buNone/>
            </a:pPr>
            <a:r>
              <a:rPr lang="en-US" sz="100">
                <a:effectLst/>
              </a:rPr>
              <a:t> </a:t>
            </a:r>
            <a:endParaRPr lang="en-US"/>
          </a:p>
        </p:txBody>
      </p:sp>
      <p:sp>
        <p:nvSpPr>
          <p:cNvPr id="145238" name="Rectangle 145237">
            <a:extLst>
              <a:ext uri="{FF2B5EF4-FFF2-40B4-BE49-F238E27FC236}">
                <a16:creationId xmlns:a16="http://schemas.microsoft.com/office/drawing/2014/main" id="{617C74DE-1BAA-EED3-6095-B90BFFCC4688}"/>
              </a:ext>
            </a:extLst>
          </p:cNvPr>
          <p:cNvSpPr/>
          <p:nvPr/>
        </p:nvSpPr>
        <p:spPr>
          <a:xfrm>
            <a:off x="609600" y="4217159"/>
            <a:ext cx="10972800" cy="5848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85" name="Rectangle 145284">
            <a:extLst>
              <a:ext uri="{FF2B5EF4-FFF2-40B4-BE49-F238E27FC236}">
                <a16:creationId xmlns:a16="http://schemas.microsoft.com/office/drawing/2014/main" id="{69E945CA-B8C7-6AD3-8069-C18EEAFD5C42}"/>
              </a:ext>
            </a:extLst>
          </p:cNvPr>
          <p:cNvSpPr/>
          <p:nvPr/>
        </p:nvSpPr>
        <p:spPr>
          <a:xfrm>
            <a:off x="669600" y="4202864"/>
            <a:ext cx="1900000" cy="6134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F75ECE"/>
                </a:solidFill>
                <a:effectLst/>
                <a:latin typeface="Segoe UI" panose="020B0502040204020203" pitchFamily="34" charset="0"/>
              </a:rPr>
              <a:t>COMPONENTS CREATED</a:t>
            </a:r>
          </a:p>
          <a:p>
            <a:pPr algn="l">
              <a:buNone/>
            </a:pPr>
            <a:r>
              <a:rPr lang="en-US" sz="100">
                <a:effectLst/>
              </a:rPr>
              <a:t> </a:t>
            </a:r>
            <a:endParaRPr lang="en-US"/>
          </a:p>
        </p:txBody>
      </p:sp>
      <p:sp>
        <p:nvSpPr>
          <p:cNvPr id="145333" name="Rectangle 145332">
            <a:extLst>
              <a:ext uri="{FF2B5EF4-FFF2-40B4-BE49-F238E27FC236}">
                <a16:creationId xmlns:a16="http://schemas.microsoft.com/office/drawing/2014/main" id="{3364316B-0A52-7945-9F59-1B998AFE08F9}"/>
              </a:ext>
            </a:extLst>
          </p:cNvPr>
          <p:cNvSpPr/>
          <p:nvPr/>
        </p:nvSpPr>
        <p:spPr>
          <a:xfrm>
            <a:off x="2659600" y="4251505"/>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2 cloud flows, 2 custom prompts</a:t>
            </a:r>
          </a:p>
          <a:p>
            <a:pPr algn="l">
              <a:buNone/>
            </a:pPr>
            <a:r>
              <a:rPr lang="en-US" sz="100">
                <a:effectLst/>
              </a:rPr>
              <a:t> </a:t>
            </a:r>
            <a:endParaRPr lang="en-US"/>
          </a:p>
        </p:txBody>
      </p:sp>
      <p:sp>
        <p:nvSpPr>
          <p:cNvPr id="145382" name="Rectangle 145381">
            <a:extLst>
              <a:ext uri="{FF2B5EF4-FFF2-40B4-BE49-F238E27FC236}">
                <a16:creationId xmlns:a16="http://schemas.microsoft.com/office/drawing/2014/main" id="{B44C2BB6-7396-7D82-D68E-716E59B92025}"/>
              </a:ext>
            </a:extLst>
          </p:cNvPr>
          <p:cNvSpPr/>
          <p:nvPr/>
        </p:nvSpPr>
        <p:spPr>
          <a:xfrm>
            <a:off x="609600" y="4851979"/>
            <a:ext cx="10972800" cy="46086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432" name="Rectangle 145431">
            <a:extLst>
              <a:ext uri="{FF2B5EF4-FFF2-40B4-BE49-F238E27FC236}">
                <a16:creationId xmlns:a16="http://schemas.microsoft.com/office/drawing/2014/main" id="{1E4A6C93-0C18-7201-6EAD-CE1828CE976B}"/>
              </a:ext>
            </a:extLst>
          </p:cNvPr>
          <p:cNvSpPr/>
          <p:nvPr/>
        </p:nvSpPr>
        <p:spPr>
          <a:xfrm>
            <a:off x="669600" y="4891913"/>
            <a:ext cx="190000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F75ECE"/>
                </a:solidFill>
                <a:effectLst/>
                <a:latin typeface="Segoe UI" panose="020B0502040204020203" pitchFamily="34" charset="0"/>
              </a:rPr>
              <a:t>DEPENDS ON</a:t>
            </a:r>
          </a:p>
          <a:p>
            <a:pPr algn="l">
              <a:buNone/>
            </a:pPr>
            <a:r>
              <a:rPr lang="en-US" sz="100">
                <a:effectLst/>
              </a:rPr>
              <a:t> </a:t>
            </a:r>
            <a:endParaRPr lang="en-US"/>
          </a:p>
        </p:txBody>
      </p:sp>
      <p:sp>
        <p:nvSpPr>
          <p:cNvPr id="145483" name="Rectangle 145482">
            <a:extLst>
              <a:ext uri="{FF2B5EF4-FFF2-40B4-BE49-F238E27FC236}">
                <a16:creationId xmlns:a16="http://schemas.microsoft.com/office/drawing/2014/main" id="{BE52A754-3376-3734-4854-FB7E1F06AB1E}"/>
              </a:ext>
            </a:extLst>
          </p:cNvPr>
          <p:cNvSpPr/>
          <p:nvPr/>
        </p:nvSpPr>
        <p:spPr>
          <a:xfrm>
            <a:off x="2659600" y="4824349"/>
            <a:ext cx="886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Module 1 environment; Control Tower tables and choices</a:t>
            </a:r>
          </a:p>
          <a:p>
            <a:pPr algn="l">
              <a:buNone/>
            </a:pPr>
            <a:r>
              <a:rPr lang="en-US" sz="100">
                <a:effectLst/>
              </a:rPr>
              <a:t> </a:t>
            </a:r>
            <a:endParaRPr lang="en-US"/>
          </a:p>
        </p:txBody>
      </p:sp>
      <p:sp>
        <p:nvSpPr>
          <p:cNvPr id="145535" name="Rectangle 145534">
            <a:extLst>
              <a:ext uri="{FF2B5EF4-FFF2-40B4-BE49-F238E27FC236}">
                <a16:creationId xmlns:a16="http://schemas.microsoft.com/office/drawing/2014/main" id="{16AEC102-72C0-806F-599D-85818FE42AE5}"/>
              </a:ext>
            </a:extLst>
          </p:cNvPr>
          <p:cNvSpPr/>
          <p:nvPr/>
        </p:nvSpPr>
        <p:spPr>
          <a:xfrm>
            <a:off x="609600" y="5362847"/>
            <a:ext cx="10972800" cy="801736"/>
          </a:xfrm>
          <a:prstGeom prst="rect">
            <a:avLst/>
          </a:prstGeom>
          <a:solidFill>
            <a:srgbClr val="FFFFFF">
              <a:alpha val="12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588" name="Rectangle 145587">
            <a:extLst>
              <a:ext uri="{FF2B5EF4-FFF2-40B4-BE49-F238E27FC236}">
                <a16:creationId xmlns:a16="http://schemas.microsoft.com/office/drawing/2014/main" id="{5D61D685-1EF3-3D5D-B0B8-9B13A77F7BA2}"/>
              </a:ext>
            </a:extLst>
          </p:cNvPr>
          <p:cNvSpPr/>
          <p:nvPr/>
        </p:nvSpPr>
        <p:spPr>
          <a:xfrm>
            <a:off x="669600" y="5457010"/>
            <a:ext cx="1900000" cy="6134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F75ECE"/>
                </a:solidFill>
                <a:effectLst/>
                <a:latin typeface="Segoe UI" panose="020B0502040204020203" pitchFamily="34" charset="0"/>
              </a:rPr>
              <a:t>SUCCESS LOOKS LIKE</a:t>
            </a:r>
          </a:p>
          <a:p>
            <a:pPr algn="l">
              <a:buNone/>
            </a:pPr>
            <a:r>
              <a:rPr lang="en-US" sz="100">
                <a:effectLst/>
              </a:rPr>
              <a:t> </a:t>
            </a:r>
            <a:endParaRPr lang="en-US"/>
          </a:p>
        </p:txBody>
      </p:sp>
      <p:sp>
        <p:nvSpPr>
          <p:cNvPr id="145642" name="Rectangle 145641">
            <a:extLst>
              <a:ext uri="{FF2B5EF4-FFF2-40B4-BE49-F238E27FC236}">
                <a16:creationId xmlns:a16="http://schemas.microsoft.com/office/drawing/2014/main" id="{A7043A35-1853-C300-28B6-854E53DF3D2F}"/>
              </a:ext>
            </a:extLst>
          </p:cNvPr>
          <p:cNvSpPr/>
          <p:nvPr/>
        </p:nvSpPr>
        <p:spPr>
          <a:xfrm>
            <a:off x="2659600" y="5335217"/>
            <a:ext cx="88628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One email → case + review task + impacted orders + calculated exposure + one Pending decision; nothing executed</a:t>
            </a:r>
          </a:p>
          <a:p>
            <a:pPr algn="l">
              <a:buNone/>
            </a:pPr>
            <a:r>
              <a:rPr lang="en-US" sz="100">
                <a:effectLst/>
              </a:rPr>
              <a:t> </a:t>
            </a:r>
            <a:endParaRPr lang="en-US"/>
          </a:p>
        </p:txBody>
      </p:sp>
    </p:spTree>
    <p:extLst>
      <p:ext uri="{BB962C8B-B14F-4D97-AF65-F5344CB8AC3E}">
        <p14:creationId xmlns:p14="http://schemas.microsoft.com/office/powerpoint/2010/main" val="160869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5697" name="Rectangle: Rounded Corners 145696">
            <a:extLst>
              <a:ext uri="{FF2B5EF4-FFF2-40B4-BE49-F238E27FC236}">
                <a16:creationId xmlns:a16="http://schemas.microsoft.com/office/drawing/2014/main" id="{25EC5BE5-B561-D8BE-24DC-944CF29B23BB}"/>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5753" name="Rectangle: Rounded Corners 145752">
            <a:extLst>
              <a:ext uri="{FF2B5EF4-FFF2-40B4-BE49-F238E27FC236}">
                <a16:creationId xmlns:a16="http://schemas.microsoft.com/office/drawing/2014/main" id="{E8B41BFA-EDC0-2A50-0C70-68293D169B5A}"/>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3 · STEPS 1–2 OF 8</a:t>
            </a:r>
          </a:p>
          <a:p>
            <a:pPr algn="ctr">
              <a:buNone/>
            </a:pPr>
            <a:r>
              <a:rPr lang="en-US" sz="100">
                <a:effectLst/>
              </a:rPr>
              <a:t> </a:t>
            </a:r>
            <a:endParaRPr lang="en-US"/>
          </a:p>
        </p:txBody>
      </p:sp>
      <p:sp>
        <p:nvSpPr>
          <p:cNvPr id="145810" name="Rectangle 145809">
            <a:extLst>
              <a:ext uri="{FF2B5EF4-FFF2-40B4-BE49-F238E27FC236}">
                <a16:creationId xmlns:a16="http://schemas.microsoft.com/office/drawing/2014/main" id="{FBD40C4B-7300-B348-A3B2-B4440E1C2356}"/>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the intake flow</a:t>
            </a:r>
          </a:p>
          <a:p>
            <a:pPr algn="l">
              <a:buNone/>
            </a:pPr>
            <a:r>
              <a:rPr lang="en-US" sz="100">
                <a:effectLst/>
              </a:rPr>
              <a:t> </a:t>
            </a:r>
            <a:endParaRPr lang="en-US"/>
          </a:p>
        </p:txBody>
      </p:sp>
      <p:sp>
        <p:nvSpPr>
          <p:cNvPr id="145868" name="Rectangle 145867">
            <a:extLst>
              <a:ext uri="{FF2B5EF4-FFF2-40B4-BE49-F238E27FC236}">
                <a16:creationId xmlns:a16="http://schemas.microsoft.com/office/drawing/2014/main" id="{BF11FBF7-62C4-F2B9-4377-AD53F14529B9}"/>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27" name="Rectangle: Rounded Corners 145926">
            <a:extLst>
              <a:ext uri="{FF2B5EF4-FFF2-40B4-BE49-F238E27FC236}">
                <a16:creationId xmlns:a16="http://schemas.microsoft.com/office/drawing/2014/main" id="{186CE47A-C4C0-1212-18D9-C71D8D8C03C5}"/>
              </a:ext>
            </a:extLst>
          </p:cNvPr>
          <p:cNvSpPr/>
          <p:nvPr/>
        </p:nvSpPr>
        <p:spPr>
          <a:xfrm>
            <a:off x="7796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1</a:t>
            </a:r>
          </a:p>
          <a:p>
            <a:pPr algn="ctr">
              <a:buNone/>
            </a:pPr>
            <a:r>
              <a:rPr lang="en-US" sz="100">
                <a:effectLst/>
              </a:rPr>
              <a:t> </a:t>
            </a:r>
            <a:endParaRPr lang="en-US"/>
          </a:p>
        </p:txBody>
      </p:sp>
      <p:sp>
        <p:nvSpPr>
          <p:cNvPr id="145987" name="Rectangle 145986">
            <a:extLst>
              <a:ext uri="{FF2B5EF4-FFF2-40B4-BE49-F238E27FC236}">
                <a16:creationId xmlns:a16="http://schemas.microsoft.com/office/drawing/2014/main" id="{6E20B507-BB89-3A58-59B7-C17608E4A190}"/>
              </a:ext>
            </a:extLst>
          </p:cNvPr>
          <p:cNvSpPr/>
          <p:nvPr/>
        </p:nvSpPr>
        <p:spPr>
          <a:xfrm>
            <a:off x="14896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the Order Disruption flow</a:t>
            </a:r>
          </a:p>
          <a:p>
            <a:pPr algn="l">
              <a:buNone/>
            </a:pPr>
            <a:r>
              <a:rPr lang="en-US" sz="100">
                <a:effectLst/>
              </a:rPr>
              <a:t> </a:t>
            </a:r>
            <a:endParaRPr lang="en-US"/>
          </a:p>
        </p:txBody>
      </p:sp>
      <p:sp>
        <p:nvSpPr>
          <p:cNvPr id="146048" name="Rectangle 146047">
            <a:extLst>
              <a:ext uri="{FF2B5EF4-FFF2-40B4-BE49-F238E27FC236}">
                <a16:creationId xmlns:a16="http://schemas.microsoft.com/office/drawing/2014/main" id="{833C497B-8ED8-E7C6-F672-07D83E76AFCB}"/>
              </a:ext>
            </a:extLst>
          </p:cNvPr>
          <p:cNvSpPr/>
          <p:nvPr/>
        </p:nvSpPr>
        <p:spPr>
          <a:xfrm>
            <a:off x="779600" y="2808947"/>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Automated cloud flow on “When a new email arrives (V3)”, Inbox, subject filter “PPCC Cloud Flow Lab”</a:t>
            </a:r>
          </a:p>
          <a:p>
            <a:pPr algn="l">
              <a:buNone/>
            </a:pPr>
            <a:r>
              <a:rPr lang="en-US" sz="100">
                <a:effectLst/>
              </a:rPr>
              <a:t> </a:t>
            </a:r>
            <a:endParaRPr lang="en-US"/>
          </a:p>
        </p:txBody>
      </p:sp>
      <p:sp>
        <p:nvSpPr>
          <p:cNvPr id="146110" name="Rectangle 146109">
            <a:extLst>
              <a:ext uri="{FF2B5EF4-FFF2-40B4-BE49-F238E27FC236}">
                <a16:creationId xmlns:a16="http://schemas.microsoft.com/office/drawing/2014/main" id="{3CBA03EA-A831-F657-70F0-5458F1FA21DE}"/>
              </a:ext>
            </a:extLst>
          </p:cNvPr>
          <p:cNvSpPr/>
          <p:nvPr/>
        </p:nvSpPr>
        <p:spPr>
          <a:xfrm>
            <a:off x="609600" y="5453004"/>
            <a:ext cx="5361400" cy="976996"/>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173" name="Rectangle 146172">
            <a:extLst>
              <a:ext uri="{FF2B5EF4-FFF2-40B4-BE49-F238E27FC236}">
                <a16:creationId xmlns:a16="http://schemas.microsoft.com/office/drawing/2014/main" id="{579A55A7-B67C-E57D-22A1-8396B2D08EB8}"/>
              </a:ext>
            </a:extLst>
          </p:cNvPr>
          <p:cNvSpPr/>
          <p:nvPr/>
        </p:nvSpPr>
        <p:spPr>
          <a:xfrm>
            <a:off x="779600" y="5683438"/>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Trigger uses the workshop mailbox</a:t>
            </a:r>
          </a:p>
          <a:p>
            <a:pPr algn="l">
              <a:buNone/>
            </a:pPr>
            <a:r>
              <a:rPr lang="en-US" sz="100">
                <a:effectLst/>
              </a:rPr>
              <a:t> </a:t>
            </a:r>
            <a:endParaRPr lang="en-US"/>
          </a:p>
        </p:txBody>
      </p:sp>
      <p:sp>
        <p:nvSpPr>
          <p:cNvPr id="146237" name="Rectangle 146236">
            <a:extLst>
              <a:ext uri="{FF2B5EF4-FFF2-40B4-BE49-F238E27FC236}">
                <a16:creationId xmlns:a16="http://schemas.microsoft.com/office/drawing/2014/main" id="{ECCF3F9B-0CC9-E6A5-BCAF-3809DFC6987A}"/>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302" name="Rectangle: Rounded Corners 146301">
            <a:extLst>
              <a:ext uri="{FF2B5EF4-FFF2-40B4-BE49-F238E27FC236}">
                <a16:creationId xmlns:a16="http://schemas.microsoft.com/office/drawing/2014/main" id="{2764C5F7-6472-3D49-A3D8-847C137CE381}"/>
              </a:ext>
            </a:extLst>
          </p:cNvPr>
          <p:cNvSpPr/>
          <p:nvPr/>
        </p:nvSpPr>
        <p:spPr>
          <a:xfrm>
            <a:off x="63910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2</a:t>
            </a:r>
          </a:p>
          <a:p>
            <a:pPr algn="ctr">
              <a:buNone/>
            </a:pPr>
            <a:r>
              <a:rPr lang="en-US" sz="100">
                <a:effectLst/>
              </a:rPr>
              <a:t> </a:t>
            </a:r>
            <a:endParaRPr lang="en-US"/>
          </a:p>
        </p:txBody>
      </p:sp>
      <p:sp>
        <p:nvSpPr>
          <p:cNvPr id="146368" name="Rectangle 146367">
            <a:extLst>
              <a:ext uri="{FF2B5EF4-FFF2-40B4-BE49-F238E27FC236}">
                <a16:creationId xmlns:a16="http://schemas.microsoft.com/office/drawing/2014/main" id="{7EE3FC9B-8EEC-1A67-C2A0-7C478DF49662}"/>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Classify with a custom prompt</a:t>
            </a:r>
          </a:p>
          <a:p>
            <a:pPr algn="l">
              <a:buNone/>
            </a:pPr>
            <a:r>
              <a:rPr lang="en-US" sz="100">
                <a:effectLst/>
              </a:rPr>
              <a:t> </a:t>
            </a:r>
            <a:endParaRPr lang="en-US"/>
          </a:p>
        </p:txBody>
      </p:sp>
      <p:sp>
        <p:nvSpPr>
          <p:cNvPr id="146435" name="Rectangle 146434">
            <a:extLst>
              <a:ext uri="{FF2B5EF4-FFF2-40B4-BE49-F238E27FC236}">
                <a16:creationId xmlns:a16="http://schemas.microsoft.com/office/drawing/2014/main" id="{6BD11FB1-BAB4-9CD5-BF01-87C9FBECA3DB}"/>
              </a:ext>
            </a:extLst>
          </p:cNvPr>
          <p:cNvSpPr/>
          <p:nvPr/>
        </p:nvSpPr>
        <p:spPr>
          <a:xfrm>
            <a:off x="6391000" y="2511951"/>
            <a:ext cx="5021400" cy="15387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Run a prompt “Classify supplier notification” with JSON output (classification, reference, supplier, product, delay, reason)</a:t>
            </a:r>
          </a:p>
          <a:p>
            <a:pPr algn="l">
              <a:buNone/>
            </a:pPr>
            <a:r>
              <a:rPr lang="en-US" sz="100">
                <a:effectLst/>
              </a:rPr>
              <a:t> </a:t>
            </a:r>
            <a:endParaRPr lang="en-US"/>
          </a:p>
        </p:txBody>
      </p:sp>
      <p:sp>
        <p:nvSpPr>
          <p:cNvPr id="146503" name="Rectangle 146502">
            <a:extLst>
              <a:ext uri="{FF2B5EF4-FFF2-40B4-BE49-F238E27FC236}">
                <a16:creationId xmlns:a16="http://schemas.microsoft.com/office/drawing/2014/main" id="{D651CB54-E115-1E77-5D1C-942148DB26B6}"/>
              </a:ext>
            </a:extLst>
          </p:cNvPr>
          <p:cNvSpPr/>
          <p:nvPr/>
        </p:nvSpPr>
        <p:spPr>
          <a:xfrm>
            <a:off x="6221000" y="5453004"/>
            <a:ext cx="5361400" cy="976996"/>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572" name="Rectangle 146571">
            <a:extLst>
              <a:ext uri="{FF2B5EF4-FFF2-40B4-BE49-F238E27FC236}">
                <a16:creationId xmlns:a16="http://schemas.microsoft.com/office/drawing/2014/main" id="{56130F18-4F39-F73F-E25C-FC65AE805083}"/>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Prompt test returns the sample values</a:t>
            </a:r>
          </a:p>
          <a:p>
            <a:pPr algn="l">
              <a:buNone/>
            </a:pPr>
            <a:r>
              <a:rPr lang="en-US" sz="100">
                <a:effectLst/>
              </a:rPr>
              <a:t> </a:t>
            </a:r>
            <a:endParaRPr lang="en-US"/>
          </a:p>
        </p:txBody>
      </p:sp>
    </p:spTree>
    <p:extLst>
      <p:ext uri="{BB962C8B-B14F-4D97-AF65-F5344CB8AC3E}">
        <p14:creationId xmlns:p14="http://schemas.microsoft.com/office/powerpoint/2010/main" val="913473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6573" name="Rectangle: Rounded Corners 146572">
            <a:extLst>
              <a:ext uri="{FF2B5EF4-FFF2-40B4-BE49-F238E27FC236}">
                <a16:creationId xmlns:a16="http://schemas.microsoft.com/office/drawing/2014/main" id="{55E75846-27E0-E0EA-C3ED-DD0F937DAF46}"/>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6575" name="Rectangle: Rounded Corners 146574">
            <a:extLst>
              <a:ext uri="{FF2B5EF4-FFF2-40B4-BE49-F238E27FC236}">
                <a16:creationId xmlns:a16="http://schemas.microsoft.com/office/drawing/2014/main" id="{6BFA751B-E450-55CB-393A-816C32B09506}"/>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3 · STEPS 3–4 OF 8</a:t>
            </a:r>
          </a:p>
          <a:p>
            <a:pPr algn="ctr">
              <a:buNone/>
            </a:pPr>
            <a:r>
              <a:rPr lang="en-US" sz="100">
                <a:effectLst/>
              </a:rPr>
              <a:t> </a:t>
            </a:r>
            <a:endParaRPr lang="en-US"/>
          </a:p>
        </p:txBody>
      </p:sp>
      <p:sp>
        <p:nvSpPr>
          <p:cNvPr id="146578" name="Rectangle 146577">
            <a:extLst>
              <a:ext uri="{FF2B5EF4-FFF2-40B4-BE49-F238E27FC236}">
                <a16:creationId xmlns:a16="http://schemas.microsoft.com/office/drawing/2014/main" id="{46D33C48-6B03-91C8-43C9-00B3522081C4}"/>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the intake flow</a:t>
            </a:r>
          </a:p>
          <a:p>
            <a:pPr algn="l">
              <a:buNone/>
            </a:pPr>
            <a:r>
              <a:rPr lang="en-US" sz="100">
                <a:effectLst/>
              </a:rPr>
              <a:t> </a:t>
            </a:r>
            <a:endParaRPr lang="en-US"/>
          </a:p>
        </p:txBody>
      </p:sp>
      <p:sp>
        <p:nvSpPr>
          <p:cNvPr id="146582" name="Rectangle 146581">
            <a:extLst>
              <a:ext uri="{FF2B5EF4-FFF2-40B4-BE49-F238E27FC236}">
                <a16:creationId xmlns:a16="http://schemas.microsoft.com/office/drawing/2014/main" id="{90AE848A-B1A3-B29B-C54C-6015BB6F8A4E}"/>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587" name="Rectangle: Rounded Corners 146586">
            <a:extLst>
              <a:ext uri="{FF2B5EF4-FFF2-40B4-BE49-F238E27FC236}">
                <a16:creationId xmlns:a16="http://schemas.microsoft.com/office/drawing/2014/main" id="{6B4DF5BC-4B71-3C95-B99C-75547463C88F}"/>
              </a:ext>
            </a:extLst>
          </p:cNvPr>
          <p:cNvSpPr/>
          <p:nvPr/>
        </p:nvSpPr>
        <p:spPr>
          <a:xfrm>
            <a:off x="7796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3</a:t>
            </a:r>
          </a:p>
          <a:p>
            <a:pPr algn="ctr">
              <a:buNone/>
            </a:pPr>
            <a:r>
              <a:rPr lang="en-US" sz="100">
                <a:effectLst/>
              </a:rPr>
              <a:t> </a:t>
            </a:r>
            <a:endParaRPr lang="en-US"/>
          </a:p>
        </p:txBody>
      </p:sp>
      <p:sp>
        <p:nvSpPr>
          <p:cNvPr id="146593" name="Rectangle 146592">
            <a:extLst>
              <a:ext uri="{FF2B5EF4-FFF2-40B4-BE49-F238E27FC236}">
                <a16:creationId xmlns:a16="http://schemas.microsoft.com/office/drawing/2014/main" id="{00097A03-42DC-EE3C-A2A2-E2257461A15D}"/>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Route with a Switch</a:t>
            </a:r>
          </a:p>
          <a:p>
            <a:pPr algn="l">
              <a:buNone/>
            </a:pPr>
            <a:r>
              <a:rPr lang="en-US" sz="100">
                <a:effectLst/>
              </a:rPr>
              <a:t> </a:t>
            </a:r>
            <a:endParaRPr lang="en-US"/>
          </a:p>
        </p:txBody>
      </p:sp>
      <p:sp>
        <p:nvSpPr>
          <p:cNvPr id="146600" name="Rectangle 146599">
            <a:extLst>
              <a:ext uri="{FF2B5EF4-FFF2-40B4-BE49-F238E27FC236}">
                <a16:creationId xmlns:a16="http://schemas.microsoft.com/office/drawing/2014/main" id="{BDB58140-E7C6-866D-FD5C-4308C7AEC93E}"/>
              </a:ext>
            </a:extLst>
          </p:cNvPr>
          <p:cNvSpPr/>
          <p:nvPr/>
        </p:nvSpPr>
        <p:spPr>
          <a:xfrm>
            <a:off x="7796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SupplierDelay, Other, and Default branches</a:t>
            </a:r>
          </a:p>
          <a:p>
            <a:pPr algn="l">
              <a:buNone/>
            </a:pPr>
            <a:r>
              <a:rPr lang="en-US" sz="100">
                <a:effectLst/>
              </a:rPr>
              <a:t> </a:t>
            </a:r>
            <a:endParaRPr lang="en-US"/>
          </a:p>
        </p:txBody>
      </p:sp>
      <p:sp>
        <p:nvSpPr>
          <p:cNvPr id="146608" name="Rectangle 146607">
            <a:extLst>
              <a:ext uri="{FF2B5EF4-FFF2-40B4-BE49-F238E27FC236}">
                <a16:creationId xmlns:a16="http://schemas.microsoft.com/office/drawing/2014/main" id="{704141F7-77D7-CDDE-86F6-DD747A19CF1B}"/>
              </a:ext>
            </a:extLst>
          </p:cNvPr>
          <p:cNvSpPr/>
          <p:nvPr/>
        </p:nvSpPr>
        <p:spPr>
          <a:xfrm>
            <a:off x="609600" y="5112136"/>
            <a:ext cx="5361400" cy="1317864"/>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617" name="Rectangle 146616">
            <a:extLst>
              <a:ext uri="{FF2B5EF4-FFF2-40B4-BE49-F238E27FC236}">
                <a16:creationId xmlns:a16="http://schemas.microsoft.com/office/drawing/2014/main" id="{5244E1ED-95C2-C6A1-2620-07F794821685}"/>
              </a:ext>
            </a:extLst>
          </p:cNvPr>
          <p:cNvSpPr/>
          <p:nvPr/>
        </p:nvSpPr>
        <p:spPr>
          <a:xfrm>
            <a:off x="779600" y="5342570"/>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General updates create nothing; unclear notices create a review task</a:t>
            </a:r>
          </a:p>
          <a:p>
            <a:pPr algn="l">
              <a:buNone/>
            </a:pPr>
            <a:r>
              <a:rPr lang="en-US" sz="100">
                <a:effectLst/>
              </a:rPr>
              <a:t> </a:t>
            </a:r>
            <a:endParaRPr lang="en-US"/>
          </a:p>
        </p:txBody>
      </p:sp>
      <p:sp>
        <p:nvSpPr>
          <p:cNvPr id="146627" name="Rectangle 146626">
            <a:extLst>
              <a:ext uri="{FF2B5EF4-FFF2-40B4-BE49-F238E27FC236}">
                <a16:creationId xmlns:a16="http://schemas.microsoft.com/office/drawing/2014/main" id="{24B906B8-9DC9-76AE-E318-15E1CB9B3F3D}"/>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638" name="Rectangle: Rounded Corners 146637">
            <a:extLst>
              <a:ext uri="{FF2B5EF4-FFF2-40B4-BE49-F238E27FC236}">
                <a16:creationId xmlns:a16="http://schemas.microsoft.com/office/drawing/2014/main" id="{6AA9992C-FB84-C97C-D6EF-63D6B39225DC}"/>
              </a:ext>
            </a:extLst>
          </p:cNvPr>
          <p:cNvSpPr/>
          <p:nvPr/>
        </p:nvSpPr>
        <p:spPr>
          <a:xfrm>
            <a:off x="63910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4</a:t>
            </a:r>
          </a:p>
          <a:p>
            <a:pPr algn="ctr">
              <a:buNone/>
            </a:pPr>
            <a:r>
              <a:rPr lang="en-US" sz="100">
                <a:effectLst/>
              </a:rPr>
              <a:t> </a:t>
            </a:r>
            <a:endParaRPr lang="en-US"/>
          </a:p>
        </p:txBody>
      </p:sp>
      <p:sp>
        <p:nvSpPr>
          <p:cNvPr id="146650" name="Rectangle 146649">
            <a:extLst>
              <a:ext uri="{FF2B5EF4-FFF2-40B4-BE49-F238E27FC236}">
                <a16:creationId xmlns:a16="http://schemas.microsoft.com/office/drawing/2014/main" id="{AEC6B011-5A96-3841-D140-A6D0DFB9EE83}"/>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the case and review task</a:t>
            </a:r>
          </a:p>
          <a:p>
            <a:pPr algn="l">
              <a:buNone/>
            </a:pPr>
            <a:r>
              <a:rPr lang="en-US" sz="100">
                <a:effectLst/>
              </a:rPr>
              <a:t> </a:t>
            </a:r>
            <a:endParaRPr lang="en-US"/>
          </a:p>
        </p:txBody>
      </p:sp>
      <p:sp>
        <p:nvSpPr>
          <p:cNvPr id="146663" name="Rectangle 146662">
            <a:extLst>
              <a:ext uri="{FF2B5EF4-FFF2-40B4-BE49-F238E27FC236}">
                <a16:creationId xmlns:a16="http://schemas.microsoft.com/office/drawing/2014/main" id="{2182AD7B-A8E3-F78C-936B-22A4A804737A}"/>
              </a:ext>
            </a:extLst>
          </p:cNvPr>
          <p:cNvSpPr/>
          <p:nvPr/>
        </p:nvSpPr>
        <p:spPr>
          <a:xfrm>
            <a:off x="63910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Find product and supplier, add the Disruption Case and linked Task</a:t>
            </a:r>
          </a:p>
          <a:p>
            <a:pPr algn="l">
              <a:buNone/>
            </a:pPr>
            <a:r>
              <a:rPr lang="en-US" sz="100">
                <a:effectLst/>
              </a:rPr>
              <a:t> </a:t>
            </a:r>
            <a:endParaRPr lang="en-US"/>
          </a:p>
        </p:txBody>
      </p:sp>
      <p:sp>
        <p:nvSpPr>
          <p:cNvPr id="146677" name="Rectangle 146676">
            <a:extLst>
              <a:ext uri="{FF2B5EF4-FFF2-40B4-BE49-F238E27FC236}">
                <a16:creationId xmlns:a16="http://schemas.microsoft.com/office/drawing/2014/main" id="{CA5F8EE0-F0C8-199F-485A-E2B9BEF40BF2}"/>
              </a:ext>
            </a:extLst>
          </p:cNvPr>
          <p:cNvSpPr/>
          <p:nvPr/>
        </p:nvSpPr>
        <p:spPr>
          <a:xfrm>
            <a:off x="6221000" y="5112136"/>
            <a:ext cx="5361400" cy="1317864"/>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692" name="Rectangle 146691">
            <a:extLst>
              <a:ext uri="{FF2B5EF4-FFF2-40B4-BE49-F238E27FC236}">
                <a16:creationId xmlns:a16="http://schemas.microsoft.com/office/drawing/2014/main" id="{5B681BC4-B5A6-D779-4E12-40700C8B0E2A}"/>
              </a:ext>
            </a:extLst>
          </p:cNvPr>
          <p:cNvSpPr/>
          <p:nvPr/>
        </p:nvSpPr>
        <p:spPr>
          <a:xfrm>
            <a:off x="6391000" y="5172136"/>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Test email creates a case with Supplier F, Clam Chowder, 14 days, status New</a:t>
            </a:r>
          </a:p>
          <a:p>
            <a:pPr algn="l">
              <a:buNone/>
            </a:pPr>
            <a:r>
              <a:rPr lang="en-US" sz="100">
                <a:effectLst/>
              </a:rPr>
              <a:t> </a:t>
            </a:r>
            <a:endParaRPr lang="en-US"/>
          </a:p>
        </p:txBody>
      </p:sp>
    </p:spTree>
    <p:extLst>
      <p:ext uri="{BB962C8B-B14F-4D97-AF65-F5344CB8AC3E}">
        <p14:creationId xmlns:p14="http://schemas.microsoft.com/office/powerpoint/2010/main" val="1606004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6708" name="Rectangle: Rounded Corners 146707">
            <a:extLst>
              <a:ext uri="{FF2B5EF4-FFF2-40B4-BE49-F238E27FC236}">
                <a16:creationId xmlns:a16="http://schemas.microsoft.com/office/drawing/2014/main" id="{6CD17E64-F59E-4C1E-F3CF-7ECD433FDF5F}"/>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6725" name="Rectangle: Rounded Corners 146724">
            <a:extLst>
              <a:ext uri="{FF2B5EF4-FFF2-40B4-BE49-F238E27FC236}">
                <a16:creationId xmlns:a16="http://schemas.microsoft.com/office/drawing/2014/main" id="{E955116E-E36E-C0D9-120F-C58A6F8C31EF}"/>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3 · STEPS 5–6 OF 8</a:t>
            </a:r>
          </a:p>
          <a:p>
            <a:pPr algn="ctr">
              <a:buNone/>
            </a:pPr>
            <a:r>
              <a:rPr lang="en-US" sz="100">
                <a:effectLst/>
              </a:rPr>
              <a:t> </a:t>
            </a:r>
            <a:endParaRPr lang="en-US"/>
          </a:p>
        </p:txBody>
      </p:sp>
      <p:sp>
        <p:nvSpPr>
          <p:cNvPr id="146743" name="Rectangle 146742">
            <a:extLst>
              <a:ext uri="{FF2B5EF4-FFF2-40B4-BE49-F238E27FC236}">
                <a16:creationId xmlns:a16="http://schemas.microsoft.com/office/drawing/2014/main" id="{2C495BCC-C2FC-BC89-D697-CA78C99BA02A}"/>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Assess impact and validate</a:t>
            </a:r>
          </a:p>
          <a:p>
            <a:pPr algn="l">
              <a:buNone/>
            </a:pPr>
            <a:r>
              <a:rPr lang="en-US" sz="100">
                <a:effectLst/>
              </a:rPr>
              <a:t> </a:t>
            </a:r>
            <a:endParaRPr lang="en-US"/>
          </a:p>
        </p:txBody>
      </p:sp>
      <p:sp>
        <p:nvSpPr>
          <p:cNvPr id="146762" name="Rectangle 146761">
            <a:extLst>
              <a:ext uri="{FF2B5EF4-FFF2-40B4-BE49-F238E27FC236}">
                <a16:creationId xmlns:a16="http://schemas.microsoft.com/office/drawing/2014/main" id="{6D6ABC0E-563F-DF6E-167C-0154DDB94A3E}"/>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782" name="Rectangle: Rounded Corners 146781">
            <a:extLst>
              <a:ext uri="{FF2B5EF4-FFF2-40B4-BE49-F238E27FC236}">
                <a16:creationId xmlns:a16="http://schemas.microsoft.com/office/drawing/2014/main" id="{015EA12F-134B-69AB-1B66-1B75C69400FC}"/>
              </a:ext>
            </a:extLst>
          </p:cNvPr>
          <p:cNvSpPr/>
          <p:nvPr/>
        </p:nvSpPr>
        <p:spPr>
          <a:xfrm>
            <a:off x="7796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5</a:t>
            </a:r>
          </a:p>
          <a:p>
            <a:pPr algn="ctr">
              <a:buNone/>
            </a:pPr>
            <a:r>
              <a:rPr lang="en-US" sz="100">
                <a:effectLst/>
              </a:rPr>
              <a:t> </a:t>
            </a:r>
            <a:endParaRPr lang="en-US"/>
          </a:p>
        </p:txBody>
      </p:sp>
      <p:sp>
        <p:nvSpPr>
          <p:cNvPr id="146803" name="Rectangle 146802">
            <a:extLst>
              <a:ext uri="{FF2B5EF4-FFF2-40B4-BE49-F238E27FC236}">
                <a16:creationId xmlns:a16="http://schemas.microsoft.com/office/drawing/2014/main" id="{52231065-5FA2-8D3E-B2E0-A83F8A539D9A}"/>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Build the assessment flow</a:t>
            </a:r>
          </a:p>
          <a:p>
            <a:pPr algn="l">
              <a:buNone/>
            </a:pPr>
            <a:r>
              <a:rPr lang="en-US" sz="100">
                <a:effectLst/>
              </a:rPr>
              <a:t> </a:t>
            </a:r>
            <a:endParaRPr lang="en-US"/>
          </a:p>
        </p:txBody>
      </p:sp>
      <p:sp>
        <p:nvSpPr>
          <p:cNvPr id="146825" name="Rectangle 146824">
            <a:extLst>
              <a:ext uri="{FF2B5EF4-FFF2-40B4-BE49-F238E27FC236}">
                <a16:creationId xmlns:a16="http://schemas.microsoft.com/office/drawing/2014/main" id="{F5856F95-F754-D774-F3A2-536D3687AC6D}"/>
              </a:ext>
            </a:extLst>
          </p:cNvPr>
          <p:cNvSpPr/>
          <p:nvPr/>
        </p:nvSpPr>
        <p:spPr>
          <a:xfrm>
            <a:off x="7796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Dataverse trigger on new Supplier Notice cases; get the case with related product, supplier, currency</a:t>
            </a:r>
          </a:p>
          <a:p>
            <a:pPr algn="l">
              <a:buNone/>
            </a:pPr>
            <a:r>
              <a:rPr lang="en-US" sz="100">
                <a:effectLst/>
              </a:rPr>
              <a:t> </a:t>
            </a:r>
            <a:endParaRPr lang="en-US"/>
          </a:p>
        </p:txBody>
      </p:sp>
      <p:sp>
        <p:nvSpPr>
          <p:cNvPr id="146848" name="Rectangle 146847">
            <a:extLst>
              <a:ext uri="{FF2B5EF4-FFF2-40B4-BE49-F238E27FC236}">
                <a16:creationId xmlns:a16="http://schemas.microsoft.com/office/drawing/2014/main" id="{E73CFEF6-FF38-C6D4-51CA-991D73C8BDA2}"/>
              </a:ext>
            </a:extLst>
          </p:cNvPr>
          <p:cNvSpPr/>
          <p:nvPr/>
        </p:nvSpPr>
        <p:spPr>
          <a:xfrm>
            <a:off x="609600" y="5453004"/>
            <a:ext cx="5361400" cy="976996"/>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72" name="Rectangle 146871">
            <a:extLst>
              <a:ext uri="{FF2B5EF4-FFF2-40B4-BE49-F238E27FC236}">
                <a16:creationId xmlns:a16="http://schemas.microsoft.com/office/drawing/2014/main" id="{DC050E8B-5105-5430-A8C5-2914C263F32F}"/>
              </a:ext>
            </a:extLst>
          </p:cNvPr>
          <p:cNvSpPr/>
          <p:nvPr/>
        </p:nvSpPr>
        <p:spPr>
          <a:xfrm>
            <a:off x="779600" y="5683438"/>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Trigger filter saved</a:t>
            </a:r>
          </a:p>
          <a:p>
            <a:pPr algn="l">
              <a:buNone/>
            </a:pPr>
            <a:r>
              <a:rPr lang="en-US" sz="100">
                <a:effectLst/>
              </a:rPr>
              <a:t> </a:t>
            </a:r>
            <a:endParaRPr lang="en-US"/>
          </a:p>
        </p:txBody>
      </p:sp>
      <p:sp>
        <p:nvSpPr>
          <p:cNvPr id="146897" name="Rectangle 146896">
            <a:extLst>
              <a:ext uri="{FF2B5EF4-FFF2-40B4-BE49-F238E27FC236}">
                <a16:creationId xmlns:a16="http://schemas.microsoft.com/office/drawing/2014/main" id="{4E04348D-D0FC-7E1D-F830-D69C911EE000}"/>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23" name="Rectangle: Rounded Corners 146922">
            <a:extLst>
              <a:ext uri="{FF2B5EF4-FFF2-40B4-BE49-F238E27FC236}">
                <a16:creationId xmlns:a16="http://schemas.microsoft.com/office/drawing/2014/main" id="{BE30CADD-9344-0776-D858-62399D9F4969}"/>
              </a:ext>
            </a:extLst>
          </p:cNvPr>
          <p:cNvSpPr/>
          <p:nvPr/>
        </p:nvSpPr>
        <p:spPr>
          <a:xfrm>
            <a:off x="63910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6</a:t>
            </a:r>
          </a:p>
          <a:p>
            <a:pPr algn="ctr">
              <a:buNone/>
            </a:pPr>
            <a:r>
              <a:rPr lang="en-US" sz="100">
                <a:effectLst/>
              </a:rPr>
              <a:t> </a:t>
            </a:r>
            <a:endParaRPr lang="en-US"/>
          </a:p>
        </p:txBody>
      </p:sp>
      <p:sp>
        <p:nvSpPr>
          <p:cNvPr id="146950" name="Rectangle 146949">
            <a:extLst>
              <a:ext uri="{FF2B5EF4-FFF2-40B4-BE49-F238E27FC236}">
                <a16:creationId xmlns:a16="http://schemas.microsoft.com/office/drawing/2014/main" id="{C71BF9C3-EA1E-AE30-9DEB-B8211E9E3F3C}"/>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Calculate exposure</a:t>
            </a:r>
          </a:p>
          <a:p>
            <a:pPr algn="l">
              <a:buNone/>
            </a:pPr>
            <a:r>
              <a:rPr lang="en-US" sz="100">
                <a:effectLst/>
              </a:rPr>
              <a:t> </a:t>
            </a:r>
            <a:endParaRPr lang="en-US"/>
          </a:p>
        </p:txBody>
      </p:sp>
      <p:sp>
        <p:nvSpPr>
          <p:cNvPr id="146978" name="Rectangle 146977">
            <a:extLst>
              <a:ext uri="{FF2B5EF4-FFF2-40B4-BE49-F238E27FC236}">
                <a16:creationId xmlns:a16="http://schemas.microsoft.com/office/drawing/2014/main" id="{A4A149E2-5418-F713-D292-2F8734B75C06}"/>
              </a:ext>
            </a:extLst>
          </p:cNvPr>
          <p:cNvSpPr/>
          <p:nvPr/>
        </p:nvSpPr>
        <p:spPr>
          <a:xfrm>
            <a:off x="63910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List eligible order lines, create one Impacted Order per line, accumulate TotalExposure</a:t>
            </a:r>
          </a:p>
          <a:p>
            <a:pPr algn="l">
              <a:buNone/>
            </a:pPr>
            <a:r>
              <a:rPr lang="en-US" sz="100">
                <a:effectLst/>
              </a:rPr>
              <a:t> </a:t>
            </a:r>
            <a:endParaRPr lang="en-US"/>
          </a:p>
        </p:txBody>
      </p:sp>
      <p:sp>
        <p:nvSpPr>
          <p:cNvPr id="147007" name="Rectangle 147006">
            <a:extLst>
              <a:ext uri="{FF2B5EF4-FFF2-40B4-BE49-F238E27FC236}">
                <a16:creationId xmlns:a16="http://schemas.microsoft.com/office/drawing/2014/main" id="{C49B492E-D7A1-99B7-314D-DF71C0F8DD09}"/>
              </a:ext>
            </a:extLst>
          </p:cNvPr>
          <p:cNvSpPr/>
          <p:nvPr/>
        </p:nvSpPr>
        <p:spPr>
          <a:xfrm>
            <a:off x="6221000" y="5453004"/>
            <a:ext cx="5361400" cy="976996"/>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037" name="Rectangle 147036">
            <a:extLst>
              <a:ext uri="{FF2B5EF4-FFF2-40B4-BE49-F238E27FC236}">
                <a16:creationId xmlns:a16="http://schemas.microsoft.com/office/drawing/2014/main" id="{F9E6382E-30E7-D781-2CE4-5102392767EB}"/>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Each impact links to its order and order detail</a:t>
            </a:r>
          </a:p>
          <a:p>
            <a:pPr algn="l">
              <a:buNone/>
            </a:pPr>
            <a:r>
              <a:rPr lang="en-US" sz="100">
                <a:effectLst/>
              </a:rPr>
              <a:t> </a:t>
            </a:r>
            <a:endParaRPr lang="en-US"/>
          </a:p>
        </p:txBody>
      </p:sp>
    </p:spTree>
    <p:extLst>
      <p:ext uri="{BB962C8B-B14F-4D97-AF65-F5344CB8AC3E}">
        <p14:creationId xmlns:p14="http://schemas.microsoft.com/office/powerpoint/2010/main" val="1465110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7068" name="Rectangle: Rounded Corners 147067">
            <a:extLst>
              <a:ext uri="{FF2B5EF4-FFF2-40B4-BE49-F238E27FC236}">
                <a16:creationId xmlns:a16="http://schemas.microsoft.com/office/drawing/2014/main" id="{60401BE9-C242-E26A-3A87-634B44A4C6D7}"/>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7100" name="Rectangle: Rounded Corners 147099">
            <a:extLst>
              <a:ext uri="{FF2B5EF4-FFF2-40B4-BE49-F238E27FC236}">
                <a16:creationId xmlns:a16="http://schemas.microsoft.com/office/drawing/2014/main" id="{72B20A73-45ED-4A2C-D822-C8B90729C1B3}"/>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3 · STEPS 7–8 OF 8</a:t>
            </a:r>
          </a:p>
          <a:p>
            <a:pPr algn="ctr">
              <a:buNone/>
            </a:pPr>
            <a:r>
              <a:rPr lang="en-US" sz="100">
                <a:effectLst/>
              </a:rPr>
              <a:t> </a:t>
            </a:r>
            <a:endParaRPr lang="en-US"/>
          </a:p>
        </p:txBody>
      </p:sp>
      <p:sp>
        <p:nvSpPr>
          <p:cNvPr id="147133" name="Rectangle 147132">
            <a:extLst>
              <a:ext uri="{FF2B5EF4-FFF2-40B4-BE49-F238E27FC236}">
                <a16:creationId xmlns:a16="http://schemas.microsoft.com/office/drawing/2014/main" id="{044DCE95-3A3E-46A6-E5ED-F700A7B4EE21}"/>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Assess impact and validate</a:t>
            </a:r>
          </a:p>
          <a:p>
            <a:pPr algn="l">
              <a:buNone/>
            </a:pPr>
            <a:r>
              <a:rPr lang="en-US" sz="100">
                <a:effectLst/>
              </a:rPr>
              <a:t> </a:t>
            </a:r>
            <a:endParaRPr lang="en-US"/>
          </a:p>
        </p:txBody>
      </p:sp>
      <p:sp>
        <p:nvSpPr>
          <p:cNvPr id="147167" name="Rectangle 147166">
            <a:extLst>
              <a:ext uri="{FF2B5EF4-FFF2-40B4-BE49-F238E27FC236}">
                <a16:creationId xmlns:a16="http://schemas.microsoft.com/office/drawing/2014/main" id="{7284508E-BE3C-C7D0-E152-F06331360F94}"/>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202" name="Rectangle: Rounded Corners 147201">
            <a:extLst>
              <a:ext uri="{FF2B5EF4-FFF2-40B4-BE49-F238E27FC236}">
                <a16:creationId xmlns:a16="http://schemas.microsoft.com/office/drawing/2014/main" id="{43F3DCF5-7D8B-C905-1288-51766C0BC925}"/>
              </a:ext>
            </a:extLst>
          </p:cNvPr>
          <p:cNvSpPr/>
          <p:nvPr/>
        </p:nvSpPr>
        <p:spPr>
          <a:xfrm>
            <a:off x="7796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7</a:t>
            </a:r>
          </a:p>
          <a:p>
            <a:pPr algn="ctr">
              <a:buNone/>
            </a:pPr>
            <a:r>
              <a:rPr lang="en-US" sz="100">
                <a:effectLst/>
              </a:rPr>
              <a:t> </a:t>
            </a:r>
            <a:endParaRPr lang="en-US"/>
          </a:p>
        </p:txBody>
      </p:sp>
      <p:sp>
        <p:nvSpPr>
          <p:cNvPr id="147238" name="Rectangle 147237">
            <a:extLst>
              <a:ext uri="{FF2B5EF4-FFF2-40B4-BE49-F238E27FC236}">
                <a16:creationId xmlns:a16="http://schemas.microsoft.com/office/drawing/2014/main" id="{9A34F18F-F4E8-2349-CFCD-E7794EBFD74D}"/>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Explain and decide-ready</a:t>
            </a:r>
          </a:p>
          <a:p>
            <a:pPr algn="l">
              <a:buNone/>
            </a:pPr>
            <a:r>
              <a:rPr lang="en-US" sz="100">
                <a:effectLst/>
              </a:rPr>
              <a:t> </a:t>
            </a:r>
            <a:endParaRPr lang="en-US"/>
          </a:p>
        </p:txBody>
      </p:sp>
      <p:sp>
        <p:nvSpPr>
          <p:cNvPr id="147275" name="Rectangle 147274">
            <a:extLst>
              <a:ext uri="{FF2B5EF4-FFF2-40B4-BE49-F238E27FC236}">
                <a16:creationId xmlns:a16="http://schemas.microsoft.com/office/drawing/2014/main" id="{72588AD2-9526-27D8-134C-70077E0EAACA}"/>
              </a:ext>
            </a:extLst>
          </p:cNvPr>
          <p:cNvSpPr/>
          <p:nvPr/>
        </p:nvSpPr>
        <p:spPr>
          <a:xfrm>
            <a:off x="7796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Run a prompt “Explain supplier disruption impact”; create a Pending Recovery Decision; update the case</a:t>
            </a:r>
          </a:p>
          <a:p>
            <a:pPr algn="l">
              <a:buNone/>
            </a:pPr>
            <a:r>
              <a:rPr lang="en-US" sz="100">
                <a:effectLst/>
              </a:rPr>
              <a:t> </a:t>
            </a:r>
            <a:endParaRPr lang="en-US"/>
          </a:p>
        </p:txBody>
      </p:sp>
      <p:sp>
        <p:nvSpPr>
          <p:cNvPr id="147313" name="Rectangle 147312">
            <a:extLst>
              <a:ext uri="{FF2B5EF4-FFF2-40B4-BE49-F238E27FC236}">
                <a16:creationId xmlns:a16="http://schemas.microsoft.com/office/drawing/2014/main" id="{2E2EBE1E-D203-F623-890E-215BA655EE7D}"/>
              </a:ext>
            </a:extLst>
          </p:cNvPr>
          <p:cNvSpPr/>
          <p:nvPr/>
        </p:nvSpPr>
        <p:spPr>
          <a:xfrm>
            <a:off x="609600" y="5453004"/>
            <a:ext cx="5361400" cy="976996"/>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52" name="Rectangle 147351">
            <a:extLst>
              <a:ext uri="{FF2B5EF4-FFF2-40B4-BE49-F238E27FC236}">
                <a16:creationId xmlns:a16="http://schemas.microsoft.com/office/drawing/2014/main" id="{4711007D-3957-286C-DCC5-1FC817D52E3F}"/>
              </a:ext>
            </a:extLst>
          </p:cNvPr>
          <p:cNvSpPr/>
          <p:nvPr/>
        </p:nvSpPr>
        <p:spPr>
          <a:xfrm>
            <a:off x="779600" y="5683438"/>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Case shows Decision Pending</a:t>
            </a:r>
          </a:p>
          <a:p>
            <a:pPr algn="l">
              <a:buNone/>
            </a:pPr>
            <a:r>
              <a:rPr lang="en-US" sz="100">
                <a:effectLst/>
              </a:rPr>
              <a:t> </a:t>
            </a:r>
            <a:endParaRPr lang="en-US"/>
          </a:p>
        </p:txBody>
      </p:sp>
      <p:sp>
        <p:nvSpPr>
          <p:cNvPr id="147392" name="Rectangle 147391">
            <a:extLst>
              <a:ext uri="{FF2B5EF4-FFF2-40B4-BE49-F238E27FC236}">
                <a16:creationId xmlns:a16="http://schemas.microsoft.com/office/drawing/2014/main" id="{B9FF2A5F-6D31-8F8B-34EE-C8F143D11590}"/>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433" name="Rectangle: Rounded Corners 147432">
            <a:extLst>
              <a:ext uri="{FF2B5EF4-FFF2-40B4-BE49-F238E27FC236}">
                <a16:creationId xmlns:a16="http://schemas.microsoft.com/office/drawing/2014/main" id="{9DFA9873-7208-F704-6CE6-7EF78C06178D}"/>
              </a:ext>
            </a:extLst>
          </p:cNvPr>
          <p:cNvSpPr/>
          <p:nvPr/>
        </p:nvSpPr>
        <p:spPr>
          <a:xfrm>
            <a:off x="6391000" y="1831951"/>
            <a:ext cx="560000" cy="56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8</a:t>
            </a:r>
          </a:p>
          <a:p>
            <a:pPr algn="ctr">
              <a:buNone/>
            </a:pPr>
            <a:r>
              <a:rPr lang="en-US" sz="100">
                <a:effectLst/>
              </a:rPr>
              <a:t> </a:t>
            </a:r>
            <a:endParaRPr lang="en-US"/>
          </a:p>
        </p:txBody>
      </p:sp>
      <p:sp>
        <p:nvSpPr>
          <p:cNvPr id="147475" name="Rectangle 147474">
            <a:extLst>
              <a:ext uri="{FF2B5EF4-FFF2-40B4-BE49-F238E27FC236}">
                <a16:creationId xmlns:a16="http://schemas.microsoft.com/office/drawing/2014/main" id="{1BD2FD20-E4A7-51F7-66E9-8537C4C7A052}"/>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Add to the solution and test</a:t>
            </a:r>
          </a:p>
          <a:p>
            <a:pPr algn="l">
              <a:buNone/>
            </a:pPr>
            <a:r>
              <a:rPr lang="en-US" sz="100">
                <a:effectLst/>
              </a:rPr>
              <a:t> </a:t>
            </a:r>
            <a:endParaRPr lang="en-US"/>
          </a:p>
        </p:txBody>
      </p:sp>
      <p:sp>
        <p:nvSpPr>
          <p:cNvPr id="147518" name="Rectangle 147517">
            <a:extLst>
              <a:ext uri="{FF2B5EF4-FFF2-40B4-BE49-F238E27FC236}">
                <a16:creationId xmlns:a16="http://schemas.microsoft.com/office/drawing/2014/main" id="{B42CE728-A338-8DB5-D446-EA207701F08C}"/>
              </a:ext>
            </a:extLst>
          </p:cNvPr>
          <p:cNvSpPr/>
          <p:nvPr/>
        </p:nvSpPr>
        <p:spPr>
          <a:xfrm>
            <a:off x="63910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Add both flows to the Control Tower solution, turn them on, send one fresh email</a:t>
            </a:r>
          </a:p>
          <a:p>
            <a:pPr algn="l">
              <a:buNone/>
            </a:pPr>
            <a:r>
              <a:rPr lang="en-US" sz="100">
                <a:effectLst/>
              </a:rPr>
              <a:t> </a:t>
            </a:r>
            <a:endParaRPr lang="en-US"/>
          </a:p>
        </p:txBody>
      </p:sp>
      <p:sp>
        <p:nvSpPr>
          <p:cNvPr id="147562" name="Rectangle 147561">
            <a:extLst>
              <a:ext uri="{FF2B5EF4-FFF2-40B4-BE49-F238E27FC236}">
                <a16:creationId xmlns:a16="http://schemas.microsoft.com/office/drawing/2014/main" id="{848E6EAE-60FF-3028-0A65-1A863DE404E7}"/>
              </a:ext>
            </a:extLst>
          </p:cNvPr>
          <p:cNvSpPr/>
          <p:nvPr/>
        </p:nvSpPr>
        <p:spPr>
          <a:xfrm>
            <a:off x="6221000" y="5453004"/>
            <a:ext cx="5361400" cy="976996"/>
          </a:xfrm>
          <a:prstGeom prst="rect">
            <a:avLst/>
          </a:prstGeom>
          <a:solidFill>
            <a:srgbClr val="FF00FF">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07" name="Rectangle 147606">
            <a:extLst>
              <a:ext uri="{FF2B5EF4-FFF2-40B4-BE49-F238E27FC236}">
                <a16:creationId xmlns:a16="http://schemas.microsoft.com/office/drawing/2014/main" id="{685BEC6A-B151-B69E-A58D-351A813E37D0}"/>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Both runs succeed; review results in Control Tower Home</a:t>
            </a:r>
          </a:p>
          <a:p>
            <a:pPr algn="l">
              <a:buNone/>
            </a:pPr>
            <a:r>
              <a:rPr lang="en-US" sz="100">
                <a:effectLst/>
              </a:rPr>
              <a:t> </a:t>
            </a:r>
            <a:endParaRPr lang="en-US"/>
          </a:p>
        </p:txBody>
      </p:sp>
    </p:spTree>
    <p:extLst>
      <p:ext uri="{BB962C8B-B14F-4D97-AF65-F5344CB8AC3E}">
        <p14:creationId xmlns:p14="http://schemas.microsoft.com/office/powerpoint/2010/main" val="2332606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7653" name="Rectangle: Rounded Corners 147652">
            <a:extLst>
              <a:ext uri="{FF2B5EF4-FFF2-40B4-BE49-F238E27FC236}">
                <a16:creationId xmlns:a16="http://schemas.microsoft.com/office/drawing/2014/main" id="{D4BF5C4E-DFD4-2C83-5787-819A7D78498B}"/>
              </a:ext>
            </a:extLst>
          </p:cNvPr>
          <p:cNvSpPr/>
          <p:nvPr/>
        </p:nvSpPr>
        <p:spPr>
          <a:xfrm>
            <a:off x="609600" y="400000"/>
            <a:ext cx="1446414" cy="340000"/>
          </a:xfrm>
          <a:prstGeom prst="roundRect">
            <a:avLst/>
          </a:prstGeom>
          <a:solidFill>
            <a:srgbClr val="F75EC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3</a:t>
            </a:r>
          </a:p>
          <a:p>
            <a:pPr algn="ctr">
              <a:buNone/>
            </a:pPr>
            <a:r>
              <a:rPr lang="en-US" sz="100">
                <a:effectLst/>
              </a:rPr>
              <a:t> </a:t>
            </a:r>
            <a:endParaRPr lang="en-US"/>
          </a:p>
        </p:txBody>
      </p:sp>
      <p:sp>
        <p:nvSpPr>
          <p:cNvPr id="147700" name="Rectangle 147699">
            <a:extLst>
              <a:ext uri="{FF2B5EF4-FFF2-40B4-BE49-F238E27FC236}">
                <a16:creationId xmlns:a16="http://schemas.microsoft.com/office/drawing/2014/main" id="{F9069E84-8C83-47BA-048A-DF9901283C4D}"/>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3 recap: from inbox to impact</a:t>
            </a:r>
          </a:p>
          <a:p>
            <a:pPr algn="l">
              <a:buNone/>
            </a:pPr>
            <a:r>
              <a:rPr lang="en-US" sz="100">
                <a:effectLst/>
              </a:rPr>
              <a:t> </a:t>
            </a:r>
            <a:endParaRPr lang="en-US"/>
          </a:p>
        </p:txBody>
      </p:sp>
      <p:sp>
        <p:nvSpPr>
          <p:cNvPr id="147748" name="Rectangle 147747">
            <a:extLst>
              <a:ext uri="{FF2B5EF4-FFF2-40B4-BE49-F238E27FC236}">
                <a16:creationId xmlns:a16="http://schemas.microsoft.com/office/drawing/2014/main" id="{81B39D6F-2D84-6229-26AA-7D854603ED5F}"/>
              </a:ext>
            </a:extLst>
          </p:cNvPr>
          <p:cNvSpPr/>
          <p:nvPr/>
        </p:nvSpPr>
        <p:spPr>
          <a:xfrm>
            <a:off x="609600" y="166195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BUILT</a:t>
            </a:r>
          </a:p>
          <a:p>
            <a:pPr algn="l">
              <a:buNone/>
            </a:pPr>
            <a:r>
              <a:rPr lang="en-US" sz="2000">
                <a:solidFill>
                  <a:srgbClr val="FFFFFF"/>
                </a:solidFill>
                <a:effectLst/>
                <a:latin typeface="Segoe UI" panose="020B0502040204020203" pitchFamily="34" charset="0"/>
              </a:rPr>
              <a:t>Order Disruption and Impact Assessment cloud flows with two custom prompts</a:t>
            </a:r>
            <a:endParaRPr lang="en-US"/>
          </a:p>
        </p:txBody>
      </p:sp>
      <p:sp>
        <p:nvSpPr>
          <p:cNvPr id="147797" name="Rectangle 147796">
            <a:extLst>
              <a:ext uri="{FF2B5EF4-FFF2-40B4-BE49-F238E27FC236}">
                <a16:creationId xmlns:a16="http://schemas.microsoft.com/office/drawing/2014/main" id="{62D431C1-FDBD-1875-2F18-C2F33EC65730}"/>
              </a:ext>
            </a:extLst>
          </p:cNvPr>
          <p:cNvSpPr/>
          <p:nvPr/>
        </p:nvSpPr>
        <p:spPr>
          <a:xfrm>
            <a:off x="609600" y="2866266"/>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CAPABILITIES USED</a:t>
            </a:r>
          </a:p>
          <a:p>
            <a:pPr algn="l">
              <a:buNone/>
            </a:pPr>
            <a:r>
              <a:rPr lang="en-US" sz="2000">
                <a:solidFill>
                  <a:srgbClr val="FFFFFF"/>
                </a:solidFill>
                <a:effectLst/>
                <a:latin typeface="Segoe UI" panose="020B0502040204020203" pitchFamily="34" charset="0"/>
              </a:rPr>
              <a:t>Automated cloud flows, Run a prompt, Dataverse actions, expressions</a:t>
            </a:r>
            <a:endParaRPr lang="en-US"/>
          </a:p>
        </p:txBody>
      </p:sp>
      <p:sp>
        <p:nvSpPr>
          <p:cNvPr id="147847" name="Rectangle 147846">
            <a:extLst>
              <a:ext uri="{FF2B5EF4-FFF2-40B4-BE49-F238E27FC236}">
                <a16:creationId xmlns:a16="http://schemas.microsoft.com/office/drawing/2014/main" id="{29FFE323-B89A-F851-774C-4A939EFB5C2A}"/>
              </a:ext>
            </a:extLst>
          </p:cNvPr>
          <p:cNvSpPr/>
          <p:nvPr/>
        </p:nvSpPr>
        <p:spPr>
          <a:xfrm>
            <a:off x="609600" y="407058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BUSINESS VALUE</a:t>
            </a:r>
          </a:p>
          <a:p>
            <a:pPr algn="l">
              <a:buNone/>
            </a:pPr>
            <a:r>
              <a:rPr lang="en-US" sz="2000">
                <a:solidFill>
                  <a:srgbClr val="FFFFFF"/>
                </a:solidFill>
                <a:effectLst/>
                <a:latin typeface="Segoe UI" panose="020B0502040204020203" pitchFamily="34" charset="0"/>
              </a:rPr>
              <a:t>Faster, consistent triage with AI-written review guidance</a:t>
            </a:r>
            <a:endParaRPr lang="en-US"/>
          </a:p>
        </p:txBody>
      </p:sp>
      <p:sp>
        <p:nvSpPr>
          <p:cNvPr id="147898" name="Rectangle 147897">
            <a:extLst>
              <a:ext uri="{FF2B5EF4-FFF2-40B4-BE49-F238E27FC236}">
                <a16:creationId xmlns:a16="http://schemas.microsoft.com/office/drawing/2014/main" id="{DEB4D194-0EA6-5243-DA06-A633AA6B4AF9}"/>
              </a:ext>
            </a:extLst>
          </p:cNvPr>
          <p:cNvSpPr/>
          <p:nvPr/>
        </p:nvSpPr>
        <p:spPr>
          <a:xfrm>
            <a:off x="7309600" y="1661951"/>
            <a:ext cx="4272800" cy="2483835"/>
          </a:xfrm>
          <a:prstGeom prst="rect">
            <a:avLst/>
          </a:prstGeom>
          <a:solidFill>
            <a:srgbClr val="FFFFFF">
              <a:alpha val="12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50" name="Rectangle 147949">
            <a:extLst>
              <a:ext uri="{FF2B5EF4-FFF2-40B4-BE49-F238E27FC236}">
                <a16:creationId xmlns:a16="http://schemas.microsoft.com/office/drawing/2014/main" id="{E3B0B18F-6227-526C-62A4-82A9C8E4A14A}"/>
              </a:ext>
            </a:extLst>
          </p:cNvPr>
          <p:cNvSpPr/>
          <p:nvPr/>
        </p:nvSpPr>
        <p:spPr>
          <a:xfrm>
            <a:off x="7429600" y="1781951"/>
            <a:ext cx="4032800" cy="22438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75ECE"/>
                </a:solidFill>
                <a:effectLst/>
                <a:latin typeface="Segoe UI" panose="020B0502040204020203" pitchFamily="34" charset="0"/>
              </a:rPr>
              <a:t>VALIDATE</a:t>
            </a:r>
          </a:p>
          <a:p>
            <a:pPr algn="l">
              <a:buNone/>
            </a:pPr>
            <a:r>
              <a:rPr lang="en-US" sz="2000">
                <a:solidFill>
                  <a:srgbClr val="FFFFFF"/>
                </a:solidFill>
                <a:effectLst/>
                <a:latin typeface="Segoe UI" panose="020B0502040204020203" pitchFamily="34" charset="0"/>
              </a:rPr>
              <a:t>✓  Case is Decision Pending with calculated exposure</a:t>
            </a:r>
          </a:p>
          <a:p>
            <a:pPr algn="l">
              <a:buNone/>
            </a:pPr>
            <a:r>
              <a:rPr lang="en-US" sz="2000">
                <a:solidFill>
                  <a:srgbClr val="FFFFFF"/>
                </a:solidFill>
                <a:effectLst/>
                <a:latin typeface="Segoe UI" panose="020B0502040204020203" pitchFamily="34" charset="0"/>
              </a:rPr>
              <a:t>✓  Impacted orders link to source records</a:t>
            </a:r>
          </a:p>
          <a:p>
            <a:pPr algn="l">
              <a:buNone/>
            </a:pPr>
            <a:r>
              <a:rPr lang="en-US" sz="2000">
                <a:solidFill>
                  <a:srgbClr val="FFFFFF"/>
                </a:solidFill>
                <a:effectLst/>
                <a:latin typeface="Segoe UI" panose="020B0502040204020203" pitchFamily="34" charset="0"/>
              </a:rPr>
              <a:t>✓  One current Recovery Decision is Pending</a:t>
            </a:r>
            <a:endParaRPr lang="en-US"/>
          </a:p>
        </p:txBody>
      </p:sp>
      <p:sp>
        <p:nvSpPr>
          <p:cNvPr id="148003" name="Rectangle 148002">
            <a:extLst>
              <a:ext uri="{FF2B5EF4-FFF2-40B4-BE49-F238E27FC236}">
                <a16:creationId xmlns:a16="http://schemas.microsoft.com/office/drawing/2014/main" id="{4FB7AE21-3D4A-48CB-FEB0-54A8F2C777B8}"/>
              </a:ext>
            </a:extLst>
          </p:cNvPr>
          <p:cNvSpPr/>
          <p:nvPr/>
        </p:nvSpPr>
        <p:spPr>
          <a:xfrm>
            <a:off x="609600" y="5374896"/>
            <a:ext cx="10972800" cy="6375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57" name="Rectangle: Rounded Corners 148056">
            <a:extLst>
              <a:ext uri="{FF2B5EF4-FFF2-40B4-BE49-F238E27FC236}">
                <a16:creationId xmlns:a16="http://schemas.microsoft.com/office/drawing/2014/main" id="{8AFE0DE8-FAAB-3596-0CFF-E01B62C8AEF2}"/>
              </a:ext>
            </a:extLst>
          </p:cNvPr>
          <p:cNvSpPr/>
          <p:nvPr/>
        </p:nvSpPr>
        <p:spPr>
          <a:xfrm>
            <a:off x="759600" y="5523656"/>
            <a:ext cx="2192999"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NEXT · MODULE 4</a:t>
            </a:r>
          </a:p>
          <a:p>
            <a:pPr algn="ctr">
              <a:buNone/>
            </a:pPr>
            <a:r>
              <a:rPr lang="en-US" sz="100">
                <a:effectLst/>
              </a:rPr>
              <a:t> </a:t>
            </a:r>
            <a:endParaRPr lang="en-US"/>
          </a:p>
        </p:txBody>
      </p:sp>
      <p:sp>
        <p:nvSpPr>
          <p:cNvPr id="148112" name="Rectangle 148111">
            <a:extLst>
              <a:ext uri="{FF2B5EF4-FFF2-40B4-BE49-F238E27FC236}">
                <a16:creationId xmlns:a16="http://schemas.microsoft.com/office/drawing/2014/main" id="{7BC585DA-878F-7057-853F-A4BF4220A5E3}"/>
              </a:ext>
            </a:extLst>
          </p:cNvPr>
          <p:cNvSpPr/>
          <p:nvPr/>
        </p:nvSpPr>
        <p:spPr>
          <a:xfrm>
            <a:off x="3102599" y="5454896"/>
            <a:ext cx="8329801"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Module 4 adds agents that apply policy and bring a human into the loop</a:t>
            </a:r>
          </a:p>
          <a:p>
            <a:pPr algn="l">
              <a:buNone/>
            </a:pPr>
            <a:r>
              <a:rPr lang="en-US" sz="100">
                <a:effectLst/>
              </a:rPr>
              <a:t> </a:t>
            </a:r>
            <a:endParaRPr lang="en-US"/>
          </a:p>
        </p:txBody>
      </p:sp>
    </p:spTree>
    <p:extLst>
      <p:ext uri="{BB962C8B-B14F-4D97-AF65-F5344CB8AC3E}">
        <p14:creationId xmlns:p14="http://schemas.microsoft.com/office/powerpoint/2010/main" val="2645120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19101" name="Rectangle: Rounded Corners 219100">
            <a:extLst>
              <a:ext uri="{FF2B5EF4-FFF2-40B4-BE49-F238E27FC236}">
                <a16:creationId xmlns:a16="http://schemas.microsoft.com/office/drawing/2014/main" id="{85872059-6B38-50BD-953C-9C3BFF94B205}"/>
              </a:ext>
            </a:extLst>
          </p:cNvPr>
          <p:cNvSpPr/>
          <p:nvPr/>
        </p:nvSpPr>
        <p:spPr>
          <a:xfrm>
            <a:off x="609600" y="400000"/>
            <a:ext cx="1647295"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TRANSITION</a:t>
            </a:r>
          </a:p>
          <a:p>
            <a:pPr algn="ctr">
              <a:buNone/>
            </a:pPr>
            <a:r>
              <a:rPr lang="en-US" sz="100">
                <a:effectLst/>
              </a:rPr>
              <a:t> </a:t>
            </a:r>
            <a:endParaRPr lang="en-US"/>
          </a:p>
        </p:txBody>
      </p:sp>
      <p:sp>
        <p:nvSpPr>
          <p:cNvPr id="219107" name="Rectangle 219106">
            <a:extLst>
              <a:ext uri="{FF2B5EF4-FFF2-40B4-BE49-F238E27FC236}">
                <a16:creationId xmlns:a16="http://schemas.microsoft.com/office/drawing/2014/main" id="{68A754E0-3535-8B33-8D4D-8D428E85C503}"/>
              </a:ext>
            </a:extLst>
          </p:cNvPr>
          <p:cNvSpPr/>
          <p:nvPr/>
        </p:nvSpPr>
        <p:spPr>
          <a:xfrm>
            <a:off x="609600" y="1450000"/>
            <a:ext cx="1097280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7200" b="1">
                <a:solidFill>
                  <a:srgbClr val="FFFFFF"/>
                </a:solidFill>
                <a:effectLst/>
                <a:latin typeface="Segoe UI" panose="020B0502040204020203" pitchFamily="34" charset="0"/>
              </a:rPr>
              <a:t>Lunch</a:t>
            </a:r>
          </a:p>
          <a:p>
            <a:pPr algn="ctr">
              <a:buNone/>
            </a:pPr>
            <a:r>
              <a:rPr lang="en-US" sz="100">
                <a:effectLst/>
              </a:rPr>
              <a:t> </a:t>
            </a:r>
            <a:endParaRPr lang="en-US"/>
          </a:p>
        </p:txBody>
      </p:sp>
      <p:sp>
        <p:nvSpPr>
          <p:cNvPr id="219114" name="Rectangle 219113">
            <a:extLst>
              <a:ext uri="{FF2B5EF4-FFF2-40B4-BE49-F238E27FC236}">
                <a16:creationId xmlns:a16="http://schemas.microsoft.com/office/drawing/2014/main" id="{B1ADBCD6-E4B5-A3D5-71FD-3CE350447DF7}"/>
              </a:ext>
            </a:extLst>
          </p:cNvPr>
          <p:cNvSpPr/>
          <p:nvPr/>
        </p:nvSpPr>
        <p:spPr>
          <a:xfrm>
            <a:off x="609600" y="3081328"/>
            <a:ext cx="109728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300">
                <a:solidFill>
                  <a:srgbClr val="D6D2E8"/>
                </a:solidFill>
                <a:effectLst/>
                <a:latin typeface="Segoe UI" panose="020B0502040204020203" pitchFamily="34" charset="0"/>
              </a:rPr>
              <a:t>UP NEXT</a:t>
            </a:r>
          </a:p>
          <a:p>
            <a:pPr algn="ctr">
              <a:buNone/>
            </a:pPr>
            <a:r>
              <a:rPr lang="en-US" sz="100">
                <a:effectLst/>
              </a:rPr>
              <a:t> </a:t>
            </a:r>
            <a:endParaRPr lang="en-US"/>
          </a:p>
        </p:txBody>
      </p:sp>
      <p:sp>
        <p:nvSpPr>
          <p:cNvPr id="219122" name="Rectangle: Rounded Corners 219121">
            <a:extLst>
              <a:ext uri="{FF2B5EF4-FFF2-40B4-BE49-F238E27FC236}">
                <a16:creationId xmlns:a16="http://schemas.microsoft.com/office/drawing/2014/main" id="{5523191B-C6F6-123B-B05A-2C63BD33F99E}"/>
              </a:ext>
            </a:extLst>
          </p:cNvPr>
          <p:cNvSpPr/>
          <p:nvPr/>
        </p:nvSpPr>
        <p:spPr>
          <a:xfrm>
            <a:off x="659600" y="3680240"/>
            <a:ext cx="1573719" cy="40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219131" name="Rectangle 219130">
            <a:extLst>
              <a:ext uri="{FF2B5EF4-FFF2-40B4-BE49-F238E27FC236}">
                <a16:creationId xmlns:a16="http://schemas.microsoft.com/office/drawing/2014/main" id="{76F8E103-4A54-AB84-E36E-AD106501E304}"/>
              </a:ext>
            </a:extLst>
          </p:cNvPr>
          <p:cNvSpPr/>
          <p:nvPr/>
        </p:nvSpPr>
        <p:spPr>
          <a:xfrm>
            <a:off x="2433319" y="3564265"/>
            <a:ext cx="9099081"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Policy, bounded reasoning, and human supervision</a:t>
            </a:r>
          </a:p>
          <a:p>
            <a:pPr algn="l">
              <a:buNone/>
            </a:pPr>
            <a:r>
              <a:rPr lang="en-US" sz="100">
                <a:effectLst/>
              </a:rPr>
              <a:t> </a:t>
            </a:r>
            <a:endParaRPr lang="en-US"/>
          </a:p>
        </p:txBody>
      </p:sp>
      <p:sp>
        <p:nvSpPr>
          <p:cNvPr id="219141" name="Arrow: Pentagon 219140">
            <a:extLst>
              <a:ext uri="{FF2B5EF4-FFF2-40B4-BE49-F238E27FC236}">
                <a16:creationId xmlns:a16="http://schemas.microsoft.com/office/drawing/2014/main" id="{78C69AC2-FFEC-A117-4DA3-9B181D2E48F4}"/>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219152" name="Arrow: Chevron 219151">
            <a:extLst>
              <a:ext uri="{FF2B5EF4-FFF2-40B4-BE49-F238E27FC236}">
                <a16:creationId xmlns:a16="http://schemas.microsoft.com/office/drawing/2014/main" id="{71BADA70-2BB0-C145-E884-ED85EC9903BA}"/>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219164" name="Arrow: Chevron 219163">
            <a:extLst>
              <a:ext uri="{FF2B5EF4-FFF2-40B4-BE49-F238E27FC236}">
                <a16:creationId xmlns:a16="http://schemas.microsoft.com/office/drawing/2014/main" id="{DBA2B198-EDAC-9086-416D-90D5187FF3A0}"/>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219177" name="Arrow: Chevron 219176">
            <a:extLst>
              <a:ext uri="{FF2B5EF4-FFF2-40B4-BE49-F238E27FC236}">
                <a16:creationId xmlns:a16="http://schemas.microsoft.com/office/drawing/2014/main" id="{EF338561-ECD7-BF08-A287-3C802214BC5A}"/>
              </a:ext>
            </a:extLst>
          </p:cNvPr>
          <p:cNvSpPr/>
          <p:nvPr/>
        </p:nvSpPr>
        <p:spPr>
          <a:xfrm>
            <a:off x="6036000" y="5250000"/>
            <a:ext cx="1928800" cy="600000"/>
          </a:xfrm>
          <a:prstGeom prst="chevron">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219191" name="Arrow: Chevron 219190">
            <a:extLst>
              <a:ext uri="{FF2B5EF4-FFF2-40B4-BE49-F238E27FC236}">
                <a16:creationId xmlns:a16="http://schemas.microsoft.com/office/drawing/2014/main" id="{30D0BBAE-963E-CF8E-6FBD-656A43A4D663}"/>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219206" name="Arrow: Chevron 219205">
            <a:extLst>
              <a:ext uri="{FF2B5EF4-FFF2-40B4-BE49-F238E27FC236}">
                <a16:creationId xmlns:a16="http://schemas.microsoft.com/office/drawing/2014/main" id="{83692EC6-CAC1-4A6F-731E-8F49760B4717}"/>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2639782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6F9B62-EC5D-74E7-16F4-A0BD42976983}"/>
              </a:ext>
            </a:extLst>
          </p:cNvPr>
          <p:cNvSpPr>
            <a:spLocks noGrp="1"/>
          </p:cNvSpPr>
          <p:nvPr>
            <p:ph type="body" sz="quarter" idx="11"/>
          </p:nvPr>
        </p:nvSpPr>
        <p:spPr/>
        <p:txBody>
          <a:bodyPr/>
          <a:lstStyle/>
          <a:p>
            <a:endParaRPr lang="en-US"/>
          </a:p>
        </p:txBody>
      </p:sp>
      <p:sp>
        <p:nvSpPr>
          <p:cNvPr id="20" name="Title 2">
            <a:extLst>
              <a:ext uri="{FF2B5EF4-FFF2-40B4-BE49-F238E27FC236}">
                <a16:creationId xmlns:a16="http://schemas.microsoft.com/office/drawing/2014/main" id="{3384450E-D533-8328-A694-D891CE24AADE}"/>
              </a:ext>
            </a:extLst>
          </p:cNvPr>
          <p:cNvSpPr>
            <a:spLocks noGrp="1"/>
          </p:cNvSpPr>
          <p:nvPr>
            <p:ph type="title" idx="4294967295"/>
          </p:nvPr>
        </p:nvSpPr>
        <p:spPr>
          <a:xfrm>
            <a:off x="1676400" y="365125"/>
            <a:ext cx="10515600" cy="4030412"/>
          </a:xfrm>
          <a:prstGeom prst="rect">
            <a:avLst/>
          </a:prstGeom>
        </p:spPr>
        <p:txBody>
          <a:bodyPr anchor="ctr">
            <a:normAutofit/>
          </a:bodyPr>
          <a:lstStyle/>
          <a:p>
            <a:r>
              <a:rPr lang="en-US" sz="4800"/>
              <a:t>Special Guest…</a:t>
            </a:r>
            <a:br>
              <a:rPr lang="en-US" sz="4800"/>
            </a:br>
            <a:br>
              <a:rPr lang="en-US" sz="4800"/>
            </a:br>
            <a:br>
              <a:rPr lang="en-US" sz="4800"/>
            </a:br>
            <a:r>
              <a:rPr lang="en-US" sz="4800"/>
              <a:t>Saurabh Pant</a:t>
            </a:r>
          </a:p>
        </p:txBody>
      </p:sp>
    </p:spTree>
    <p:extLst>
      <p:ext uri="{BB962C8B-B14F-4D97-AF65-F5344CB8AC3E}">
        <p14:creationId xmlns:p14="http://schemas.microsoft.com/office/powerpoint/2010/main" val="1057363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D2322-3EA4-25FE-F7F6-7C3BDA7E68C4}"/>
              </a:ext>
            </a:extLst>
          </p:cNvPr>
          <p:cNvSpPr>
            <a:spLocks noGrp="1"/>
          </p:cNvSpPr>
          <p:nvPr>
            <p:ph type="body" sz="quarter" idx="11"/>
          </p:nvPr>
        </p:nvSpPr>
        <p:spPr/>
        <p:txBody>
          <a:bodyPr/>
          <a:lstStyle/>
          <a:p>
            <a:endParaRPr lang="en-US"/>
          </a:p>
        </p:txBody>
      </p:sp>
      <p:pic>
        <p:nvPicPr>
          <p:cNvPr id="3" name="Picture 2">
            <a:extLst>
              <a:ext uri="{FF2B5EF4-FFF2-40B4-BE49-F238E27FC236}">
                <a16:creationId xmlns:a16="http://schemas.microsoft.com/office/drawing/2014/main" id="{8C53B5AE-7C90-2B73-1B6A-27AAC2F00A3E}"/>
              </a:ext>
            </a:extLst>
          </p:cNvPr>
          <p:cNvPicPr>
            <a:picLocks noChangeAspect="1"/>
          </p:cNvPicPr>
          <p:nvPr/>
        </p:nvPicPr>
        <p:blipFill>
          <a:blip r:embed="rId2"/>
          <a:srcRect b="33599"/>
          <a:stretch>
            <a:fillRect/>
          </a:stretch>
        </p:blipFill>
        <p:spPr>
          <a:xfrm>
            <a:off x="165460" y="118684"/>
            <a:ext cx="6608040" cy="6581707"/>
          </a:xfrm>
          <a:prstGeom prst="rect">
            <a:avLst/>
          </a:prstGeom>
        </p:spPr>
      </p:pic>
      <p:pic>
        <p:nvPicPr>
          <p:cNvPr id="5" name="Picture 4">
            <a:extLst>
              <a:ext uri="{FF2B5EF4-FFF2-40B4-BE49-F238E27FC236}">
                <a16:creationId xmlns:a16="http://schemas.microsoft.com/office/drawing/2014/main" id="{B019EF23-22C8-FBD6-FA2E-991F4F4491D6}"/>
              </a:ext>
            </a:extLst>
          </p:cNvPr>
          <p:cNvPicPr>
            <a:picLocks noChangeAspect="1"/>
          </p:cNvPicPr>
          <p:nvPr/>
        </p:nvPicPr>
        <p:blipFill>
          <a:blip r:embed="rId2"/>
          <a:srcRect l="2754" t="66257"/>
          <a:stretch>
            <a:fillRect/>
          </a:stretch>
        </p:blipFill>
        <p:spPr>
          <a:xfrm>
            <a:off x="6859225" y="2589975"/>
            <a:ext cx="7897477" cy="4110416"/>
          </a:xfrm>
          <a:prstGeom prst="rect">
            <a:avLst/>
          </a:prstGeom>
        </p:spPr>
      </p:pic>
    </p:spTree>
    <p:extLst>
      <p:ext uri="{BB962C8B-B14F-4D97-AF65-F5344CB8AC3E}">
        <p14:creationId xmlns:p14="http://schemas.microsoft.com/office/powerpoint/2010/main" val="800256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8850" name="Rectangle: Rounded Corners 148849">
            <a:extLst>
              <a:ext uri="{FF2B5EF4-FFF2-40B4-BE49-F238E27FC236}">
                <a16:creationId xmlns:a16="http://schemas.microsoft.com/office/drawing/2014/main" id="{6A36AA43-B458-9AFD-36BF-C86854E32CB8}"/>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48918" name="Rectangle 148917">
            <a:extLst>
              <a:ext uri="{FF2B5EF4-FFF2-40B4-BE49-F238E27FC236}">
                <a16:creationId xmlns:a16="http://schemas.microsoft.com/office/drawing/2014/main" id="{45F4B655-858E-223F-255D-3EB1137704AA}"/>
              </a:ext>
            </a:extLst>
          </p:cNvPr>
          <p:cNvSpPr/>
          <p:nvPr/>
        </p:nvSpPr>
        <p:spPr>
          <a:xfrm>
            <a:off x="609600" y="1500000"/>
            <a:ext cx="2600000" cy="2600000"/>
          </a:xfrm>
          <a:prstGeom prst="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0" b="1">
                <a:solidFill>
                  <a:srgbClr val="0B1020"/>
                </a:solidFill>
                <a:effectLst/>
                <a:latin typeface="Segoe UI" panose="020B0502040204020203" pitchFamily="34" charset="0"/>
              </a:rPr>
              <a:t>4</a:t>
            </a:r>
          </a:p>
          <a:p>
            <a:pPr algn="ctr">
              <a:buNone/>
            </a:pPr>
            <a:r>
              <a:rPr lang="en-US" sz="100">
                <a:effectLst/>
              </a:rPr>
              <a:t> </a:t>
            </a:r>
            <a:endParaRPr lang="en-US"/>
          </a:p>
        </p:txBody>
      </p:sp>
      <p:sp>
        <p:nvSpPr>
          <p:cNvPr id="148987" name="Rectangle 148986">
            <a:extLst>
              <a:ext uri="{FF2B5EF4-FFF2-40B4-BE49-F238E27FC236}">
                <a16:creationId xmlns:a16="http://schemas.microsoft.com/office/drawing/2014/main" id="{6BFF609E-24AC-C186-967F-DE9C1226DB26}"/>
              </a:ext>
            </a:extLst>
          </p:cNvPr>
          <p:cNvSpPr/>
          <p:nvPr/>
        </p:nvSpPr>
        <p:spPr>
          <a:xfrm>
            <a:off x="3659600" y="1224680"/>
            <a:ext cx="792280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300">
                <a:solidFill>
                  <a:srgbClr val="B2AAF8"/>
                </a:solidFill>
                <a:effectLst/>
                <a:latin typeface="Segoe UI" panose="020B0502040204020203" pitchFamily="34" charset="0"/>
              </a:rPr>
              <a:t>MODULE 4</a:t>
            </a:r>
          </a:p>
          <a:p>
            <a:pPr algn="l">
              <a:buNone/>
            </a:pPr>
            <a:r>
              <a:rPr lang="en-US" sz="100">
                <a:effectLst/>
              </a:rPr>
              <a:t> </a:t>
            </a:r>
            <a:endParaRPr lang="en-US"/>
          </a:p>
        </p:txBody>
      </p:sp>
      <p:sp>
        <p:nvSpPr>
          <p:cNvPr id="149057" name="Rectangle 149056">
            <a:extLst>
              <a:ext uri="{FF2B5EF4-FFF2-40B4-BE49-F238E27FC236}">
                <a16:creationId xmlns:a16="http://schemas.microsoft.com/office/drawing/2014/main" id="{EE7450CD-8B94-F317-C2B5-AA0E45E7D3EB}"/>
              </a:ext>
            </a:extLst>
          </p:cNvPr>
          <p:cNvSpPr/>
          <p:nvPr/>
        </p:nvSpPr>
        <p:spPr>
          <a:xfrm>
            <a:off x="3659600" y="1702200"/>
            <a:ext cx="7922800" cy="2103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a:solidFill>
                  <a:srgbClr val="FFFFFF"/>
                </a:solidFill>
                <a:latin typeface="Segoe UI" panose="020B0502040204020203" pitchFamily="34" charset="0"/>
              </a:rPr>
              <a:t>Setup policy-driven agents that escalate to humans</a:t>
            </a:r>
            <a:r>
              <a:rPr lang="en-US" sz="400"/>
              <a:t> </a:t>
            </a:r>
            <a:r>
              <a:rPr lang="en-US" sz="100">
                <a:effectLst/>
              </a:rPr>
              <a:t> </a:t>
            </a:r>
            <a:endParaRPr lang="en-US"/>
          </a:p>
        </p:txBody>
      </p:sp>
      <p:sp>
        <p:nvSpPr>
          <p:cNvPr id="149128" name="Rectangle: Rounded Corners 149127">
            <a:extLst>
              <a:ext uri="{FF2B5EF4-FFF2-40B4-BE49-F238E27FC236}">
                <a16:creationId xmlns:a16="http://schemas.microsoft.com/office/drawing/2014/main" id="{F1000ADD-A19D-5FAC-5214-B9F8CFB82DBE}"/>
              </a:ext>
            </a:extLst>
          </p:cNvPr>
          <p:cNvSpPr/>
          <p:nvPr/>
        </p:nvSpPr>
        <p:spPr>
          <a:xfrm>
            <a:off x="3751040" y="3955320"/>
            <a:ext cx="1143451" cy="420000"/>
          </a:xfrm>
          <a:prstGeom prst="roundRect">
            <a:avLst/>
          </a:prstGeom>
          <a:solidFill>
            <a:srgbClr val="B2AAF8">
              <a:alpha val="22000"/>
            </a:srgbClr>
          </a:solidFill>
          <a:ln w="1270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50">
                <a:solidFill>
                  <a:srgbClr val="FFFFFF"/>
                </a:solidFill>
                <a:effectLst/>
                <a:latin typeface="Segoe UI" panose="020B0502040204020203" pitchFamily="34" charset="0"/>
              </a:rPr>
              <a:t>60 min</a:t>
            </a:r>
          </a:p>
          <a:p>
            <a:pPr algn="ctr">
              <a:buNone/>
            </a:pPr>
            <a:r>
              <a:rPr lang="en-US" sz="100">
                <a:effectLst/>
              </a:rPr>
              <a:t> </a:t>
            </a:r>
            <a:endParaRPr lang="en-US"/>
          </a:p>
        </p:txBody>
      </p:sp>
      <p:sp>
        <p:nvSpPr>
          <p:cNvPr id="149200" name="Arrow: Pentagon 149199">
            <a:extLst>
              <a:ext uri="{FF2B5EF4-FFF2-40B4-BE49-F238E27FC236}">
                <a16:creationId xmlns:a16="http://schemas.microsoft.com/office/drawing/2014/main" id="{49DD9F8F-F7D0-2960-7000-1E4DDED35881}"/>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149273" name="Arrow: Chevron 149272">
            <a:extLst>
              <a:ext uri="{FF2B5EF4-FFF2-40B4-BE49-F238E27FC236}">
                <a16:creationId xmlns:a16="http://schemas.microsoft.com/office/drawing/2014/main" id="{C894BD35-245B-477C-5125-06B04CDC3A2B}"/>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149347" name="Arrow: Chevron 149346">
            <a:extLst>
              <a:ext uri="{FF2B5EF4-FFF2-40B4-BE49-F238E27FC236}">
                <a16:creationId xmlns:a16="http://schemas.microsoft.com/office/drawing/2014/main" id="{B2596695-EB40-D6DF-5A6A-73A1CB82AAA4}"/>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149422" name="Arrow: Chevron 149421">
            <a:extLst>
              <a:ext uri="{FF2B5EF4-FFF2-40B4-BE49-F238E27FC236}">
                <a16:creationId xmlns:a16="http://schemas.microsoft.com/office/drawing/2014/main" id="{2FDA89CF-A957-BF99-BF5D-E6AA573A8670}"/>
              </a:ext>
            </a:extLst>
          </p:cNvPr>
          <p:cNvSpPr/>
          <p:nvPr/>
        </p:nvSpPr>
        <p:spPr>
          <a:xfrm>
            <a:off x="6036000" y="5250000"/>
            <a:ext cx="1928800" cy="600000"/>
          </a:xfrm>
          <a:prstGeom prst="chevron">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149498" name="Arrow: Chevron 149497">
            <a:extLst>
              <a:ext uri="{FF2B5EF4-FFF2-40B4-BE49-F238E27FC236}">
                <a16:creationId xmlns:a16="http://schemas.microsoft.com/office/drawing/2014/main" id="{E5A3F319-B327-849C-6F30-56E76610669C}"/>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149575" name="Arrow: Chevron 149574">
            <a:extLst>
              <a:ext uri="{FF2B5EF4-FFF2-40B4-BE49-F238E27FC236}">
                <a16:creationId xmlns:a16="http://schemas.microsoft.com/office/drawing/2014/main" id="{63706CC3-FCB7-D21E-63B0-4C485B89D8A3}"/>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1145751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49653" name="Rectangle: Rounded Corners 149652">
            <a:extLst>
              <a:ext uri="{FF2B5EF4-FFF2-40B4-BE49-F238E27FC236}">
                <a16:creationId xmlns:a16="http://schemas.microsoft.com/office/drawing/2014/main" id="{17F101DE-3553-B959-5833-383835EB80A6}"/>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49732" name="Rectangle 149731">
            <a:extLst>
              <a:ext uri="{FF2B5EF4-FFF2-40B4-BE49-F238E27FC236}">
                <a16:creationId xmlns:a16="http://schemas.microsoft.com/office/drawing/2014/main" id="{17AE2671-C47F-FF49-AB17-D636EF4E3753}"/>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Add agent-driven decision support with a human in the loop</a:t>
            </a:r>
          </a:p>
          <a:p>
            <a:pPr algn="l">
              <a:buNone/>
            </a:pPr>
            <a:r>
              <a:rPr lang="en-US" sz="100">
                <a:effectLst/>
              </a:rPr>
              <a:t> </a:t>
            </a:r>
            <a:endParaRPr lang="en-US"/>
          </a:p>
        </p:txBody>
      </p:sp>
      <p:sp>
        <p:nvSpPr>
          <p:cNvPr id="149812" name="Rectangle 149811">
            <a:extLst>
              <a:ext uri="{FF2B5EF4-FFF2-40B4-BE49-F238E27FC236}">
                <a16:creationId xmlns:a16="http://schemas.microsoft.com/office/drawing/2014/main" id="{7A76FBEC-4B82-A8D5-90DB-4574365DC207}"/>
              </a:ext>
            </a:extLst>
          </p:cNvPr>
          <p:cNvSpPr/>
          <p:nvPr/>
        </p:nvSpPr>
        <p:spPr>
          <a:xfrm>
            <a:off x="609600" y="1661951"/>
            <a:ext cx="6500000" cy="141477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WHAT YOU WILL BUILD</a:t>
            </a:r>
          </a:p>
          <a:p>
            <a:pPr algn="l">
              <a:buNone/>
            </a:pPr>
            <a:r>
              <a:rPr lang="en-US" sz="2200">
                <a:solidFill>
                  <a:srgbClr val="FFFFFF"/>
                </a:solidFill>
                <a:effectLst/>
                <a:latin typeface="Segoe UI" panose="020B0502040204020203" pitchFamily="34" charset="0"/>
              </a:rPr>
              <a:t>A Business Skill and two Copilot Studio agents — Disruption Commander and Disruption Approval Handoff Agent</a:t>
            </a:r>
            <a:endParaRPr lang="en-US"/>
          </a:p>
        </p:txBody>
      </p:sp>
      <p:sp>
        <p:nvSpPr>
          <p:cNvPr id="149893" name="Rectangle 149892">
            <a:extLst>
              <a:ext uri="{FF2B5EF4-FFF2-40B4-BE49-F238E27FC236}">
                <a16:creationId xmlns:a16="http://schemas.microsoft.com/office/drawing/2014/main" id="{9738F1DD-ADEF-A98A-664C-94BFE2A6AA64}"/>
              </a:ext>
            </a:extLst>
          </p:cNvPr>
          <p:cNvSpPr/>
          <p:nvPr/>
        </p:nvSpPr>
        <p:spPr>
          <a:xfrm>
            <a:off x="609600" y="3296730"/>
            <a:ext cx="6500000" cy="141477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BUSINESS OUTCOME</a:t>
            </a:r>
          </a:p>
          <a:p>
            <a:pPr algn="l">
              <a:buNone/>
            </a:pPr>
            <a:r>
              <a:rPr lang="en-US" sz="2200">
                <a:solidFill>
                  <a:srgbClr val="FFFFFF"/>
                </a:solidFill>
                <a:effectLst/>
                <a:latin typeface="Segoe UI" panose="020B0502040204020203" pitchFamily="34" charset="0"/>
              </a:rPr>
              <a:t>Policy is applied consistently, explained clearly, and every decision goes to a person through Agent feed</a:t>
            </a:r>
            <a:endParaRPr lang="en-US"/>
          </a:p>
        </p:txBody>
      </p:sp>
      <p:sp>
        <p:nvSpPr>
          <p:cNvPr id="149975" name="Rectangle 149974">
            <a:extLst>
              <a:ext uri="{FF2B5EF4-FFF2-40B4-BE49-F238E27FC236}">
                <a16:creationId xmlns:a16="http://schemas.microsoft.com/office/drawing/2014/main" id="{ED5B0780-07DF-FFCF-3AFF-36BD6B4D7554}"/>
              </a:ext>
            </a:extLst>
          </p:cNvPr>
          <p:cNvSpPr/>
          <p:nvPr/>
        </p:nvSpPr>
        <p:spPr>
          <a:xfrm>
            <a:off x="7489600" y="1661951"/>
            <a:ext cx="4092800" cy="1357731"/>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058" name="Rectangle 150057">
            <a:extLst>
              <a:ext uri="{FF2B5EF4-FFF2-40B4-BE49-F238E27FC236}">
                <a16:creationId xmlns:a16="http://schemas.microsoft.com/office/drawing/2014/main" id="{5EADC339-70D3-F262-14E9-3EBA44C49D4A}"/>
              </a:ext>
            </a:extLst>
          </p:cNvPr>
          <p:cNvSpPr/>
          <p:nvPr/>
        </p:nvSpPr>
        <p:spPr>
          <a:xfrm>
            <a:off x="7589600" y="1761951"/>
            <a:ext cx="3892800" cy="11577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DURATION</a:t>
            </a:r>
          </a:p>
          <a:p>
            <a:pPr algn="l">
              <a:buNone/>
            </a:pPr>
            <a:r>
              <a:rPr lang="en-US" sz="4400" b="1">
                <a:solidFill>
                  <a:srgbClr val="FFFFFF"/>
                </a:solidFill>
                <a:effectLst/>
                <a:latin typeface="Segoe UI" panose="020B0502040204020203" pitchFamily="34" charset="0"/>
              </a:rPr>
              <a:t>60 min</a:t>
            </a:r>
            <a:endParaRPr lang="en-US"/>
          </a:p>
        </p:txBody>
      </p:sp>
      <p:sp>
        <p:nvSpPr>
          <p:cNvPr id="150142" name="Rectangle 150141">
            <a:extLst>
              <a:ext uri="{FF2B5EF4-FFF2-40B4-BE49-F238E27FC236}">
                <a16:creationId xmlns:a16="http://schemas.microsoft.com/office/drawing/2014/main" id="{D0257CBC-EAB9-EA89-DBAB-23E106C0C0E5}"/>
              </a:ext>
            </a:extLst>
          </p:cNvPr>
          <p:cNvSpPr/>
          <p:nvPr/>
        </p:nvSpPr>
        <p:spPr>
          <a:xfrm>
            <a:off x="7489600" y="3199682"/>
            <a:ext cx="4092800" cy="131419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WHERE IT FITS</a:t>
            </a:r>
          </a:p>
          <a:p>
            <a:pPr algn="l">
              <a:buNone/>
            </a:pPr>
            <a:r>
              <a:rPr lang="en-US" sz="2000">
                <a:solidFill>
                  <a:srgbClr val="FFFFFF"/>
                </a:solidFill>
                <a:effectLst/>
                <a:latin typeface="Segoe UI" panose="020B0502040204020203" pitchFamily="34" charset="0"/>
              </a:rPr>
              <a:t>Turns the Pending decision from Module 3 into a supervised review task</a:t>
            </a:r>
            <a:endParaRPr lang="en-US"/>
          </a:p>
        </p:txBody>
      </p:sp>
      <p:sp>
        <p:nvSpPr>
          <p:cNvPr id="150227" name="Rectangle 150226">
            <a:extLst>
              <a:ext uri="{FF2B5EF4-FFF2-40B4-BE49-F238E27FC236}">
                <a16:creationId xmlns:a16="http://schemas.microsoft.com/office/drawing/2014/main" id="{6116E991-D368-22DF-642F-7A1107937E3B}"/>
              </a:ext>
            </a:extLst>
          </p:cNvPr>
          <p:cNvSpPr/>
          <p:nvPr/>
        </p:nvSpPr>
        <p:spPr>
          <a:xfrm>
            <a:off x="609600" y="5011509"/>
            <a:ext cx="5076400" cy="1204315"/>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313" name="Rectangle 150312">
            <a:extLst>
              <a:ext uri="{FF2B5EF4-FFF2-40B4-BE49-F238E27FC236}">
                <a16:creationId xmlns:a16="http://schemas.microsoft.com/office/drawing/2014/main" id="{9193E47B-A8A2-8155-F872-179019669F88}"/>
              </a:ext>
            </a:extLst>
          </p:cNvPr>
          <p:cNvSpPr/>
          <p:nvPr/>
        </p:nvSpPr>
        <p:spPr>
          <a:xfrm>
            <a:off x="709600" y="5111509"/>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D6D2E8"/>
                </a:solidFill>
                <a:effectLst/>
                <a:latin typeface="Segoe UI" panose="020B0502040204020203" pitchFamily="34" charset="0"/>
              </a:rPr>
              <a:t>FROM</a:t>
            </a:r>
          </a:p>
          <a:p>
            <a:pPr algn="l">
              <a:buNone/>
            </a:pPr>
            <a:r>
              <a:rPr lang="en-US" sz="2000">
                <a:solidFill>
                  <a:srgbClr val="FFFFFF"/>
                </a:solidFill>
                <a:effectLst/>
                <a:latin typeface="Segoe UI" panose="020B0502040204020203" pitchFamily="34" charset="0"/>
              </a:rPr>
              <a:t>Automation that prepares facts </a:t>
            </a:r>
            <a:br>
              <a:rPr lang="en-US" sz="2000">
                <a:solidFill>
                  <a:srgbClr val="FFFFFF"/>
                </a:solidFill>
                <a:effectLst/>
                <a:latin typeface="Segoe UI" panose="020B0502040204020203" pitchFamily="34" charset="0"/>
              </a:rPr>
            </a:br>
            <a:r>
              <a:rPr lang="en-US" sz="2000">
                <a:solidFill>
                  <a:srgbClr val="FFFFFF"/>
                </a:solidFill>
                <a:effectLst/>
                <a:latin typeface="Segoe UI" panose="020B0502040204020203" pitchFamily="34" charset="0"/>
              </a:rPr>
              <a:t>(Module 3)</a:t>
            </a:r>
            <a:endParaRPr lang="en-US"/>
          </a:p>
        </p:txBody>
      </p:sp>
      <p:sp>
        <p:nvSpPr>
          <p:cNvPr id="150400" name="Arrow: Right 150399">
            <a:extLst>
              <a:ext uri="{FF2B5EF4-FFF2-40B4-BE49-F238E27FC236}">
                <a16:creationId xmlns:a16="http://schemas.microsoft.com/office/drawing/2014/main" id="{E0C00EAE-A8F8-C373-0343-81AA84ADFEE1}"/>
              </a:ext>
            </a:extLst>
          </p:cNvPr>
          <p:cNvSpPr/>
          <p:nvPr/>
        </p:nvSpPr>
        <p:spPr>
          <a:xfrm>
            <a:off x="5836000" y="5413666"/>
            <a:ext cx="520000" cy="400000"/>
          </a:xfrm>
          <a:prstGeom prst="rightArrow">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488" name="Rectangle 150487">
            <a:extLst>
              <a:ext uri="{FF2B5EF4-FFF2-40B4-BE49-F238E27FC236}">
                <a16:creationId xmlns:a16="http://schemas.microsoft.com/office/drawing/2014/main" id="{20D836BF-8228-CE51-D1D2-80C2AD4C3238}"/>
              </a:ext>
            </a:extLst>
          </p:cNvPr>
          <p:cNvSpPr/>
          <p:nvPr/>
        </p:nvSpPr>
        <p:spPr>
          <a:xfrm>
            <a:off x="6506000" y="5011509"/>
            <a:ext cx="5076400" cy="1204315"/>
          </a:xfrm>
          <a:prstGeom prst="rect">
            <a:avLst/>
          </a:prstGeom>
          <a:solidFill>
            <a:srgbClr val="FFFFFF">
              <a:alpha val="7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577" name="Rectangle 150576">
            <a:extLst>
              <a:ext uri="{FF2B5EF4-FFF2-40B4-BE49-F238E27FC236}">
                <a16:creationId xmlns:a16="http://schemas.microsoft.com/office/drawing/2014/main" id="{6EDFBDF3-FB11-1F86-F523-CDE96B80440F}"/>
              </a:ext>
            </a:extLst>
          </p:cNvPr>
          <p:cNvSpPr/>
          <p:nvPr/>
        </p:nvSpPr>
        <p:spPr>
          <a:xfrm>
            <a:off x="6606000" y="5111509"/>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TO</a:t>
            </a:r>
          </a:p>
          <a:p>
            <a:pPr algn="l">
              <a:buNone/>
            </a:pPr>
            <a:r>
              <a:rPr lang="en-US" sz="2000">
                <a:solidFill>
                  <a:srgbClr val="FFFFFF"/>
                </a:solidFill>
                <a:effectLst/>
                <a:latin typeface="Segoe UI" panose="020B0502040204020203" pitchFamily="34" charset="0"/>
              </a:rPr>
              <a:t>Agents that reason over them, </a:t>
            </a:r>
            <a:br>
              <a:rPr lang="en-US" sz="2000">
                <a:solidFill>
                  <a:srgbClr val="FFFFFF"/>
                </a:solidFill>
                <a:effectLst/>
                <a:latin typeface="Segoe UI" panose="020B0502040204020203" pitchFamily="34" charset="0"/>
              </a:rPr>
            </a:br>
            <a:r>
              <a:rPr lang="en-US" sz="2000">
                <a:solidFill>
                  <a:srgbClr val="FFFFFF"/>
                </a:solidFill>
                <a:effectLst/>
                <a:latin typeface="Segoe UI" panose="020B0502040204020203" pitchFamily="34" charset="0"/>
              </a:rPr>
              <a:t>within limits to aide in human decision </a:t>
            </a:r>
            <a:endParaRPr lang="en-US"/>
          </a:p>
        </p:txBody>
      </p:sp>
    </p:spTree>
    <p:extLst>
      <p:ext uri="{BB962C8B-B14F-4D97-AF65-F5344CB8AC3E}">
        <p14:creationId xmlns:p14="http://schemas.microsoft.com/office/powerpoint/2010/main" val="12895318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50667" name="Rectangle: Rounded Corners 150666">
            <a:extLst>
              <a:ext uri="{FF2B5EF4-FFF2-40B4-BE49-F238E27FC236}">
                <a16:creationId xmlns:a16="http://schemas.microsoft.com/office/drawing/2014/main" id="{A2E5A4D6-491C-FE4D-77B6-DADC75EE2D33}"/>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234249" name="Rectangle 234248">
            <a:extLst>
              <a:ext uri="{FF2B5EF4-FFF2-40B4-BE49-F238E27FC236}">
                <a16:creationId xmlns:a16="http://schemas.microsoft.com/office/drawing/2014/main" id="{2B5DE530-E472-EA10-AEE7-35A32399A733}"/>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4 key features: bounded agents, people in the loop</a:t>
            </a:r>
          </a:p>
          <a:p>
            <a:pPr algn="l">
              <a:buNone/>
            </a:pPr>
            <a:r>
              <a:rPr lang="en-US" sz="100">
                <a:effectLst/>
              </a:rPr>
              <a:t> </a:t>
            </a:r>
            <a:endParaRPr lang="en-US"/>
          </a:p>
        </p:txBody>
      </p:sp>
      <p:sp>
        <p:nvSpPr>
          <p:cNvPr id="234251" name="Rectangle 234250">
            <a:extLst>
              <a:ext uri="{FF2B5EF4-FFF2-40B4-BE49-F238E27FC236}">
                <a16:creationId xmlns:a16="http://schemas.microsoft.com/office/drawing/2014/main" id="{F87030C3-D287-D226-7D16-7336EDA1483A}"/>
              </a:ext>
            </a:extLst>
          </p:cNvPr>
          <p:cNvSpPr/>
          <p:nvPr/>
        </p:nvSpPr>
        <p:spPr>
          <a:xfrm>
            <a:off x="609600" y="1560000"/>
            <a:ext cx="10972800" cy="340000"/>
          </a:xfrm>
          <a:prstGeom prst="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54" name="Rectangle 234253">
            <a:extLst>
              <a:ext uri="{FF2B5EF4-FFF2-40B4-BE49-F238E27FC236}">
                <a16:creationId xmlns:a16="http://schemas.microsoft.com/office/drawing/2014/main" id="{71DD7F21-14F8-CDFB-E6D1-5ECAA10FE8BA}"/>
              </a:ext>
            </a:extLst>
          </p:cNvPr>
          <p:cNvSpPr/>
          <p:nvPr/>
        </p:nvSpPr>
        <p:spPr>
          <a:xfrm>
            <a:off x="639600" y="1560000"/>
            <a:ext cx="19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Feature</a:t>
            </a:r>
          </a:p>
          <a:p>
            <a:pPr algn="l">
              <a:buNone/>
            </a:pPr>
            <a:r>
              <a:rPr lang="en-US" sz="100">
                <a:effectLst/>
              </a:rPr>
              <a:t> </a:t>
            </a:r>
            <a:endParaRPr lang="en-US"/>
          </a:p>
        </p:txBody>
      </p:sp>
      <p:sp>
        <p:nvSpPr>
          <p:cNvPr id="234258" name="Rectangle 234257">
            <a:extLst>
              <a:ext uri="{FF2B5EF4-FFF2-40B4-BE49-F238E27FC236}">
                <a16:creationId xmlns:a16="http://schemas.microsoft.com/office/drawing/2014/main" id="{0C922292-326E-E610-357E-456743676584}"/>
              </a:ext>
            </a:extLst>
          </p:cNvPr>
          <p:cNvSpPr/>
          <p:nvPr/>
        </p:nvSpPr>
        <p:spPr>
          <a:xfrm>
            <a:off x="2639600" y="1560000"/>
            <a:ext cx="359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What it is</a:t>
            </a:r>
          </a:p>
          <a:p>
            <a:pPr algn="l">
              <a:buNone/>
            </a:pPr>
            <a:r>
              <a:rPr lang="en-US" sz="100">
                <a:effectLst/>
              </a:rPr>
              <a:t> </a:t>
            </a:r>
            <a:endParaRPr lang="en-US"/>
          </a:p>
        </p:txBody>
      </p:sp>
      <p:sp>
        <p:nvSpPr>
          <p:cNvPr id="234263" name="Rectangle 234262">
            <a:extLst>
              <a:ext uri="{FF2B5EF4-FFF2-40B4-BE49-F238E27FC236}">
                <a16:creationId xmlns:a16="http://schemas.microsoft.com/office/drawing/2014/main" id="{FB0D13AD-A3A6-DD47-160B-78622A528411}"/>
              </a:ext>
            </a:extLst>
          </p:cNvPr>
          <p:cNvSpPr/>
          <p:nvPr/>
        </p:nvSpPr>
        <p:spPr>
          <a:xfrm>
            <a:off x="6289600" y="1560000"/>
            <a:ext cx="29628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B1020"/>
                </a:solidFill>
                <a:effectLst/>
                <a:latin typeface="Segoe UI" panose="020B0502040204020203" pitchFamily="34" charset="0"/>
              </a:rPr>
              <a:t>What it helps accomplish</a:t>
            </a:r>
          </a:p>
          <a:p>
            <a:pPr algn="l">
              <a:buNone/>
            </a:pPr>
            <a:r>
              <a:rPr lang="en-US" sz="100">
                <a:effectLst/>
              </a:rPr>
              <a:t> </a:t>
            </a:r>
            <a:endParaRPr lang="en-US"/>
          </a:p>
        </p:txBody>
      </p:sp>
      <p:sp>
        <p:nvSpPr>
          <p:cNvPr id="234269" name="Rectangle 234268">
            <a:extLst>
              <a:ext uri="{FF2B5EF4-FFF2-40B4-BE49-F238E27FC236}">
                <a16:creationId xmlns:a16="http://schemas.microsoft.com/office/drawing/2014/main" id="{B672A3DC-00D6-C9E8-AA50-78512F2A82B0}"/>
              </a:ext>
            </a:extLst>
          </p:cNvPr>
          <p:cNvSpPr/>
          <p:nvPr/>
        </p:nvSpPr>
        <p:spPr>
          <a:xfrm>
            <a:off x="9312400" y="1560000"/>
            <a:ext cx="224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In this workshop</a:t>
            </a:r>
          </a:p>
          <a:p>
            <a:pPr algn="ctr">
              <a:buNone/>
            </a:pPr>
            <a:r>
              <a:rPr lang="en-US" sz="100">
                <a:effectLst/>
              </a:rPr>
              <a:t> </a:t>
            </a:r>
            <a:endParaRPr lang="en-US"/>
          </a:p>
        </p:txBody>
      </p:sp>
      <p:sp>
        <p:nvSpPr>
          <p:cNvPr id="234276" name="Rectangle 234275">
            <a:extLst>
              <a:ext uri="{FF2B5EF4-FFF2-40B4-BE49-F238E27FC236}">
                <a16:creationId xmlns:a16="http://schemas.microsoft.com/office/drawing/2014/main" id="{FFA32958-2739-CBED-7B5D-49281E023BE0}"/>
              </a:ext>
            </a:extLst>
          </p:cNvPr>
          <p:cNvSpPr/>
          <p:nvPr/>
        </p:nvSpPr>
        <p:spPr>
          <a:xfrm>
            <a:off x="609600" y="1900000"/>
            <a:ext cx="10972800" cy="1113056"/>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84" name="Rectangle 234283">
            <a:extLst>
              <a:ext uri="{FF2B5EF4-FFF2-40B4-BE49-F238E27FC236}">
                <a16:creationId xmlns:a16="http://schemas.microsoft.com/office/drawing/2014/main" id="{5CA0668E-2B69-63D4-86BD-15A8D6D9F5D7}"/>
              </a:ext>
            </a:extLst>
          </p:cNvPr>
          <p:cNvSpPr/>
          <p:nvPr/>
        </p:nvSpPr>
        <p:spPr>
          <a:xfrm>
            <a:off x="609600" y="3000356"/>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93" name="Rectangle 234292">
            <a:extLst>
              <a:ext uri="{FF2B5EF4-FFF2-40B4-BE49-F238E27FC236}">
                <a16:creationId xmlns:a16="http://schemas.microsoft.com/office/drawing/2014/main" id="{D3AF994A-34EF-FE6D-9FDB-01219072DC0C}"/>
              </a:ext>
            </a:extLst>
          </p:cNvPr>
          <p:cNvSpPr/>
          <p:nvPr/>
        </p:nvSpPr>
        <p:spPr>
          <a:xfrm>
            <a:off x="639600" y="1900000"/>
            <a:ext cx="1940000" cy="1113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B2AAF8"/>
                </a:solidFill>
                <a:effectLst/>
                <a:latin typeface="Segoe UI" panose="020B0502040204020203" pitchFamily="34" charset="0"/>
              </a:rPr>
              <a:t>Copilot Studio agents (standard + GitHub Copilot harness)</a:t>
            </a:r>
          </a:p>
          <a:p>
            <a:pPr algn="l">
              <a:buNone/>
            </a:pPr>
            <a:r>
              <a:rPr lang="en-US" sz="100">
                <a:effectLst/>
              </a:rPr>
              <a:t> </a:t>
            </a:r>
            <a:endParaRPr lang="en-US"/>
          </a:p>
        </p:txBody>
      </p:sp>
      <p:sp>
        <p:nvSpPr>
          <p:cNvPr id="234303" name="Rectangle 234302">
            <a:extLst>
              <a:ext uri="{FF2B5EF4-FFF2-40B4-BE49-F238E27FC236}">
                <a16:creationId xmlns:a16="http://schemas.microsoft.com/office/drawing/2014/main" id="{F130A997-6ABB-2944-958A-44C3AAB6A993}"/>
              </a:ext>
            </a:extLst>
          </p:cNvPr>
          <p:cNvSpPr/>
          <p:nvPr/>
        </p:nvSpPr>
        <p:spPr>
          <a:xfrm>
            <a:off x="2639600" y="1900000"/>
            <a:ext cx="3590000" cy="1113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Instructions, tools, connected agents, triggers; the GitHub Copilot harness is the newer runtime for reasoning-heavy agents</a:t>
            </a:r>
          </a:p>
          <a:p>
            <a:pPr algn="l">
              <a:buNone/>
            </a:pPr>
            <a:r>
              <a:rPr lang="en-US" sz="100">
                <a:effectLst/>
              </a:rPr>
              <a:t> </a:t>
            </a:r>
            <a:endParaRPr lang="en-US"/>
          </a:p>
        </p:txBody>
      </p:sp>
      <p:sp>
        <p:nvSpPr>
          <p:cNvPr id="234314" name="Rectangle 234313">
            <a:extLst>
              <a:ext uri="{FF2B5EF4-FFF2-40B4-BE49-F238E27FC236}">
                <a16:creationId xmlns:a16="http://schemas.microsoft.com/office/drawing/2014/main" id="{AA412F9A-F03D-4DBA-2B49-138357FB6E5E}"/>
              </a:ext>
            </a:extLst>
          </p:cNvPr>
          <p:cNvSpPr/>
          <p:nvPr/>
        </p:nvSpPr>
        <p:spPr>
          <a:xfrm>
            <a:off x="6289600" y="1900000"/>
            <a:ext cx="2962800" cy="1113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The lab uses Agent (Standard) so autonomous triggers are available</a:t>
            </a:r>
          </a:p>
          <a:p>
            <a:pPr algn="l">
              <a:buNone/>
            </a:pPr>
            <a:r>
              <a:rPr lang="en-US" sz="100">
                <a:effectLst/>
              </a:rPr>
              <a:t> </a:t>
            </a:r>
            <a:endParaRPr lang="en-US"/>
          </a:p>
        </p:txBody>
      </p:sp>
      <p:sp>
        <p:nvSpPr>
          <p:cNvPr id="234326" name="Rectangle: Rounded Corners 234325">
            <a:extLst>
              <a:ext uri="{FF2B5EF4-FFF2-40B4-BE49-F238E27FC236}">
                <a16:creationId xmlns:a16="http://schemas.microsoft.com/office/drawing/2014/main" id="{009FC362-01BA-2EF0-BCF2-045E23C976B7}"/>
              </a:ext>
            </a:extLst>
          </p:cNvPr>
          <p:cNvSpPr/>
          <p:nvPr/>
        </p:nvSpPr>
        <p:spPr>
          <a:xfrm>
            <a:off x="9332400" y="2256528"/>
            <a:ext cx="2200000" cy="40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4339" name="Rectangle 234338">
            <a:extLst>
              <a:ext uri="{FF2B5EF4-FFF2-40B4-BE49-F238E27FC236}">
                <a16:creationId xmlns:a16="http://schemas.microsoft.com/office/drawing/2014/main" id="{09FE55AC-1DFB-5AE9-E152-CD79A7C9ABB4}"/>
              </a:ext>
            </a:extLst>
          </p:cNvPr>
          <p:cNvSpPr/>
          <p:nvPr/>
        </p:nvSpPr>
        <p:spPr>
          <a:xfrm>
            <a:off x="609600" y="3013056"/>
            <a:ext cx="10972800" cy="865152"/>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353" name="Rectangle 234352">
            <a:extLst>
              <a:ext uri="{FF2B5EF4-FFF2-40B4-BE49-F238E27FC236}">
                <a16:creationId xmlns:a16="http://schemas.microsoft.com/office/drawing/2014/main" id="{D015FC03-7812-394E-BF08-971178753D08}"/>
              </a:ext>
            </a:extLst>
          </p:cNvPr>
          <p:cNvSpPr/>
          <p:nvPr/>
        </p:nvSpPr>
        <p:spPr>
          <a:xfrm>
            <a:off x="609600" y="3865508"/>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368" name="Rectangle 234367">
            <a:extLst>
              <a:ext uri="{FF2B5EF4-FFF2-40B4-BE49-F238E27FC236}">
                <a16:creationId xmlns:a16="http://schemas.microsoft.com/office/drawing/2014/main" id="{51545377-3F33-EA30-1E38-C68972B6A02E}"/>
              </a:ext>
            </a:extLst>
          </p:cNvPr>
          <p:cNvSpPr/>
          <p:nvPr/>
        </p:nvSpPr>
        <p:spPr>
          <a:xfrm>
            <a:off x="639600" y="3013056"/>
            <a:ext cx="194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B2AAF8"/>
                </a:solidFill>
                <a:effectLst/>
                <a:latin typeface="Segoe UI" panose="020B0502040204020203" pitchFamily="34" charset="0"/>
              </a:rPr>
              <a:t>Business Skills (preview)</a:t>
            </a:r>
          </a:p>
          <a:p>
            <a:pPr algn="l">
              <a:buNone/>
            </a:pPr>
            <a:r>
              <a:rPr lang="en-US" sz="100">
                <a:effectLst/>
              </a:rPr>
              <a:t> </a:t>
            </a:r>
            <a:endParaRPr lang="en-US"/>
          </a:p>
        </p:txBody>
      </p:sp>
      <p:sp>
        <p:nvSpPr>
          <p:cNvPr id="234384" name="Rectangle 234383">
            <a:extLst>
              <a:ext uri="{FF2B5EF4-FFF2-40B4-BE49-F238E27FC236}">
                <a16:creationId xmlns:a16="http://schemas.microsoft.com/office/drawing/2014/main" id="{B91FB752-38E1-40F0-CB9C-3A5EE61A10A7}"/>
              </a:ext>
            </a:extLst>
          </p:cNvPr>
          <p:cNvSpPr/>
          <p:nvPr/>
        </p:nvSpPr>
        <p:spPr>
          <a:xfrm>
            <a:off x="2639600" y="3013056"/>
            <a:ext cx="359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Processes and policies in natural language, stored in Dataverse, discovered by agents at runtime</a:t>
            </a:r>
          </a:p>
          <a:p>
            <a:pPr algn="l">
              <a:buNone/>
            </a:pPr>
            <a:r>
              <a:rPr lang="en-US" sz="100">
                <a:effectLst/>
              </a:rPr>
              <a:t> </a:t>
            </a:r>
            <a:endParaRPr lang="en-US"/>
          </a:p>
        </p:txBody>
      </p:sp>
      <p:sp>
        <p:nvSpPr>
          <p:cNvPr id="234401" name="Rectangle 234400">
            <a:extLst>
              <a:ext uri="{FF2B5EF4-FFF2-40B4-BE49-F238E27FC236}">
                <a16:creationId xmlns:a16="http://schemas.microsoft.com/office/drawing/2014/main" id="{A494F26C-B2B2-DF32-4331-C6E342B18FD3}"/>
              </a:ext>
            </a:extLst>
          </p:cNvPr>
          <p:cNvSpPr/>
          <p:nvPr/>
        </p:nvSpPr>
        <p:spPr>
          <a:xfrm>
            <a:off x="6289600" y="3013056"/>
            <a:ext cx="29628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One policy (lab-1) applied the same way by every agent</a:t>
            </a:r>
          </a:p>
          <a:p>
            <a:pPr algn="l">
              <a:buNone/>
            </a:pPr>
            <a:r>
              <a:rPr lang="en-US" sz="100">
                <a:effectLst/>
              </a:rPr>
              <a:t> </a:t>
            </a:r>
            <a:endParaRPr lang="en-US"/>
          </a:p>
        </p:txBody>
      </p:sp>
      <p:sp>
        <p:nvSpPr>
          <p:cNvPr id="234419" name="Rectangle: Rounded Corners 234418">
            <a:extLst>
              <a:ext uri="{FF2B5EF4-FFF2-40B4-BE49-F238E27FC236}">
                <a16:creationId xmlns:a16="http://schemas.microsoft.com/office/drawing/2014/main" id="{91299D60-D9D0-65A3-9BE4-1BD4A72F3B6A}"/>
              </a:ext>
            </a:extLst>
          </p:cNvPr>
          <p:cNvSpPr/>
          <p:nvPr/>
        </p:nvSpPr>
        <p:spPr>
          <a:xfrm>
            <a:off x="9332400" y="3245632"/>
            <a:ext cx="2200000" cy="40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4438" name="Rectangle 234437">
            <a:extLst>
              <a:ext uri="{FF2B5EF4-FFF2-40B4-BE49-F238E27FC236}">
                <a16:creationId xmlns:a16="http://schemas.microsoft.com/office/drawing/2014/main" id="{49295FDB-3875-18EB-7D25-F73AFEAB0136}"/>
              </a:ext>
            </a:extLst>
          </p:cNvPr>
          <p:cNvSpPr/>
          <p:nvPr/>
        </p:nvSpPr>
        <p:spPr>
          <a:xfrm>
            <a:off x="609600" y="3878208"/>
            <a:ext cx="10972800" cy="865152"/>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58" name="Rectangle 234457">
            <a:extLst>
              <a:ext uri="{FF2B5EF4-FFF2-40B4-BE49-F238E27FC236}">
                <a16:creationId xmlns:a16="http://schemas.microsoft.com/office/drawing/2014/main" id="{738A5BB4-2D98-8494-F77F-7385CDB4DB78}"/>
              </a:ext>
            </a:extLst>
          </p:cNvPr>
          <p:cNvSpPr/>
          <p:nvPr/>
        </p:nvSpPr>
        <p:spPr>
          <a:xfrm>
            <a:off x="609600" y="4730660"/>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79" name="Rectangle 234478">
            <a:extLst>
              <a:ext uri="{FF2B5EF4-FFF2-40B4-BE49-F238E27FC236}">
                <a16:creationId xmlns:a16="http://schemas.microsoft.com/office/drawing/2014/main" id="{ADF9115C-D390-3F4D-5517-DA8CEA6D0E3A}"/>
              </a:ext>
            </a:extLst>
          </p:cNvPr>
          <p:cNvSpPr/>
          <p:nvPr/>
        </p:nvSpPr>
        <p:spPr>
          <a:xfrm>
            <a:off x="639600" y="3878208"/>
            <a:ext cx="194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B2AAF8"/>
                </a:solidFill>
                <a:effectLst/>
                <a:latin typeface="Segoe UI" panose="020B0502040204020203" pitchFamily="34" charset="0"/>
              </a:rPr>
              <a:t>Dataverse MCP Server</a:t>
            </a:r>
          </a:p>
          <a:p>
            <a:pPr algn="l">
              <a:buNone/>
            </a:pPr>
            <a:r>
              <a:rPr lang="en-US" sz="100">
                <a:effectLst/>
              </a:rPr>
              <a:t> </a:t>
            </a:r>
            <a:endParaRPr lang="en-US"/>
          </a:p>
        </p:txBody>
      </p:sp>
      <p:sp>
        <p:nvSpPr>
          <p:cNvPr id="234501" name="Rectangle 234500">
            <a:extLst>
              <a:ext uri="{FF2B5EF4-FFF2-40B4-BE49-F238E27FC236}">
                <a16:creationId xmlns:a16="http://schemas.microsoft.com/office/drawing/2014/main" id="{EC97187E-7E0D-1498-CC04-D579209A4E81}"/>
              </a:ext>
            </a:extLst>
          </p:cNvPr>
          <p:cNvSpPr/>
          <p:nvPr/>
        </p:nvSpPr>
        <p:spPr>
          <a:xfrm>
            <a:off x="2639600" y="3878208"/>
            <a:ext cx="359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MCP tools that give agents governed access to Dataverse tables and records, discovers Business Skills </a:t>
            </a:r>
          </a:p>
          <a:p>
            <a:pPr algn="l">
              <a:buNone/>
            </a:pPr>
            <a:r>
              <a:rPr lang="en-US" sz="100">
                <a:effectLst/>
              </a:rPr>
              <a:t> </a:t>
            </a:r>
            <a:endParaRPr lang="en-US"/>
          </a:p>
        </p:txBody>
      </p:sp>
      <p:sp>
        <p:nvSpPr>
          <p:cNvPr id="234524" name="Rectangle 234523">
            <a:extLst>
              <a:ext uri="{FF2B5EF4-FFF2-40B4-BE49-F238E27FC236}">
                <a16:creationId xmlns:a16="http://schemas.microsoft.com/office/drawing/2014/main" id="{2768C39E-C169-B06E-1232-95CA9485F8BE}"/>
              </a:ext>
            </a:extLst>
          </p:cNvPr>
          <p:cNvSpPr/>
          <p:nvPr/>
        </p:nvSpPr>
        <p:spPr>
          <a:xfrm>
            <a:off x="6289600" y="3878208"/>
            <a:ext cx="29628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The Commander reads evidence read-only: read_query, search, describe</a:t>
            </a:r>
          </a:p>
          <a:p>
            <a:pPr algn="l">
              <a:buNone/>
            </a:pPr>
            <a:r>
              <a:rPr lang="en-US" sz="100">
                <a:effectLst/>
              </a:rPr>
              <a:t> </a:t>
            </a:r>
            <a:endParaRPr lang="en-US"/>
          </a:p>
        </p:txBody>
      </p:sp>
      <p:sp>
        <p:nvSpPr>
          <p:cNvPr id="234548" name="Rectangle: Rounded Corners 234547">
            <a:extLst>
              <a:ext uri="{FF2B5EF4-FFF2-40B4-BE49-F238E27FC236}">
                <a16:creationId xmlns:a16="http://schemas.microsoft.com/office/drawing/2014/main" id="{B0D9C6BB-DA67-4594-66AC-301D21D0D121}"/>
              </a:ext>
            </a:extLst>
          </p:cNvPr>
          <p:cNvSpPr/>
          <p:nvPr/>
        </p:nvSpPr>
        <p:spPr>
          <a:xfrm>
            <a:off x="9332400" y="4110784"/>
            <a:ext cx="2200000" cy="40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4573" name="Rectangle 234572">
            <a:extLst>
              <a:ext uri="{FF2B5EF4-FFF2-40B4-BE49-F238E27FC236}">
                <a16:creationId xmlns:a16="http://schemas.microsoft.com/office/drawing/2014/main" id="{FDBBD4AC-3CD2-B193-0A1E-5376C53E1889}"/>
              </a:ext>
            </a:extLst>
          </p:cNvPr>
          <p:cNvSpPr/>
          <p:nvPr/>
        </p:nvSpPr>
        <p:spPr>
          <a:xfrm>
            <a:off x="609600" y="4743360"/>
            <a:ext cx="10972800" cy="865152"/>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99" name="Rectangle 234598">
            <a:extLst>
              <a:ext uri="{FF2B5EF4-FFF2-40B4-BE49-F238E27FC236}">
                <a16:creationId xmlns:a16="http://schemas.microsoft.com/office/drawing/2014/main" id="{E1A54131-7F83-CF37-580C-8A1D221EA90D}"/>
              </a:ext>
            </a:extLst>
          </p:cNvPr>
          <p:cNvSpPr/>
          <p:nvPr/>
        </p:nvSpPr>
        <p:spPr>
          <a:xfrm>
            <a:off x="609600" y="5595812"/>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626" name="Rectangle 234625">
            <a:extLst>
              <a:ext uri="{FF2B5EF4-FFF2-40B4-BE49-F238E27FC236}">
                <a16:creationId xmlns:a16="http://schemas.microsoft.com/office/drawing/2014/main" id="{218B1459-AC5D-AA89-EC43-C7E2545A7403}"/>
              </a:ext>
            </a:extLst>
          </p:cNvPr>
          <p:cNvSpPr/>
          <p:nvPr/>
        </p:nvSpPr>
        <p:spPr>
          <a:xfrm>
            <a:off x="639600" y="4743360"/>
            <a:ext cx="194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B2AAF8"/>
                </a:solidFill>
                <a:effectLst/>
                <a:latin typeface="Segoe UI" panose="020B0502040204020203" pitchFamily="34" charset="0"/>
              </a:rPr>
              <a:t>Power Apps MCP Server (preview)</a:t>
            </a:r>
          </a:p>
          <a:p>
            <a:pPr algn="l">
              <a:buNone/>
            </a:pPr>
            <a:r>
              <a:rPr lang="en-US" sz="100">
                <a:effectLst/>
              </a:rPr>
              <a:t> </a:t>
            </a:r>
            <a:endParaRPr lang="en-US"/>
          </a:p>
        </p:txBody>
      </p:sp>
      <p:sp>
        <p:nvSpPr>
          <p:cNvPr id="234654" name="Rectangle 234653">
            <a:extLst>
              <a:ext uri="{FF2B5EF4-FFF2-40B4-BE49-F238E27FC236}">
                <a16:creationId xmlns:a16="http://schemas.microsoft.com/office/drawing/2014/main" id="{109A801F-04B6-26C7-B6E0-63CCEBA074EF}"/>
              </a:ext>
            </a:extLst>
          </p:cNvPr>
          <p:cNvSpPr/>
          <p:nvPr/>
        </p:nvSpPr>
        <p:spPr>
          <a:xfrm>
            <a:off x="2639600" y="4743360"/>
            <a:ext cx="359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Lets agents work with model-driven apps</a:t>
            </a:r>
            <a:r>
              <a:rPr lang="en-US" sz="1600">
                <a:solidFill>
                  <a:srgbClr val="FFFFFF"/>
                </a:solidFill>
                <a:latin typeface="Segoe UI" panose="020B0502040204020203" pitchFamily="34" charset="0"/>
              </a:rPr>
              <a:t> (Can scope </a:t>
            </a:r>
            <a:r>
              <a:rPr lang="en-US" sz="1600">
                <a:solidFill>
                  <a:srgbClr val="FFFFFF"/>
                </a:solidFill>
                <a:effectLst/>
                <a:latin typeface="Segoe UI" panose="020B0502040204020203" pitchFamily="34" charset="0"/>
              </a:rPr>
              <a:t>request</a:t>
            </a:r>
            <a:r>
              <a:rPr lang="en-US" sz="1600" err="1">
                <a:solidFill>
                  <a:srgbClr val="FFFFFF"/>
                </a:solidFill>
                <a:effectLst/>
                <a:latin typeface="Segoe UI" panose="020B0502040204020203" pitchFamily="34" charset="0"/>
              </a:rPr>
              <a:t>_assistance</a:t>
            </a:r>
            <a:r>
              <a:rPr lang="en-US" sz="1600">
                <a:solidFill>
                  <a:srgbClr val="FFFFFF"/>
                </a:solidFill>
                <a:effectLst/>
                <a:latin typeface="Segoe UI" panose="020B0502040204020203" pitchFamily="34" charset="0"/>
              </a:rPr>
              <a:t>, </a:t>
            </a:r>
            <a:r>
              <a:rPr lang="en-US" sz="1600" err="1">
                <a:solidFill>
                  <a:srgbClr val="FFFFFF"/>
                </a:solidFill>
                <a:effectLst/>
                <a:latin typeface="Segoe UI" panose="020B0502040204020203" pitchFamily="34" charset="0"/>
              </a:rPr>
              <a:t>log_for_review</a:t>
            </a:r>
            <a:r>
              <a:rPr lang="en-US" sz="1600">
                <a:solidFill>
                  <a:srgbClr val="FFFFFF"/>
                </a:solidFill>
                <a:effectLst/>
                <a:latin typeface="Segoe UI" panose="020B0502040204020203" pitchFamily="34" charset="0"/>
              </a:rPr>
              <a:t>, </a:t>
            </a:r>
            <a:r>
              <a:rPr lang="en-US" sz="1600" err="1">
                <a:solidFill>
                  <a:srgbClr val="FFFFFF"/>
                </a:solidFill>
                <a:effectLst/>
                <a:latin typeface="Segoe UI" panose="020B0502040204020203" pitchFamily="34" charset="0"/>
              </a:rPr>
              <a:t>invoke_data_entry</a:t>
            </a:r>
            <a:endParaRPr lang="en-US" sz="1600">
              <a:solidFill>
                <a:srgbClr val="FFFFFF"/>
              </a:solidFill>
              <a:effectLst/>
              <a:latin typeface="Segoe UI" panose="020B0502040204020203" pitchFamily="34" charset="0"/>
            </a:endParaRPr>
          </a:p>
          <a:p>
            <a:pPr algn="l">
              <a:buNone/>
            </a:pPr>
            <a:r>
              <a:rPr lang="en-US" sz="100">
                <a:effectLst/>
              </a:rPr>
              <a:t> </a:t>
            </a:r>
            <a:endParaRPr lang="en-US"/>
          </a:p>
        </p:txBody>
      </p:sp>
      <p:sp>
        <p:nvSpPr>
          <p:cNvPr id="234683" name="Rectangle 234682">
            <a:extLst>
              <a:ext uri="{FF2B5EF4-FFF2-40B4-BE49-F238E27FC236}">
                <a16:creationId xmlns:a16="http://schemas.microsoft.com/office/drawing/2014/main" id="{4A532868-D434-94DD-A712-961DBC32C384}"/>
              </a:ext>
            </a:extLst>
          </p:cNvPr>
          <p:cNvSpPr/>
          <p:nvPr/>
        </p:nvSpPr>
        <p:spPr>
          <a:xfrm>
            <a:off x="6289600" y="4743360"/>
            <a:ext cx="29628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The Handoff agent creates one human task — request_assistance only</a:t>
            </a:r>
          </a:p>
          <a:p>
            <a:pPr algn="l">
              <a:buNone/>
            </a:pPr>
            <a:r>
              <a:rPr lang="en-US" sz="100">
                <a:effectLst/>
              </a:rPr>
              <a:t> </a:t>
            </a:r>
            <a:endParaRPr lang="en-US"/>
          </a:p>
        </p:txBody>
      </p:sp>
      <p:sp>
        <p:nvSpPr>
          <p:cNvPr id="234713" name="Rectangle: Rounded Corners 234712">
            <a:extLst>
              <a:ext uri="{FF2B5EF4-FFF2-40B4-BE49-F238E27FC236}">
                <a16:creationId xmlns:a16="http://schemas.microsoft.com/office/drawing/2014/main" id="{39F57B9D-0AAB-3F50-D839-69C5154EB811}"/>
              </a:ext>
            </a:extLst>
          </p:cNvPr>
          <p:cNvSpPr/>
          <p:nvPr/>
        </p:nvSpPr>
        <p:spPr>
          <a:xfrm>
            <a:off x="9332400" y="4975936"/>
            <a:ext cx="2200000" cy="40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4744" name="Rectangle 234743">
            <a:extLst>
              <a:ext uri="{FF2B5EF4-FFF2-40B4-BE49-F238E27FC236}">
                <a16:creationId xmlns:a16="http://schemas.microsoft.com/office/drawing/2014/main" id="{1EC449C8-6D68-6D60-EFFB-590C2EF0B18F}"/>
              </a:ext>
            </a:extLst>
          </p:cNvPr>
          <p:cNvSpPr/>
          <p:nvPr/>
        </p:nvSpPr>
        <p:spPr>
          <a:xfrm>
            <a:off x="609600" y="5608512"/>
            <a:ext cx="10972800" cy="865152"/>
          </a:xfrm>
          <a:prstGeom prst="rect">
            <a:avLst/>
          </a:prstGeom>
          <a:solidFill>
            <a:srgbClr val="FFFFFF">
              <a:alpha val="7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776" name="Rectangle 234775">
            <a:extLst>
              <a:ext uri="{FF2B5EF4-FFF2-40B4-BE49-F238E27FC236}">
                <a16:creationId xmlns:a16="http://schemas.microsoft.com/office/drawing/2014/main" id="{E03986D4-23C6-6FC6-99D3-457D957E9C52}"/>
              </a:ext>
            </a:extLst>
          </p:cNvPr>
          <p:cNvSpPr/>
          <p:nvPr/>
        </p:nvSpPr>
        <p:spPr>
          <a:xfrm>
            <a:off x="609600" y="6460964"/>
            <a:ext cx="10972800" cy="12700"/>
          </a:xfrm>
          <a:prstGeom prst="rect">
            <a:avLst/>
          </a:prstGeom>
          <a:solidFill>
            <a:srgbClr val="FFFFFF">
              <a:alpha val="25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809" name="Rectangle 234808">
            <a:extLst>
              <a:ext uri="{FF2B5EF4-FFF2-40B4-BE49-F238E27FC236}">
                <a16:creationId xmlns:a16="http://schemas.microsoft.com/office/drawing/2014/main" id="{3A58E16E-A59E-EBEC-E500-7D0F1C9EE0FE}"/>
              </a:ext>
            </a:extLst>
          </p:cNvPr>
          <p:cNvSpPr/>
          <p:nvPr/>
        </p:nvSpPr>
        <p:spPr>
          <a:xfrm>
            <a:off x="639600" y="5608512"/>
            <a:ext cx="194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B2AAF8"/>
                </a:solidFill>
                <a:effectLst/>
                <a:latin typeface="Segoe UI" panose="020B0502040204020203" pitchFamily="34" charset="0"/>
              </a:rPr>
              <a:t>Agent feed (preview)</a:t>
            </a:r>
          </a:p>
          <a:p>
            <a:pPr algn="l">
              <a:buNone/>
            </a:pPr>
            <a:r>
              <a:rPr lang="en-US" sz="100">
                <a:effectLst/>
              </a:rPr>
              <a:t> </a:t>
            </a:r>
            <a:endParaRPr lang="en-US"/>
          </a:p>
        </p:txBody>
      </p:sp>
      <p:sp>
        <p:nvSpPr>
          <p:cNvPr id="234843" name="Rectangle 234842">
            <a:extLst>
              <a:ext uri="{FF2B5EF4-FFF2-40B4-BE49-F238E27FC236}">
                <a16:creationId xmlns:a16="http://schemas.microsoft.com/office/drawing/2014/main" id="{30497EBC-4041-3B26-5950-29229A9E9D41}"/>
              </a:ext>
            </a:extLst>
          </p:cNvPr>
          <p:cNvSpPr/>
          <p:nvPr/>
        </p:nvSpPr>
        <p:spPr>
          <a:xfrm>
            <a:off x="2639600" y="5608512"/>
            <a:ext cx="35900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 task feed in model-driven apps where people review and complete agent tasks</a:t>
            </a:r>
          </a:p>
          <a:p>
            <a:pPr algn="l">
              <a:buNone/>
            </a:pPr>
            <a:r>
              <a:rPr lang="en-US" sz="100">
                <a:effectLst/>
              </a:rPr>
              <a:t> </a:t>
            </a:r>
            <a:endParaRPr lang="en-US"/>
          </a:p>
        </p:txBody>
      </p:sp>
      <p:sp>
        <p:nvSpPr>
          <p:cNvPr id="234878" name="Rectangle 234877">
            <a:extLst>
              <a:ext uri="{FF2B5EF4-FFF2-40B4-BE49-F238E27FC236}">
                <a16:creationId xmlns:a16="http://schemas.microsoft.com/office/drawing/2014/main" id="{EC2546E7-2675-521D-C384-C15CA34CBD37}"/>
              </a:ext>
            </a:extLst>
          </p:cNvPr>
          <p:cNvSpPr/>
          <p:nvPr/>
        </p:nvSpPr>
        <p:spPr>
          <a:xfrm>
            <a:off x="6289600" y="5608512"/>
            <a:ext cx="2962800" cy="8651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Human supervision in the app, with a link back to the case</a:t>
            </a:r>
          </a:p>
          <a:p>
            <a:pPr algn="l">
              <a:buNone/>
            </a:pPr>
            <a:r>
              <a:rPr lang="en-US" sz="100">
                <a:effectLst/>
              </a:rPr>
              <a:t> </a:t>
            </a:r>
            <a:endParaRPr lang="en-US"/>
          </a:p>
        </p:txBody>
      </p:sp>
      <p:sp>
        <p:nvSpPr>
          <p:cNvPr id="234914" name="Rectangle: Rounded Corners 234913">
            <a:extLst>
              <a:ext uri="{FF2B5EF4-FFF2-40B4-BE49-F238E27FC236}">
                <a16:creationId xmlns:a16="http://schemas.microsoft.com/office/drawing/2014/main" id="{4E977771-56F3-093B-DF46-CA382291047A}"/>
              </a:ext>
            </a:extLst>
          </p:cNvPr>
          <p:cNvSpPr/>
          <p:nvPr/>
        </p:nvSpPr>
        <p:spPr>
          <a:xfrm>
            <a:off x="9332400" y="5841088"/>
            <a:ext cx="2200000" cy="400000"/>
          </a:xfrm>
          <a:prstGeom prst="roundRect">
            <a:avLst/>
          </a:prstGeom>
          <a:solidFill>
            <a:srgbClr val="B2AAF8">
              <a:alpha val="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Segoe UI" panose="020B0502040204020203" pitchFamily="34" charset="0"/>
              </a:rPr>
              <a:t>Used in lab</a:t>
            </a:r>
          </a:p>
          <a:p>
            <a:pPr algn="ctr">
              <a:buNone/>
            </a:pPr>
            <a:r>
              <a:rPr lang="en-US" sz="100">
                <a:effectLst/>
              </a:rPr>
              <a:t> </a:t>
            </a:r>
            <a:endParaRPr lang="en-US"/>
          </a:p>
        </p:txBody>
      </p:sp>
    </p:spTree>
    <p:extLst>
      <p:ext uri="{BB962C8B-B14F-4D97-AF65-F5344CB8AC3E}">
        <p14:creationId xmlns:p14="http://schemas.microsoft.com/office/powerpoint/2010/main" val="4087316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19222" name="Rectangle: Rounded Corners 219221">
            <a:extLst>
              <a:ext uri="{FF2B5EF4-FFF2-40B4-BE49-F238E27FC236}">
                <a16:creationId xmlns:a16="http://schemas.microsoft.com/office/drawing/2014/main" id="{D6E89FB0-5D3C-D026-FF2F-458F33CB4AB6}"/>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219239" name="Rectangle 219238">
            <a:extLst>
              <a:ext uri="{FF2B5EF4-FFF2-40B4-BE49-F238E27FC236}">
                <a16:creationId xmlns:a16="http://schemas.microsoft.com/office/drawing/2014/main" id="{A597199C-B148-4053-36B3-79CC6106FE9A}"/>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Bounded reasoning, human decision</a:t>
            </a:r>
          </a:p>
          <a:p>
            <a:pPr algn="l">
              <a:buNone/>
            </a:pPr>
            <a:r>
              <a:rPr lang="en-US" sz="100">
                <a:effectLst/>
              </a:rPr>
              <a:t> </a:t>
            </a:r>
            <a:endParaRPr lang="en-US"/>
          </a:p>
        </p:txBody>
      </p:sp>
      <p:sp>
        <p:nvSpPr>
          <p:cNvPr id="219257" name="Rectangle 219256">
            <a:extLst>
              <a:ext uri="{FF2B5EF4-FFF2-40B4-BE49-F238E27FC236}">
                <a16:creationId xmlns:a16="http://schemas.microsoft.com/office/drawing/2014/main" id="{C7BA0442-CA04-9D42-00C3-59E80BE5E521}"/>
              </a:ext>
            </a:extLst>
          </p:cNvPr>
          <p:cNvSpPr/>
          <p:nvPr/>
        </p:nvSpPr>
        <p:spPr>
          <a:xfrm>
            <a:off x="609600" y="1741951"/>
            <a:ext cx="1818200" cy="15319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Recovery Decision record modified (Pending) in Dataverse</a:t>
            </a:r>
          </a:p>
          <a:p>
            <a:pPr algn="ctr">
              <a:buNone/>
            </a:pPr>
            <a:r>
              <a:rPr lang="en-US" sz="100">
                <a:effectLst/>
              </a:rPr>
              <a:t> </a:t>
            </a:r>
            <a:endParaRPr lang="en-US"/>
          </a:p>
        </p:txBody>
      </p:sp>
      <p:sp>
        <p:nvSpPr>
          <p:cNvPr id="219276" name="Rectangle 219275">
            <a:extLst>
              <a:ext uri="{FF2B5EF4-FFF2-40B4-BE49-F238E27FC236}">
                <a16:creationId xmlns:a16="http://schemas.microsoft.com/office/drawing/2014/main" id="{9D7BE0A6-3FB9-EC78-862B-C77A3B5A0B15}"/>
              </a:ext>
            </a:extLst>
          </p:cNvPr>
          <p:cNvSpPr/>
          <p:nvPr/>
        </p:nvSpPr>
        <p:spPr>
          <a:xfrm>
            <a:off x="2727800" y="1741951"/>
            <a:ext cx="1818200" cy="1531920"/>
          </a:xfrm>
          <a:prstGeom prst="rect">
            <a:avLst/>
          </a:prstGeom>
          <a:solidFill>
            <a:srgbClr val="B2AAF8">
              <a:alpha val="14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Disruption Approval Handoff Agent (autonomous trigger)</a:t>
            </a:r>
          </a:p>
          <a:p>
            <a:pPr algn="ctr">
              <a:buNone/>
            </a:pPr>
            <a:r>
              <a:rPr lang="en-US" sz="100">
                <a:effectLst/>
              </a:rPr>
              <a:t> </a:t>
            </a:r>
            <a:endParaRPr lang="en-US"/>
          </a:p>
        </p:txBody>
      </p:sp>
      <p:sp>
        <p:nvSpPr>
          <p:cNvPr id="219296" name="Rectangle 219295">
            <a:extLst>
              <a:ext uri="{FF2B5EF4-FFF2-40B4-BE49-F238E27FC236}">
                <a16:creationId xmlns:a16="http://schemas.microsoft.com/office/drawing/2014/main" id="{38BEA99E-6502-2558-54E7-157B506B0A88}"/>
              </a:ext>
            </a:extLst>
          </p:cNvPr>
          <p:cNvSpPr/>
          <p:nvPr/>
        </p:nvSpPr>
        <p:spPr>
          <a:xfrm>
            <a:off x="4846000" y="1741951"/>
            <a:ext cx="1818200" cy="1531920"/>
          </a:xfrm>
          <a:prstGeom prst="rect">
            <a:avLst/>
          </a:prstGeom>
          <a:solidFill>
            <a:srgbClr val="B2AAF8">
              <a:alpha val="14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Calls connected Disruption Commander</a:t>
            </a:r>
            <a:br>
              <a:rPr lang="en-US" sz="1600">
                <a:solidFill>
                  <a:srgbClr val="FFFFFF"/>
                </a:solidFill>
                <a:effectLst/>
                <a:latin typeface="Segoe UI" panose="020B0502040204020203" pitchFamily="34" charset="0"/>
              </a:rPr>
            </a:br>
            <a:r>
              <a:rPr lang="en-US" sz="1600">
                <a:solidFill>
                  <a:srgbClr val="FFFFFF"/>
                </a:solidFill>
                <a:effectLst/>
                <a:latin typeface="Segoe UI" panose="020B0502040204020203" pitchFamily="34" charset="0"/>
              </a:rPr>
              <a:t>agent</a:t>
            </a:r>
          </a:p>
          <a:p>
            <a:pPr algn="ctr">
              <a:buNone/>
            </a:pPr>
            <a:r>
              <a:rPr lang="en-US" sz="100">
                <a:effectLst/>
              </a:rPr>
              <a:t> </a:t>
            </a:r>
            <a:endParaRPr lang="en-US"/>
          </a:p>
        </p:txBody>
      </p:sp>
      <p:sp>
        <p:nvSpPr>
          <p:cNvPr id="219317" name="Rectangle 219316">
            <a:extLst>
              <a:ext uri="{FF2B5EF4-FFF2-40B4-BE49-F238E27FC236}">
                <a16:creationId xmlns:a16="http://schemas.microsoft.com/office/drawing/2014/main" id="{12001593-5ADA-1494-B840-8D38CD968940}"/>
              </a:ext>
            </a:extLst>
          </p:cNvPr>
          <p:cNvSpPr/>
          <p:nvPr/>
        </p:nvSpPr>
        <p:spPr>
          <a:xfrm>
            <a:off x="6964200" y="1741951"/>
            <a:ext cx="2018200" cy="1531920"/>
          </a:xfrm>
          <a:prstGeom prst="rect">
            <a:avLst/>
          </a:prstGeom>
          <a:solidFill>
            <a:srgbClr val="B2AAF8">
              <a:alpha val="14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Commander applies Business Skill lab-1 + reads Dataverse via MCP (read-only)</a:t>
            </a:r>
          </a:p>
          <a:p>
            <a:pPr algn="ctr">
              <a:buNone/>
            </a:pPr>
            <a:r>
              <a:rPr lang="en-US" sz="100">
                <a:effectLst/>
              </a:rPr>
              <a:t> </a:t>
            </a:r>
            <a:endParaRPr lang="en-US"/>
          </a:p>
        </p:txBody>
      </p:sp>
      <p:sp>
        <p:nvSpPr>
          <p:cNvPr id="219339" name="Rectangle 219338">
            <a:extLst>
              <a:ext uri="{FF2B5EF4-FFF2-40B4-BE49-F238E27FC236}">
                <a16:creationId xmlns:a16="http://schemas.microsoft.com/office/drawing/2014/main" id="{00364240-C370-3934-DF92-996B8AC3001C}"/>
              </a:ext>
            </a:extLst>
          </p:cNvPr>
          <p:cNvSpPr/>
          <p:nvPr/>
        </p:nvSpPr>
        <p:spPr>
          <a:xfrm>
            <a:off x="6964200" y="3753871"/>
            <a:ext cx="2018200" cy="1531920"/>
          </a:xfrm>
          <a:prstGeom prst="rect">
            <a:avLst/>
          </a:prstGeom>
          <a:solidFill>
            <a:srgbClr val="B2AAF8">
              <a:alpha val="14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Handoff calls Power Apps MCP request_assistance</a:t>
            </a:r>
          </a:p>
          <a:p>
            <a:pPr algn="ctr">
              <a:buNone/>
            </a:pPr>
            <a:r>
              <a:rPr lang="en-US" sz="100">
                <a:effectLst/>
              </a:rPr>
              <a:t> </a:t>
            </a:r>
            <a:endParaRPr lang="en-US"/>
          </a:p>
        </p:txBody>
      </p:sp>
      <p:sp>
        <p:nvSpPr>
          <p:cNvPr id="219362" name="Rectangle 219361">
            <a:extLst>
              <a:ext uri="{FF2B5EF4-FFF2-40B4-BE49-F238E27FC236}">
                <a16:creationId xmlns:a16="http://schemas.microsoft.com/office/drawing/2014/main" id="{A780F978-002B-D765-0621-8D197CE3B30F}"/>
              </a:ext>
            </a:extLst>
          </p:cNvPr>
          <p:cNvSpPr/>
          <p:nvPr/>
        </p:nvSpPr>
        <p:spPr>
          <a:xfrm>
            <a:off x="4846000" y="3753871"/>
            <a:ext cx="1818200" cy="1531920"/>
          </a:xfrm>
          <a:prstGeom prst="rect">
            <a:avLst/>
          </a:prstGeom>
          <a:solidFill>
            <a:srgbClr val="B2AAF8">
              <a:alpha val="14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Agent feed “Needs attention” item</a:t>
            </a:r>
          </a:p>
          <a:p>
            <a:pPr algn="ctr">
              <a:buNone/>
            </a:pPr>
            <a:r>
              <a:rPr lang="en-US" sz="100">
                <a:effectLst/>
              </a:rPr>
              <a:t> </a:t>
            </a:r>
            <a:endParaRPr lang="en-US"/>
          </a:p>
        </p:txBody>
      </p:sp>
      <p:sp>
        <p:nvSpPr>
          <p:cNvPr id="219386" name="Rectangle 219385">
            <a:extLst>
              <a:ext uri="{FF2B5EF4-FFF2-40B4-BE49-F238E27FC236}">
                <a16:creationId xmlns:a16="http://schemas.microsoft.com/office/drawing/2014/main" id="{E8DE8B3D-EDB6-3F72-821D-7CBB15521B8A}"/>
              </a:ext>
            </a:extLst>
          </p:cNvPr>
          <p:cNvSpPr/>
          <p:nvPr/>
        </p:nvSpPr>
        <p:spPr>
          <a:xfrm>
            <a:off x="2727800" y="3753871"/>
            <a:ext cx="1818200" cy="1531920"/>
          </a:xfrm>
          <a:prstGeom prst="rect">
            <a:avLst/>
          </a:prstGeom>
          <a:solidFill>
            <a:srgbClr val="FFFFFF">
              <a:alpha val="12000"/>
            </a:srgbClr>
          </a:solidFill>
          <a:ln w="19050">
            <a:solidFill>
              <a:srgbClr val="FFFF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Segoe UI" panose="020B0502040204020203" pitchFamily="34" charset="0"/>
              </a:rPr>
              <a:t>Person opens the Disruption Case</a:t>
            </a:r>
          </a:p>
          <a:p>
            <a:pPr algn="ctr">
              <a:buNone/>
            </a:pPr>
            <a:r>
              <a:rPr lang="en-US" sz="100">
                <a:effectLst/>
              </a:rPr>
              <a:t> </a:t>
            </a:r>
            <a:endParaRPr lang="en-US"/>
          </a:p>
        </p:txBody>
      </p:sp>
      <p:sp>
        <p:nvSpPr>
          <p:cNvPr id="219411" name="Rectangle 219410">
            <a:extLst>
              <a:ext uri="{FF2B5EF4-FFF2-40B4-BE49-F238E27FC236}">
                <a16:creationId xmlns:a16="http://schemas.microsoft.com/office/drawing/2014/main" id="{3093C2D4-5E23-4F01-4D61-EA0B04903112}"/>
              </a:ext>
            </a:extLst>
          </p:cNvPr>
          <p:cNvSpPr/>
          <p:nvPr/>
        </p:nvSpPr>
        <p:spPr>
          <a:xfrm>
            <a:off x="609600" y="3753871"/>
            <a:ext cx="1818200" cy="15319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a:solidFill>
                  <a:srgbClr val="FFFFFF"/>
                </a:solidFill>
                <a:effectLst/>
                <a:latin typeface="Segoe UI" panose="020B0502040204020203" pitchFamily="34" charset="0"/>
              </a:rPr>
              <a:t>Decision stays Pending</a:t>
            </a:r>
          </a:p>
          <a:p>
            <a:pPr algn="ctr">
              <a:buNone/>
            </a:pPr>
            <a:r>
              <a:rPr lang="en-US" sz="100">
                <a:effectLst/>
              </a:rPr>
              <a:t> </a:t>
            </a:r>
            <a:endParaRPr lang="en-US"/>
          </a:p>
        </p:txBody>
      </p:sp>
      <p:sp>
        <p:nvSpPr>
          <p:cNvPr id="219437" name="Arrow: Right 219436">
            <a:extLst>
              <a:ext uri="{FF2B5EF4-FFF2-40B4-BE49-F238E27FC236}">
                <a16:creationId xmlns:a16="http://schemas.microsoft.com/office/drawing/2014/main" id="{F35BE662-C412-6CD1-CAFB-CACF30794C70}"/>
              </a:ext>
            </a:extLst>
          </p:cNvPr>
          <p:cNvSpPr/>
          <p:nvPr/>
        </p:nvSpPr>
        <p:spPr>
          <a:xfrm>
            <a:off x="2467800" y="2392911"/>
            <a:ext cx="22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464" name="Arrow: Right 219463">
            <a:extLst>
              <a:ext uri="{FF2B5EF4-FFF2-40B4-BE49-F238E27FC236}">
                <a16:creationId xmlns:a16="http://schemas.microsoft.com/office/drawing/2014/main" id="{329A0934-AEB7-ACA5-0575-283915EE3E81}"/>
              </a:ext>
            </a:extLst>
          </p:cNvPr>
          <p:cNvSpPr/>
          <p:nvPr/>
        </p:nvSpPr>
        <p:spPr>
          <a:xfrm>
            <a:off x="4586000" y="2392911"/>
            <a:ext cx="22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492" name="Arrow: Right 219491">
            <a:extLst>
              <a:ext uri="{FF2B5EF4-FFF2-40B4-BE49-F238E27FC236}">
                <a16:creationId xmlns:a16="http://schemas.microsoft.com/office/drawing/2014/main" id="{55FD4257-00F0-BE81-67F9-080879FF2797}"/>
              </a:ext>
            </a:extLst>
          </p:cNvPr>
          <p:cNvSpPr/>
          <p:nvPr/>
        </p:nvSpPr>
        <p:spPr>
          <a:xfrm>
            <a:off x="6704200" y="2392911"/>
            <a:ext cx="220000" cy="23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21" name="Arrow: Left 219520">
            <a:extLst>
              <a:ext uri="{FF2B5EF4-FFF2-40B4-BE49-F238E27FC236}">
                <a16:creationId xmlns:a16="http://schemas.microsoft.com/office/drawing/2014/main" id="{E6E417D6-CB29-51A0-D44E-EF20C7455D53}"/>
              </a:ext>
            </a:extLst>
          </p:cNvPr>
          <p:cNvSpPr/>
          <p:nvPr/>
        </p:nvSpPr>
        <p:spPr>
          <a:xfrm>
            <a:off x="6704200" y="4404831"/>
            <a:ext cx="220000" cy="230000"/>
          </a:xfrm>
          <a:prstGeom prst="lef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51" name="Arrow: Left 219550">
            <a:extLst>
              <a:ext uri="{FF2B5EF4-FFF2-40B4-BE49-F238E27FC236}">
                <a16:creationId xmlns:a16="http://schemas.microsoft.com/office/drawing/2014/main" id="{62F067FE-6222-5F4C-040D-8E289956D238}"/>
              </a:ext>
            </a:extLst>
          </p:cNvPr>
          <p:cNvSpPr/>
          <p:nvPr/>
        </p:nvSpPr>
        <p:spPr>
          <a:xfrm>
            <a:off x="4586000" y="4404831"/>
            <a:ext cx="220000" cy="230000"/>
          </a:xfrm>
          <a:prstGeom prst="lef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82" name="Arrow: Left 219581">
            <a:extLst>
              <a:ext uri="{FF2B5EF4-FFF2-40B4-BE49-F238E27FC236}">
                <a16:creationId xmlns:a16="http://schemas.microsoft.com/office/drawing/2014/main" id="{76FE5D40-ABDA-599A-907F-8467F23B7216}"/>
              </a:ext>
            </a:extLst>
          </p:cNvPr>
          <p:cNvSpPr/>
          <p:nvPr/>
        </p:nvSpPr>
        <p:spPr>
          <a:xfrm>
            <a:off x="2467800" y="4404831"/>
            <a:ext cx="220000" cy="230000"/>
          </a:xfrm>
          <a:prstGeom prst="lef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614" name="Arrow: Down 219613">
            <a:extLst>
              <a:ext uri="{FF2B5EF4-FFF2-40B4-BE49-F238E27FC236}">
                <a16:creationId xmlns:a16="http://schemas.microsoft.com/office/drawing/2014/main" id="{C217470D-20F9-0941-3E5A-00FFBB3E0D16}"/>
              </a:ext>
            </a:extLst>
          </p:cNvPr>
          <p:cNvSpPr/>
          <p:nvPr/>
        </p:nvSpPr>
        <p:spPr>
          <a:xfrm>
            <a:off x="7858300" y="3323871"/>
            <a:ext cx="230000" cy="380000"/>
          </a:xfrm>
          <a:prstGeom prst="down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647" name="Rectangle 219646">
            <a:extLst>
              <a:ext uri="{FF2B5EF4-FFF2-40B4-BE49-F238E27FC236}">
                <a16:creationId xmlns:a16="http://schemas.microsoft.com/office/drawing/2014/main" id="{23F2726E-D939-8A72-9AE6-C6919A903C59}"/>
              </a:ext>
            </a:extLst>
          </p:cNvPr>
          <p:cNvSpPr/>
          <p:nvPr/>
        </p:nvSpPr>
        <p:spPr>
          <a:xfrm>
            <a:off x="9282400" y="1741951"/>
            <a:ext cx="2300000" cy="3543840"/>
          </a:xfrm>
          <a:prstGeom prst="rect">
            <a:avLst/>
          </a:prstGeom>
          <a:solidFill>
            <a:srgbClr val="FFFFFF">
              <a:alpha val="7000"/>
            </a:srgbClr>
          </a:solidFill>
          <a:ln w="19050">
            <a:solidFill>
              <a:srgbClr val="FFFFFF">
                <a:alpha val="45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681" name="Rectangle 219680">
            <a:extLst>
              <a:ext uri="{FF2B5EF4-FFF2-40B4-BE49-F238E27FC236}">
                <a16:creationId xmlns:a16="http://schemas.microsoft.com/office/drawing/2014/main" id="{AA18A002-5909-2404-79EB-F2F91BB920A6}"/>
              </a:ext>
            </a:extLst>
          </p:cNvPr>
          <p:cNvSpPr/>
          <p:nvPr/>
        </p:nvSpPr>
        <p:spPr>
          <a:xfrm>
            <a:off x="9462400" y="2221519"/>
            <a:ext cx="1940000" cy="25847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B2AAF8"/>
                </a:solidFill>
                <a:effectLst/>
                <a:latin typeface="Segoe UI" panose="020B0502040204020203" pitchFamily="34" charset="0"/>
              </a:rPr>
              <a:t>NOT ALLOWED</a:t>
            </a:r>
          </a:p>
          <a:p>
            <a:pPr algn="l">
              <a:buNone/>
            </a:pPr>
            <a:r>
              <a:rPr lang="en-US" sz="2000">
                <a:solidFill>
                  <a:srgbClr val="FFFFFF"/>
                </a:solidFill>
                <a:effectLst/>
                <a:latin typeface="Segoe UI" panose="020B0502040204020203" pitchFamily="34" charset="0"/>
              </a:rPr>
              <a:t>✕  Write to Dataverse</a:t>
            </a:r>
          </a:p>
          <a:p>
            <a:pPr algn="l">
              <a:buNone/>
            </a:pPr>
            <a:r>
              <a:rPr lang="en-US" sz="2000">
                <a:solidFill>
                  <a:srgbClr val="FFFFFF"/>
                </a:solidFill>
                <a:effectLst/>
                <a:latin typeface="Segoe UI" panose="020B0502040204020203" pitchFamily="34" charset="0"/>
              </a:rPr>
              <a:t>✕  Web search</a:t>
            </a:r>
          </a:p>
          <a:p>
            <a:pPr algn="l">
              <a:buNone/>
            </a:pPr>
            <a:r>
              <a:rPr lang="en-US" sz="2000">
                <a:solidFill>
                  <a:srgbClr val="FFFFFF"/>
                </a:solidFill>
                <a:effectLst/>
                <a:latin typeface="Segoe UI" panose="020B0502040204020203" pitchFamily="34" charset="0"/>
              </a:rPr>
              <a:t>✕  Code interpreter</a:t>
            </a:r>
          </a:p>
          <a:p>
            <a:pPr algn="l">
              <a:buNone/>
            </a:pPr>
            <a:r>
              <a:rPr lang="en-US" sz="2000">
                <a:solidFill>
                  <a:srgbClr val="FFFFFF"/>
                </a:solidFill>
                <a:effectLst/>
                <a:latin typeface="Segoe UI" panose="020B0502040204020203" pitchFamily="34" charset="0"/>
              </a:rPr>
              <a:t>✕  Approve</a:t>
            </a:r>
          </a:p>
          <a:p>
            <a:pPr algn="l">
              <a:buNone/>
            </a:pPr>
            <a:r>
              <a:rPr lang="en-US" sz="2000">
                <a:solidFill>
                  <a:srgbClr val="FFFFFF"/>
                </a:solidFill>
                <a:effectLst/>
                <a:latin typeface="Segoe UI" panose="020B0502040204020203" pitchFamily="34" charset="0"/>
              </a:rPr>
              <a:t>✕  Execute</a:t>
            </a:r>
            <a:endParaRPr lang="en-US"/>
          </a:p>
        </p:txBody>
      </p:sp>
    </p:spTree>
    <p:extLst>
      <p:ext uri="{BB962C8B-B14F-4D97-AF65-F5344CB8AC3E}">
        <p14:creationId xmlns:p14="http://schemas.microsoft.com/office/powerpoint/2010/main" val="42071694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57157" name="Rectangle: Rounded Corners 157156">
            <a:extLst>
              <a:ext uri="{FF2B5EF4-FFF2-40B4-BE49-F238E27FC236}">
                <a16:creationId xmlns:a16="http://schemas.microsoft.com/office/drawing/2014/main" id="{1D10C2BD-8E32-348D-25BA-35670FF8ACFA}"/>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57303" name="Rectangle: Rounded Corners 157302">
            <a:extLst>
              <a:ext uri="{FF2B5EF4-FFF2-40B4-BE49-F238E27FC236}">
                <a16:creationId xmlns:a16="http://schemas.microsoft.com/office/drawing/2014/main" id="{AB1D3982-91D8-0FA4-BAC6-DB224D5F9B9C}"/>
              </a:ext>
            </a:extLst>
          </p:cNvPr>
          <p:cNvSpPr/>
          <p:nvPr/>
        </p:nvSpPr>
        <p:spPr>
          <a:xfrm>
            <a:off x="2176014" y="400000"/>
            <a:ext cx="996413"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4</a:t>
            </a:r>
          </a:p>
          <a:p>
            <a:pPr algn="ctr">
              <a:buNone/>
            </a:pPr>
            <a:r>
              <a:rPr lang="en-US" sz="100">
                <a:effectLst/>
              </a:rPr>
              <a:t> </a:t>
            </a:r>
            <a:endParaRPr lang="en-US"/>
          </a:p>
        </p:txBody>
      </p:sp>
      <p:sp>
        <p:nvSpPr>
          <p:cNvPr id="157450" name="Rectangle 157449">
            <a:extLst>
              <a:ext uri="{FF2B5EF4-FFF2-40B4-BE49-F238E27FC236}">
                <a16:creationId xmlns:a16="http://schemas.microsoft.com/office/drawing/2014/main" id="{5F092567-30B2-B81E-5D74-E95EF65BF80E}"/>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Lab 4 · Build the policy skill, Commander, and Handoff agent</a:t>
            </a:r>
          </a:p>
          <a:p>
            <a:pPr algn="l">
              <a:buNone/>
            </a:pPr>
            <a:r>
              <a:rPr lang="en-US" sz="100">
                <a:effectLst/>
              </a:rPr>
              <a:t> </a:t>
            </a:r>
            <a:endParaRPr lang="en-US"/>
          </a:p>
        </p:txBody>
      </p:sp>
      <p:sp>
        <p:nvSpPr>
          <p:cNvPr id="157598" name="Rectangle 157597">
            <a:extLst>
              <a:ext uri="{FF2B5EF4-FFF2-40B4-BE49-F238E27FC236}">
                <a16:creationId xmlns:a16="http://schemas.microsoft.com/office/drawing/2014/main" id="{F25FEBA6-D783-59CE-81EF-D2AFFE7247FF}"/>
              </a:ext>
            </a:extLst>
          </p:cNvPr>
          <p:cNvSpPr/>
          <p:nvPr/>
        </p:nvSpPr>
        <p:spPr>
          <a:xfrm>
            <a:off x="609600" y="1620000"/>
            <a:ext cx="10972800" cy="7096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747" name="Rectangle 157746">
            <a:extLst>
              <a:ext uri="{FF2B5EF4-FFF2-40B4-BE49-F238E27FC236}">
                <a16:creationId xmlns:a16="http://schemas.microsoft.com/office/drawing/2014/main" id="{ADAE4591-1EA0-0BC1-06A0-A121238B68D2}"/>
              </a:ext>
            </a:extLst>
          </p:cNvPr>
          <p:cNvSpPr/>
          <p:nvPr/>
        </p:nvSpPr>
        <p:spPr>
          <a:xfrm>
            <a:off x="669600" y="1620000"/>
            <a:ext cx="1900000" cy="7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B2AAF8"/>
                </a:solidFill>
                <a:effectLst/>
                <a:latin typeface="Segoe UI" panose="020B0502040204020203" pitchFamily="34" charset="0"/>
              </a:rPr>
              <a:t>OBJECTIVE</a:t>
            </a:r>
          </a:p>
          <a:p>
            <a:pPr algn="l">
              <a:buNone/>
            </a:pPr>
            <a:r>
              <a:rPr lang="en-US" sz="100">
                <a:effectLst/>
              </a:rPr>
              <a:t> </a:t>
            </a:r>
            <a:endParaRPr lang="en-US"/>
          </a:p>
        </p:txBody>
      </p:sp>
      <p:sp>
        <p:nvSpPr>
          <p:cNvPr id="158048" name="Rectangle 158047">
            <a:extLst>
              <a:ext uri="{FF2B5EF4-FFF2-40B4-BE49-F238E27FC236}">
                <a16:creationId xmlns:a16="http://schemas.microsoft.com/office/drawing/2014/main" id="{9BE2D3A2-0DEB-94AC-52A4-2F51125A1B7B}"/>
              </a:ext>
            </a:extLst>
          </p:cNvPr>
          <p:cNvSpPr/>
          <p:nvPr/>
        </p:nvSpPr>
        <p:spPr>
          <a:xfrm>
            <a:off x="609600" y="2369600"/>
            <a:ext cx="10972800" cy="7096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200" name="Rectangle 158199">
            <a:extLst>
              <a:ext uri="{FF2B5EF4-FFF2-40B4-BE49-F238E27FC236}">
                <a16:creationId xmlns:a16="http://schemas.microsoft.com/office/drawing/2014/main" id="{63756255-719A-BB85-44B0-483146D5FEFA}"/>
              </a:ext>
            </a:extLst>
          </p:cNvPr>
          <p:cNvSpPr/>
          <p:nvPr/>
        </p:nvSpPr>
        <p:spPr>
          <a:xfrm>
            <a:off x="669600" y="2369600"/>
            <a:ext cx="1900000" cy="7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B2AAF8"/>
                </a:solidFill>
                <a:effectLst/>
                <a:latin typeface="Segoe UI" panose="020B0502040204020203" pitchFamily="34" charset="0"/>
              </a:rPr>
              <a:t>STARTING POINT</a:t>
            </a:r>
          </a:p>
          <a:p>
            <a:pPr algn="l">
              <a:buNone/>
            </a:pPr>
            <a:r>
              <a:rPr lang="en-US" sz="100">
                <a:effectLst/>
              </a:rPr>
              <a:t> </a:t>
            </a:r>
            <a:endParaRPr lang="en-US"/>
          </a:p>
        </p:txBody>
      </p:sp>
      <p:sp>
        <p:nvSpPr>
          <p:cNvPr id="158507" name="Rectangle 158506">
            <a:extLst>
              <a:ext uri="{FF2B5EF4-FFF2-40B4-BE49-F238E27FC236}">
                <a16:creationId xmlns:a16="http://schemas.microsoft.com/office/drawing/2014/main" id="{0C7A7480-0CF8-7150-20CA-77599E36E4E9}"/>
              </a:ext>
            </a:extLst>
          </p:cNvPr>
          <p:cNvSpPr/>
          <p:nvPr/>
        </p:nvSpPr>
        <p:spPr>
          <a:xfrm>
            <a:off x="609600" y="3119200"/>
            <a:ext cx="10972800" cy="13192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662" name="Rectangle 158661">
            <a:extLst>
              <a:ext uri="{FF2B5EF4-FFF2-40B4-BE49-F238E27FC236}">
                <a16:creationId xmlns:a16="http://schemas.microsoft.com/office/drawing/2014/main" id="{E2BD12CB-6A15-F91C-653C-3EA904D10D0C}"/>
              </a:ext>
            </a:extLst>
          </p:cNvPr>
          <p:cNvSpPr/>
          <p:nvPr/>
        </p:nvSpPr>
        <p:spPr>
          <a:xfrm>
            <a:off x="669600" y="3119200"/>
            <a:ext cx="1900000" cy="1319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B2AAF8"/>
                </a:solidFill>
                <a:effectLst/>
                <a:latin typeface="Segoe UI" panose="020B0502040204020203" pitchFamily="34" charset="0"/>
              </a:rPr>
              <a:t>MAJOR TASKS</a:t>
            </a:r>
          </a:p>
          <a:p>
            <a:pPr algn="l">
              <a:buNone/>
            </a:pPr>
            <a:r>
              <a:rPr lang="en-US" sz="100">
                <a:effectLst/>
              </a:rPr>
              <a:t> </a:t>
            </a:r>
            <a:endParaRPr lang="en-US"/>
          </a:p>
        </p:txBody>
      </p:sp>
      <p:sp>
        <p:nvSpPr>
          <p:cNvPr id="158975" name="Rectangle 158974">
            <a:extLst>
              <a:ext uri="{FF2B5EF4-FFF2-40B4-BE49-F238E27FC236}">
                <a16:creationId xmlns:a16="http://schemas.microsoft.com/office/drawing/2014/main" id="{C9E15771-9080-2388-3054-F1A1F466D8D7}"/>
              </a:ext>
            </a:extLst>
          </p:cNvPr>
          <p:cNvSpPr/>
          <p:nvPr/>
        </p:nvSpPr>
        <p:spPr>
          <a:xfrm>
            <a:off x="609600" y="4478400"/>
            <a:ext cx="10972800" cy="5572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133" name="Rectangle 159132">
            <a:extLst>
              <a:ext uri="{FF2B5EF4-FFF2-40B4-BE49-F238E27FC236}">
                <a16:creationId xmlns:a16="http://schemas.microsoft.com/office/drawing/2014/main" id="{03B9BAB3-61AE-B09D-F000-2201940B03E9}"/>
              </a:ext>
            </a:extLst>
          </p:cNvPr>
          <p:cNvSpPr/>
          <p:nvPr/>
        </p:nvSpPr>
        <p:spPr>
          <a:xfrm>
            <a:off x="669600" y="4478400"/>
            <a:ext cx="1900000" cy="5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B2AAF8"/>
                </a:solidFill>
                <a:effectLst/>
                <a:latin typeface="Segoe UI" panose="020B0502040204020203" pitchFamily="34" charset="0"/>
              </a:rPr>
              <a:t>COMPONENTS CREATED</a:t>
            </a:r>
          </a:p>
          <a:p>
            <a:pPr algn="l">
              <a:buNone/>
            </a:pPr>
            <a:r>
              <a:rPr lang="en-US" sz="100">
                <a:effectLst/>
              </a:rPr>
              <a:t> </a:t>
            </a:r>
            <a:endParaRPr lang="en-US"/>
          </a:p>
        </p:txBody>
      </p:sp>
      <p:sp>
        <p:nvSpPr>
          <p:cNvPr id="159452" name="Rectangle 159451">
            <a:extLst>
              <a:ext uri="{FF2B5EF4-FFF2-40B4-BE49-F238E27FC236}">
                <a16:creationId xmlns:a16="http://schemas.microsoft.com/office/drawing/2014/main" id="{E848F336-7D83-5796-63D2-F60DF1BD70B6}"/>
              </a:ext>
            </a:extLst>
          </p:cNvPr>
          <p:cNvSpPr/>
          <p:nvPr/>
        </p:nvSpPr>
        <p:spPr>
          <a:xfrm>
            <a:off x="609600" y="5075600"/>
            <a:ext cx="10972800" cy="4048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613" name="Rectangle 159612">
            <a:extLst>
              <a:ext uri="{FF2B5EF4-FFF2-40B4-BE49-F238E27FC236}">
                <a16:creationId xmlns:a16="http://schemas.microsoft.com/office/drawing/2014/main" id="{F77F0C4C-CD08-78B9-DF73-E7B982FA2AA9}"/>
              </a:ext>
            </a:extLst>
          </p:cNvPr>
          <p:cNvSpPr/>
          <p:nvPr/>
        </p:nvSpPr>
        <p:spPr>
          <a:xfrm>
            <a:off x="669600" y="5075600"/>
            <a:ext cx="1900000" cy="4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B2AAF8"/>
                </a:solidFill>
                <a:effectLst/>
                <a:latin typeface="Segoe UI" panose="020B0502040204020203" pitchFamily="34" charset="0"/>
              </a:rPr>
              <a:t>DEPENDS ON</a:t>
            </a:r>
          </a:p>
          <a:p>
            <a:pPr algn="l">
              <a:buNone/>
            </a:pPr>
            <a:r>
              <a:rPr lang="en-US" sz="100">
                <a:effectLst/>
              </a:rPr>
              <a:t> </a:t>
            </a:r>
            <a:endParaRPr lang="en-US"/>
          </a:p>
        </p:txBody>
      </p:sp>
      <p:sp>
        <p:nvSpPr>
          <p:cNvPr id="159938" name="Rectangle 159937">
            <a:extLst>
              <a:ext uri="{FF2B5EF4-FFF2-40B4-BE49-F238E27FC236}">
                <a16:creationId xmlns:a16="http://schemas.microsoft.com/office/drawing/2014/main" id="{B7073265-22ED-3F6F-EA1B-A93610FF9DB6}"/>
              </a:ext>
            </a:extLst>
          </p:cNvPr>
          <p:cNvSpPr/>
          <p:nvPr/>
        </p:nvSpPr>
        <p:spPr>
          <a:xfrm>
            <a:off x="609600" y="5520400"/>
            <a:ext cx="10972800" cy="709600"/>
          </a:xfrm>
          <a:prstGeom prst="rect">
            <a:avLst/>
          </a:prstGeom>
          <a:solidFill>
            <a:srgbClr val="FFFFFF">
              <a:alpha val="12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102" name="Rectangle 160101">
            <a:extLst>
              <a:ext uri="{FF2B5EF4-FFF2-40B4-BE49-F238E27FC236}">
                <a16:creationId xmlns:a16="http://schemas.microsoft.com/office/drawing/2014/main" id="{52EA9802-634C-670B-49A8-177779A7178D}"/>
              </a:ext>
            </a:extLst>
          </p:cNvPr>
          <p:cNvSpPr/>
          <p:nvPr/>
        </p:nvSpPr>
        <p:spPr>
          <a:xfrm>
            <a:off x="669600" y="5520400"/>
            <a:ext cx="1900000" cy="7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spc="100">
                <a:solidFill>
                  <a:srgbClr val="B2AAF8"/>
                </a:solidFill>
                <a:effectLst/>
                <a:latin typeface="Segoe UI" panose="020B0502040204020203" pitchFamily="34" charset="0"/>
              </a:rPr>
              <a:t>SUCCESS LOOKS LIKE</a:t>
            </a:r>
          </a:p>
          <a:p>
            <a:pPr algn="l">
              <a:buNone/>
            </a:pPr>
            <a:r>
              <a:rPr lang="en-US" sz="100">
                <a:effectLst/>
              </a:rPr>
              <a:t> </a:t>
            </a:r>
            <a:endParaRPr lang="en-US"/>
          </a:p>
        </p:txBody>
      </p:sp>
      <p:sp>
        <p:nvSpPr>
          <p:cNvPr id="231967" name="Rectangle 231966">
            <a:extLst>
              <a:ext uri="{FF2B5EF4-FFF2-40B4-BE49-F238E27FC236}">
                <a16:creationId xmlns:a16="http://schemas.microsoft.com/office/drawing/2014/main" id="{0811BFA4-8E9D-5A37-756D-C1B25DEC3942}"/>
              </a:ext>
            </a:extLst>
          </p:cNvPr>
          <p:cNvSpPr/>
          <p:nvPr/>
        </p:nvSpPr>
        <p:spPr>
          <a:xfrm>
            <a:off x="2659600" y="1620000"/>
            <a:ext cx="8862800" cy="7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Apply policy with a read-only agent and route the decision to a human in Agent feed</a:t>
            </a:r>
          </a:p>
          <a:p>
            <a:pPr algn="l">
              <a:buNone/>
            </a:pPr>
            <a:r>
              <a:rPr lang="en-US" sz="100">
                <a:effectLst/>
              </a:rPr>
              <a:t> </a:t>
            </a:r>
            <a:endParaRPr lang="en-US"/>
          </a:p>
        </p:txBody>
      </p:sp>
      <p:sp>
        <p:nvSpPr>
          <p:cNvPr id="231969" name="Rectangle 231968">
            <a:extLst>
              <a:ext uri="{FF2B5EF4-FFF2-40B4-BE49-F238E27FC236}">
                <a16:creationId xmlns:a16="http://schemas.microsoft.com/office/drawing/2014/main" id="{E58B71C0-BAD1-9AC3-5839-A0318ABF3340}"/>
              </a:ext>
            </a:extLst>
          </p:cNvPr>
          <p:cNvSpPr/>
          <p:nvPr/>
        </p:nvSpPr>
        <p:spPr>
          <a:xfrm>
            <a:off x="2659600" y="2369600"/>
            <a:ext cx="8862800" cy="7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Pending Recovery Decision and case from Module 3; facilitator Dataverse and Power Apps MCP connections</a:t>
            </a:r>
          </a:p>
          <a:p>
            <a:pPr algn="l">
              <a:buNone/>
            </a:pPr>
            <a:r>
              <a:rPr lang="en-US" sz="100">
                <a:effectLst/>
              </a:rPr>
              <a:t> </a:t>
            </a:r>
            <a:endParaRPr lang="en-US"/>
          </a:p>
        </p:txBody>
      </p:sp>
      <p:sp>
        <p:nvSpPr>
          <p:cNvPr id="231972" name="Rectangle 231971">
            <a:extLst>
              <a:ext uri="{FF2B5EF4-FFF2-40B4-BE49-F238E27FC236}">
                <a16:creationId xmlns:a16="http://schemas.microsoft.com/office/drawing/2014/main" id="{B67294AC-9E7F-12A9-893E-AAD25E710B0E}"/>
              </a:ext>
            </a:extLst>
          </p:cNvPr>
          <p:cNvSpPr/>
          <p:nvPr/>
        </p:nvSpPr>
        <p:spPr>
          <a:xfrm>
            <a:off x="2659600" y="3119200"/>
            <a:ext cx="8862800" cy="1319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Business Skill  ·  Commander agent + read-only Dataverse MCP  ·  Disable web and code  ·  Test refusal  ·  Handoff agent + connected Commander + request_assistance  ·  Autonomous trigger  ·  Add to Agent feed  ·  Verify one item</a:t>
            </a:r>
          </a:p>
          <a:p>
            <a:pPr algn="l">
              <a:buNone/>
            </a:pPr>
            <a:r>
              <a:rPr lang="en-US" sz="100">
                <a:effectLst/>
              </a:rPr>
              <a:t> </a:t>
            </a:r>
            <a:endParaRPr lang="en-US"/>
          </a:p>
        </p:txBody>
      </p:sp>
      <p:sp>
        <p:nvSpPr>
          <p:cNvPr id="231976" name="Rectangle 231975">
            <a:extLst>
              <a:ext uri="{FF2B5EF4-FFF2-40B4-BE49-F238E27FC236}">
                <a16:creationId xmlns:a16="http://schemas.microsoft.com/office/drawing/2014/main" id="{E2616374-DEE5-EBCA-C167-B0F58C53FB20}"/>
              </a:ext>
            </a:extLst>
          </p:cNvPr>
          <p:cNvSpPr/>
          <p:nvPr/>
        </p:nvSpPr>
        <p:spPr>
          <a:xfrm>
            <a:off x="2659600" y="4478400"/>
            <a:ext cx="8862800" cy="5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1 Business Skill, 2 agents, 1 trigger, 1 Agent feed association</a:t>
            </a:r>
          </a:p>
          <a:p>
            <a:pPr algn="l">
              <a:buNone/>
            </a:pPr>
            <a:r>
              <a:rPr lang="en-US" sz="100">
                <a:effectLst/>
              </a:rPr>
              <a:t> </a:t>
            </a:r>
            <a:endParaRPr lang="en-US"/>
          </a:p>
        </p:txBody>
      </p:sp>
      <p:sp>
        <p:nvSpPr>
          <p:cNvPr id="231981" name="Rectangle 231980">
            <a:extLst>
              <a:ext uri="{FF2B5EF4-FFF2-40B4-BE49-F238E27FC236}">
                <a16:creationId xmlns:a16="http://schemas.microsoft.com/office/drawing/2014/main" id="{D7A51685-07C5-C8AA-AA52-9B22931DBC75}"/>
              </a:ext>
            </a:extLst>
          </p:cNvPr>
          <p:cNvSpPr/>
          <p:nvPr/>
        </p:nvSpPr>
        <p:spPr>
          <a:xfrm>
            <a:off x="2659600" y="5055600"/>
            <a:ext cx="8862800" cy="44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Module 3 decision and case</a:t>
            </a:r>
          </a:p>
          <a:p>
            <a:pPr algn="l">
              <a:buNone/>
            </a:pPr>
            <a:r>
              <a:rPr lang="en-US" sz="100">
                <a:effectLst/>
              </a:rPr>
              <a:t> </a:t>
            </a:r>
            <a:endParaRPr lang="en-US"/>
          </a:p>
        </p:txBody>
      </p:sp>
      <p:sp>
        <p:nvSpPr>
          <p:cNvPr id="231987" name="Rectangle 231986">
            <a:extLst>
              <a:ext uri="{FF2B5EF4-FFF2-40B4-BE49-F238E27FC236}">
                <a16:creationId xmlns:a16="http://schemas.microsoft.com/office/drawing/2014/main" id="{61E789C8-85B0-5F7D-4C0B-EC4ED9E647DA}"/>
              </a:ext>
            </a:extLst>
          </p:cNvPr>
          <p:cNvSpPr/>
          <p:nvPr/>
        </p:nvSpPr>
        <p:spPr>
          <a:xfrm>
            <a:off x="2659600" y="5520400"/>
            <a:ext cx="8862800" cy="7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Commander explains and refuses execution; exactly one Needs attention item opens the case; no approval or execution record</a:t>
            </a:r>
          </a:p>
          <a:p>
            <a:pPr algn="l">
              <a:buNone/>
            </a:pPr>
            <a:r>
              <a:rPr lang="en-US" sz="100">
                <a:effectLst/>
              </a:rPr>
              <a:t> </a:t>
            </a:r>
            <a:endParaRPr lang="en-US"/>
          </a:p>
        </p:txBody>
      </p:sp>
    </p:spTree>
    <p:extLst>
      <p:ext uri="{BB962C8B-B14F-4D97-AF65-F5344CB8AC3E}">
        <p14:creationId xmlns:p14="http://schemas.microsoft.com/office/powerpoint/2010/main" val="8465650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0268" name="Rectangle: Rounded Corners 160267">
            <a:extLst>
              <a:ext uri="{FF2B5EF4-FFF2-40B4-BE49-F238E27FC236}">
                <a16:creationId xmlns:a16="http://schemas.microsoft.com/office/drawing/2014/main" id="{A57C8BB2-0D44-EF4A-E43E-B74E9B820BA0}"/>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60270" name="Rectangle: Rounded Corners 160269">
            <a:extLst>
              <a:ext uri="{FF2B5EF4-FFF2-40B4-BE49-F238E27FC236}">
                <a16:creationId xmlns:a16="http://schemas.microsoft.com/office/drawing/2014/main" id="{FF6217AF-724F-5A6B-6886-CBD3C61C8CEF}"/>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4 · STEPS 1–2 OF 8</a:t>
            </a:r>
          </a:p>
          <a:p>
            <a:pPr algn="ctr">
              <a:buNone/>
            </a:pPr>
            <a:r>
              <a:rPr lang="en-US" sz="100">
                <a:effectLst/>
              </a:rPr>
              <a:t> </a:t>
            </a:r>
            <a:endParaRPr lang="en-US"/>
          </a:p>
        </p:txBody>
      </p:sp>
      <p:sp>
        <p:nvSpPr>
          <p:cNvPr id="160273" name="Rectangle 160272">
            <a:extLst>
              <a:ext uri="{FF2B5EF4-FFF2-40B4-BE49-F238E27FC236}">
                <a16:creationId xmlns:a16="http://schemas.microsoft.com/office/drawing/2014/main" id="{71B94A14-4BAA-0F7C-D738-E087A6D7FA5D}"/>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policy and the Commander</a:t>
            </a:r>
          </a:p>
          <a:p>
            <a:pPr algn="l">
              <a:buNone/>
            </a:pPr>
            <a:r>
              <a:rPr lang="en-US" sz="100">
                <a:effectLst/>
              </a:rPr>
              <a:t> </a:t>
            </a:r>
            <a:endParaRPr lang="en-US"/>
          </a:p>
        </p:txBody>
      </p:sp>
      <p:sp>
        <p:nvSpPr>
          <p:cNvPr id="160277" name="Rectangle 160276">
            <a:extLst>
              <a:ext uri="{FF2B5EF4-FFF2-40B4-BE49-F238E27FC236}">
                <a16:creationId xmlns:a16="http://schemas.microsoft.com/office/drawing/2014/main" id="{A0B0BA9F-BC95-C7A4-B2F2-5A9F42CE0B40}"/>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82" name="Rectangle: Rounded Corners 160281">
            <a:extLst>
              <a:ext uri="{FF2B5EF4-FFF2-40B4-BE49-F238E27FC236}">
                <a16:creationId xmlns:a16="http://schemas.microsoft.com/office/drawing/2014/main" id="{CD571321-6E52-FCA0-4D71-168916724C59}"/>
              </a:ext>
            </a:extLst>
          </p:cNvPr>
          <p:cNvSpPr/>
          <p:nvPr/>
        </p:nvSpPr>
        <p:spPr>
          <a:xfrm>
            <a:off x="7796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1</a:t>
            </a:r>
          </a:p>
          <a:p>
            <a:pPr algn="ctr">
              <a:buNone/>
            </a:pPr>
            <a:r>
              <a:rPr lang="en-US" sz="100">
                <a:effectLst/>
              </a:rPr>
              <a:t> </a:t>
            </a:r>
            <a:endParaRPr lang="en-US"/>
          </a:p>
        </p:txBody>
      </p:sp>
      <p:sp>
        <p:nvSpPr>
          <p:cNvPr id="160288" name="Rectangle 160287">
            <a:extLst>
              <a:ext uri="{FF2B5EF4-FFF2-40B4-BE49-F238E27FC236}">
                <a16:creationId xmlns:a16="http://schemas.microsoft.com/office/drawing/2014/main" id="{865926C2-1883-EFE4-31B2-B2185CE6E431}"/>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the Business Skill</a:t>
            </a:r>
          </a:p>
          <a:p>
            <a:pPr algn="l">
              <a:buNone/>
            </a:pPr>
            <a:r>
              <a:rPr lang="en-US" sz="100">
                <a:effectLst/>
              </a:rPr>
              <a:t> </a:t>
            </a:r>
            <a:endParaRPr lang="en-US"/>
          </a:p>
        </p:txBody>
      </p:sp>
      <p:sp>
        <p:nvSpPr>
          <p:cNvPr id="160295" name="Rectangle 160294">
            <a:extLst>
              <a:ext uri="{FF2B5EF4-FFF2-40B4-BE49-F238E27FC236}">
                <a16:creationId xmlns:a16="http://schemas.microsoft.com/office/drawing/2014/main" id="{8435D419-7F98-7B6A-0DC6-6557C2742661}"/>
              </a:ext>
            </a:extLst>
          </p:cNvPr>
          <p:cNvSpPr/>
          <p:nvPr/>
        </p:nvSpPr>
        <p:spPr>
          <a:xfrm>
            <a:off x="7796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ppcc-order-disruption-triage from the repo prompt file; add it to the solution</a:t>
            </a:r>
          </a:p>
          <a:p>
            <a:pPr algn="l">
              <a:buNone/>
            </a:pPr>
            <a:r>
              <a:rPr lang="en-US" sz="100">
                <a:effectLst/>
              </a:rPr>
              <a:t> </a:t>
            </a:r>
            <a:endParaRPr lang="en-US"/>
          </a:p>
        </p:txBody>
      </p:sp>
      <p:sp>
        <p:nvSpPr>
          <p:cNvPr id="160303" name="Rectangle 160302">
            <a:extLst>
              <a:ext uri="{FF2B5EF4-FFF2-40B4-BE49-F238E27FC236}">
                <a16:creationId xmlns:a16="http://schemas.microsoft.com/office/drawing/2014/main" id="{B20FF3AF-49CE-0B86-DFDA-F851DD5D8194}"/>
              </a:ext>
            </a:extLst>
          </p:cNvPr>
          <p:cNvSpPr/>
          <p:nvPr/>
        </p:nvSpPr>
        <p:spPr>
          <a:xfrm>
            <a:off x="609600" y="5793872"/>
            <a:ext cx="5361400" cy="636128"/>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12" name="Rectangle 160311">
            <a:extLst>
              <a:ext uri="{FF2B5EF4-FFF2-40B4-BE49-F238E27FC236}">
                <a16:creationId xmlns:a16="http://schemas.microsoft.com/office/drawing/2014/main" id="{4CF0A77A-6B03-92DA-05E4-3F3781FC4957}"/>
              </a:ext>
            </a:extLst>
          </p:cNvPr>
          <p:cNvSpPr/>
          <p:nvPr/>
        </p:nvSpPr>
        <p:spPr>
          <a:xfrm>
            <a:off x="779600" y="5853872"/>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Preview shows policy version lab-1</a:t>
            </a:r>
          </a:p>
          <a:p>
            <a:pPr algn="l">
              <a:buNone/>
            </a:pPr>
            <a:r>
              <a:rPr lang="en-US" sz="100">
                <a:effectLst/>
              </a:rPr>
              <a:t> </a:t>
            </a:r>
            <a:endParaRPr lang="en-US"/>
          </a:p>
        </p:txBody>
      </p:sp>
      <p:sp>
        <p:nvSpPr>
          <p:cNvPr id="160322" name="Rectangle 160321">
            <a:extLst>
              <a:ext uri="{FF2B5EF4-FFF2-40B4-BE49-F238E27FC236}">
                <a16:creationId xmlns:a16="http://schemas.microsoft.com/office/drawing/2014/main" id="{13B54563-46C5-BD48-6F28-3344FBDDC213}"/>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33" name="Rectangle: Rounded Corners 160332">
            <a:extLst>
              <a:ext uri="{FF2B5EF4-FFF2-40B4-BE49-F238E27FC236}">
                <a16:creationId xmlns:a16="http://schemas.microsoft.com/office/drawing/2014/main" id="{51AD0232-29AA-7E8F-311D-F6A6E48567F3}"/>
              </a:ext>
            </a:extLst>
          </p:cNvPr>
          <p:cNvSpPr/>
          <p:nvPr/>
        </p:nvSpPr>
        <p:spPr>
          <a:xfrm>
            <a:off x="63910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2</a:t>
            </a:r>
          </a:p>
          <a:p>
            <a:pPr algn="ctr">
              <a:buNone/>
            </a:pPr>
            <a:r>
              <a:rPr lang="en-US" sz="100">
                <a:effectLst/>
              </a:rPr>
              <a:t> </a:t>
            </a:r>
            <a:endParaRPr lang="en-US"/>
          </a:p>
        </p:txBody>
      </p:sp>
      <p:sp>
        <p:nvSpPr>
          <p:cNvPr id="160345" name="Rectangle 160344">
            <a:extLst>
              <a:ext uri="{FF2B5EF4-FFF2-40B4-BE49-F238E27FC236}">
                <a16:creationId xmlns:a16="http://schemas.microsoft.com/office/drawing/2014/main" id="{C1A34E2D-B2C5-F289-542F-3A9872E51461}"/>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Disruption Commander</a:t>
            </a:r>
          </a:p>
          <a:p>
            <a:pPr algn="l">
              <a:buNone/>
            </a:pPr>
            <a:r>
              <a:rPr lang="en-US" sz="100">
                <a:effectLst/>
              </a:rPr>
              <a:t> </a:t>
            </a:r>
            <a:endParaRPr lang="en-US"/>
          </a:p>
        </p:txBody>
      </p:sp>
      <p:sp>
        <p:nvSpPr>
          <p:cNvPr id="160358" name="Rectangle 160357">
            <a:extLst>
              <a:ext uri="{FF2B5EF4-FFF2-40B4-BE49-F238E27FC236}">
                <a16:creationId xmlns:a16="http://schemas.microsoft.com/office/drawing/2014/main" id="{4CB9CEF3-044D-CD5A-A87C-F6F68911FC4B}"/>
              </a:ext>
            </a:extLst>
          </p:cNvPr>
          <p:cNvSpPr/>
          <p:nvPr/>
        </p:nvSpPr>
        <p:spPr>
          <a:xfrm>
            <a:off x="63910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Agent (Standard), instructions from the repo</a:t>
            </a:r>
          </a:p>
          <a:p>
            <a:pPr algn="l">
              <a:buNone/>
            </a:pPr>
            <a:r>
              <a:rPr lang="en-US" sz="100">
                <a:effectLst/>
              </a:rPr>
              <a:t> </a:t>
            </a:r>
            <a:endParaRPr lang="en-US"/>
          </a:p>
        </p:txBody>
      </p:sp>
      <p:sp>
        <p:nvSpPr>
          <p:cNvPr id="160372" name="Rectangle 160371">
            <a:extLst>
              <a:ext uri="{FF2B5EF4-FFF2-40B4-BE49-F238E27FC236}">
                <a16:creationId xmlns:a16="http://schemas.microsoft.com/office/drawing/2014/main" id="{B3CE24F6-0F8E-2758-F6BB-354FE9AF9C28}"/>
              </a:ext>
            </a:extLst>
          </p:cNvPr>
          <p:cNvSpPr/>
          <p:nvPr/>
        </p:nvSpPr>
        <p:spPr>
          <a:xfrm>
            <a:off x="6221000" y="5793872"/>
            <a:ext cx="5361400" cy="636128"/>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87" name="Rectangle 160386">
            <a:extLst>
              <a:ext uri="{FF2B5EF4-FFF2-40B4-BE49-F238E27FC236}">
                <a16:creationId xmlns:a16="http://schemas.microsoft.com/office/drawing/2014/main" id="{948E9406-EC74-9CFC-4869-236BFFBCEED5}"/>
              </a:ext>
            </a:extLst>
          </p:cNvPr>
          <p:cNvSpPr/>
          <p:nvPr/>
        </p:nvSpPr>
        <p:spPr>
          <a:xfrm>
            <a:off x="6391000" y="5853872"/>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Agent saved in the solution</a:t>
            </a:r>
          </a:p>
          <a:p>
            <a:pPr algn="l">
              <a:buNone/>
            </a:pPr>
            <a:r>
              <a:rPr lang="en-US" sz="100">
                <a:effectLst/>
              </a:rPr>
              <a:t> </a:t>
            </a:r>
            <a:endParaRPr lang="en-US"/>
          </a:p>
        </p:txBody>
      </p:sp>
    </p:spTree>
    <p:extLst>
      <p:ext uri="{BB962C8B-B14F-4D97-AF65-F5344CB8AC3E}">
        <p14:creationId xmlns:p14="http://schemas.microsoft.com/office/powerpoint/2010/main" val="229401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0403" name="Rectangle: Rounded Corners 160402">
            <a:extLst>
              <a:ext uri="{FF2B5EF4-FFF2-40B4-BE49-F238E27FC236}">
                <a16:creationId xmlns:a16="http://schemas.microsoft.com/office/drawing/2014/main" id="{381BAE9F-E0DD-4396-58FB-7CE4FCBB1955}"/>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60420" name="Rectangle: Rounded Corners 160419">
            <a:extLst>
              <a:ext uri="{FF2B5EF4-FFF2-40B4-BE49-F238E27FC236}">
                <a16:creationId xmlns:a16="http://schemas.microsoft.com/office/drawing/2014/main" id="{8C6810F9-0337-3EE3-9F09-E20B49649D7A}"/>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4 · STEPS 3–4 OF 8</a:t>
            </a:r>
          </a:p>
          <a:p>
            <a:pPr algn="ctr">
              <a:buNone/>
            </a:pPr>
            <a:r>
              <a:rPr lang="en-US" sz="100">
                <a:effectLst/>
              </a:rPr>
              <a:t> </a:t>
            </a:r>
            <a:endParaRPr lang="en-US"/>
          </a:p>
        </p:txBody>
      </p:sp>
      <p:sp>
        <p:nvSpPr>
          <p:cNvPr id="160438" name="Rectangle 160437">
            <a:extLst>
              <a:ext uri="{FF2B5EF4-FFF2-40B4-BE49-F238E27FC236}">
                <a16:creationId xmlns:a16="http://schemas.microsoft.com/office/drawing/2014/main" id="{9A13B33C-CC97-C72D-9869-F5B2329F103B}"/>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policy and the Commander</a:t>
            </a:r>
          </a:p>
          <a:p>
            <a:pPr algn="l">
              <a:buNone/>
            </a:pPr>
            <a:r>
              <a:rPr lang="en-US" sz="100">
                <a:effectLst/>
              </a:rPr>
              <a:t> </a:t>
            </a:r>
            <a:endParaRPr lang="en-US"/>
          </a:p>
        </p:txBody>
      </p:sp>
      <p:sp>
        <p:nvSpPr>
          <p:cNvPr id="160457" name="Rectangle 160456">
            <a:extLst>
              <a:ext uri="{FF2B5EF4-FFF2-40B4-BE49-F238E27FC236}">
                <a16:creationId xmlns:a16="http://schemas.microsoft.com/office/drawing/2014/main" id="{83E05E6A-B920-B4AF-EC35-7E447C8DFE09}"/>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77" name="Rectangle: Rounded Corners 160476">
            <a:extLst>
              <a:ext uri="{FF2B5EF4-FFF2-40B4-BE49-F238E27FC236}">
                <a16:creationId xmlns:a16="http://schemas.microsoft.com/office/drawing/2014/main" id="{8A0F0591-1A83-A491-C982-19D86F3AFD4A}"/>
              </a:ext>
            </a:extLst>
          </p:cNvPr>
          <p:cNvSpPr/>
          <p:nvPr/>
        </p:nvSpPr>
        <p:spPr>
          <a:xfrm>
            <a:off x="7796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3</a:t>
            </a:r>
          </a:p>
          <a:p>
            <a:pPr algn="ctr">
              <a:buNone/>
            </a:pPr>
            <a:r>
              <a:rPr lang="en-US" sz="100">
                <a:effectLst/>
              </a:rPr>
              <a:t> </a:t>
            </a:r>
            <a:endParaRPr lang="en-US"/>
          </a:p>
        </p:txBody>
      </p:sp>
      <p:sp>
        <p:nvSpPr>
          <p:cNvPr id="160498" name="Rectangle 160497">
            <a:extLst>
              <a:ext uri="{FF2B5EF4-FFF2-40B4-BE49-F238E27FC236}">
                <a16:creationId xmlns:a16="http://schemas.microsoft.com/office/drawing/2014/main" id="{0047F283-C34D-ECD4-4FAC-B31359A6AB25}"/>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Add read-only Dataverse MCP</a:t>
            </a:r>
          </a:p>
          <a:p>
            <a:pPr algn="l">
              <a:buNone/>
            </a:pPr>
            <a:r>
              <a:rPr lang="en-US" sz="100">
                <a:effectLst/>
              </a:rPr>
              <a:t> </a:t>
            </a:r>
            <a:endParaRPr lang="en-US"/>
          </a:p>
        </p:txBody>
      </p:sp>
      <p:sp>
        <p:nvSpPr>
          <p:cNvPr id="160520" name="Rectangle 160519">
            <a:extLst>
              <a:ext uri="{FF2B5EF4-FFF2-40B4-BE49-F238E27FC236}">
                <a16:creationId xmlns:a16="http://schemas.microsoft.com/office/drawing/2014/main" id="{41625198-5866-F7E0-36A3-BF7B2CC68A2C}"/>
              </a:ext>
            </a:extLst>
          </p:cNvPr>
          <p:cNvSpPr/>
          <p:nvPr/>
        </p:nvSpPr>
        <p:spPr>
          <a:xfrm>
            <a:off x="7796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Allow all off; only read_query, search, describe</a:t>
            </a:r>
          </a:p>
          <a:p>
            <a:pPr algn="l">
              <a:buNone/>
            </a:pPr>
            <a:r>
              <a:rPr lang="en-US" sz="100">
                <a:effectLst/>
              </a:rPr>
              <a:t> </a:t>
            </a:r>
            <a:endParaRPr lang="en-US"/>
          </a:p>
        </p:txBody>
      </p:sp>
      <p:sp>
        <p:nvSpPr>
          <p:cNvPr id="160543" name="Rectangle 160542">
            <a:extLst>
              <a:ext uri="{FF2B5EF4-FFF2-40B4-BE49-F238E27FC236}">
                <a16:creationId xmlns:a16="http://schemas.microsoft.com/office/drawing/2014/main" id="{74F2D3C4-1D69-EBD6-4E7B-55E7874C6D63}"/>
              </a:ext>
            </a:extLst>
          </p:cNvPr>
          <p:cNvSpPr/>
          <p:nvPr/>
        </p:nvSpPr>
        <p:spPr>
          <a:xfrm>
            <a:off x="609600" y="5112136"/>
            <a:ext cx="5361400" cy="1317864"/>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67" name="Rectangle 160566">
            <a:extLst>
              <a:ext uri="{FF2B5EF4-FFF2-40B4-BE49-F238E27FC236}">
                <a16:creationId xmlns:a16="http://schemas.microsoft.com/office/drawing/2014/main" id="{34E4B780-94CB-2F08-B8F1-C942AD66253A}"/>
              </a:ext>
            </a:extLst>
          </p:cNvPr>
          <p:cNvSpPr/>
          <p:nvPr/>
        </p:nvSpPr>
        <p:spPr>
          <a:xfrm>
            <a:off x="779600" y="5513004"/>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Every write operation is off</a:t>
            </a:r>
          </a:p>
          <a:p>
            <a:pPr algn="l">
              <a:buNone/>
            </a:pPr>
            <a:r>
              <a:rPr lang="en-US" sz="100">
                <a:effectLst/>
              </a:rPr>
              <a:t> </a:t>
            </a:r>
            <a:endParaRPr lang="en-US"/>
          </a:p>
        </p:txBody>
      </p:sp>
      <p:sp>
        <p:nvSpPr>
          <p:cNvPr id="160592" name="Rectangle 160591">
            <a:extLst>
              <a:ext uri="{FF2B5EF4-FFF2-40B4-BE49-F238E27FC236}">
                <a16:creationId xmlns:a16="http://schemas.microsoft.com/office/drawing/2014/main" id="{7251F500-EA2D-EADD-3C0C-2EE8E6BF7585}"/>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18" name="Rectangle: Rounded Corners 160617">
            <a:extLst>
              <a:ext uri="{FF2B5EF4-FFF2-40B4-BE49-F238E27FC236}">
                <a16:creationId xmlns:a16="http://schemas.microsoft.com/office/drawing/2014/main" id="{205D86F0-336F-0811-FCDA-0F88DC2AF4C2}"/>
              </a:ext>
            </a:extLst>
          </p:cNvPr>
          <p:cNvSpPr/>
          <p:nvPr/>
        </p:nvSpPr>
        <p:spPr>
          <a:xfrm>
            <a:off x="63910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4</a:t>
            </a:r>
          </a:p>
          <a:p>
            <a:pPr algn="ctr">
              <a:buNone/>
            </a:pPr>
            <a:r>
              <a:rPr lang="en-US" sz="100">
                <a:effectLst/>
              </a:rPr>
              <a:t> </a:t>
            </a:r>
            <a:endParaRPr lang="en-US"/>
          </a:p>
        </p:txBody>
      </p:sp>
      <p:sp>
        <p:nvSpPr>
          <p:cNvPr id="160645" name="Rectangle 160644">
            <a:extLst>
              <a:ext uri="{FF2B5EF4-FFF2-40B4-BE49-F238E27FC236}">
                <a16:creationId xmlns:a16="http://schemas.microsoft.com/office/drawing/2014/main" id="{892D4F7E-603C-7BE6-836D-009EDBF5269D}"/>
              </a:ext>
            </a:extLst>
          </p:cNvPr>
          <p:cNvSpPr/>
          <p:nvPr/>
        </p:nvSpPr>
        <p:spPr>
          <a:xfrm>
            <a:off x="71010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Turn off web and code, publish, test</a:t>
            </a:r>
          </a:p>
          <a:p>
            <a:pPr algn="l">
              <a:buNone/>
            </a:pPr>
            <a:r>
              <a:rPr lang="en-US" sz="100">
                <a:effectLst/>
              </a:rPr>
              <a:t> </a:t>
            </a:r>
            <a:endParaRPr lang="en-US"/>
          </a:p>
        </p:txBody>
      </p:sp>
      <p:sp>
        <p:nvSpPr>
          <p:cNvPr id="160673" name="Rectangle 160672">
            <a:extLst>
              <a:ext uri="{FF2B5EF4-FFF2-40B4-BE49-F238E27FC236}">
                <a16:creationId xmlns:a16="http://schemas.microsoft.com/office/drawing/2014/main" id="{4D564517-36BE-805F-774E-837B8D15D528}"/>
              </a:ext>
            </a:extLst>
          </p:cNvPr>
          <p:cNvSpPr/>
          <p:nvPr/>
        </p:nvSpPr>
        <p:spPr>
          <a:xfrm>
            <a:off x="6391000" y="2808947"/>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Ask it to explain the case and then execute Split Shipment</a:t>
            </a:r>
          </a:p>
          <a:p>
            <a:pPr algn="l">
              <a:buNone/>
            </a:pPr>
            <a:r>
              <a:rPr lang="en-US" sz="100">
                <a:effectLst/>
              </a:rPr>
              <a:t> </a:t>
            </a:r>
            <a:endParaRPr lang="en-US"/>
          </a:p>
        </p:txBody>
      </p:sp>
      <p:sp>
        <p:nvSpPr>
          <p:cNvPr id="160702" name="Rectangle 160701">
            <a:extLst>
              <a:ext uri="{FF2B5EF4-FFF2-40B4-BE49-F238E27FC236}">
                <a16:creationId xmlns:a16="http://schemas.microsoft.com/office/drawing/2014/main" id="{7FE47467-44C6-6BC0-8D67-9172D67698F8}"/>
              </a:ext>
            </a:extLst>
          </p:cNvPr>
          <p:cNvSpPr/>
          <p:nvPr/>
        </p:nvSpPr>
        <p:spPr>
          <a:xfrm>
            <a:off x="6221000" y="5112136"/>
            <a:ext cx="5361400" cy="1317864"/>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32" name="Rectangle 160731">
            <a:extLst>
              <a:ext uri="{FF2B5EF4-FFF2-40B4-BE49-F238E27FC236}">
                <a16:creationId xmlns:a16="http://schemas.microsoft.com/office/drawing/2014/main" id="{C2C579F4-AA73-C132-4C71-EE84953A6676}"/>
              </a:ext>
            </a:extLst>
          </p:cNvPr>
          <p:cNvSpPr/>
          <p:nvPr/>
        </p:nvSpPr>
        <p:spPr>
          <a:xfrm>
            <a:off x="6391000" y="5172136"/>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Cites 3 orders, USD 868.50, lab-1, two alternatives — and refuses to execute</a:t>
            </a:r>
          </a:p>
          <a:p>
            <a:pPr algn="l">
              <a:buNone/>
            </a:pPr>
            <a:r>
              <a:rPr lang="en-US" sz="100">
                <a:effectLst/>
              </a:rPr>
              <a:t> </a:t>
            </a:r>
            <a:endParaRPr lang="en-US"/>
          </a:p>
        </p:txBody>
      </p:sp>
    </p:spTree>
    <p:extLst>
      <p:ext uri="{BB962C8B-B14F-4D97-AF65-F5344CB8AC3E}">
        <p14:creationId xmlns:p14="http://schemas.microsoft.com/office/powerpoint/2010/main" val="37931188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0763" name="Rectangle: Rounded Corners 160762">
            <a:extLst>
              <a:ext uri="{FF2B5EF4-FFF2-40B4-BE49-F238E27FC236}">
                <a16:creationId xmlns:a16="http://schemas.microsoft.com/office/drawing/2014/main" id="{B38DE9C6-16A5-5F20-DCA1-91F886E13A2E}"/>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60795" name="Rectangle: Rounded Corners 160794">
            <a:extLst>
              <a:ext uri="{FF2B5EF4-FFF2-40B4-BE49-F238E27FC236}">
                <a16:creationId xmlns:a16="http://schemas.microsoft.com/office/drawing/2014/main" id="{64643B69-3EAB-3C3B-C37D-227DB716399E}"/>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4 · STEPS 5–6 OF 8</a:t>
            </a:r>
          </a:p>
          <a:p>
            <a:pPr algn="ctr">
              <a:buNone/>
            </a:pPr>
            <a:r>
              <a:rPr lang="en-US" sz="100">
                <a:effectLst/>
              </a:rPr>
              <a:t> </a:t>
            </a:r>
            <a:endParaRPr lang="en-US"/>
          </a:p>
        </p:txBody>
      </p:sp>
      <p:sp>
        <p:nvSpPr>
          <p:cNvPr id="160828" name="Rectangle 160827">
            <a:extLst>
              <a:ext uri="{FF2B5EF4-FFF2-40B4-BE49-F238E27FC236}">
                <a16:creationId xmlns:a16="http://schemas.microsoft.com/office/drawing/2014/main" id="{A3839A4B-7EDC-1779-6847-E037C96C3CD8}"/>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Hand off to a human</a:t>
            </a:r>
          </a:p>
          <a:p>
            <a:pPr algn="l">
              <a:buNone/>
            </a:pPr>
            <a:r>
              <a:rPr lang="en-US" sz="100">
                <a:effectLst/>
              </a:rPr>
              <a:t> </a:t>
            </a:r>
            <a:endParaRPr lang="en-US"/>
          </a:p>
        </p:txBody>
      </p:sp>
      <p:sp>
        <p:nvSpPr>
          <p:cNvPr id="160862" name="Rectangle 160861">
            <a:extLst>
              <a:ext uri="{FF2B5EF4-FFF2-40B4-BE49-F238E27FC236}">
                <a16:creationId xmlns:a16="http://schemas.microsoft.com/office/drawing/2014/main" id="{0BA280B7-8FB7-D2BC-641B-E2DEC475F483}"/>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97" name="Rectangle: Rounded Corners 160896">
            <a:extLst>
              <a:ext uri="{FF2B5EF4-FFF2-40B4-BE49-F238E27FC236}">
                <a16:creationId xmlns:a16="http://schemas.microsoft.com/office/drawing/2014/main" id="{69DBC716-190E-C13B-A93F-292F22244246}"/>
              </a:ext>
            </a:extLst>
          </p:cNvPr>
          <p:cNvSpPr/>
          <p:nvPr/>
        </p:nvSpPr>
        <p:spPr>
          <a:xfrm>
            <a:off x="7796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5</a:t>
            </a:r>
          </a:p>
          <a:p>
            <a:pPr algn="ctr">
              <a:buNone/>
            </a:pPr>
            <a:r>
              <a:rPr lang="en-US" sz="100">
                <a:effectLst/>
              </a:rPr>
              <a:t> </a:t>
            </a:r>
            <a:endParaRPr lang="en-US"/>
          </a:p>
        </p:txBody>
      </p:sp>
      <p:sp>
        <p:nvSpPr>
          <p:cNvPr id="160933" name="Rectangle 160932">
            <a:extLst>
              <a:ext uri="{FF2B5EF4-FFF2-40B4-BE49-F238E27FC236}">
                <a16:creationId xmlns:a16="http://schemas.microsoft.com/office/drawing/2014/main" id="{D4CC0424-393D-CFB5-A899-9B91E5EEACC1}"/>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the Handoff agent</a:t>
            </a:r>
          </a:p>
          <a:p>
            <a:pPr algn="l">
              <a:buNone/>
            </a:pPr>
            <a:r>
              <a:rPr lang="en-US" sz="100">
                <a:effectLst/>
              </a:rPr>
              <a:t> </a:t>
            </a:r>
            <a:endParaRPr lang="en-US"/>
          </a:p>
        </p:txBody>
      </p:sp>
      <p:sp>
        <p:nvSpPr>
          <p:cNvPr id="160970" name="Rectangle 160969">
            <a:extLst>
              <a:ext uri="{FF2B5EF4-FFF2-40B4-BE49-F238E27FC236}">
                <a16:creationId xmlns:a16="http://schemas.microsoft.com/office/drawing/2014/main" id="{F5360A7B-8FB5-A7E8-D193-8008661D6D3A}"/>
              </a:ext>
            </a:extLst>
          </p:cNvPr>
          <p:cNvSpPr/>
          <p:nvPr/>
        </p:nvSpPr>
        <p:spPr>
          <a:xfrm>
            <a:off x="7796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Agent (Standard) with handoff instructions; connect Disruption Commander</a:t>
            </a:r>
          </a:p>
          <a:p>
            <a:pPr algn="l">
              <a:buNone/>
            </a:pPr>
            <a:r>
              <a:rPr lang="en-US" sz="100">
                <a:effectLst/>
              </a:rPr>
              <a:t> </a:t>
            </a:r>
            <a:endParaRPr lang="en-US"/>
          </a:p>
        </p:txBody>
      </p:sp>
      <p:sp>
        <p:nvSpPr>
          <p:cNvPr id="161008" name="Rectangle 161007">
            <a:extLst>
              <a:ext uri="{FF2B5EF4-FFF2-40B4-BE49-F238E27FC236}">
                <a16:creationId xmlns:a16="http://schemas.microsoft.com/office/drawing/2014/main" id="{78585E06-D041-AFCE-9691-F9F5DCCFA07B}"/>
              </a:ext>
            </a:extLst>
          </p:cNvPr>
          <p:cNvSpPr/>
          <p:nvPr/>
        </p:nvSpPr>
        <p:spPr>
          <a:xfrm>
            <a:off x="609600" y="5453004"/>
            <a:ext cx="5361400" cy="976996"/>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47" name="Rectangle 161046">
            <a:extLst>
              <a:ext uri="{FF2B5EF4-FFF2-40B4-BE49-F238E27FC236}">
                <a16:creationId xmlns:a16="http://schemas.microsoft.com/office/drawing/2014/main" id="{A3DD9DDD-5F16-E678-22EB-E2395F4940B0}"/>
              </a:ext>
            </a:extLst>
          </p:cNvPr>
          <p:cNvSpPr/>
          <p:nvPr/>
        </p:nvSpPr>
        <p:spPr>
          <a:xfrm>
            <a:off x="7796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Connected agents lists the Commander</a:t>
            </a:r>
          </a:p>
          <a:p>
            <a:pPr algn="l">
              <a:buNone/>
            </a:pPr>
            <a:r>
              <a:rPr lang="en-US" sz="100">
                <a:effectLst/>
              </a:rPr>
              <a:t> </a:t>
            </a:r>
            <a:endParaRPr lang="en-US"/>
          </a:p>
        </p:txBody>
      </p:sp>
      <p:sp>
        <p:nvSpPr>
          <p:cNvPr id="161087" name="Rectangle 161086">
            <a:extLst>
              <a:ext uri="{FF2B5EF4-FFF2-40B4-BE49-F238E27FC236}">
                <a16:creationId xmlns:a16="http://schemas.microsoft.com/office/drawing/2014/main" id="{DB8EC3C1-30D9-CAA6-F74F-886090E9A59D}"/>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28" name="Rectangle: Rounded Corners 161127">
            <a:extLst>
              <a:ext uri="{FF2B5EF4-FFF2-40B4-BE49-F238E27FC236}">
                <a16:creationId xmlns:a16="http://schemas.microsoft.com/office/drawing/2014/main" id="{EEA5A2D9-995D-BC70-5566-DC480FD1FA85}"/>
              </a:ext>
            </a:extLst>
          </p:cNvPr>
          <p:cNvSpPr/>
          <p:nvPr/>
        </p:nvSpPr>
        <p:spPr>
          <a:xfrm>
            <a:off x="63910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6</a:t>
            </a:r>
          </a:p>
          <a:p>
            <a:pPr algn="ctr">
              <a:buNone/>
            </a:pPr>
            <a:r>
              <a:rPr lang="en-US" sz="100">
                <a:effectLst/>
              </a:rPr>
              <a:t> </a:t>
            </a:r>
            <a:endParaRPr lang="en-US"/>
          </a:p>
        </p:txBody>
      </p:sp>
      <p:sp>
        <p:nvSpPr>
          <p:cNvPr id="161170" name="Rectangle 161169">
            <a:extLst>
              <a:ext uri="{FF2B5EF4-FFF2-40B4-BE49-F238E27FC236}">
                <a16:creationId xmlns:a16="http://schemas.microsoft.com/office/drawing/2014/main" id="{5970AE91-06AB-537A-4E12-6F91E716513C}"/>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Restrict Power Apps MCP</a:t>
            </a:r>
          </a:p>
          <a:p>
            <a:pPr algn="l">
              <a:buNone/>
            </a:pPr>
            <a:r>
              <a:rPr lang="en-US" sz="100">
                <a:effectLst/>
              </a:rPr>
              <a:t> </a:t>
            </a:r>
            <a:endParaRPr lang="en-US"/>
          </a:p>
        </p:txBody>
      </p:sp>
      <p:sp>
        <p:nvSpPr>
          <p:cNvPr id="161213" name="Rectangle 161212">
            <a:extLst>
              <a:ext uri="{FF2B5EF4-FFF2-40B4-BE49-F238E27FC236}">
                <a16:creationId xmlns:a16="http://schemas.microsoft.com/office/drawing/2014/main" id="{CF528E07-1D09-01E9-9649-1124B32D4ED9}"/>
              </a:ext>
            </a:extLst>
          </p:cNvPr>
          <p:cNvSpPr/>
          <p:nvPr/>
        </p:nvSpPr>
        <p:spPr>
          <a:xfrm>
            <a:off x="63910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Shared account; only request_assistance on</a:t>
            </a:r>
          </a:p>
          <a:p>
            <a:pPr algn="l">
              <a:buNone/>
            </a:pPr>
            <a:r>
              <a:rPr lang="en-US" sz="100">
                <a:effectLst/>
              </a:rPr>
              <a:t> </a:t>
            </a:r>
            <a:endParaRPr lang="en-US"/>
          </a:p>
        </p:txBody>
      </p:sp>
      <p:sp>
        <p:nvSpPr>
          <p:cNvPr id="161257" name="Rectangle 161256">
            <a:extLst>
              <a:ext uri="{FF2B5EF4-FFF2-40B4-BE49-F238E27FC236}">
                <a16:creationId xmlns:a16="http://schemas.microsoft.com/office/drawing/2014/main" id="{C531C35B-AFF0-C08E-9F50-E2101DDCB62D}"/>
              </a:ext>
            </a:extLst>
          </p:cNvPr>
          <p:cNvSpPr/>
          <p:nvPr/>
        </p:nvSpPr>
        <p:spPr>
          <a:xfrm>
            <a:off x="6221000" y="5453004"/>
            <a:ext cx="5361400" cy="976996"/>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02" name="Rectangle 161301">
            <a:extLst>
              <a:ext uri="{FF2B5EF4-FFF2-40B4-BE49-F238E27FC236}">
                <a16:creationId xmlns:a16="http://schemas.microsoft.com/office/drawing/2014/main" id="{955096B9-02D1-7E6D-6059-5FCF1A31F38B}"/>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log_for_review and invoke_data_entry are off</a:t>
            </a:r>
          </a:p>
          <a:p>
            <a:pPr algn="l">
              <a:buNone/>
            </a:pPr>
            <a:r>
              <a:rPr lang="en-US" sz="100">
                <a:effectLst/>
              </a:rPr>
              <a:t> </a:t>
            </a:r>
            <a:endParaRPr lang="en-US"/>
          </a:p>
        </p:txBody>
      </p:sp>
    </p:spTree>
    <p:extLst>
      <p:ext uri="{BB962C8B-B14F-4D97-AF65-F5344CB8AC3E}">
        <p14:creationId xmlns:p14="http://schemas.microsoft.com/office/powerpoint/2010/main" val="195246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1348" name="Rectangle: Rounded Corners 161347">
            <a:extLst>
              <a:ext uri="{FF2B5EF4-FFF2-40B4-BE49-F238E27FC236}">
                <a16:creationId xmlns:a16="http://schemas.microsoft.com/office/drawing/2014/main" id="{940A82AF-88EF-CC4D-856E-A51B4E36FAF7}"/>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61395" name="Rectangle: Rounded Corners 161394">
            <a:extLst>
              <a:ext uri="{FF2B5EF4-FFF2-40B4-BE49-F238E27FC236}">
                <a16:creationId xmlns:a16="http://schemas.microsoft.com/office/drawing/2014/main" id="{C21ABB9C-6F9D-0894-D734-99EB0703125D}"/>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4 · STEPS 7–8 OF 8</a:t>
            </a:r>
          </a:p>
          <a:p>
            <a:pPr algn="ctr">
              <a:buNone/>
            </a:pPr>
            <a:r>
              <a:rPr lang="en-US" sz="100">
                <a:effectLst/>
              </a:rPr>
              <a:t> </a:t>
            </a:r>
            <a:endParaRPr lang="en-US"/>
          </a:p>
        </p:txBody>
      </p:sp>
      <p:sp>
        <p:nvSpPr>
          <p:cNvPr id="161443" name="Rectangle 161442">
            <a:extLst>
              <a:ext uri="{FF2B5EF4-FFF2-40B4-BE49-F238E27FC236}">
                <a16:creationId xmlns:a16="http://schemas.microsoft.com/office/drawing/2014/main" id="{AB1518BD-7122-AF08-2C85-B9FBF85AB580}"/>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Hand off to a human</a:t>
            </a:r>
          </a:p>
          <a:p>
            <a:pPr algn="l">
              <a:buNone/>
            </a:pPr>
            <a:r>
              <a:rPr lang="en-US" sz="100">
                <a:effectLst/>
              </a:rPr>
              <a:t> </a:t>
            </a:r>
            <a:endParaRPr lang="en-US"/>
          </a:p>
        </p:txBody>
      </p:sp>
      <p:sp>
        <p:nvSpPr>
          <p:cNvPr id="161492" name="Rectangle 161491">
            <a:extLst>
              <a:ext uri="{FF2B5EF4-FFF2-40B4-BE49-F238E27FC236}">
                <a16:creationId xmlns:a16="http://schemas.microsoft.com/office/drawing/2014/main" id="{D6D6E439-63BB-84C9-5BD5-03032B78D158}"/>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542" name="Rectangle: Rounded Corners 161541">
            <a:extLst>
              <a:ext uri="{FF2B5EF4-FFF2-40B4-BE49-F238E27FC236}">
                <a16:creationId xmlns:a16="http://schemas.microsoft.com/office/drawing/2014/main" id="{908A5239-96CE-F9E7-CB9A-7D4DF217B1C1}"/>
              </a:ext>
            </a:extLst>
          </p:cNvPr>
          <p:cNvSpPr/>
          <p:nvPr/>
        </p:nvSpPr>
        <p:spPr>
          <a:xfrm>
            <a:off x="7796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7</a:t>
            </a:r>
          </a:p>
          <a:p>
            <a:pPr algn="ctr">
              <a:buNone/>
            </a:pPr>
            <a:r>
              <a:rPr lang="en-US" sz="100">
                <a:effectLst/>
              </a:rPr>
              <a:t> </a:t>
            </a:r>
            <a:endParaRPr lang="en-US"/>
          </a:p>
        </p:txBody>
      </p:sp>
      <p:sp>
        <p:nvSpPr>
          <p:cNvPr id="161593" name="Rectangle 161592">
            <a:extLst>
              <a:ext uri="{FF2B5EF4-FFF2-40B4-BE49-F238E27FC236}">
                <a16:creationId xmlns:a16="http://schemas.microsoft.com/office/drawing/2014/main" id="{7FE3C97E-5BC5-41B9-F654-1F43387FDA48}"/>
              </a:ext>
            </a:extLst>
          </p:cNvPr>
          <p:cNvSpPr/>
          <p:nvPr/>
        </p:nvSpPr>
        <p:spPr>
          <a:xfrm>
            <a:off x="14896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Add the autonomous trigger and publish</a:t>
            </a:r>
          </a:p>
          <a:p>
            <a:pPr algn="l">
              <a:buNone/>
            </a:pPr>
            <a:r>
              <a:rPr lang="en-US" sz="100">
                <a:effectLst/>
              </a:rPr>
              <a:t> </a:t>
            </a:r>
            <a:endParaRPr lang="en-US"/>
          </a:p>
        </p:txBody>
      </p:sp>
      <p:sp>
        <p:nvSpPr>
          <p:cNvPr id="161645" name="Rectangle 161644">
            <a:extLst>
              <a:ext uri="{FF2B5EF4-FFF2-40B4-BE49-F238E27FC236}">
                <a16:creationId xmlns:a16="http://schemas.microsoft.com/office/drawing/2014/main" id="{EA547943-03EF-2486-97C7-79DA4E566582}"/>
              </a:ext>
            </a:extLst>
          </p:cNvPr>
          <p:cNvSpPr/>
          <p:nvPr/>
        </p:nvSpPr>
        <p:spPr>
          <a:xfrm>
            <a:off x="779600" y="2808947"/>
            <a:ext cx="5021400" cy="12977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Add Dataverse data-event trigger from Recovery Decisions table, on Modified, filtered </a:t>
            </a:r>
            <a:r>
              <a:rPr lang="en-US" sz="2200">
                <a:solidFill>
                  <a:srgbClr val="FFFFFF"/>
                </a:solidFill>
                <a:latin typeface="Segoe UI" panose="020B0502040204020203" pitchFamily="34" charset="0"/>
              </a:rPr>
              <a:t>for testing to a note column</a:t>
            </a:r>
            <a:endParaRPr lang="en-US" sz="2200">
              <a:solidFill>
                <a:srgbClr val="FFFFFF"/>
              </a:solidFill>
              <a:effectLst/>
              <a:latin typeface="Segoe UI" panose="020B0502040204020203" pitchFamily="34" charset="0"/>
            </a:endParaRPr>
          </a:p>
          <a:p>
            <a:pPr algn="l">
              <a:buNone/>
            </a:pPr>
            <a:r>
              <a:rPr lang="en-US" sz="100">
                <a:effectLst/>
              </a:rPr>
              <a:t> </a:t>
            </a:r>
            <a:endParaRPr lang="en-US"/>
          </a:p>
        </p:txBody>
      </p:sp>
      <p:sp>
        <p:nvSpPr>
          <p:cNvPr id="161698" name="Rectangle 161697">
            <a:extLst>
              <a:ext uri="{FF2B5EF4-FFF2-40B4-BE49-F238E27FC236}">
                <a16:creationId xmlns:a16="http://schemas.microsoft.com/office/drawing/2014/main" id="{8BFF241D-B0A3-73F5-7E0F-7057B18E088F}"/>
              </a:ext>
            </a:extLst>
          </p:cNvPr>
          <p:cNvSpPr/>
          <p:nvPr/>
        </p:nvSpPr>
        <p:spPr>
          <a:xfrm>
            <a:off x="609600" y="5112136"/>
            <a:ext cx="5361400" cy="1317864"/>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52" name="Rectangle 161751">
            <a:extLst>
              <a:ext uri="{FF2B5EF4-FFF2-40B4-BE49-F238E27FC236}">
                <a16:creationId xmlns:a16="http://schemas.microsoft.com/office/drawing/2014/main" id="{83EB11B9-401B-2798-42A4-1BB1154AFE60}"/>
              </a:ext>
            </a:extLst>
          </p:cNvPr>
          <p:cNvSpPr/>
          <p:nvPr/>
        </p:nvSpPr>
        <p:spPr>
          <a:xfrm>
            <a:off x="779600" y="5513004"/>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Agent published</a:t>
            </a:r>
          </a:p>
          <a:p>
            <a:pPr algn="l">
              <a:buNone/>
            </a:pPr>
            <a:r>
              <a:rPr lang="en-US" sz="100">
                <a:effectLst/>
              </a:rPr>
              <a:t> </a:t>
            </a:r>
            <a:endParaRPr lang="en-US"/>
          </a:p>
        </p:txBody>
      </p:sp>
      <p:sp>
        <p:nvSpPr>
          <p:cNvPr id="161807" name="Rectangle 161806">
            <a:extLst>
              <a:ext uri="{FF2B5EF4-FFF2-40B4-BE49-F238E27FC236}">
                <a16:creationId xmlns:a16="http://schemas.microsoft.com/office/drawing/2014/main" id="{17D8EB58-72BE-0DBC-AF3A-03C3CDDA09AB}"/>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63" name="Rectangle: Rounded Corners 161862">
            <a:extLst>
              <a:ext uri="{FF2B5EF4-FFF2-40B4-BE49-F238E27FC236}">
                <a16:creationId xmlns:a16="http://schemas.microsoft.com/office/drawing/2014/main" id="{B6268323-9350-EE90-6C08-D304BA466D36}"/>
              </a:ext>
            </a:extLst>
          </p:cNvPr>
          <p:cNvSpPr/>
          <p:nvPr/>
        </p:nvSpPr>
        <p:spPr>
          <a:xfrm>
            <a:off x="6391000" y="1831951"/>
            <a:ext cx="560000" cy="56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8</a:t>
            </a:r>
          </a:p>
          <a:p>
            <a:pPr algn="ctr">
              <a:buNone/>
            </a:pPr>
            <a:r>
              <a:rPr lang="en-US" sz="100">
                <a:effectLst/>
              </a:rPr>
              <a:t> </a:t>
            </a:r>
            <a:endParaRPr lang="en-US"/>
          </a:p>
        </p:txBody>
      </p:sp>
      <p:sp>
        <p:nvSpPr>
          <p:cNvPr id="161920" name="Rectangle 161919">
            <a:extLst>
              <a:ext uri="{FF2B5EF4-FFF2-40B4-BE49-F238E27FC236}">
                <a16:creationId xmlns:a16="http://schemas.microsoft.com/office/drawing/2014/main" id="{4189A9B3-F4AC-2915-4F86-6C77E9F305E3}"/>
              </a:ext>
            </a:extLst>
          </p:cNvPr>
          <p:cNvSpPr/>
          <p:nvPr/>
        </p:nvSpPr>
        <p:spPr>
          <a:xfrm>
            <a:off x="71010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Add to Agent feed and trigger once</a:t>
            </a:r>
          </a:p>
          <a:p>
            <a:pPr algn="l">
              <a:buNone/>
            </a:pPr>
            <a:r>
              <a:rPr lang="en-US" sz="100">
                <a:effectLst/>
              </a:rPr>
              <a:t> </a:t>
            </a:r>
            <a:endParaRPr lang="en-US"/>
          </a:p>
        </p:txBody>
      </p:sp>
      <p:sp>
        <p:nvSpPr>
          <p:cNvPr id="161978" name="Rectangle 161977">
            <a:extLst>
              <a:ext uri="{FF2B5EF4-FFF2-40B4-BE49-F238E27FC236}">
                <a16:creationId xmlns:a16="http://schemas.microsoft.com/office/drawing/2014/main" id="{5535D7AD-BB98-6CFF-43D5-9253F7C4468A}"/>
              </a:ext>
            </a:extLst>
          </p:cNvPr>
          <p:cNvSpPr/>
          <p:nvPr/>
        </p:nvSpPr>
        <p:spPr>
          <a:xfrm>
            <a:off x="6391000" y="2808947"/>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Add the Handoff agent to the app’s Agent feed; update the decision’s rationale note and save once</a:t>
            </a:r>
          </a:p>
          <a:p>
            <a:pPr algn="l">
              <a:buNone/>
            </a:pPr>
            <a:r>
              <a:rPr lang="en-US" sz="100">
                <a:effectLst/>
              </a:rPr>
              <a:t> </a:t>
            </a:r>
            <a:endParaRPr lang="en-US"/>
          </a:p>
        </p:txBody>
      </p:sp>
      <p:sp>
        <p:nvSpPr>
          <p:cNvPr id="162037" name="Rectangle 162036">
            <a:extLst>
              <a:ext uri="{FF2B5EF4-FFF2-40B4-BE49-F238E27FC236}">
                <a16:creationId xmlns:a16="http://schemas.microsoft.com/office/drawing/2014/main" id="{D3E59209-A5E0-EA59-7397-0A3F0155E51A}"/>
              </a:ext>
            </a:extLst>
          </p:cNvPr>
          <p:cNvSpPr/>
          <p:nvPr/>
        </p:nvSpPr>
        <p:spPr>
          <a:xfrm>
            <a:off x="6221000" y="5112136"/>
            <a:ext cx="5361400" cy="1317864"/>
          </a:xfrm>
          <a:prstGeom prst="rect">
            <a:avLst/>
          </a:prstGeom>
          <a:solidFill>
            <a:srgbClr val="B2AAF8">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97" name="Rectangle 162096">
            <a:extLst>
              <a:ext uri="{FF2B5EF4-FFF2-40B4-BE49-F238E27FC236}">
                <a16:creationId xmlns:a16="http://schemas.microsoft.com/office/drawing/2014/main" id="{F8743863-AC04-6261-2D8C-5583E3196477}"/>
              </a:ext>
            </a:extLst>
          </p:cNvPr>
          <p:cNvSpPr/>
          <p:nvPr/>
        </p:nvSpPr>
        <p:spPr>
          <a:xfrm>
            <a:off x="6391000" y="5172136"/>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Exactly one Needs attention item that opens the case; decision still Pending</a:t>
            </a:r>
          </a:p>
          <a:p>
            <a:pPr algn="l">
              <a:buNone/>
            </a:pPr>
            <a:r>
              <a:rPr lang="en-US" sz="100">
                <a:effectLst/>
              </a:rPr>
              <a:t> </a:t>
            </a:r>
            <a:endParaRPr lang="en-US"/>
          </a:p>
        </p:txBody>
      </p:sp>
    </p:spTree>
    <p:extLst>
      <p:ext uri="{BB962C8B-B14F-4D97-AF65-F5344CB8AC3E}">
        <p14:creationId xmlns:p14="http://schemas.microsoft.com/office/powerpoint/2010/main" val="9817379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2158" name="Rectangle: Rounded Corners 162157">
            <a:extLst>
              <a:ext uri="{FF2B5EF4-FFF2-40B4-BE49-F238E27FC236}">
                <a16:creationId xmlns:a16="http://schemas.microsoft.com/office/drawing/2014/main" id="{66CE892B-78C3-7144-870E-291AB48787DE}"/>
              </a:ext>
            </a:extLst>
          </p:cNvPr>
          <p:cNvSpPr/>
          <p:nvPr/>
        </p:nvSpPr>
        <p:spPr>
          <a:xfrm>
            <a:off x="609600" y="400000"/>
            <a:ext cx="1446414" cy="340000"/>
          </a:xfrm>
          <a:prstGeom prst="round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4</a:t>
            </a:r>
          </a:p>
          <a:p>
            <a:pPr algn="ctr">
              <a:buNone/>
            </a:pPr>
            <a:r>
              <a:rPr lang="en-US" sz="100">
                <a:effectLst/>
              </a:rPr>
              <a:t> </a:t>
            </a:r>
            <a:endParaRPr lang="en-US"/>
          </a:p>
        </p:txBody>
      </p:sp>
      <p:sp>
        <p:nvSpPr>
          <p:cNvPr id="162220" name="Rectangle 162219">
            <a:extLst>
              <a:ext uri="{FF2B5EF4-FFF2-40B4-BE49-F238E27FC236}">
                <a16:creationId xmlns:a16="http://schemas.microsoft.com/office/drawing/2014/main" id="{08191555-490E-B1BA-39C6-31AF579E173B}"/>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4 recap: agents that advise, people who decide</a:t>
            </a:r>
          </a:p>
          <a:p>
            <a:pPr algn="l">
              <a:buNone/>
            </a:pPr>
            <a:r>
              <a:rPr lang="en-US" sz="100">
                <a:effectLst/>
              </a:rPr>
              <a:t> </a:t>
            </a:r>
            <a:endParaRPr lang="en-US"/>
          </a:p>
        </p:txBody>
      </p:sp>
      <p:sp>
        <p:nvSpPr>
          <p:cNvPr id="162283" name="Rectangle 162282">
            <a:extLst>
              <a:ext uri="{FF2B5EF4-FFF2-40B4-BE49-F238E27FC236}">
                <a16:creationId xmlns:a16="http://schemas.microsoft.com/office/drawing/2014/main" id="{DDDA8A58-A9DE-691A-633F-50392F9C9F11}"/>
              </a:ext>
            </a:extLst>
          </p:cNvPr>
          <p:cNvSpPr/>
          <p:nvPr/>
        </p:nvSpPr>
        <p:spPr>
          <a:xfrm>
            <a:off x="609600" y="1661951"/>
            <a:ext cx="6300000" cy="131419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BUILT</a:t>
            </a:r>
          </a:p>
          <a:p>
            <a:pPr algn="l">
              <a:buNone/>
            </a:pPr>
            <a:r>
              <a:rPr lang="en-US" sz="2000">
                <a:solidFill>
                  <a:srgbClr val="FFFFFF"/>
                </a:solidFill>
                <a:effectLst/>
                <a:latin typeface="Segoe UI" panose="020B0502040204020203" pitchFamily="34" charset="0"/>
              </a:rPr>
              <a:t>Business Skill, Disruption Commander, Disruption Approval Handoff Agent, autonomous trigger, Agent feed association</a:t>
            </a:r>
            <a:endParaRPr lang="en-US"/>
          </a:p>
        </p:txBody>
      </p:sp>
      <p:sp>
        <p:nvSpPr>
          <p:cNvPr id="162347" name="Rectangle 162346">
            <a:extLst>
              <a:ext uri="{FF2B5EF4-FFF2-40B4-BE49-F238E27FC236}">
                <a16:creationId xmlns:a16="http://schemas.microsoft.com/office/drawing/2014/main" id="{F2BE2B65-2C72-3607-B54A-C7E55E336915}"/>
              </a:ext>
            </a:extLst>
          </p:cNvPr>
          <p:cNvSpPr/>
          <p:nvPr/>
        </p:nvSpPr>
        <p:spPr>
          <a:xfrm>
            <a:off x="609600" y="3176146"/>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CAPABILITIES USED</a:t>
            </a:r>
          </a:p>
          <a:p>
            <a:pPr algn="l">
              <a:buNone/>
            </a:pPr>
            <a:r>
              <a:rPr lang="en-US" sz="2000">
                <a:solidFill>
                  <a:srgbClr val="FFFFFF"/>
                </a:solidFill>
                <a:effectLst/>
                <a:latin typeface="Segoe UI" panose="020B0502040204020203" pitchFamily="34" charset="0"/>
              </a:rPr>
              <a:t>Copilot Studio agents, Business Skills, Dataverse MCP, Power Apps MCP, Agent feed</a:t>
            </a:r>
            <a:endParaRPr lang="en-US"/>
          </a:p>
        </p:txBody>
      </p:sp>
      <p:sp>
        <p:nvSpPr>
          <p:cNvPr id="162412" name="Rectangle 162411">
            <a:extLst>
              <a:ext uri="{FF2B5EF4-FFF2-40B4-BE49-F238E27FC236}">
                <a16:creationId xmlns:a16="http://schemas.microsoft.com/office/drawing/2014/main" id="{BBD986AB-FCB3-57E5-0442-E5877CDEBF22}"/>
              </a:ext>
            </a:extLst>
          </p:cNvPr>
          <p:cNvSpPr/>
          <p:nvPr/>
        </p:nvSpPr>
        <p:spPr>
          <a:xfrm>
            <a:off x="609600" y="438046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BUSINESS VALUE</a:t>
            </a:r>
          </a:p>
          <a:p>
            <a:pPr algn="l">
              <a:buNone/>
            </a:pPr>
            <a:r>
              <a:rPr lang="en-US" sz="2000">
                <a:solidFill>
                  <a:srgbClr val="FFFFFF"/>
                </a:solidFill>
                <a:effectLst/>
                <a:latin typeface="Segoe UI" panose="020B0502040204020203" pitchFamily="34" charset="0"/>
              </a:rPr>
              <a:t>Consistent policy, explained recommendations, auditable human handoff</a:t>
            </a:r>
            <a:endParaRPr lang="en-US"/>
          </a:p>
        </p:txBody>
      </p:sp>
      <p:sp>
        <p:nvSpPr>
          <p:cNvPr id="162478" name="Rectangle 162477">
            <a:extLst>
              <a:ext uri="{FF2B5EF4-FFF2-40B4-BE49-F238E27FC236}">
                <a16:creationId xmlns:a16="http://schemas.microsoft.com/office/drawing/2014/main" id="{6A1C3494-D03D-2CB9-8291-1A19FDB5CD43}"/>
              </a:ext>
            </a:extLst>
          </p:cNvPr>
          <p:cNvSpPr/>
          <p:nvPr/>
        </p:nvSpPr>
        <p:spPr>
          <a:xfrm>
            <a:off x="7309600" y="1661951"/>
            <a:ext cx="4272800" cy="2173955"/>
          </a:xfrm>
          <a:prstGeom prst="rect">
            <a:avLst/>
          </a:prstGeom>
          <a:solidFill>
            <a:srgbClr val="FFFFFF">
              <a:alpha val="12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45" name="Rectangle 162544">
            <a:extLst>
              <a:ext uri="{FF2B5EF4-FFF2-40B4-BE49-F238E27FC236}">
                <a16:creationId xmlns:a16="http://schemas.microsoft.com/office/drawing/2014/main" id="{AF765FF9-E80F-E40C-56A4-2B2B5809FFEA}"/>
              </a:ext>
            </a:extLst>
          </p:cNvPr>
          <p:cNvSpPr/>
          <p:nvPr/>
        </p:nvSpPr>
        <p:spPr>
          <a:xfrm>
            <a:off x="7429600" y="1781951"/>
            <a:ext cx="4032800" cy="193395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B2AAF8"/>
                </a:solidFill>
                <a:effectLst/>
                <a:latin typeface="Segoe UI" panose="020B0502040204020203" pitchFamily="34" charset="0"/>
              </a:rPr>
              <a:t>VALIDATE</a:t>
            </a:r>
          </a:p>
          <a:p>
            <a:pPr algn="l">
              <a:buNone/>
            </a:pPr>
            <a:r>
              <a:rPr lang="en-US" sz="2000">
                <a:solidFill>
                  <a:srgbClr val="FFFFFF"/>
                </a:solidFill>
                <a:effectLst/>
                <a:latin typeface="Segoe UI" panose="020B0502040204020203" pitchFamily="34" charset="0"/>
              </a:rPr>
              <a:t>✓  Commander refuses execution</a:t>
            </a:r>
          </a:p>
          <a:p>
            <a:pPr algn="l">
              <a:buNone/>
            </a:pPr>
            <a:r>
              <a:rPr lang="en-US" sz="2000">
                <a:solidFill>
                  <a:srgbClr val="FFFFFF"/>
                </a:solidFill>
                <a:effectLst/>
                <a:latin typeface="Segoe UI" panose="020B0502040204020203" pitchFamily="34" charset="0"/>
              </a:rPr>
              <a:t>✓  Exactly one Needs attention item</a:t>
            </a:r>
          </a:p>
          <a:p>
            <a:pPr algn="l">
              <a:buNone/>
            </a:pPr>
            <a:r>
              <a:rPr lang="en-US" sz="2000">
                <a:solidFill>
                  <a:srgbClr val="FFFFFF"/>
                </a:solidFill>
                <a:effectLst/>
                <a:latin typeface="Segoe UI" panose="020B0502040204020203" pitchFamily="34" charset="0"/>
              </a:rPr>
              <a:t>✓  No approved decision or execution record</a:t>
            </a:r>
            <a:endParaRPr lang="en-US"/>
          </a:p>
        </p:txBody>
      </p:sp>
      <p:sp>
        <p:nvSpPr>
          <p:cNvPr id="162613" name="Rectangle 162612">
            <a:extLst>
              <a:ext uri="{FF2B5EF4-FFF2-40B4-BE49-F238E27FC236}">
                <a16:creationId xmlns:a16="http://schemas.microsoft.com/office/drawing/2014/main" id="{D9FE564F-09F1-C905-A213-ED1A35609EAA}"/>
              </a:ext>
            </a:extLst>
          </p:cNvPr>
          <p:cNvSpPr/>
          <p:nvPr/>
        </p:nvSpPr>
        <p:spPr>
          <a:xfrm>
            <a:off x="609600" y="5684776"/>
            <a:ext cx="10972800" cy="63752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82" name="Rectangle: Rounded Corners 162681">
            <a:extLst>
              <a:ext uri="{FF2B5EF4-FFF2-40B4-BE49-F238E27FC236}">
                <a16:creationId xmlns:a16="http://schemas.microsoft.com/office/drawing/2014/main" id="{201B6D4A-4EEB-3B2E-20D1-0B60698BE033}"/>
              </a:ext>
            </a:extLst>
          </p:cNvPr>
          <p:cNvSpPr/>
          <p:nvPr/>
        </p:nvSpPr>
        <p:spPr>
          <a:xfrm>
            <a:off x="759600" y="5833536"/>
            <a:ext cx="2192999"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NEXT · MODULE 5</a:t>
            </a:r>
          </a:p>
          <a:p>
            <a:pPr algn="ctr">
              <a:buNone/>
            </a:pPr>
            <a:r>
              <a:rPr lang="en-US" sz="100">
                <a:effectLst/>
              </a:rPr>
              <a:t> </a:t>
            </a:r>
            <a:endParaRPr lang="en-US"/>
          </a:p>
        </p:txBody>
      </p:sp>
      <p:sp>
        <p:nvSpPr>
          <p:cNvPr id="162752" name="Rectangle 162751">
            <a:extLst>
              <a:ext uri="{FF2B5EF4-FFF2-40B4-BE49-F238E27FC236}">
                <a16:creationId xmlns:a16="http://schemas.microsoft.com/office/drawing/2014/main" id="{FFFC98B1-6E4B-21D7-7EEF-062729317229}"/>
              </a:ext>
            </a:extLst>
          </p:cNvPr>
          <p:cNvSpPr/>
          <p:nvPr/>
        </p:nvSpPr>
        <p:spPr>
          <a:xfrm>
            <a:off x="3102599" y="5764776"/>
            <a:ext cx="8329801"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Module 5 builds what happens after a person approves</a:t>
            </a:r>
          </a:p>
          <a:p>
            <a:pPr algn="l">
              <a:buNone/>
            </a:pPr>
            <a:r>
              <a:rPr lang="en-US" sz="100">
                <a:effectLst/>
              </a:rPr>
              <a:t> </a:t>
            </a:r>
            <a:endParaRPr lang="en-US"/>
          </a:p>
        </p:txBody>
      </p:sp>
    </p:spTree>
    <p:extLst>
      <p:ext uri="{BB962C8B-B14F-4D97-AF65-F5344CB8AC3E}">
        <p14:creationId xmlns:p14="http://schemas.microsoft.com/office/powerpoint/2010/main" val="2121371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19716" name="Rectangle: Rounded Corners 219715">
            <a:extLst>
              <a:ext uri="{FF2B5EF4-FFF2-40B4-BE49-F238E27FC236}">
                <a16:creationId xmlns:a16="http://schemas.microsoft.com/office/drawing/2014/main" id="{785F91FE-53F6-9AB1-0A08-2048A4E899B1}"/>
              </a:ext>
            </a:extLst>
          </p:cNvPr>
          <p:cNvSpPr/>
          <p:nvPr/>
        </p:nvSpPr>
        <p:spPr>
          <a:xfrm>
            <a:off x="609600" y="400000"/>
            <a:ext cx="1647295"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TRANSITION</a:t>
            </a:r>
          </a:p>
          <a:p>
            <a:pPr algn="ctr">
              <a:buNone/>
            </a:pPr>
            <a:r>
              <a:rPr lang="en-US" sz="100">
                <a:effectLst/>
              </a:rPr>
              <a:t> </a:t>
            </a:r>
            <a:endParaRPr lang="en-US"/>
          </a:p>
        </p:txBody>
      </p:sp>
      <p:sp>
        <p:nvSpPr>
          <p:cNvPr id="219752" name="Rectangle 219751">
            <a:extLst>
              <a:ext uri="{FF2B5EF4-FFF2-40B4-BE49-F238E27FC236}">
                <a16:creationId xmlns:a16="http://schemas.microsoft.com/office/drawing/2014/main" id="{50CC8769-6E75-DCD3-B521-2EB1A7D64FC6}"/>
              </a:ext>
            </a:extLst>
          </p:cNvPr>
          <p:cNvSpPr/>
          <p:nvPr/>
        </p:nvSpPr>
        <p:spPr>
          <a:xfrm>
            <a:off x="609600" y="1450000"/>
            <a:ext cx="1097280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7200" b="1">
                <a:solidFill>
                  <a:srgbClr val="FFFFFF"/>
                </a:solidFill>
                <a:effectLst/>
                <a:latin typeface="Segoe UI" panose="020B0502040204020203" pitchFamily="34" charset="0"/>
              </a:rPr>
              <a:t>Break</a:t>
            </a:r>
          </a:p>
          <a:p>
            <a:pPr algn="ctr">
              <a:buNone/>
            </a:pPr>
            <a:r>
              <a:rPr lang="en-US" sz="100">
                <a:effectLst/>
              </a:rPr>
              <a:t> </a:t>
            </a:r>
            <a:endParaRPr lang="en-US"/>
          </a:p>
        </p:txBody>
      </p:sp>
      <p:sp>
        <p:nvSpPr>
          <p:cNvPr id="219789" name="Rectangle 219788">
            <a:extLst>
              <a:ext uri="{FF2B5EF4-FFF2-40B4-BE49-F238E27FC236}">
                <a16:creationId xmlns:a16="http://schemas.microsoft.com/office/drawing/2014/main" id="{5BFE584C-06AC-1CDE-9F73-02F4810502A2}"/>
              </a:ext>
            </a:extLst>
          </p:cNvPr>
          <p:cNvSpPr/>
          <p:nvPr/>
        </p:nvSpPr>
        <p:spPr>
          <a:xfrm>
            <a:off x="609600" y="3081328"/>
            <a:ext cx="109728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300">
                <a:solidFill>
                  <a:srgbClr val="D6D2E8"/>
                </a:solidFill>
                <a:effectLst/>
                <a:latin typeface="Segoe UI" panose="020B0502040204020203" pitchFamily="34" charset="0"/>
              </a:rPr>
              <a:t>UP NEXT</a:t>
            </a:r>
          </a:p>
          <a:p>
            <a:pPr algn="ctr">
              <a:buNone/>
            </a:pPr>
            <a:r>
              <a:rPr lang="en-US" sz="100">
                <a:effectLst/>
              </a:rPr>
              <a:t> </a:t>
            </a:r>
            <a:endParaRPr lang="en-US"/>
          </a:p>
        </p:txBody>
      </p:sp>
      <p:sp>
        <p:nvSpPr>
          <p:cNvPr id="219827" name="Rectangle: Rounded Corners 219826">
            <a:extLst>
              <a:ext uri="{FF2B5EF4-FFF2-40B4-BE49-F238E27FC236}">
                <a16:creationId xmlns:a16="http://schemas.microsoft.com/office/drawing/2014/main" id="{FD6DD9DE-FD85-66D8-0BE3-4479B69991F3}"/>
              </a:ext>
            </a:extLst>
          </p:cNvPr>
          <p:cNvSpPr/>
          <p:nvPr/>
        </p:nvSpPr>
        <p:spPr>
          <a:xfrm>
            <a:off x="1756810" y="3680240"/>
            <a:ext cx="1573719" cy="40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219866" name="Rectangle 219865">
            <a:extLst>
              <a:ext uri="{FF2B5EF4-FFF2-40B4-BE49-F238E27FC236}">
                <a16:creationId xmlns:a16="http://schemas.microsoft.com/office/drawing/2014/main" id="{F09A73B5-7E4C-D08C-8BE6-089328E7ACDD}"/>
              </a:ext>
            </a:extLst>
          </p:cNvPr>
          <p:cNvSpPr/>
          <p:nvPr/>
        </p:nvSpPr>
        <p:spPr>
          <a:xfrm>
            <a:off x="3530529" y="3564265"/>
            <a:ext cx="6904661"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Carrier agent and governed recovery</a:t>
            </a:r>
          </a:p>
          <a:p>
            <a:pPr algn="l">
              <a:buNone/>
            </a:pPr>
            <a:r>
              <a:rPr lang="en-US" sz="100">
                <a:effectLst/>
              </a:rPr>
              <a:t> </a:t>
            </a:r>
            <a:endParaRPr lang="en-US"/>
          </a:p>
        </p:txBody>
      </p:sp>
      <p:sp>
        <p:nvSpPr>
          <p:cNvPr id="219906" name="Arrow: Pentagon 219905">
            <a:extLst>
              <a:ext uri="{FF2B5EF4-FFF2-40B4-BE49-F238E27FC236}">
                <a16:creationId xmlns:a16="http://schemas.microsoft.com/office/drawing/2014/main" id="{C20DCDFE-4331-EADF-3F09-0977BD7C4021}"/>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219947" name="Arrow: Chevron 219946">
            <a:extLst>
              <a:ext uri="{FF2B5EF4-FFF2-40B4-BE49-F238E27FC236}">
                <a16:creationId xmlns:a16="http://schemas.microsoft.com/office/drawing/2014/main" id="{B5662DBC-210B-9F19-EFA3-5E2F3FC65732}"/>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219989" name="Arrow: Chevron 219988">
            <a:extLst>
              <a:ext uri="{FF2B5EF4-FFF2-40B4-BE49-F238E27FC236}">
                <a16:creationId xmlns:a16="http://schemas.microsoft.com/office/drawing/2014/main" id="{A16470BE-FE2B-03E1-5BDB-900A0EFEE6FF}"/>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220032" name="Arrow: Chevron 220031">
            <a:extLst>
              <a:ext uri="{FF2B5EF4-FFF2-40B4-BE49-F238E27FC236}">
                <a16:creationId xmlns:a16="http://schemas.microsoft.com/office/drawing/2014/main" id="{DBF2116A-61E1-B444-97E8-130127559A4C}"/>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220076" name="Arrow: Chevron 220075">
            <a:extLst>
              <a:ext uri="{FF2B5EF4-FFF2-40B4-BE49-F238E27FC236}">
                <a16:creationId xmlns:a16="http://schemas.microsoft.com/office/drawing/2014/main" id="{844187B1-44B5-D7BD-1506-A58563963977}"/>
              </a:ext>
            </a:extLst>
          </p:cNvPr>
          <p:cNvSpPr/>
          <p:nvPr/>
        </p:nvSpPr>
        <p:spPr>
          <a:xfrm>
            <a:off x="7844800" y="5250000"/>
            <a:ext cx="1928800" cy="600000"/>
          </a:xfrm>
          <a:prstGeom prst="chevron">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220121" name="Arrow: Chevron 220120">
            <a:extLst>
              <a:ext uri="{FF2B5EF4-FFF2-40B4-BE49-F238E27FC236}">
                <a16:creationId xmlns:a16="http://schemas.microsoft.com/office/drawing/2014/main" id="{2E39F92C-BCB2-675D-FCE9-83B3A4063DB9}"/>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126884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3670" name="Rectangle: Rounded Corners 163669">
            <a:extLst>
              <a:ext uri="{FF2B5EF4-FFF2-40B4-BE49-F238E27FC236}">
                <a16:creationId xmlns:a16="http://schemas.microsoft.com/office/drawing/2014/main" id="{1C312343-30DB-05B5-1A94-65D593103A1F}"/>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63753" name="Rectangle 163752">
            <a:extLst>
              <a:ext uri="{FF2B5EF4-FFF2-40B4-BE49-F238E27FC236}">
                <a16:creationId xmlns:a16="http://schemas.microsoft.com/office/drawing/2014/main" id="{0D9A66BE-6E8A-62A5-AF10-3DBB62084CC3}"/>
              </a:ext>
            </a:extLst>
          </p:cNvPr>
          <p:cNvSpPr/>
          <p:nvPr/>
        </p:nvSpPr>
        <p:spPr>
          <a:xfrm>
            <a:off x="609600" y="1500000"/>
            <a:ext cx="2600000" cy="2600000"/>
          </a:xfrm>
          <a:prstGeom prst="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0" b="1">
                <a:solidFill>
                  <a:srgbClr val="0B1020"/>
                </a:solidFill>
                <a:effectLst/>
                <a:latin typeface="Segoe UI" panose="020B0502040204020203" pitchFamily="34" charset="0"/>
              </a:rPr>
              <a:t>5</a:t>
            </a:r>
          </a:p>
          <a:p>
            <a:pPr algn="ctr">
              <a:buNone/>
            </a:pPr>
            <a:r>
              <a:rPr lang="en-US" sz="100">
                <a:effectLst/>
              </a:rPr>
              <a:t> </a:t>
            </a:r>
            <a:endParaRPr lang="en-US"/>
          </a:p>
        </p:txBody>
      </p:sp>
      <p:sp>
        <p:nvSpPr>
          <p:cNvPr id="163837" name="Rectangle 163836">
            <a:extLst>
              <a:ext uri="{FF2B5EF4-FFF2-40B4-BE49-F238E27FC236}">
                <a16:creationId xmlns:a16="http://schemas.microsoft.com/office/drawing/2014/main" id="{C25C9154-34F1-B965-16EB-E3281E4E1597}"/>
              </a:ext>
            </a:extLst>
          </p:cNvPr>
          <p:cNvSpPr/>
          <p:nvPr/>
        </p:nvSpPr>
        <p:spPr>
          <a:xfrm>
            <a:off x="3659600" y="1534560"/>
            <a:ext cx="792280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300">
                <a:solidFill>
                  <a:srgbClr val="F19D19"/>
                </a:solidFill>
                <a:effectLst/>
                <a:latin typeface="Segoe UI" panose="020B0502040204020203" pitchFamily="34" charset="0"/>
              </a:rPr>
              <a:t>MODULE 5</a:t>
            </a:r>
          </a:p>
          <a:p>
            <a:pPr algn="l">
              <a:buNone/>
            </a:pPr>
            <a:r>
              <a:rPr lang="en-US" sz="100">
                <a:effectLst/>
              </a:rPr>
              <a:t> </a:t>
            </a:r>
            <a:endParaRPr lang="en-US"/>
          </a:p>
        </p:txBody>
      </p:sp>
      <p:sp>
        <p:nvSpPr>
          <p:cNvPr id="163922" name="Rectangle 163921">
            <a:extLst>
              <a:ext uri="{FF2B5EF4-FFF2-40B4-BE49-F238E27FC236}">
                <a16:creationId xmlns:a16="http://schemas.microsoft.com/office/drawing/2014/main" id="{09B0BB35-8EF3-F508-1B47-A8A61F9F5C62}"/>
              </a:ext>
            </a:extLst>
          </p:cNvPr>
          <p:cNvSpPr/>
          <p:nvPr/>
        </p:nvSpPr>
        <p:spPr>
          <a:xfrm>
            <a:off x="3659600" y="2012080"/>
            <a:ext cx="7922800" cy="148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Create the Carrier agent and governed recovery Workflow</a:t>
            </a:r>
          </a:p>
          <a:p>
            <a:pPr algn="l">
              <a:buNone/>
            </a:pPr>
            <a:r>
              <a:rPr lang="en-US" sz="100">
                <a:effectLst/>
              </a:rPr>
              <a:t> </a:t>
            </a:r>
            <a:endParaRPr lang="en-US"/>
          </a:p>
        </p:txBody>
      </p:sp>
      <p:sp>
        <p:nvSpPr>
          <p:cNvPr id="164008" name="Rectangle: Rounded Corners 164007">
            <a:extLst>
              <a:ext uri="{FF2B5EF4-FFF2-40B4-BE49-F238E27FC236}">
                <a16:creationId xmlns:a16="http://schemas.microsoft.com/office/drawing/2014/main" id="{89306FE0-9929-09A3-CA8D-293EC9C35D5F}"/>
              </a:ext>
            </a:extLst>
          </p:cNvPr>
          <p:cNvSpPr/>
          <p:nvPr/>
        </p:nvSpPr>
        <p:spPr>
          <a:xfrm>
            <a:off x="3751040" y="3645440"/>
            <a:ext cx="1143451" cy="420000"/>
          </a:xfrm>
          <a:prstGeom prst="roundRect">
            <a:avLst/>
          </a:prstGeom>
          <a:solidFill>
            <a:srgbClr val="F19D19">
              <a:alpha val="22000"/>
            </a:srgbClr>
          </a:solidFill>
          <a:ln w="1270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50">
                <a:solidFill>
                  <a:srgbClr val="FFFFFF"/>
                </a:solidFill>
                <a:effectLst/>
                <a:latin typeface="Segoe UI" panose="020B0502040204020203" pitchFamily="34" charset="0"/>
              </a:rPr>
              <a:t>90 min</a:t>
            </a:r>
          </a:p>
          <a:p>
            <a:pPr algn="ctr">
              <a:buNone/>
            </a:pPr>
            <a:r>
              <a:rPr lang="en-US" sz="100">
                <a:effectLst/>
              </a:rPr>
              <a:t> </a:t>
            </a:r>
            <a:endParaRPr lang="en-US"/>
          </a:p>
        </p:txBody>
      </p:sp>
      <p:sp>
        <p:nvSpPr>
          <p:cNvPr id="164095" name="Arrow: Pentagon 164094">
            <a:extLst>
              <a:ext uri="{FF2B5EF4-FFF2-40B4-BE49-F238E27FC236}">
                <a16:creationId xmlns:a16="http://schemas.microsoft.com/office/drawing/2014/main" id="{DAA0B9CA-F627-3F08-C5EF-E409CEEE2076}"/>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164183" name="Arrow: Chevron 164182">
            <a:extLst>
              <a:ext uri="{FF2B5EF4-FFF2-40B4-BE49-F238E27FC236}">
                <a16:creationId xmlns:a16="http://schemas.microsoft.com/office/drawing/2014/main" id="{CE777218-9739-70F0-0F99-35F81E7C8EFB}"/>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164272" name="Arrow: Chevron 164271">
            <a:extLst>
              <a:ext uri="{FF2B5EF4-FFF2-40B4-BE49-F238E27FC236}">
                <a16:creationId xmlns:a16="http://schemas.microsoft.com/office/drawing/2014/main" id="{95F582CA-C78E-C452-C9D0-480464315F65}"/>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164362" name="Arrow: Chevron 164361">
            <a:extLst>
              <a:ext uri="{FF2B5EF4-FFF2-40B4-BE49-F238E27FC236}">
                <a16:creationId xmlns:a16="http://schemas.microsoft.com/office/drawing/2014/main" id="{86AA409A-7AE7-5723-9533-779AE0BAD2AC}"/>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164453" name="Arrow: Chevron 164452">
            <a:extLst>
              <a:ext uri="{FF2B5EF4-FFF2-40B4-BE49-F238E27FC236}">
                <a16:creationId xmlns:a16="http://schemas.microsoft.com/office/drawing/2014/main" id="{24B1411A-E5D1-B74B-B321-4DD41F51618D}"/>
              </a:ext>
            </a:extLst>
          </p:cNvPr>
          <p:cNvSpPr/>
          <p:nvPr/>
        </p:nvSpPr>
        <p:spPr>
          <a:xfrm>
            <a:off x="7844800" y="5250000"/>
            <a:ext cx="1928800" cy="600000"/>
          </a:xfrm>
          <a:prstGeom prst="chevron">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164545" name="Arrow: Chevron 164544">
            <a:extLst>
              <a:ext uri="{FF2B5EF4-FFF2-40B4-BE49-F238E27FC236}">
                <a16:creationId xmlns:a16="http://schemas.microsoft.com/office/drawing/2014/main" id="{AB1930D7-712D-D3F7-1FE7-1BD5899BD43C}"/>
              </a:ext>
            </a:extLst>
          </p:cNvPr>
          <p:cNvSpPr/>
          <p:nvPr/>
        </p:nvSpPr>
        <p:spPr>
          <a:xfrm>
            <a:off x="96536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25321348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235FD1-1940-A73E-4BD9-5FCD553D1B10}"/>
              </a:ext>
            </a:extLst>
          </p:cNvPr>
          <p:cNvSpPr>
            <a:spLocks noGrp="1"/>
          </p:cNvSpPr>
          <p:nvPr>
            <p:ph type="body" sz="quarter" idx="11"/>
          </p:nvPr>
        </p:nvSpPr>
        <p:spPr/>
        <p:txBody>
          <a:bodyPr/>
          <a:lstStyle/>
          <a:p>
            <a:endParaRPr lang="en-US"/>
          </a:p>
        </p:txBody>
      </p:sp>
      <p:pic>
        <p:nvPicPr>
          <p:cNvPr id="4" name="Picture 3">
            <a:extLst>
              <a:ext uri="{FF2B5EF4-FFF2-40B4-BE49-F238E27FC236}">
                <a16:creationId xmlns:a16="http://schemas.microsoft.com/office/drawing/2014/main" id="{E669C0B0-1B85-2FD5-3C6E-58BA6214DBF5}"/>
              </a:ext>
            </a:extLst>
          </p:cNvPr>
          <p:cNvPicPr>
            <a:picLocks noChangeAspect="1"/>
          </p:cNvPicPr>
          <p:nvPr/>
        </p:nvPicPr>
        <p:blipFill>
          <a:blip r:embed="rId3"/>
          <a:stretch>
            <a:fillRect/>
          </a:stretch>
        </p:blipFill>
        <p:spPr>
          <a:xfrm>
            <a:off x="0" y="3628"/>
            <a:ext cx="12192000" cy="6850743"/>
          </a:xfrm>
          <a:prstGeom prst="rect">
            <a:avLst/>
          </a:prstGeom>
        </p:spPr>
      </p:pic>
    </p:spTree>
    <p:extLst>
      <p:ext uri="{BB962C8B-B14F-4D97-AF65-F5344CB8AC3E}">
        <p14:creationId xmlns:p14="http://schemas.microsoft.com/office/powerpoint/2010/main" val="40861471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64638" name="Rectangle: Rounded Corners 164637">
            <a:extLst>
              <a:ext uri="{FF2B5EF4-FFF2-40B4-BE49-F238E27FC236}">
                <a16:creationId xmlns:a16="http://schemas.microsoft.com/office/drawing/2014/main" id="{0F08F37C-271C-DF16-92E3-C866864E0824}"/>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64732" name="Rectangle 164731">
            <a:extLst>
              <a:ext uri="{FF2B5EF4-FFF2-40B4-BE49-F238E27FC236}">
                <a16:creationId xmlns:a16="http://schemas.microsoft.com/office/drawing/2014/main" id="{F5DE9D61-0150-C993-2369-5BB378D2DBAA}"/>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Execute approved recovery — safely, once, with evidence</a:t>
            </a:r>
          </a:p>
          <a:p>
            <a:pPr algn="l">
              <a:buNone/>
            </a:pPr>
            <a:r>
              <a:rPr lang="en-US" sz="100">
                <a:effectLst/>
              </a:rPr>
              <a:t> </a:t>
            </a:r>
            <a:endParaRPr lang="en-US"/>
          </a:p>
        </p:txBody>
      </p:sp>
      <p:sp>
        <p:nvSpPr>
          <p:cNvPr id="164827" name="Rectangle 164826">
            <a:extLst>
              <a:ext uri="{FF2B5EF4-FFF2-40B4-BE49-F238E27FC236}">
                <a16:creationId xmlns:a16="http://schemas.microsoft.com/office/drawing/2014/main" id="{4B135C28-BD1F-FD83-66E6-AB4BF245A55A}"/>
              </a:ext>
            </a:extLst>
          </p:cNvPr>
          <p:cNvSpPr/>
          <p:nvPr/>
        </p:nvSpPr>
        <p:spPr>
          <a:xfrm>
            <a:off x="609600" y="1661951"/>
            <a:ext cx="6500000" cy="141477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WHAT YOU WILL BUILD</a:t>
            </a:r>
          </a:p>
          <a:p>
            <a:pPr algn="l">
              <a:buNone/>
            </a:pPr>
            <a:r>
              <a:rPr lang="en-US" sz="2200">
                <a:solidFill>
                  <a:srgbClr val="FFFFFF"/>
                </a:solidFill>
                <a:effectLst/>
                <a:latin typeface="Segoe UI" panose="020B0502040204020203" pitchFamily="34" charset="0"/>
              </a:rPr>
              <a:t>Carrier Operations Agent, a Computer Use tool, and the Approved Recovery Execution flow</a:t>
            </a:r>
            <a:endParaRPr lang="en-US"/>
          </a:p>
        </p:txBody>
      </p:sp>
      <p:sp>
        <p:nvSpPr>
          <p:cNvPr id="164923" name="Rectangle 164922">
            <a:extLst>
              <a:ext uri="{FF2B5EF4-FFF2-40B4-BE49-F238E27FC236}">
                <a16:creationId xmlns:a16="http://schemas.microsoft.com/office/drawing/2014/main" id="{F1E64453-B6BA-0319-2C75-3A39D9C14D11}"/>
              </a:ext>
            </a:extLst>
          </p:cNvPr>
          <p:cNvSpPr/>
          <p:nvPr/>
        </p:nvSpPr>
        <p:spPr>
          <a:xfrm>
            <a:off x="609600" y="3296730"/>
            <a:ext cx="6500000" cy="141477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BUSINESS OUTCOME</a:t>
            </a:r>
          </a:p>
          <a:p>
            <a:pPr algn="l">
              <a:buNone/>
            </a:pPr>
            <a:r>
              <a:rPr lang="en-US" sz="2200">
                <a:solidFill>
                  <a:srgbClr val="FFFFFF"/>
                </a:solidFill>
                <a:effectLst/>
                <a:latin typeface="Segoe UI" panose="020B0502040204020203" pitchFamily="34" charset="0"/>
              </a:rPr>
              <a:t>One approval produces recovery records, one verified carrier registration, and auditable evidence — or a clear Needs Attention task</a:t>
            </a:r>
            <a:endParaRPr lang="en-US"/>
          </a:p>
        </p:txBody>
      </p:sp>
      <p:sp>
        <p:nvSpPr>
          <p:cNvPr id="165020" name="Rectangle 165019">
            <a:extLst>
              <a:ext uri="{FF2B5EF4-FFF2-40B4-BE49-F238E27FC236}">
                <a16:creationId xmlns:a16="http://schemas.microsoft.com/office/drawing/2014/main" id="{2D983192-1682-EAD7-6F5D-C05CEA1AF630}"/>
              </a:ext>
            </a:extLst>
          </p:cNvPr>
          <p:cNvSpPr/>
          <p:nvPr/>
        </p:nvSpPr>
        <p:spPr>
          <a:xfrm>
            <a:off x="7489600" y="1661951"/>
            <a:ext cx="4092800" cy="1357731"/>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18" name="Rectangle 165117">
            <a:extLst>
              <a:ext uri="{FF2B5EF4-FFF2-40B4-BE49-F238E27FC236}">
                <a16:creationId xmlns:a16="http://schemas.microsoft.com/office/drawing/2014/main" id="{D52ED214-CF62-80D7-9E5E-5CB0E5CC8110}"/>
              </a:ext>
            </a:extLst>
          </p:cNvPr>
          <p:cNvSpPr/>
          <p:nvPr/>
        </p:nvSpPr>
        <p:spPr>
          <a:xfrm>
            <a:off x="7589600" y="1761951"/>
            <a:ext cx="3892800" cy="11577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DURATION</a:t>
            </a:r>
          </a:p>
          <a:p>
            <a:pPr algn="l">
              <a:buNone/>
            </a:pPr>
            <a:r>
              <a:rPr lang="en-US" sz="4400" b="1">
                <a:solidFill>
                  <a:srgbClr val="FFFFFF"/>
                </a:solidFill>
                <a:latin typeface="Segoe UI" panose="020B0502040204020203" pitchFamily="34" charset="0"/>
              </a:rPr>
              <a:t>6</a:t>
            </a:r>
            <a:r>
              <a:rPr lang="en-US" sz="4400" b="1">
                <a:solidFill>
                  <a:srgbClr val="FFFFFF"/>
                </a:solidFill>
                <a:effectLst/>
                <a:latin typeface="Segoe UI" panose="020B0502040204020203" pitchFamily="34" charset="0"/>
              </a:rPr>
              <a:t>0 min</a:t>
            </a:r>
            <a:endParaRPr lang="en-US"/>
          </a:p>
        </p:txBody>
      </p:sp>
      <p:sp>
        <p:nvSpPr>
          <p:cNvPr id="165217" name="Rectangle 165216">
            <a:extLst>
              <a:ext uri="{FF2B5EF4-FFF2-40B4-BE49-F238E27FC236}">
                <a16:creationId xmlns:a16="http://schemas.microsoft.com/office/drawing/2014/main" id="{B7E62412-B3AE-C2EA-C634-17E0EF999CF4}"/>
              </a:ext>
            </a:extLst>
          </p:cNvPr>
          <p:cNvSpPr/>
          <p:nvPr/>
        </p:nvSpPr>
        <p:spPr>
          <a:xfrm>
            <a:off x="7489600" y="3199682"/>
            <a:ext cx="4092800" cy="131419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WHERE IT FITS</a:t>
            </a:r>
          </a:p>
          <a:p>
            <a:pPr algn="l">
              <a:buNone/>
            </a:pPr>
            <a:r>
              <a:rPr lang="en-US" sz="2000">
                <a:solidFill>
                  <a:srgbClr val="FFFFFF"/>
                </a:solidFill>
                <a:effectLst/>
                <a:latin typeface="Segoe UI" panose="020B0502040204020203" pitchFamily="34" charset="0"/>
              </a:rPr>
              <a:t>The execution path that runs only after the human decision from Module 4’s handoff</a:t>
            </a:r>
            <a:endParaRPr lang="en-US"/>
          </a:p>
        </p:txBody>
      </p:sp>
      <p:sp>
        <p:nvSpPr>
          <p:cNvPr id="165317" name="Rectangle 165316">
            <a:extLst>
              <a:ext uri="{FF2B5EF4-FFF2-40B4-BE49-F238E27FC236}">
                <a16:creationId xmlns:a16="http://schemas.microsoft.com/office/drawing/2014/main" id="{2319D15E-9A22-8DE8-BC6D-0036A9EFFF6D}"/>
              </a:ext>
            </a:extLst>
          </p:cNvPr>
          <p:cNvSpPr/>
          <p:nvPr/>
        </p:nvSpPr>
        <p:spPr>
          <a:xfrm>
            <a:off x="609600" y="5011509"/>
            <a:ext cx="5076400" cy="1204315"/>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18" name="Rectangle 165417">
            <a:extLst>
              <a:ext uri="{FF2B5EF4-FFF2-40B4-BE49-F238E27FC236}">
                <a16:creationId xmlns:a16="http://schemas.microsoft.com/office/drawing/2014/main" id="{836C09EB-6E5F-AD82-3E7E-D1E5078EFEFA}"/>
              </a:ext>
            </a:extLst>
          </p:cNvPr>
          <p:cNvSpPr/>
          <p:nvPr/>
        </p:nvSpPr>
        <p:spPr>
          <a:xfrm>
            <a:off x="709600" y="5111509"/>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D6D2E8"/>
                </a:solidFill>
                <a:effectLst/>
                <a:latin typeface="Segoe UI" panose="020B0502040204020203" pitchFamily="34" charset="0"/>
              </a:rPr>
              <a:t>FROM</a:t>
            </a:r>
          </a:p>
          <a:p>
            <a:pPr algn="l">
              <a:buNone/>
            </a:pPr>
            <a:r>
              <a:rPr lang="en-US" sz="2000">
                <a:solidFill>
                  <a:srgbClr val="FFFFFF"/>
                </a:solidFill>
                <a:effectLst/>
                <a:latin typeface="Segoe UI" panose="020B0502040204020203" pitchFamily="34" charset="0"/>
              </a:rPr>
              <a:t>Agents that advise (Module 4)</a:t>
            </a:r>
            <a:endParaRPr lang="en-US"/>
          </a:p>
        </p:txBody>
      </p:sp>
      <p:sp>
        <p:nvSpPr>
          <p:cNvPr id="165520" name="Arrow: Right 165519">
            <a:extLst>
              <a:ext uri="{FF2B5EF4-FFF2-40B4-BE49-F238E27FC236}">
                <a16:creationId xmlns:a16="http://schemas.microsoft.com/office/drawing/2014/main" id="{6EDEE3A4-2D7E-AFFE-409F-E3A8EC4CA562}"/>
              </a:ext>
            </a:extLst>
          </p:cNvPr>
          <p:cNvSpPr/>
          <p:nvPr/>
        </p:nvSpPr>
        <p:spPr>
          <a:xfrm>
            <a:off x="5836000" y="5413666"/>
            <a:ext cx="520000" cy="400000"/>
          </a:xfrm>
          <a:prstGeom prst="rightArrow">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23" name="Rectangle 165622">
            <a:extLst>
              <a:ext uri="{FF2B5EF4-FFF2-40B4-BE49-F238E27FC236}">
                <a16:creationId xmlns:a16="http://schemas.microsoft.com/office/drawing/2014/main" id="{C4ABBB86-6B67-6E92-790D-16A6339AC9ED}"/>
              </a:ext>
            </a:extLst>
          </p:cNvPr>
          <p:cNvSpPr/>
          <p:nvPr/>
        </p:nvSpPr>
        <p:spPr>
          <a:xfrm>
            <a:off x="6506000" y="5011509"/>
            <a:ext cx="5076400" cy="1204315"/>
          </a:xfrm>
          <a:prstGeom prst="rect">
            <a:avLst/>
          </a:prstGeom>
          <a:solidFill>
            <a:srgbClr val="FFFFFF">
              <a:alpha val="7000"/>
            </a:srgbClr>
          </a:solidFill>
          <a:ln w="1905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27" name="Rectangle 165726">
            <a:extLst>
              <a:ext uri="{FF2B5EF4-FFF2-40B4-BE49-F238E27FC236}">
                <a16:creationId xmlns:a16="http://schemas.microsoft.com/office/drawing/2014/main" id="{DBA2EA19-A76B-7BCA-B318-31607F28D651}"/>
              </a:ext>
            </a:extLst>
          </p:cNvPr>
          <p:cNvSpPr/>
          <p:nvPr/>
        </p:nvSpPr>
        <p:spPr>
          <a:xfrm>
            <a:off x="6606000" y="5111509"/>
            <a:ext cx="48764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TO</a:t>
            </a:r>
          </a:p>
          <a:p>
            <a:pPr algn="l">
              <a:buNone/>
            </a:pPr>
            <a:r>
              <a:rPr lang="en-US" sz="2000">
                <a:solidFill>
                  <a:srgbClr val="FFFFFF"/>
                </a:solidFill>
                <a:effectLst/>
                <a:latin typeface="Segoe UI" panose="020B0502040204020203" pitchFamily="34" charset="0"/>
              </a:rPr>
              <a:t>Governed automation and an agent that acts</a:t>
            </a:r>
            <a:endParaRPr lang="en-US"/>
          </a:p>
        </p:txBody>
      </p:sp>
    </p:spTree>
    <p:extLst>
      <p:ext uri="{BB962C8B-B14F-4D97-AF65-F5344CB8AC3E}">
        <p14:creationId xmlns:p14="http://schemas.microsoft.com/office/powerpoint/2010/main" val="36723439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38366" name="Rectangle: Rounded Corners 238365">
            <a:extLst>
              <a:ext uri="{FF2B5EF4-FFF2-40B4-BE49-F238E27FC236}">
                <a16:creationId xmlns:a16="http://schemas.microsoft.com/office/drawing/2014/main" id="{2CB14D20-658E-2B40-9766-A15FCEAA54BC}"/>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238379" name="Rectangle 238378">
            <a:extLst>
              <a:ext uri="{FF2B5EF4-FFF2-40B4-BE49-F238E27FC236}">
                <a16:creationId xmlns:a16="http://schemas.microsoft.com/office/drawing/2014/main" id="{CA42BE5F-4877-D79C-5F37-6190C6F599FC}"/>
              </a:ext>
            </a:extLst>
          </p:cNvPr>
          <p:cNvSpPr/>
          <p:nvPr/>
        </p:nvSpPr>
        <p:spPr>
          <a:xfrm>
            <a:off x="609905"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The last mile has no API</a:t>
            </a:r>
          </a:p>
          <a:p>
            <a:pPr algn="l">
              <a:buNone/>
            </a:pPr>
            <a:r>
              <a:rPr lang="en-US" sz="100">
                <a:effectLst/>
              </a:rPr>
              <a:t> </a:t>
            </a:r>
            <a:endParaRPr lang="en-US"/>
          </a:p>
        </p:txBody>
      </p:sp>
      <p:sp>
        <p:nvSpPr>
          <p:cNvPr id="238387" name="Rectangle 238386">
            <a:extLst>
              <a:ext uri="{FF2B5EF4-FFF2-40B4-BE49-F238E27FC236}">
                <a16:creationId xmlns:a16="http://schemas.microsoft.com/office/drawing/2014/main" id="{AD9DA6E9-3107-8DAB-5CC6-3098721D6DD9}"/>
              </a:ext>
            </a:extLst>
          </p:cNvPr>
          <p:cNvSpPr/>
          <p:nvPr/>
        </p:nvSpPr>
        <p:spPr>
          <a:xfrm>
            <a:off x="609905" y="1691640"/>
            <a:ext cx="5120640" cy="3328416"/>
          </a:xfrm>
          <a:prstGeom prst="rect">
            <a:avLst/>
          </a:prstGeom>
          <a:solidFill>
            <a:srgbClr val="F19D19">
              <a:alpha val="21000"/>
            </a:srgbClr>
          </a:solidFill>
          <a:ln w="1905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396" name="Rectangle 238395">
            <a:extLst>
              <a:ext uri="{FF2B5EF4-FFF2-40B4-BE49-F238E27FC236}">
                <a16:creationId xmlns:a16="http://schemas.microsoft.com/office/drawing/2014/main" id="{2235573D-3F9A-213F-9C95-F13A61A77D7A}"/>
              </a:ext>
            </a:extLst>
          </p:cNvPr>
          <p:cNvSpPr/>
          <p:nvPr/>
        </p:nvSpPr>
        <p:spPr>
          <a:xfrm>
            <a:off x="792785" y="1874520"/>
            <a:ext cx="475488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00">
                <a:solidFill>
                  <a:srgbClr val="F19D19"/>
                </a:solidFill>
                <a:effectLst/>
                <a:latin typeface="Segoe UI" panose="020B0502040204020203" pitchFamily="34" charset="0"/>
              </a:rPr>
              <a:t>THE SITUATION</a:t>
            </a:r>
          </a:p>
          <a:p>
            <a:pPr algn="l">
              <a:buNone/>
            </a:pPr>
            <a:r>
              <a:rPr lang="en-US" sz="100">
                <a:effectLst/>
              </a:rPr>
              <a:t> </a:t>
            </a:r>
            <a:endParaRPr lang="en-US"/>
          </a:p>
        </p:txBody>
      </p:sp>
      <p:sp>
        <p:nvSpPr>
          <p:cNvPr id="238406" name="Rectangle 238405">
            <a:extLst>
              <a:ext uri="{FF2B5EF4-FFF2-40B4-BE49-F238E27FC236}">
                <a16:creationId xmlns:a16="http://schemas.microsoft.com/office/drawing/2014/main" id="{454C9CED-3ED6-F003-14B4-F3B8C7049938}"/>
              </a:ext>
            </a:extLst>
          </p:cNvPr>
          <p:cNvSpPr/>
          <p:nvPr/>
        </p:nvSpPr>
        <p:spPr>
          <a:xfrm>
            <a:off x="792785" y="2468880"/>
            <a:ext cx="4754880" cy="100355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Supplier F is 14 days late. Policy recommends a Split Shipment, and a person approves it in Module 6.</a:t>
            </a:r>
          </a:p>
          <a:p>
            <a:pPr algn="l">
              <a:buNone/>
            </a:pPr>
            <a:r>
              <a:rPr lang="en-US" sz="100">
                <a:effectLst/>
              </a:rPr>
              <a:t> </a:t>
            </a:r>
            <a:endParaRPr lang="en-US"/>
          </a:p>
        </p:txBody>
      </p:sp>
      <p:sp>
        <p:nvSpPr>
          <p:cNvPr id="238417" name="Rectangle 238416">
            <a:extLst>
              <a:ext uri="{FF2B5EF4-FFF2-40B4-BE49-F238E27FC236}">
                <a16:creationId xmlns:a16="http://schemas.microsoft.com/office/drawing/2014/main" id="{4AB3D638-B8EE-8072-3C8C-FE7C17F28309}"/>
              </a:ext>
            </a:extLst>
          </p:cNvPr>
          <p:cNvSpPr/>
          <p:nvPr/>
        </p:nvSpPr>
        <p:spPr>
          <a:xfrm>
            <a:off x="792785" y="3701034"/>
            <a:ext cx="4754880" cy="100355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But the carrier contact must be registered on a browser portal with no supported API.</a:t>
            </a:r>
          </a:p>
          <a:p>
            <a:pPr algn="l">
              <a:buNone/>
            </a:pPr>
            <a:r>
              <a:rPr lang="en-US" sz="100">
                <a:effectLst/>
              </a:rPr>
              <a:t> </a:t>
            </a:r>
            <a:endParaRPr lang="en-US"/>
          </a:p>
        </p:txBody>
      </p:sp>
      <p:sp>
        <p:nvSpPr>
          <p:cNvPr id="238429" name="Rectangle 238428">
            <a:extLst>
              <a:ext uri="{FF2B5EF4-FFF2-40B4-BE49-F238E27FC236}">
                <a16:creationId xmlns:a16="http://schemas.microsoft.com/office/drawing/2014/main" id="{C27FB284-953F-D808-2A9C-4C12BAB5B92D}"/>
              </a:ext>
            </a:extLst>
          </p:cNvPr>
          <p:cNvSpPr/>
          <p:nvPr/>
        </p:nvSpPr>
        <p:spPr>
          <a:xfrm>
            <a:off x="6004865" y="1691640"/>
            <a:ext cx="557784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00">
                <a:solidFill>
                  <a:srgbClr val="F19D19"/>
                </a:solidFill>
                <a:effectLst/>
                <a:latin typeface="Segoe UI" panose="020B0502040204020203" pitchFamily="34" charset="0"/>
              </a:rPr>
              <a:t>ONCE AN AGENT CAN ACT, IT MUST…</a:t>
            </a:r>
          </a:p>
          <a:p>
            <a:pPr algn="l">
              <a:buNone/>
            </a:pPr>
            <a:r>
              <a:rPr lang="en-US" sz="100">
                <a:effectLst/>
              </a:rPr>
              <a:t> </a:t>
            </a:r>
            <a:endParaRPr lang="en-US"/>
          </a:p>
        </p:txBody>
      </p:sp>
      <p:sp>
        <p:nvSpPr>
          <p:cNvPr id="238442" name="Rectangle 238441">
            <a:extLst>
              <a:ext uri="{FF2B5EF4-FFF2-40B4-BE49-F238E27FC236}">
                <a16:creationId xmlns:a16="http://schemas.microsoft.com/office/drawing/2014/main" id="{C1DC6098-AE52-6166-A800-7A6275B3F0F1}"/>
              </a:ext>
            </a:extLst>
          </p:cNvPr>
          <p:cNvSpPr/>
          <p:nvPr/>
        </p:nvSpPr>
        <p:spPr>
          <a:xfrm>
            <a:off x="6004865" y="2148840"/>
            <a:ext cx="5577840" cy="8961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456" name="Rectangle: Rounded Corners 238455">
            <a:extLst>
              <a:ext uri="{FF2B5EF4-FFF2-40B4-BE49-F238E27FC236}">
                <a16:creationId xmlns:a16="http://schemas.microsoft.com/office/drawing/2014/main" id="{BBC44570-D84C-4D3A-D8E6-6EB16130E7F7}"/>
              </a:ext>
            </a:extLst>
          </p:cNvPr>
          <p:cNvSpPr/>
          <p:nvPr/>
        </p:nvSpPr>
        <p:spPr>
          <a:xfrm>
            <a:off x="6160313" y="2295144"/>
            <a:ext cx="603504" cy="603504"/>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B1020"/>
                </a:solidFill>
                <a:effectLst/>
                <a:latin typeface="Segoe UI" panose="020B0502040204020203" pitchFamily="34" charset="0"/>
              </a:rPr>
              <a:t>1</a:t>
            </a:r>
            <a:endParaRPr lang="en-US" sz="2000"/>
          </a:p>
        </p:txBody>
      </p:sp>
      <p:sp>
        <p:nvSpPr>
          <p:cNvPr id="238471" name="Rectangle 238470">
            <a:extLst>
              <a:ext uri="{FF2B5EF4-FFF2-40B4-BE49-F238E27FC236}">
                <a16:creationId xmlns:a16="http://schemas.microsoft.com/office/drawing/2014/main" id="{79DE7A55-640A-732E-3A84-DF4C2D72DF0C}"/>
              </a:ext>
            </a:extLst>
          </p:cNvPr>
          <p:cNvSpPr/>
          <p:nvPr/>
        </p:nvSpPr>
        <p:spPr>
          <a:xfrm>
            <a:off x="6873545" y="2322576"/>
            <a:ext cx="45720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Act only after a person approves</a:t>
            </a:r>
          </a:p>
          <a:p>
            <a:pPr algn="l">
              <a:buNone/>
            </a:pPr>
            <a:r>
              <a:rPr lang="en-US" sz="100">
                <a:effectLst/>
              </a:rPr>
              <a:t> </a:t>
            </a:r>
            <a:endParaRPr lang="en-US"/>
          </a:p>
        </p:txBody>
      </p:sp>
      <p:sp>
        <p:nvSpPr>
          <p:cNvPr id="238487" name="Rectangle 238486">
            <a:extLst>
              <a:ext uri="{FF2B5EF4-FFF2-40B4-BE49-F238E27FC236}">
                <a16:creationId xmlns:a16="http://schemas.microsoft.com/office/drawing/2014/main" id="{6B7D47F5-5EDE-6FE4-82C5-222ED5B2A59A}"/>
              </a:ext>
            </a:extLst>
          </p:cNvPr>
          <p:cNvSpPr/>
          <p:nvPr/>
        </p:nvSpPr>
        <p:spPr>
          <a:xfrm>
            <a:off x="6004865" y="3136392"/>
            <a:ext cx="5577840" cy="8961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04" name="Rectangle: Rounded Corners 238503">
            <a:extLst>
              <a:ext uri="{FF2B5EF4-FFF2-40B4-BE49-F238E27FC236}">
                <a16:creationId xmlns:a16="http://schemas.microsoft.com/office/drawing/2014/main" id="{59B3D459-B498-6EFD-AC1E-844536B2E089}"/>
              </a:ext>
            </a:extLst>
          </p:cNvPr>
          <p:cNvSpPr/>
          <p:nvPr/>
        </p:nvSpPr>
        <p:spPr>
          <a:xfrm>
            <a:off x="6160313" y="3282696"/>
            <a:ext cx="603504" cy="603504"/>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B1020"/>
                </a:solidFill>
                <a:effectLst/>
                <a:latin typeface="Segoe UI" panose="020B0502040204020203" pitchFamily="34" charset="0"/>
              </a:rPr>
              <a:t>2</a:t>
            </a:r>
            <a:endParaRPr lang="en-US" sz="2000"/>
          </a:p>
        </p:txBody>
      </p:sp>
      <p:sp>
        <p:nvSpPr>
          <p:cNvPr id="238522" name="Rectangle 238521">
            <a:extLst>
              <a:ext uri="{FF2B5EF4-FFF2-40B4-BE49-F238E27FC236}">
                <a16:creationId xmlns:a16="http://schemas.microsoft.com/office/drawing/2014/main" id="{509B3862-D80D-F8A5-C775-92F4489D5E26}"/>
              </a:ext>
            </a:extLst>
          </p:cNvPr>
          <p:cNvSpPr/>
          <p:nvPr/>
        </p:nvSpPr>
        <p:spPr>
          <a:xfrm>
            <a:off x="6873545" y="3310128"/>
            <a:ext cx="45720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Act exactly once</a:t>
            </a:r>
          </a:p>
          <a:p>
            <a:pPr algn="l">
              <a:buNone/>
            </a:pPr>
            <a:r>
              <a:rPr lang="en-US" sz="100">
                <a:effectLst/>
              </a:rPr>
              <a:t> </a:t>
            </a:r>
            <a:endParaRPr lang="en-US"/>
          </a:p>
        </p:txBody>
      </p:sp>
      <p:sp>
        <p:nvSpPr>
          <p:cNvPr id="238541" name="Rectangle 238540">
            <a:extLst>
              <a:ext uri="{FF2B5EF4-FFF2-40B4-BE49-F238E27FC236}">
                <a16:creationId xmlns:a16="http://schemas.microsoft.com/office/drawing/2014/main" id="{6999D6F3-19AA-8BBF-7A3F-58AB18E9B2B5}"/>
              </a:ext>
            </a:extLst>
          </p:cNvPr>
          <p:cNvSpPr/>
          <p:nvPr/>
        </p:nvSpPr>
        <p:spPr>
          <a:xfrm>
            <a:off x="6004865" y="4123944"/>
            <a:ext cx="5577840" cy="8961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61" name="Rectangle: Rounded Corners 238560">
            <a:extLst>
              <a:ext uri="{FF2B5EF4-FFF2-40B4-BE49-F238E27FC236}">
                <a16:creationId xmlns:a16="http://schemas.microsoft.com/office/drawing/2014/main" id="{D55DB7F3-8233-6B49-B2CA-D3440BB1A5D8}"/>
              </a:ext>
            </a:extLst>
          </p:cNvPr>
          <p:cNvSpPr/>
          <p:nvPr/>
        </p:nvSpPr>
        <p:spPr>
          <a:xfrm>
            <a:off x="6160313" y="4270248"/>
            <a:ext cx="603504" cy="603504"/>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B1020"/>
                </a:solidFill>
                <a:effectLst/>
                <a:latin typeface="Segoe UI" panose="020B0502040204020203" pitchFamily="34" charset="0"/>
              </a:rPr>
              <a:t>3</a:t>
            </a:r>
            <a:endParaRPr lang="en-US" sz="2000"/>
          </a:p>
        </p:txBody>
      </p:sp>
      <p:sp>
        <p:nvSpPr>
          <p:cNvPr id="238582" name="Rectangle 238581">
            <a:extLst>
              <a:ext uri="{FF2B5EF4-FFF2-40B4-BE49-F238E27FC236}">
                <a16:creationId xmlns:a16="http://schemas.microsoft.com/office/drawing/2014/main" id="{D8C1F776-4105-7D9B-E6AF-E5BE2CB20DE8}"/>
              </a:ext>
            </a:extLst>
          </p:cNvPr>
          <p:cNvSpPr/>
          <p:nvPr/>
        </p:nvSpPr>
        <p:spPr>
          <a:xfrm>
            <a:off x="6873545" y="4297680"/>
            <a:ext cx="45720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Prove what happened</a:t>
            </a:r>
          </a:p>
          <a:p>
            <a:pPr algn="l">
              <a:buNone/>
            </a:pPr>
            <a:r>
              <a:rPr lang="en-US" sz="100">
                <a:effectLst/>
              </a:rPr>
              <a:t> </a:t>
            </a:r>
            <a:endParaRPr lang="en-US"/>
          </a:p>
        </p:txBody>
      </p:sp>
      <p:sp>
        <p:nvSpPr>
          <p:cNvPr id="238604" name="Rectangle 238603">
            <a:extLst>
              <a:ext uri="{FF2B5EF4-FFF2-40B4-BE49-F238E27FC236}">
                <a16:creationId xmlns:a16="http://schemas.microsoft.com/office/drawing/2014/main" id="{6E7904D0-658D-2AAD-6629-66F52A475F56}"/>
              </a:ext>
            </a:extLst>
          </p:cNvPr>
          <p:cNvSpPr/>
          <p:nvPr/>
        </p:nvSpPr>
        <p:spPr>
          <a:xfrm>
            <a:off x="609905" y="5349240"/>
            <a:ext cx="10972800" cy="548640"/>
          </a:xfrm>
          <a:prstGeom prst="rect">
            <a:avLst/>
          </a:prstGeom>
          <a:solidFill>
            <a:srgbClr val="F19D19">
              <a:alpha val="22000"/>
            </a:srgbClr>
          </a:solidFill>
          <a:ln w="1905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FFFFFF"/>
                </a:solidFill>
                <a:effectLst/>
                <a:latin typeface="Segoe UI" panose="020B0502040204020203" pitchFamily="34" charset="0"/>
              </a:rPr>
              <a:t>The workflow governs. The agent acts. The evidence proves.</a:t>
            </a:r>
          </a:p>
          <a:p>
            <a:pPr algn="ctr">
              <a:buNone/>
            </a:pPr>
            <a:r>
              <a:rPr lang="en-US" sz="100">
                <a:effectLst/>
              </a:rPr>
              <a:t> </a:t>
            </a:r>
            <a:endParaRPr lang="en-US"/>
          </a:p>
        </p:txBody>
      </p:sp>
    </p:spTree>
    <p:extLst>
      <p:ext uri="{BB962C8B-B14F-4D97-AF65-F5344CB8AC3E}">
        <p14:creationId xmlns:p14="http://schemas.microsoft.com/office/powerpoint/2010/main" val="1119358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38627" name="Rectangle: Rounded Corners 238626">
            <a:extLst>
              <a:ext uri="{FF2B5EF4-FFF2-40B4-BE49-F238E27FC236}">
                <a16:creationId xmlns:a16="http://schemas.microsoft.com/office/drawing/2014/main" id="{1662049E-D410-3606-6A02-0BB9D95194BC}"/>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238676" name="Rectangle 238675">
            <a:extLst>
              <a:ext uri="{FF2B5EF4-FFF2-40B4-BE49-F238E27FC236}">
                <a16:creationId xmlns:a16="http://schemas.microsoft.com/office/drawing/2014/main" id="{4BDE327E-6812-DCCF-072B-CB872B30CD30}"/>
              </a:ext>
            </a:extLst>
          </p:cNvPr>
          <p:cNvSpPr/>
          <p:nvPr/>
        </p:nvSpPr>
        <p:spPr>
          <a:xfrm>
            <a:off x="609905"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5 features at a glance</a:t>
            </a:r>
          </a:p>
          <a:p>
            <a:pPr algn="l">
              <a:buNone/>
            </a:pPr>
            <a:r>
              <a:rPr lang="en-US" sz="100">
                <a:effectLst/>
              </a:rPr>
              <a:t> </a:t>
            </a:r>
            <a:endParaRPr lang="en-US"/>
          </a:p>
        </p:txBody>
      </p:sp>
      <p:sp>
        <p:nvSpPr>
          <p:cNvPr id="238702" name="Rectangle 238701">
            <a:extLst>
              <a:ext uri="{FF2B5EF4-FFF2-40B4-BE49-F238E27FC236}">
                <a16:creationId xmlns:a16="http://schemas.microsoft.com/office/drawing/2014/main" id="{EB2B3DA7-D42D-CA7E-DEEF-A13F995B4A5B}"/>
              </a:ext>
            </a:extLst>
          </p:cNvPr>
          <p:cNvSpPr/>
          <p:nvPr/>
        </p:nvSpPr>
        <p:spPr>
          <a:xfrm>
            <a:off x="609905" y="1783080"/>
            <a:ext cx="5349240" cy="20574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29" name="Rectangle 238728">
            <a:extLst>
              <a:ext uri="{FF2B5EF4-FFF2-40B4-BE49-F238E27FC236}">
                <a16:creationId xmlns:a16="http://schemas.microsoft.com/office/drawing/2014/main" id="{A68E6E6A-91A0-F85C-842A-4F0A2A3C8E38}"/>
              </a:ext>
            </a:extLst>
          </p:cNvPr>
          <p:cNvSpPr/>
          <p:nvPr/>
        </p:nvSpPr>
        <p:spPr>
          <a:xfrm>
            <a:off x="792785" y="1965960"/>
            <a:ext cx="4983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19D19"/>
                </a:solidFill>
                <a:effectLst/>
                <a:latin typeface="Segoe UI" panose="020B0502040204020203" pitchFamily="34" charset="0"/>
              </a:rPr>
              <a:t>Vibe coding agents</a:t>
            </a:r>
          </a:p>
          <a:p>
            <a:pPr algn="l">
              <a:buNone/>
            </a:pPr>
            <a:r>
              <a:rPr lang="en-US" sz="100">
                <a:effectLst/>
              </a:rPr>
              <a:t> </a:t>
            </a:r>
            <a:endParaRPr lang="en-US"/>
          </a:p>
        </p:txBody>
      </p:sp>
      <p:sp>
        <p:nvSpPr>
          <p:cNvPr id="238757" name="Rectangle 238756">
            <a:extLst>
              <a:ext uri="{FF2B5EF4-FFF2-40B4-BE49-F238E27FC236}">
                <a16:creationId xmlns:a16="http://schemas.microsoft.com/office/drawing/2014/main" id="{D6029782-DB96-0BBB-2E65-33A73427A416}"/>
              </a:ext>
            </a:extLst>
          </p:cNvPr>
          <p:cNvSpPr/>
          <p:nvPr/>
        </p:nvSpPr>
        <p:spPr>
          <a:xfrm>
            <a:off x="792785" y="2459736"/>
            <a:ext cx="4983480" cy="631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Describe what you need; Copilot Studio builds the agent or workflow.</a:t>
            </a:r>
          </a:p>
          <a:p>
            <a:pPr algn="l">
              <a:buNone/>
            </a:pPr>
            <a:r>
              <a:rPr lang="en-US" sz="100">
                <a:effectLst/>
              </a:rPr>
              <a:t> </a:t>
            </a:r>
            <a:endParaRPr lang="en-US"/>
          </a:p>
        </p:txBody>
      </p:sp>
      <p:sp>
        <p:nvSpPr>
          <p:cNvPr id="238786" name="Rectangle: Rounded Corners 238785">
            <a:extLst>
              <a:ext uri="{FF2B5EF4-FFF2-40B4-BE49-F238E27FC236}">
                <a16:creationId xmlns:a16="http://schemas.microsoft.com/office/drawing/2014/main" id="{7F148EC4-3A0F-C6F4-DEC5-F1EF6395B99B}"/>
              </a:ext>
            </a:extLst>
          </p:cNvPr>
          <p:cNvSpPr/>
          <p:nvPr/>
        </p:nvSpPr>
        <p:spPr>
          <a:xfrm>
            <a:off x="884225" y="3218688"/>
            <a:ext cx="1600200" cy="402336"/>
          </a:xfrm>
          <a:prstGeom prst="round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Talk track</a:t>
            </a:r>
          </a:p>
          <a:p>
            <a:pPr algn="ctr">
              <a:buNone/>
            </a:pPr>
            <a:r>
              <a:rPr lang="en-US" sz="100">
                <a:effectLst/>
              </a:rPr>
              <a:t> </a:t>
            </a:r>
            <a:endParaRPr lang="en-US"/>
          </a:p>
        </p:txBody>
      </p:sp>
      <p:sp>
        <p:nvSpPr>
          <p:cNvPr id="238816" name="Rectangle 238815">
            <a:extLst>
              <a:ext uri="{FF2B5EF4-FFF2-40B4-BE49-F238E27FC236}">
                <a16:creationId xmlns:a16="http://schemas.microsoft.com/office/drawing/2014/main" id="{ABCEF824-B105-181F-5B24-0516757ACD6E}"/>
              </a:ext>
            </a:extLst>
          </p:cNvPr>
          <p:cNvSpPr/>
          <p:nvPr/>
        </p:nvSpPr>
        <p:spPr>
          <a:xfrm>
            <a:off x="6233465" y="1783080"/>
            <a:ext cx="5349240" cy="20574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847" name="Rectangle 238846">
            <a:extLst>
              <a:ext uri="{FF2B5EF4-FFF2-40B4-BE49-F238E27FC236}">
                <a16:creationId xmlns:a16="http://schemas.microsoft.com/office/drawing/2014/main" id="{5AB63964-DE87-D1C0-1773-28AF4681E974}"/>
              </a:ext>
            </a:extLst>
          </p:cNvPr>
          <p:cNvSpPr/>
          <p:nvPr/>
        </p:nvSpPr>
        <p:spPr>
          <a:xfrm>
            <a:off x="6416345" y="1965960"/>
            <a:ext cx="4983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19D19"/>
                </a:solidFill>
                <a:effectLst/>
                <a:latin typeface="Segoe UI" panose="020B0502040204020203" pitchFamily="34" charset="0"/>
              </a:rPr>
              <a:t>Workflows</a:t>
            </a:r>
          </a:p>
          <a:p>
            <a:pPr algn="l">
              <a:buNone/>
            </a:pPr>
            <a:r>
              <a:rPr lang="en-US" sz="100">
                <a:effectLst/>
              </a:rPr>
              <a:t> </a:t>
            </a:r>
            <a:endParaRPr lang="en-US"/>
          </a:p>
        </p:txBody>
      </p:sp>
      <p:sp>
        <p:nvSpPr>
          <p:cNvPr id="238879" name="Rectangle 238878">
            <a:extLst>
              <a:ext uri="{FF2B5EF4-FFF2-40B4-BE49-F238E27FC236}">
                <a16:creationId xmlns:a16="http://schemas.microsoft.com/office/drawing/2014/main" id="{A9ECE5B3-CB25-AAD1-41E0-A6FD20FDA29E}"/>
              </a:ext>
            </a:extLst>
          </p:cNvPr>
          <p:cNvSpPr/>
          <p:nvPr/>
        </p:nvSpPr>
        <p:spPr>
          <a:xfrm>
            <a:off x="6416345" y="2459736"/>
            <a:ext cx="4983480" cy="631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Deterministic automation: same input, same output. Can call an agent and wait.</a:t>
            </a:r>
          </a:p>
          <a:p>
            <a:pPr algn="l">
              <a:buNone/>
            </a:pPr>
            <a:r>
              <a:rPr lang="en-US" sz="100">
                <a:effectLst/>
              </a:rPr>
              <a:t> </a:t>
            </a:r>
            <a:endParaRPr lang="en-US"/>
          </a:p>
        </p:txBody>
      </p:sp>
      <p:sp>
        <p:nvSpPr>
          <p:cNvPr id="238912" name="Rectangle: Rounded Corners 238911">
            <a:extLst>
              <a:ext uri="{FF2B5EF4-FFF2-40B4-BE49-F238E27FC236}">
                <a16:creationId xmlns:a16="http://schemas.microsoft.com/office/drawing/2014/main" id="{6E00F51C-A1D4-AB4B-039A-75A4B695036C}"/>
              </a:ext>
            </a:extLst>
          </p:cNvPr>
          <p:cNvSpPr/>
          <p:nvPr/>
        </p:nvSpPr>
        <p:spPr>
          <a:xfrm>
            <a:off x="6507785" y="3218688"/>
            <a:ext cx="1600200" cy="402336"/>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8946" name="Rectangle 238945">
            <a:extLst>
              <a:ext uri="{FF2B5EF4-FFF2-40B4-BE49-F238E27FC236}">
                <a16:creationId xmlns:a16="http://schemas.microsoft.com/office/drawing/2014/main" id="{69DCAE5C-8E84-AEEB-1FA0-84EAB5F13C06}"/>
              </a:ext>
            </a:extLst>
          </p:cNvPr>
          <p:cNvSpPr/>
          <p:nvPr/>
        </p:nvSpPr>
        <p:spPr>
          <a:xfrm>
            <a:off x="609905" y="4069080"/>
            <a:ext cx="5349240" cy="20574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981" name="Rectangle 238980">
            <a:extLst>
              <a:ext uri="{FF2B5EF4-FFF2-40B4-BE49-F238E27FC236}">
                <a16:creationId xmlns:a16="http://schemas.microsoft.com/office/drawing/2014/main" id="{13FC3F14-6106-022C-DEE7-CC19B7DC0981}"/>
              </a:ext>
            </a:extLst>
          </p:cNvPr>
          <p:cNvSpPr/>
          <p:nvPr/>
        </p:nvSpPr>
        <p:spPr>
          <a:xfrm>
            <a:off x="792785" y="4251960"/>
            <a:ext cx="4983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19D19"/>
                </a:solidFill>
                <a:effectLst/>
                <a:latin typeface="Segoe UI" panose="020B0502040204020203" pitchFamily="34" charset="0"/>
              </a:rPr>
              <a:t>Computer use (CUA)</a:t>
            </a:r>
          </a:p>
          <a:p>
            <a:pPr algn="l">
              <a:buNone/>
            </a:pPr>
            <a:r>
              <a:rPr lang="en-US" sz="100">
                <a:effectLst/>
              </a:rPr>
              <a:t> </a:t>
            </a:r>
            <a:endParaRPr lang="en-US"/>
          </a:p>
        </p:txBody>
      </p:sp>
      <p:sp>
        <p:nvSpPr>
          <p:cNvPr id="239017" name="Rectangle 239016">
            <a:extLst>
              <a:ext uri="{FF2B5EF4-FFF2-40B4-BE49-F238E27FC236}">
                <a16:creationId xmlns:a16="http://schemas.microsoft.com/office/drawing/2014/main" id="{38C411A5-4A65-AA4D-7D6D-4A1627D3D8DB}"/>
              </a:ext>
            </a:extLst>
          </p:cNvPr>
          <p:cNvSpPr/>
          <p:nvPr/>
        </p:nvSpPr>
        <p:spPr>
          <a:xfrm>
            <a:off x="792785" y="4745736"/>
            <a:ext cx="4983480" cy="631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An agent tool that uses websites and apps like a person — no API needed.</a:t>
            </a:r>
          </a:p>
          <a:p>
            <a:pPr algn="l">
              <a:buNone/>
            </a:pPr>
            <a:r>
              <a:rPr lang="en-US" sz="100">
                <a:effectLst/>
              </a:rPr>
              <a:t> </a:t>
            </a:r>
            <a:endParaRPr lang="en-US"/>
          </a:p>
        </p:txBody>
      </p:sp>
      <p:sp>
        <p:nvSpPr>
          <p:cNvPr id="239054" name="Rectangle: Rounded Corners 239053">
            <a:extLst>
              <a:ext uri="{FF2B5EF4-FFF2-40B4-BE49-F238E27FC236}">
                <a16:creationId xmlns:a16="http://schemas.microsoft.com/office/drawing/2014/main" id="{4DD9C793-C39D-9702-429E-8F343CA824F8}"/>
              </a:ext>
            </a:extLst>
          </p:cNvPr>
          <p:cNvSpPr/>
          <p:nvPr/>
        </p:nvSpPr>
        <p:spPr>
          <a:xfrm>
            <a:off x="884225" y="5504688"/>
            <a:ext cx="1600200" cy="402336"/>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Built in lab</a:t>
            </a:r>
          </a:p>
          <a:p>
            <a:pPr algn="ctr">
              <a:buNone/>
            </a:pPr>
            <a:r>
              <a:rPr lang="en-US" sz="100">
                <a:effectLst/>
              </a:rPr>
              <a:t> </a:t>
            </a:r>
            <a:endParaRPr lang="en-US"/>
          </a:p>
        </p:txBody>
      </p:sp>
      <p:sp>
        <p:nvSpPr>
          <p:cNvPr id="239092" name="Rectangle 239091">
            <a:extLst>
              <a:ext uri="{FF2B5EF4-FFF2-40B4-BE49-F238E27FC236}">
                <a16:creationId xmlns:a16="http://schemas.microsoft.com/office/drawing/2014/main" id="{0B0C2E5A-1847-4BF1-3512-8488F29F05B6}"/>
              </a:ext>
            </a:extLst>
          </p:cNvPr>
          <p:cNvSpPr/>
          <p:nvPr/>
        </p:nvSpPr>
        <p:spPr>
          <a:xfrm>
            <a:off x="6233465" y="4069080"/>
            <a:ext cx="5349240" cy="20574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131" name="Rectangle 239130">
            <a:extLst>
              <a:ext uri="{FF2B5EF4-FFF2-40B4-BE49-F238E27FC236}">
                <a16:creationId xmlns:a16="http://schemas.microsoft.com/office/drawing/2014/main" id="{41044735-AF47-8C81-F46C-F15BC47438F3}"/>
              </a:ext>
            </a:extLst>
          </p:cNvPr>
          <p:cNvSpPr/>
          <p:nvPr/>
        </p:nvSpPr>
        <p:spPr>
          <a:xfrm>
            <a:off x="6416345" y="4251960"/>
            <a:ext cx="4983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19D19"/>
                </a:solidFill>
                <a:effectLst/>
                <a:latin typeface="Segoe UI" panose="020B0502040204020203" pitchFamily="34" charset="0"/>
              </a:rPr>
              <a:t>Harness choice</a:t>
            </a:r>
          </a:p>
          <a:p>
            <a:pPr algn="l">
              <a:buNone/>
            </a:pPr>
            <a:r>
              <a:rPr lang="en-US" sz="100">
                <a:effectLst/>
              </a:rPr>
              <a:t> </a:t>
            </a:r>
            <a:endParaRPr lang="en-US"/>
          </a:p>
        </p:txBody>
      </p:sp>
      <p:sp>
        <p:nvSpPr>
          <p:cNvPr id="239171" name="Rectangle 239170">
            <a:extLst>
              <a:ext uri="{FF2B5EF4-FFF2-40B4-BE49-F238E27FC236}">
                <a16:creationId xmlns:a16="http://schemas.microsoft.com/office/drawing/2014/main" id="{950C63B5-AC0E-8E28-E3CD-72C43F8F0815}"/>
              </a:ext>
            </a:extLst>
          </p:cNvPr>
          <p:cNvSpPr/>
          <p:nvPr/>
        </p:nvSpPr>
        <p:spPr>
          <a:xfrm>
            <a:off x="6416345" y="4745736"/>
            <a:ext cx="4983480" cy="631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Standard or GitHub Copilot harness: the runtime shapes capabilities and billing.</a:t>
            </a:r>
          </a:p>
          <a:p>
            <a:pPr algn="l">
              <a:buNone/>
            </a:pPr>
            <a:r>
              <a:rPr lang="en-US" sz="100">
                <a:effectLst/>
              </a:rPr>
              <a:t> </a:t>
            </a:r>
            <a:endParaRPr lang="en-US"/>
          </a:p>
        </p:txBody>
      </p:sp>
      <p:sp>
        <p:nvSpPr>
          <p:cNvPr id="239212" name="Rectangle: Rounded Corners 239211">
            <a:extLst>
              <a:ext uri="{FF2B5EF4-FFF2-40B4-BE49-F238E27FC236}">
                <a16:creationId xmlns:a16="http://schemas.microsoft.com/office/drawing/2014/main" id="{16CEE4E3-4C87-2753-0467-84F988EA40E0}"/>
              </a:ext>
            </a:extLst>
          </p:cNvPr>
          <p:cNvSpPr/>
          <p:nvPr/>
        </p:nvSpPr>
        <p:spPr>
          <a:xfrm>
            <a:off x="6507785" y="5504688"/>
            <a:ext cx="1600200" cy="402336"/>
          </a:xfrm>
          <a:prstGeom prst="round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Talk track</a:t>
            </a:r>
          </a:p>
          <a:p>
            <a:pPr algn="ctr">
              <a:buNone/>
            </a:pPr>
            <a:r>
              <a:rPr lang="en-US" sz="100">
                <a:effectLst/>
              </a:rPr>
              <a:t> </a:t>
            </a:r>
            <a:endParaRPr lang="en-US"/>
          </a:p>
        </p:txBody>
      </p:sp>
    </p:spTree>
    <p:extLst>
      <p:ext uri="{BB962C8B-B14F-4D97-AF65-F5344CB8AC3E}">
        <p14:creationId xmlns:p14="http://schemas.microsoft.com/office/powerpoint/2010/main" val="39649189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40293" name="Rectangle: Rounded Corners 240292">
            <a:extLst>
              <a:ext uri="{FF2B5EF4-FFF2-40B4-BE49-F238E27FC236}">
                <a16:creationId xmlns:a16="http://schemas.microsoft.com/office/drawing/2014/main" id="{287747CE-F67F-F303-A5D7-028656672ED1}"/>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240388" name="Rectangle 240387">
            <a:extLst>
              <a:ext uri="{FF2B5EF4-FFF2-40B4-BE49-F238E27FC236}">
                <a16:creationId xmlns:a16="http://schemas.microsoft.com/office/drawing/2014/main" id="{52B2467A-AA33-1790-F86E-19F8C1F8A760}"/>
              </a:ext>
            </a:extLst>
          </p:cNvPr>
          <p:cNvSpPr/>
          <p:nvPr/>
        </p:nvSpPr>
        <p:spPr>
          <a:xfrm>
            <a:off x="609905"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Computer use: an agent tool that works like a person</a:t>
            </a:r>
          </a:p>
          <a:p>
            <a:pPr algn="l">
              <a:buNone/>
            </a:pPr>
            <a:r>
              <a:rPr lang="en-US" sz="100">
                <a:effectLst/>
              </a:rPr>
              <a:t> </a:t>
            </a:r>
            <a:endParaRPr lang="en-US"/>
          </a:p>
        </p:txBody>
      </p:sp>
      <p:sp>
        <p:nvSpPr>
          <p:cNvPr id="240437" name="Rectangle 240436">
            <a:extLst>
              <a:ext uri="{FF2B5EF4-FFF2-40B4-BE49-F238E27FC236}">
                <a16:creationId xmlns:a16="http://schemas.microsoft.com/office/drawing/2014/main" id="{91CC5487-E731-F526-F6BC-DF24367CD5F9}"/>
              </a:ext>
            </a:extLst>
          </p:cNvPr>
          <p:cNvSpPr/>
          <p:nvPr/>
        </p:nvSpPr>
        <p:spPr>
          <a:xfrm>
            <a:off x="609905" y="1691640"/>
            <a:ext cx="3291840" cy="178308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487" name="Rectangle: Rounded Corners 240486">
            <a:extLst>
              <a:ext uri="{FF2B5EF4-FFF2-40B4-BE49-F238E27FC236}">
                <a16:creationId xmlns:a16="http://schemas.microsoft.com/office/drawing/2014/main" id="{8AA475E3-6AA2-B399-E26E-0E74C5FB6FBC}"/>
              </a:ext>
            </a:extLst>
          </p:cNvPr>
          <p:cNvSpPr/>
          <p:nvPr/>
        </p:nvSpPr>
        <p:spPr>
          <a:xfrm>
            <a:off x="792785" y="1847088"/>
            <a:ext cx="603504" cy="603504"/>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B1020"/>
                </a:solidFill>
                <a:effectLst/>
                <a:latin typeface="Segoe UI" panose="020B0502040204020203" pitchFamily="34" charset="0"/>
              </a:rPr>
              <a:t>1</a:t>
            </a:r>
          </a:p>
          <a:p>
            <a:pPr algn="ctr">
              <a:buNone/>
            </a:pPr>
            <a:r>
              <a:rPr lang="en-US" sz="100">
                <a:effectLst/>
              </a:rPr>
              <a:t> </a:t>
            </a:r>
            <a:endParaRPr lang="en-US"/>
          </a:p>
        </p:txBody>
      </p:sp>
      <p:sp>
        <p:nvSpPr>
          <p:cNvPr id="240538" name="Rectangle 240537">
            <a:extLst>
              <a:ext uri="{FF2B5EF4-FFF2-40B4-BE49-F238E27FC236}">
                <a16:creationId xmlns:a16="http://schemas.microsoft.com/office/drawing/2014/main" id="{1ABA7C1C-72AE-CB69-54AD-155C5CD60195}"/>
              </a:ext>
            </a:extLst>
          </p:cNvPr>
          <p:cNvSpPr/>
          <p:nvPr/>
        </p:nvSpPr>
        <p:spPr>
          <a:xfrm>
            <a:off x="1524305" y="1847088"/>
            <a:ext cx="2240280" cy="6035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DESCRIBE</a:t>
            </a:r>
          </a:p>
          <a:p>
            <a:pPr algn="l">
              <a:buNone/>
            </a:pPr>
            <a:r>
              <a:rPr lang="en-US" sz="100">
                <a:effectLst/>
              </a:rPr>
              <a:t> </a:t>
            </a:r>
            <a:endParaRPr lang="en-US"/>
          </a:p>
        </p:txBody>
      </p:sp>
      <p:sp>
        <p:nvSpPr>
          <p:cNvPr id="240590" name="Rectangle 240589">
            <a:extLst>
              <a:ext uri="{FF2B5EF4-FFF2-40B4-BE49-F238E27FC236}">
                <a16:creationId xmlns:a16="http://schemas.microsoft.com/office/drawing/2014/main" id="{FE14208E-5531-CB2C-D22B-6161AA9CE440}"/>
              </a:ext>
            </a:extLst>
          </p:cNvPr>
          <p:cNvSpPr/>
          <p:nvPr/>
        </p:nvSpPr>
        <p:spPr>
          <a:xfrm>
            <a:off x="747065" y="2578608"/>
            <a:ext cx="3017520" cy="59817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FFFFFF"/>
                </a:solidFill>
                <a:effectLst/>
                <a:latin typeface="Segoe UI" panose="020B0502040204020203" pitchFamily="34" charset="0"/>
              </a:rPr>
              <a:t>Natural-language instructions, plus inputs that change each run</a:t>
            </a:r>
          </a:p>
          <a:p>
            <a:pPr algn="l">
              <a:buNone/>
            </a:pPr>
            <a:r>
              <a:rPr lang="en-US" sz="100">
                <a:effectLst/>
              </a:rPr>
              <a:t> </a:t>
            </a:r>
            <a:endParaRPr lang="en-US"/>
          </a:p>
        </p:txBody>
      </p:sp>
      <p:sp>
        <p:nvSpPr>
          <p:cNvPr id="240643" name="Arrow: Right 240642">
            <a:extLst>
              <a:ext uri="{FF2B5EF4-FFF2-40B4-BE49-F238E27FC236}">
                <a16:creationId xmlns:a16="http://schemas.microsoft.com/office/drawing/2014/main" id="{0210DDFB-E37D-81A4-6468-5669AE9D8C22}"/>
              </a:ext>
            </a:extLst>
          </p:cNvPr>
          <p:cNvSpPr/>
          <p:nvPr/>
        </p:nvSpPr>
        <p:spPr>
          <a:xfrm>
            <a:off x="4038905" y="2473452"/>
            <a:ext cx="274320" cy="219456"/>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697" name="Rectangle 240696">
            <a:extLst>
              <a:ext uri="{FF2B5EF4-FFF2-40B4-BE49-F238E27FC236}">
                <a16:creationId xmlns:a16="http://schemas.microsoft.com/office/drawing/2014/main" id="{4BF3A7DF-8714-63A6-BF89-1A2EBA385788}"/>
              </a:ext>
            </a:extLst>
          </p:cNvPr>
          <p:cNvSpPr/>
          <p:nvPr/>
        </p:nvSpPr>
        <p:spPr>
          <a:xfrm>
            <a:off x="4450385" y="1691640"/>
            <a:ext cx="3291840" cy="178308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752" name="Rectangle: Rounded Corners 240751">
            <a:extLst>
              <a:ext uri="{FF2B5EF4-FFF2-40B4-BE49-F238E27FC236}">
                <a16:creationId xmlns:a16="http://schemas.microsoft.com/office/drawing/2014/main" id="{ECBD06EC-0889-5BC1-D323-37E03A0ED554}"/>
              </a:ext>
            </a:extLst>
          </p:cNvPr>
          <p:cNvSpPr/>
          <p:nvPr/>
        </p:nvSpPr>
        <p:spPr>
          <a:xfrm>
            <a:off x="4633265" y="1847088"/>
            <a:ext cx="603504" cy="603504"/>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B1020"/>
                </a:solidFill>
                <a:effectLst/>
                <a:latin typeface="Segoe UI" panose="020B0502040204020203" pitchFamily="34" charset="0"/>
              </a:rPr>
              <a:t>2</a:t>
            </a:r>
          </a:p>
          <a:p>
            <a:pPr algn="ctr">
              <a:buNone/>
            </a:pPr>
            <a:r>
              <a:rPr lang="en-US" sz="100">
                <a:effectLst/>
              </a:rPr>
              <a:t> </a:t>
            </a:r>
            <a:endParaRPr lang="en-US"/>
          </a:p>
        </p:txBody>
      </p:sp>
      <p:sp>
        <p:nvSpPr>
          <p:cNvPr id="240808" name="Rectangle 240807">
            <a:extLst>
              <a:ext uri="{FF2B5EF4-FFF2-40B4-BE49-F238E27FC236}">
                <a16:creationId xmlns:a16="http://schemas.microsoft.com/office/drawing/2014/main" id="{BCE54828-EA5D-2550-6FCE-D2D02BC12BB0}"/>
              </a:ext>
            </a:extLst>
          </p:cNvPr>
          <p:cNvSpPr/>
          <p:nvPr/>
        </p:nvSpPr>
        <p:spPr>
          <a:xfrm>
            <a:off x="5364785" y="1847088"/>
            <a:ext cx="2240280" cy="6035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SEE AND DECIDE</a:t>
            </a:r>
          </a:p>
          <a:p>
            <a:pPr algn="l">
              <a:buNone/>
            </a:pPr>
            <a:r>
              <a:rPr lang="en-US" sz="100">
                <a:effectLst/>
              </a:rPr>
              <a:t> </a:t>
            </a:r>
            <a:endParaRPr lang="en-US"/>
          </a:p>
        </p:txBody>
      </p:sp>
      <p:sp>
        <p:nvSpPr>
          <p:cNvPr id="240865" name="Rectangle 240864">
            <a:extLst>
              <a:ext uri="{FF2B5EF4-FFF2-40B4-BE49-F238E27FC236}">
                <a16:creationId xmlns:a16="http://schemas.microsoft.com/office/drawing/2014/main" id="{8359D9F1-B817-80E5-F704-0CAFB5B3A89E}"/>
              </a:ext>
            </a:extLst>
          </p:cNvPr>
          <p:cNvSpPr/>
          <p:nvPr/>
        </p:nvSpPr>
        <p:spPr>
          <a:xfrm>
            <a:off x="4587545" y="2578608"/>
            <a:ext cx="3017520" cy="8515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FFFFFF"/>
                </a:solidFill>
                <a:effectLst/>
                <a:latin typeface="Segoe UI" panose="020B0502040204020203" pitchFamily="34" charset="0"/>
              </a:rPr>
              <a:t>A vision + reasoning model reads the screen and plans the next step</a:t>
            </a:r>
          </a:p>
          <a:p>
            <a:pPr algn="l">
              <a:buNone/>
            </a:pPr>
            <a:r>
              <a:rPr lang="en-US" sz="100">
                <a:effectLst/>
              </a:rPr>
              <a:t> </a:t>
            </a:r>
            <a:endParaRPr lang="en-US"/>
          </a:p>
        </p:txBody>
      </p:sp>
      <p:sp>
        <p:nvSpPr>
          <p:cNvPr id="240923" name="Arrow: Right 240922">
            <a:extLst>
              <a:ext uri="{FF2B5EF4-FFF2-40B4-BE49-F238E27FC236}">
                <a16:creationId xmlns:a16="http://schemas.microsoft.com/office/drawing/2014/main" id="{21913155-3FA5-09E3-8E80-1FADF09316FC}"/>
              </a:ext>
            </a:extLst>
          </p:cNvPr>
          <p:cNvSpPr/>
          <p:nvPr/>
        </p:nvSpPr>
        <p:spPr>
          <a:xfrm>
            <a:off x="7879385" y="2473452"/>
            <a:ext cx="274320" cy="219456"/>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982" name="Rectangle 240981">
            <a:extLst>
              <a:ext uri="{FF2B5EF4-FFF2-40B4-BE49-F238E27FC236}">
                <a16:creationId xmlns:a16="http://schemas.microsoft.com/office/drawing/2014/main" id="{D56D1DEB-99B1-9990-31AF-458B79A27686}"/>
              </a:ext>
            </a:extLst>
          </p:cNvPr>
          <p:cNvSpPr/>
          <p:nvPr/>
        </p:nvSpPr>
        <p:spPr>
          <a:xfrm>
            <a:off x="8290865" y="1691640"/>
            <a:ext cx="3291840" cy="178308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042" name="Rectangle: Rounded Corners 241041">
            <a:extLst>
              <a:ext uri="{FF2B5EF4-FFF2-40B4-BE49-F238E27FC236}">
                <a16:creationId xmlns:a16="http://schemas.microsoft.com/office/drawing/2014/main" id="{94356677-4534-0691-1B38-6F85BD8AD1FE}"/>
              </a:ext>
            </a:extLst>
          </p:cNvPr>
          <p:cNvSpPr/>
          <p:nvPr/>
        </p:nvSpPr>
        <p:spPr>
          <a:xfrm>
            <a:off x="8473745" y="1847088"/>
            <a:ext cx="603504" cy="603504"/>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B1020"/>
                </a:solidFill>
                <a:effectLst/>
                <a:latin typeface="Segoe UI" panose="020B0502040204020203" pitchFamily="34" charset="0"/>
              </a:rPr>
              <a:t>3</a:t>
            </a:r>
          </a:p>
          <a:p>
            <a:pPr algn="ctr">
              <a:buNone/>
            </a:pPr>
            <a:r>
              <a:rPr lang="en-US" sz="100">
                <a:effectLst/>
              </a:rPr>
              <a:t> </a:t>
            </a:r>
            <a:endParaRPr lang="en-US"/>
          </a:p>
        </p:txBody>
      </p:sp>
      <p:sp>
        <p:nvSpPr>
          <p:cNvPr id="241103" name="Rectangle 241102">
            <a:extLst>
              <a:ext uri="{FF2B5EF4-FFF2-40B4-BE49-F238E27FC236}">
                <a16:creationId xmlns:a16="http://schemas.microsoft.com/office/drawing/2014/main" id="{B77FEDBA-5860-3C20-C2C3-66282CBCA792}"/>
              </a:ext>
            </a:extLst>
          </p:cNvPr>
          <p:cNvSpPr/>
          <p:nvPr/>
        </p:nvSpPr>
        <p:spPr>
          <a:xfrm>
            <a:off x="9205265" y="1847088"/>
            <a:ext cx="2240280" cy="6035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ACT</a:t>
            </a:r>
          </a:p>
          <a:p>
            <a:pPr algn="l">
              <a:buNone/>
            </a:pPr>
            <a:r>
              <a:rPr lang="en-US" sz="100">
                <a:effectLst/>
              </a:rPr>
              <a:t> </a:t>
            </a:r>
            <a:endParaRPr lang="en-US"/>
          </a:p>
        </p:txBody>
      </p:sp>
      <p:sp>
        <p:nvSpPr>
          <p:cNvPr id="241165" name="Rectangle 241164">
            <a:extLst>
              <a:ext uri="{FF2B5EF4-FFF2-40B4-BE49-F238E27FC236}">
                <a16:creationId xmlns:a16="http://schemas.microsoft.com/office/drawing/2014/main" id="{FF43FFE5-F3E7-38A1-0340-38FAE8FC3B68}"/>
              </a:ext>
            </a:extLst>
          </p:cNvPr>
          <p:cNvSpPr/>
          <p:nvPr/>
        </p:nvSpPr>
        <p:spPr>
          <a:xfrm>
            <a:off x="8428025" y="2578608"/>
            <a:ext cx="3017520" cy="59817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FFFFFF"/>
                </a:solidFill>
                <a:effectLst/>
                <a:latin typeface="Segoe UI" panose="020B0502040204020203" pitchFamily="34" charset="0"/>
              </a:rPr>
              <a:t>A virtual mouse and keyboard work websites and Windows apps</a:t>
            </a:r>
          </a:p>
          <a:p>
            <a:pPr algn="l">
              <a:buNone/>
            </a:pPr>
            <a:r>
              <a:rPr lang="en-US" sz="100">
                <a:effectLst/>
              </a:rPr>
              <a:t> </a:t>
            </a:r>
            <a:endParaRPr lang="en-US"/>
          </a:p>
        </p:txBody>
      </p:sp>
      <p:sp>
        <p:nvSpPr>
          <p:cNvPr id="241228" name="Rectangle 241227">
            <a:extLst>
              <a:ext uri="{FF2B5EF4-FFF2-40B4-BE49-F238E27FC236}">
                <a16:creationId xmlns:a16="http://schemas.microsoft.com/office/drawing/2014/main" id="{61DE4BA2-2994-971F-5618-818376F6C088}"/>
              </a:ext>
            </a:extLst>
          </p:cNvPr>
          <p:cNvSpPr/>
          <p:nvPr/>
        </p:nvSpPr>
        <p:spPr>
          <a:xfrm>
            <a:off x="609905" y="3675888"/>
            <a:ext cx="3505200" cy="129844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292" name="Rectangle 241291">
            <a:extLst>
              <a:ext uri="{FF2B5EF4-FFF2-40B4-BE49-F238E27FC236}">
                <a16:creationId xmlns:a16="http://schemas.microsoft.com/office/drawing/2014/main" id="{C098737D-FC00-42A4-D866-48E70EDFDFDC}"/>
              </a:ext>
            </a:extLst>
          </p:cNvPr>
          <p:cNvSpPr/>
          <p:nvPr/>
        </p:nvSpPr>
        <p:spPr>
          <a:xfrm>
            <a:off x="747065" y="3767328"/>
            <a:ext cx="3230880" cy="11155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FFFFFF"/>
                </a:solidFill>
                <a:effectLst/>
                <a:latin typeface="Segoe UI" panose="020B0502040204020203" pitchFamily="34" charset="0"/>
              </a:rPr>
              <a:t>No API needed</a:t>
            </a:r>
          </a:p>
          <a:p>
            <a:pPr algn="l">
              <a:buNone/>
            </a:pPr>
            <a:r>
              <a:rPr lang="en-US" sz="1500">
                <a:solidFill>
                  <a:srgbClr val="FFFFFF"/>
                </a:solidFill>
                <a:effectLst/>
                <a:latin typeface="Segoe UI" panose="020B0502040204020203" pitchFamily="34" charset="0"/>
              </a:rPr>
              <a:t>If a person can use the app or site, computer use can too</a:t>
            </a:r>
            <a:endParaRPr lang="en-US"/>
          </a:p>
        </p:txBody>
      </p:sp>
      <p:sp>
        <p:nvSpPr>
          <p:cNvPr id="241357" name="Rectangle 241356">
            <a:extLst>
              <a:ext uri="{FF2B5EF4-FFF2-40B4-BE49-F238E27FC236}">
                <a16:creationId xmlns:a16="http://schemas.microsoft.com/office/drawing/2014/main" id="{54237A0E-1324-503E-37EA-4A30A0E0C6CD}"/>
              </a:ext>
            </a:extLst>
          </p:cNvPr>
          <p:cNvSpPr/>
          <p:nvPr/>
        </p:nvSpPr>
        <p:spPr>
          <a:xfrm>
            <a:off x="4343705" y="3675888"/>
            <a:ext cx="3505200" cy="129844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23" name="Rectangle 241422">
            <a:extLst>
              <a:ext uri="{FF2B5EF4-FFF2-40B4-BE49-F238E27FC236}">
                <a16:creationId xmlns:a16="http://schemas.microsoft.com/office/drawing/2014/main" id="{95B9B99D-5C49-E45C-562D-4750B2AE85F1}"/>
              </a:ext>
            </a:extLst>
          </p:cNvPr>
          <p:cNvSpPr/>
          <p:nvPr/>
        </p:nvSpPr>
        <p:spPr>
          <a:xfrm>
            <a:off x="4480865" y="3767328"/>
            <a:ext cx="3230880" cy="11155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FFFFFF"/>
                </a:solidFill>
                <a:effectLst/>
                <a:latin typeface="Segoe UI" panose="020B0502040204020203" pitchFamily="34" charset="0"/>
              </a:rPr>
              <a:t>Adapts to change</a:t>
            </a:r>
          </a:p>
          <a:p>
            <a:pPr algn="l">
              <a:buNone/>
            </a:pPr>
            <a:r>
              <a:rPr lang="en-US" sz="1500">
                <a:solidFill>
                  <a:srgbClr val="FFFFFF"/>
                </a:solidFill>
                <a:effectLst/>
                <a:latin typeface="Segoe UI" panose="020B0502040204020203" pitchFamily="34" charset="0"/>
              </a:rPr>
              <a:t>Buttons move or screens change; it keeps working</a:t>
            </a:r>
            <a:endParaRPr lang="en-US"/>
          </a:p>
        </p:txBody>
      </p:sp>
      <p:sp>
        <p:nvSpPr>
          <p:cNvPr id="241490" name="Rectangle 241489">
            <a:extLst>
              <a:ext uri="{FF2B5EF4-FFF2-40B4-BE49-F238E27FC236}">
                <a16:creationId xmlns:a16="http://schemas.microsoft.com/office/drawing/2014/main" id="{0245BA94-D2BB-D9D6-E643-83773D04CA1D}"/>
              </a:ext>
            </a:extLst>
          </p:cNvPr>
          <p:cNvSpPr/>
          <p:nvPr/>
        </p:nvSpPr>
        <p:spPr>
          <a:xfrm>
            <a:off x="8077505" y="3675888"/>
            <a:ext cx="3505200" cy="1298448"/>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58" name="Rectangle 241557">
            <a:extLst>
              <a:ext uri="{FF2B5EF4-FFF2-40B4-BE49-F238E27FC236}">
                <a16:creationId xmlns:a16="http://schemas.microsoft.com/office/drawing/2014/main" id="{B1C98AF0-111B-69E7-65B8-5EB8BBC9F6E3}"/>
              </a:ext>
            </a:extLst>
          </p:cNvPr>
          <p:cNvSpPr/>
          <p:nvPr/>
        </p:nvSpPr>
        <p:spPr>
          <a:xfrm>
            <a:off x="8214665" y="3767328"/>
            <a:ext cx="3230880" cy="11155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FFFFFF"/>
                </a:solidFill>
                <a:effectLst/>
                <a:latin typeface="Segoe UI" panose="020B0502040204020203" pitchFamily="34" charset="0"/>
              </a:rPr>
              <a:t>Proof built in</a:t>
            </a:r>
          </a:p>
          <a:p>
            <a:pPr algn="l">
              <a:buNone/>
            </a:pPr>
            <a:r>
              <a:rPr lang="en-US" sz="1500">
                <a:solidFill>
                  <a:srgbClr val="FFFFFF"/>
                </a:solidFill>
                <a:effectLst/>
                <a:latin typeface="Segoe UI" panose="020B0502040204020203" pitchFamily="34" charset="0"/>
              </a:rPr>
              <a:t>Reasoning log, live preview and a replay of the run</a:t>
            </a:r>
            <a:endParaRPr lang="en-US"/>
          </a:p>
        </p:txBody>
      </p:sp>
      <p:sp>
        <p:nvSpPr>
          <p:cNvPr id="241627" name="Rectangle 241626">
            <a:extLst>
              <a:ext uri="{FF2B5EF4-FFF2-40B4-BE49-F238E27FC236}">
                <a16:creationId xmlns:a16="http://schemas.microsoft.com/office/drawing/2014/main" id="{678B5A75-7388-24C6-EFB3-F3B0921444FC}"/>
              </a:ext>
            </a:extLst>
          </p:cNvPr>
          <p:cNvSpPr/>
          <p:nvPr/>
        </p:nvSpPr>
        <p:spPr>
          <a:xfrm>
            <a:off x="609905" y="5175504"/>
            <a:ext cx="10972800" cy="786384"/>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697" name="Rectangle 241696">
            <a:extLst>
              <a:ext uri="{FF2B5EF4-FFF2-40B4-BE49-F238E27FC236}">
                <a16:creationId xmlns:a16="http://schemas.microsoft.com/office/drawing/2014/main" id="{BB0154D1-C562-2BBD-3F11-2D5519BCE806}"/>
              </a:ext>
            </a:extLst>
          </p:cNvPr>
          <p:cNvSpPr/>
          <p:nvPr/>
        </p:nvSpPr>
        <p:spPr>
          <a:xfrm>
            <a:off x="747065" y="5221224"/>
            <a:ext cx="9672670" cy="6949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Segoe UI" panose="020B0502040204020203" pitchFamily="34" charset="0"/>
              </a:rPr>
              <a:t>Models: CUA · GPT-6 Sol · Claude Sonnet 4.5 · Claude Sonnet 4.6 and Opus 4.6</a:t>
            </a:r>
          </a:p>
          <a:p>
            <a:pPr algn="l">
              <a:buNone/>
            </a:pPr>
            <a:r>
              <a:rPr lang="en-US" sz="100">
                <a:effectLst/>
              </a:rPr>
              <a:t> </a:t>
            </a:r>
            <a:endParaRPr lang="en-US"/>
          </a:p>
        </p:txBody>
      </p:sp>
    </p:spTree>
    <p:extLst>
      <p:ext uri="{BB962C8B-B14F-4D97-AF65-F5344CB8AC3E}">
        <p14:creationId xmlns:p14="http://schemas.microsoft.com/office/powerpoint/2010/main" val="4268106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42786" name="Rectangle: Rounded Corners 242785">
            <a:extLst>
              <a:ext uri="{FF2B5EF4-FFF2-40B4-BE49-F238E27FC236}">
                <a16:creationId xmlns:a16="http://schemas.microsoft.com/office/drawing/2014/main" id="{3F9FEB85-34AA-ED4B-ACEC-E935B3EC7ACE}"/>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242875" name="Rectangle 242874">
            <a:extLst>
              <a:ext uri="{FF2B5EF4-FFF2-40B4-BE49-F238E27FC236}">
                <a16:creationId xmlns:a16="http://schemas.microsoft.com/office/drawing/2014/main" id="{AEC19B12-C4B8-2E49-DB76-45BD2A81DFBE}"/>
              </a:ext>
            </a:extLst>
          </p:cNvPr>
          <p:cNvSpPr/>
          <p:nvPr/>
        </p:nvSpPr>
        <p:spPr>
          <a:xfrm>
            <a:off x="609905"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CUA vs RPA: two ways to automate a screen</a:t>
            </a:r>
          </a:p>
          <a:p>
            <a:pPr algn="l">
              <a:buNone/>
            </a:pPr>
            <a:r>
              <a:rPr lang="en-US" sz="100">
                <a:effectLst/>
              </a:rPr>
              <a:t> </a:t>
            </a:r>
            <a:endParaRPr lang="en-US"/>
          </a:p>
        </p:txBody>
      </p:sp>
      <p:sp>
        <p:nvSpPr>
          <p:cNvPr id="242921" name="Rectangle 242920">
            <a:extLst>
              <a:ext uri="{FF2B5EF4-FFF2-40B4-BE49-F238E27FC236}">
                <a16:creationId xmlns:a16="http://schemas.microsoft.com/office/drawing/2014/main" id="{2AEA1087-C0C0-9FCD-11D2-5F99CA5CF877}"/>
              </a:ext>
            </a:extLst>
          </p:cNvPr>
          <p:cNvSpPr/>
          <p:nvPr/>
        </p:nvSpPr>
        <p:spPr>
          <a:xfrm>
            <a:off x="3170225" y="1622555"/>
            <a:ext cx="4114800" cy="457200"/>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968" name="Rectangle 242967">
            <a:extLst>
              <a:ext uri="{FF2B5EF4-FFF2-40B4-BE49-F238E27FC236}">
                <a16:creationId xmlns:a16="http://schemas.microsoft.com/office/drawing/2014/main" id="{31DCA01B-D71C-4F19-5AFD-536E1AF68A33}"/>
              </a:ext>
            </a:extLst>
          </p:cNvPr>
          <p:cNvSpPr/>
          <p:nvPr/>
        </p:nvSpPr>
        <p:spPr>
          <a:xfrm>
            <a:off x="7285025" y="1628661"/>
            <a:ext cx="4297680" cy="457200"/>
          </a:xfrm>
          <a:prstGeom prst="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016" name="Rectangle 243015">
            <a:extLst>
              <a:ext uri="{FF2B5EF4-FFF2-40B4-BE49-F238E27FC236}">
                <a16:creationId xmlns:a16="http://schemas.microsoft.com/office/drawing/2014/main" id="{48E289D9-EFF0-31D2-E8B3-868C27F59711}"/>
              </a:ext>
            </a:extLst>
          </p:cNvPr>
          <p:cNvSpPr/>
          <p:nvPr/>
        </p:nvSpPr>
        <p:spPr>
          <a:xfrm>
            <a:off x="3170225" y="1611951"/>
            <a:ext cx="41148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B1020"/>
                </a:solidFill>
                <a:effectLst/>
                <a:latin typeface="Segoe UI" panose="020B0502040204020203" pitchFamily="34" charset="0"/>
              </a:rPr>
              <a:t>RPA — Power Automate desktop flows</a:t>
            </a:r>
          </a:p>
          <a:p>
            <a:pPr algn="l">
              <a:buNone/>
            </a:pPr>
            <a:r>
              <a:rPr lang="en-US" sz="100">
                <a:effectLst/>
              </a:rPr>
              <a:t> </a:t>
            </a:r>
            <a:endParaRPr lang="en-US"/>
          </a:p>
        </p:txBody>
      </p:sp>
      <p:sp>
        <p:nvSpPr>
          <p:cNvPr id="243065" name="Rectangle 243064">
            <a:extLst>
              <a:ext uri="{FF2B5EF4-FFF2-40B4-BE49-F238E27FC236}">
                <a16:creationId xmlns:a16="http://schemas.microsoft.com/office/drawing/2014/main" id="{A051BC75-354F-30DB-4965-C07BC3520882}"/>
              </a:ext>
            </a:extLst>
          </p:cNvPr>
          <p:cNvSpPr/>
          <p:nvPr/>
        </p:nvSpPr>
        <p:spPr>
          <a:xfrm>
            <a:off x="7285025" y="1628082"/>
            <a:ext cx="42976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B1020"/>
                </a:solidFill>
                <a:effectLst/>
                <a:latin typeface="Segoe UI" panose="020B0502040204020203" pitchFamily="34" charset="0"/>
              </a:rPr>
              <a:t>Computer use (CUA)</a:t>
            </a:r>
          </a:p>
          <a:p>
            <a:pPr algn="l">
              <a:buNone/>
            </a:pPr>
            <a:r>
              <a:rPr lang="en-US" sz="100">
                <a:effectLst/>
              </a:rPr>
              <a:t> </a:t>
            </a:r>
            <a:endParaRPr lang="en-US"/>
          </a:p>
        </p:txBody>
      </p:sp>
      <p:sp>
        <p:nvSpPr>
          <p:cNvPr id="243115" name="Rectangle 243114">
            <a:extLst>
              <a:ext uri="{FF2B5EF4-FFF2-40B4-BE49-F238E27FC236}">
                <a16:creationId xmlns:a16="http://schemas.microsoft.com/office/drawing/2014/main" id="{3D10B799-10BB-0CD1-9A7C-DA76255EA539}"/>
              </a:ext>
            </a:extLst>
          </p:cNvPr>
          <p:cNvSpPr/>
          <p:nvPr/>
        </p:nvSpPr>
        <p:spPr>
          <a:xfrm>
            <a:off x="609905" y="2194560"/>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Approach</a:t>
            </a:r>
          </a:p>
          <a:p>
            <a:pPr algn="l">
              <a:buNone/>
            </a:pPr>
            <a:r>
              <a:rPr lang="en-US">
                <a:effectLst/>
              </a:rPr>
              <a:t> </a:t>
            </a:r>
            <a:endParaRPr lang="en-US"/>
          </a:p>
        </p:txBody>
      </p:sp>
      <p:sp>
        <p:nvSpPr>
          <p:cNvPr id="243166" name="Rectangle 243165">
            <a:extLst>
              <a:ext uri="{FF2B5EF4-FFF2-40B4-BE49-F238E27FC236}">
                <a16:creationId xmlns:a16="http://schemas.microsoft.com/office/drawing/2014/main" id="{89C26AE2-2065-B059-8AAA-E360EE055A00}"/>
              </a:ext>
            </a:extLst>
          </p:cNvPr>
          <p:cNvSpPr/>
          <p:nvPr/>
        </p:nvSpPr>
        <p:spPr>
          <a:xfrm>
            <a:off x="3170225" y="2194560"/>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Rule-based, deterministic</a:t>
            </a:r>
          </a:p>
          <a:p>
            <a:pPr algn="l">
              <a:buNone/>
            </a:pPr>
            <a:r>
              <a:rPr lang="en-US">
                <a:effectLst/>
              </a:rPr>
              <a:t> </a:t>
            </a:r>
            <a:endParaRPr lang="en-US"/>
          </a:p>
        </p:txBody>
      </p:sp>
      <p:sp>
        <p:nvSpPr>
          <p:cNvPr id="243218" name="Rectangle 243217">
            <a:extLst>
              <a:ext uri="{FF2B5EF4-FFF2-40B4-BE49-F238E27FC236}">
                <a16:creationId xmlns:a16="http://schemas.microsoft.com/office/drawing/2014/main" id="{E2032BEC-652B-CD82-BEEC-AE03839566CE}"/>
              </a:ext>
            </a:extLst>
          </p:cNvPr>
          <p:cNvSpPr/>
          <p:nvPr/>
        </p:nvSpPr>
        <p:spPr>
          <a:xfrm>
            <a:off x="7285025" y="2194560"/>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Outcome-based, model-driven</a:t>
            </a:r>
          </a:p>
          <a:p>
            <a:pPr algn="l">
              <a:buNone/>
            </a:pPr>
            <a:r>
              <a:rPr lang="en-US">
                <a:effectLst/>
              </a:rPr>
              <a:t> </a:t>
            </a:r>
            <a:endParaRPr lang="en-US"/>
          </a:p>
        </p:txBody>
      </p:sp>
      <p:sp>
        <p:nvSpPr>
          <p:cNvPr id="243271" name="Rectangle 243270">
            <a:extLst>
              <a:ext uri="{FF2B5EF4-FFF2-40B4-BE49-F238E27FC236}">
                <a16:creationId xmlns:a16="http://schemas.microsoft.com/office/drawing/2014/main" id="{02807A7B-AFE0-7D9E-D1EE-E8DDFE4F13C7}"/>
              </a:ext>
            </a:extLst>
          </p:cNvPr>
          <p:cNvSpPr/>
          <p:nvPr/>
        </p:nvSpPr>
        <p:spPr>
          <a:xfrm>
            <a:off x="609905" y="2672969"/>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325" name="Rectangle 243324">
            <a:extLst>
              <a:ext uri="{FF2B5EF4-FFF2-40B4-BE49-F238E27FC236}">
                <a16:creationId xmlns:a16="http://schemas.microsoft.com/office/drawing/2014/main" id="{5DBB1816-72A6-8BC1-D358-B775471ACFF6}"/>
              </a:ext>
            </a:extLst>
          </p:cNvPr>
          <p:cNvSpPr/>
          <p:nvPr/>
        </p:nvSpPr>
        <p:spPr>
          <a:xfrm>
            <a:off x="609905" y="2685669"/>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Reads the app via</a:t>
            </a:r>
          </a:p>
          <a:p>
            <a:pPr algn="l">
              <a:buNone/>
            </a:pPr>
            <a:r>
              <a:rPr lang="en-US">
                <a:effectLst/>
              </a:rPr>
              <a:t> </a:t>
            </a:r>
            <a:endParaRPr lang="en-US"/>
          </a:p>
        </p:txBody>
      </p:sp>
      <p:sp>
        <p:nvSpPr>
          <p:cNvPr id="243380" name="Rectangle 243379">
            <a:extLst>
              <a:ext uri="{FF2B5EF4-FFF2-40B4-BE49-F238E27FC236}">
                <a16:creationId xmlns:a16="http://schemas.microsoft.com/office/drawing/2014/main" id="{B00E6ED1-3F91-0F3A-0BEE-C6BE18F81CC5}"/>
              </a:ext>
            </a:extLst>
          </p:cNvPr>
          <p:cNvSpPr/>
          <p:nvPr/>
        </p:nvSpPr>
        <p:spPr>
          <a:xfrm>
            <a:off x="3170225" y="2685669"/>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UI tree and selectors</a:t>
            </a:r>
          </a:p>
          <a:p>
            <a:pPr algn="l">
              <a:buNone/>
            </a:pPr>
            <a:r>
              <a:rPr lang="en-US">
                <a:effectLst/>
              </a:rPr>
              <a:t> </a:t>
            </a:r>
            <a:endParaRPr lang="en-US"/>
          </a:p>
        </p:txBody>
      </p:sp>
      <p:sp>
        <p:nvSpPr>
          <p:cNvPr id="243436" name="Rectangle 243435">
            <a:extLst>
              <a:ext uri="{FF2B5EF4-FFF2-40B4-BE49-F238E27FC236}">
                <a16:creationId xmlns:a16="http://schemas.microsoft.com/office/drawing/2014/main" id="{2851BCA4-9723-40DA-A7BA-7B554D00509D}"/>
              </a:ext>
            </a:extLst>
          </p:cNvPr>
          <p:cNvSpPr/>
          <p:nvPr/>
        </p:nvSpPr>
        <p:spPr>
          <a:xfrm>
            <a:off x="7285025" y="2685669"/>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Vision — the screen itself</a:t>
            </a:r>
          </a:p>
          <a:p>
            <a:pPr algn="l">
              <a:buNone/>
            </a:pPr>
            <a:r>
              <a:rPr lang="en-US">
                <a:effectLst/>
              </a:rPr>
              <a:t> </a:t>
            </a:r>
            <a:endParaRPr lang="en-US"/>
          </a:p>
        </p:txBody>
      </p:sp>
      <p:sp>
        <p:nvSpPr>
          <p:cNvPr id="243493" name="Rectangle 243492">
            <a:extLst>
              <a:ext uri="{FF2B5EF4-FFF2-40B4-BE49-F238E27FC236}">
                <a16:creationId xmlns:a16="http://schemas.microsoft.com/office/drawing/2014/main" id="{71D2F5D3-DD5C-2506-7EB5-8287052C824E}"/>
              </a:ext>
            </a:extLst>
          </p:cNvPr>
          <p:cNvSpPr/>
          <p:nvPr/>
        </p:nvSpPr>
        <p:spPr>
          <a:xfrm>
            <a:off x="609905" y="3164078"/>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551" name="Rectangle 243550">
            <a:extLst>
              <a:ext uri="{FF2B5EF4-FFF2-40B4-BE49-F238E27FC236}">
                <a16:creationId xmlns:a16="http://schemas.microsoft.com/office/drawing/2014/main" id="{DC6633AC-C17A-3665-DD59-48754AC817B1}"/>
              </a:ext>
            </a:extLst>
          </p:cNvPr>
          <p:cNvSpPr/>
          <p:nvPr/>
        </p:nvSpPr>
        <p:spPr>
          <a:xfrm>
            <a:off x="609905" y="3176778"/>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You author</a:t>
            </a:r>
          </a:p>
          <a:p>
            <a:pPr algn="l">
              <a:buNone/>
            </a:pPr>
            <a:r>
              <a:rPr lang="en-US">
                <a:effectLst/>
              </a:rPr>
              <a:t> </a:t>
            </a:r>
            <a:endParaRPr lang="en-US"/>
          </a:p>
        </p:txBody>
      </p:sp>
      <p:sp>
        <p:nvSpPr>
          <p:cNvPr id="243610" name="Rectangle 243609">
            <a:extLst>
              <a:ext uri="{FF2B5EF4-FFF2-40B4-BE49-F238E27FC236}">
                <a16:creationId xmlns:a16="http://schemas.microsoft.com/office/drawing/2014/main" id="{776EC53F-6D34-71A7-0B4D-0A9AEDF7F6A6}"/>
              </a:ext>
            </a:extLst>
          </p:cNvPr>
          <p:cNvSpPr/>
          <p:nvPr/>
        </p:nvSpPr>
        <p:spPr>
          <a:xfrm>
            <a:off x="3170225" y="3176778"/>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A visual script, step by step</a:t>
            </a:r>
          </a:p>
          <a:p>
            <a:pPr algn="l">
              <a:buNone/>
            </a:pPr>
            <a:r>
              <a:rPr lang="en-US">
                <a:effectLst/>
              </a:rPr>
              <a:t> </a:t>
            </a:r>
            <a:endParaRPr lang="en-US"/>
          </a:p>
        </p:txBody>
      </p:sp>
      <p:sp>
        <p:nvSpPr>
          <p:cNvPr id="243670" name="Rectangle 243669">
            <a:extLst>
              <a:ext uri="{FF2B5EF4-FFF2-40B4-BE49-F238E27FC236}">
                <a16:creationId xmlns:a16="http://schemas.microsoft.com/office/drawing/2014/main" id="{9221F8DC-0B9E-5EE7-22BC-FF451A5BBF96}"/>
              </a:ext>
            </a:extLst>
          </p:cNvPr>
          <p:cNvSpPr/>
          <p:nvPr/>
        </p:nvSpPr>
        <p:spPr>
          <a:xfrm>
            <a:off x="7285025" y="3176778"/>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Instructions in natural language</a:t>
            </a:r>
          </a:p>
          <a:p>
            <a:pPr algn="l">
              <a:buNone/>
            </a:pPr>
            <a:r>
              <a:rPr lang="en-US">
                <a:effectLst/>
              </a:rPr>
              <a:t> </a:t>
            </a:r>
            <a:endParaRPr lang="en-US"/>
          </a:p>
        </p:txBody>
      </p:sp>
      <p:sp>
        <p:nvSpPr>
          <p:cNvPr id="243731" name="Rectangle 243730">
            <a:extLst>
              <a:ext uri="{FF2B5EF4-FFF2-40B4-BE49-F238E27FC236}">
                <a16:creationId xmlns:a16="http://schemas.microsoft.com/office/drawing/2014/main" id="{3C4C461D-C3BF-0232-F4E0-5FD3A29D959C}"/>
              </a:ext>
            </a:extLst>
          </p:cNvPr>
          <p:cNvSpPr/>
          <p:nvPr/>
        </p:nvSpPr>
        <p:spPr>
          <a:xfrm>
            <a:off x="609905" y="3655187"/>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793" name="Rectangle 243792">
            <a:extLst>
              <a:ext uri="{FF2B5EF4-FFF2-40B4-BE49-F238E27FC236}">
                <a16:creationId xmlns:a16="http://schemas.microsoft.com/office/drawing/2014/main" id="{FA17CA56-CD79-8109-9FE4-2FAF99E9F445}"/>
              </a:ext>
            </a:extLst>
          </p:cNvPr>
          <p:cNvSpPr/>
          <p:nvPr/>
        </p:nvSpPr>
        <p:spPr>
          <a:xfrm>
            <a:off x="609905" y="3667887"/>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Decisions</a:t>
            </a:r>
          </a:p>
          <a:p>
            <a:pPr algn="l">
              <a:buNone/>
            </a:pPr>
            <a:r>
              <a:rPr lang="en-US">
                <a:effectLst/>
              </a:rPr>
              <a:t> </a:t>
            </a:r>
            <a:endParaRPr lang="en-US"/>
          </a:p>
        </p:txBody>
      </p:sp>
      <p:sp>
        <p:nvSpPr>
          <p:cNvPr id="243856" name="Rectangle 243855">
            <a:extLst>
              <a:ext uri="{FF2B5EF4-FFF2-40B4-BE49-F238E27FC236}">
                <a16:creationId xmlns:a16="http://schemas.microsoft.com/office/drawing/2014/main" id="{CF7B7EC2-11E7-698F-6047-A4C9944D7A0B}"/>
              </a:ext>
            </a:extLst>
          </p:cNvPr>
          <p:cNvSpPr/>
          <p:nvPr/>
        </p:nvSpPr>
        <p:spPr>
          <a:xfrm>
            <a:off x="3170225" y="3667887"/>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Predefined rules</a:t>
            </a:r>
          </a:p>
          <a:p>
            <a:pPr algn="l">
              <a:buNone/>
            </a:pPr>
            <a:r>
              <a:rPr lang="en-US">
                <a:effectLst/>
              </a:rPr>
              <a:t> </a:t>
            </a:r>
            <a:endParaRPr lang="en-US"/>
          </a:p>
        </p:txBody>
      </p:sp>
      <p:sp>
        <p:nvSpPr>
          <p:cNvPr id="243920" name="Rectangle 243919">
            <a:extLst>
              <a:ext uri="{FF2B5EF4-FFF2-40B4-BE49-F238E27FC236}">
                <a16:creationId xmlns:a16="http://schemas.microsoft.com/office/drawing/2014/main" id="{FEB7C6B9-BEF5-8A7E-9E21-415E6E08FE10}"/>
              </a:ext>
            </a:extLst>
          </p:cNvPr>
          <p:cNvSpPr/>
          <p:nvPr/>
        </p:nvSpPr>
        <p:spPr>
          <a:xfrm>
            <a:off x="7285025" y="3667887"/>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Reasoned from what's on screen</a:t>
            </a:r>
          </a:p>
          <a:p>
            <a:pPr algn="l">
              <a:buNone/>
            </a:pPr>
            <a:r>
              <a:rPr lang="en-US">
                <a:effectLst/>
              </a:rPr>
              <a:t> </a:t>
            </a:r>
            <a:endParaRPr lang="en-US"/>
          </a:p>
        </p:txBody>
      </p:sp>
      <p:sp>
        <p:nvSpPr>
          <p:cNvPr id="243985" name="Rectangle 243984">
            <a:extLst>
              <a:ext uri="{FF2B5EF4-FFF2-40B4-BE49-F238E27FC236}">
                <a16:creationId xmlns:a16="http://schemas.microsoft.com/office/drawing/2014/main" id="{872CEB30-6167-27B9-A9DA-203F989D92B3}"/>
              </a:ext>
            </a:extLst>
          </p:cNvPr>
          <p:cNvSpPr/>
          <p:nvPr/>
        </p:nvSpPr>
        <p:spPr>
          <a:xfrm>
            <a:off x="609905" y="4146296"/>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051" name="Rectangle 244050">
            <a:extLst>
              <a:ext uri="{FF2B5EF4-FFF2-40B4-BE49-F238E27FC236}">
                <a16:creationId xmlns:a16="http://schemas.microsoft.com/office/drawing/2014/main" id="{3074CDE3-99FF-F325-7031-C54EE9E020F9}"/>
              </a:ext>
            </a:extLst>
          </p:cNvPr>
          <p:cNvSpPr/>
          <p:nvPr/>
        </p:nvSpPr>
        <p:spPr>
          <a:xfrm>
            <a:off x="609905" y="4158996"/>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When things go wrong</a:t>
            </a:r>
          </a:p>
          <a:p>
            <a:pPr algn="l">
              <a:buNone/>
            </a:pPr>
            <a:r>
              <a:rPr lang="en-US">
                <a:effectLst/>
              </a:rPr>
              <a:t> </a:t>
            </a:r>
            <a:endParaRPr lang="en-US"/>
          </a:p>
        </p:txBody>
      </p:sp>
      <p:sp>
        <p:nvSpPr>
          <p:cNvPr id="244118" name="Rectangle 244117">
            <a:extLst>
              <a:ext uri="{FF2B5EF4-FFF2-40B4-BE49-F238E27FC236}">
                <a16:creationId xmlns:a16="http://schemas.microsoft.com/office/drawing/2014/main" id="{17AF6C93-932F-A2AF-C595-E95780B24DA8}"/>
              </a:ext>
            </a:extLst>
          </p:cNvPr>
          <p:cNvSpPr/>
          <p:nvPr/>
        </p:nvSpPr>
        <p:spPr>
          <a:xfrm>
            <a:off x="3170225" y="4158996"/>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Predefined error handling</a:t>
            </a:r>
          </a:p>
          <a:p>
            <a:pPr algn="l">
              <a:buNone/>
            </a:pPr>
            <a:r>
              <a:rPr lang="en-US">
                <a:effectLst/>
              </a:rPr>
              <a:t> </a:t>
            </a:r>
            <a:endParaRPr lang="en-US"/>
          </a:p>
        </p:txBody>
      </p:sp>
      <p:sp>
        <p:nvSpPr>
          <p:cNvPr id="244186" name="Rectangle 244185">
            <a:extLst>
              <a:ext uri="{FF2B5EF4-FFF2-40B4-BE49-F238E27FC236}">
                <a16:creationId xmlns:a16="http://schemas.microsoft.com/office/drawing/2014/main" id="{7F325703-7490-99D8-5B9E-5C0F6C8DA452}"/>
              </a:ext>
            </a:extLst>
          </p:cNvPr>
          <p:cNvSpPr/>
          <p:nvPr/>
        </p:nvSpPr>
        <p:spPr>
          <a:xfrm>
            <a:off x="7285025" y="4158996"/>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Self-corrects from visual feedback</a:t>
            </a:r>
          </a:p>
          <a:p>
            <a:pPr algn="l">
              <a:buNone/>
            </a:pPr>
            <a:r>
              <a:rPr lang="en-US">
                <a:effectLst/>
              </a:rPr>
              <a:t> </a:t>
            </a:r>
            <a:endParaRPr lang="en-US"/>
          </a:p>
        </p:txBody>
      </p:sp>
      <p:sp>
        <p:nvSpPr>
          <p:cNvPr id="244255" name="Rectangle 244254">
            <a:extLst>
              <a:ext uri="{FF2B5EF4-FFF2-40B4-BE49-F238E27FC236}">
                <a16:creationId xmlns:a16="http://schemas.microsoft.com/office/drawing/2014/main" id="{03EFD9DE-E96E-8639-F2E6-CB98E52B7047}"/>
              </a:ext>
            </a:extLst>
          </p:cNvPr>
          <p:cNvSpPr/>
          <p:nvPr/>
        </p:nvSpPr>
        <p:spPr>
          <a:xfrm>
            <a:off x="609905" y="4637405"/>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325" name="Rectangle 244324">
            <a:extLst>
              <a:ext uri="{FF2B5EF4-FFF2-40B4-BE49-F238E27FC236}">
                <a16:creationId xmlns:a16="http://schemas.microsoft.com/office/drawing/2014/main" id="{D733DA15-1320-FA92-23F1-C0F72B136916}"/>
              </a:ext>
            </a:extLst>
          </p:cNvPr>
          <p:cNvSpPr/>
          <p:nvPr/>
        </p:nvSpPr>
        <p:spPr>
          <a:xfrm>
            <a:off x="609905" y="4650105"/>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When the UI changes</a:t>
            </a:r>
          </a:p>
          <a:p>
            <a:pPr algn="l">
              <a:buNone/>
            </a:pPr>
            <a:r>
              <a:rPr lang="en-US">
                <a:effectLst/>
              </a:rPr>
              <a:t> </a:t>
            </a:r>
            <a:endParaRPr lang="en-US"/>
          </a:p>
        </p:txBody>
      </p:sp>
      <p:sp>
        <p:nvSpPr>
          <p:cNvPr id="244396" name="Rectangle 244395">
            <a:extLst>
              <a:ext uri="{FF2B5EF4-FFF2-40B4-BE49-F238E27FC236}">
                <a16:creationId xmlns:a16="http://schemas.microsoft.com/office/drawing/2014/main" id="{6E499D6B-4D7C-6839-BE7C-DECC5AA09491}"/>
              </a:ext>
            </a:extLst>
          </p:cNvPr>
          <p:cNvSpPr/>
          <p:nvPr/>
        </p:nvSpPr>
        <p:spPr>
          <a:xfrm>
            <a:off x="3170225" y="4650105"/>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Selectors need maintenance</a:t>
            </a:r>
          </a:p>
          <a:p>
            <a:pPr algn="l">
              <a:buNone/>
            </a:pPr>
            <a:r>
              <a:rPr lang="en-US">
                <a:effectLst/>
              </a:rPr>
              <a:t> </a:t>
            </a:r>
            <a:endParaRPr lang="en-US"/>
          </a:p>
        </p:txBody>
      </p:sp>
      <p:sp>
        <p:nvSpPr>
          <p:cNvPr id="244468" name="Rectangle 244467">
            <a:extLst>
              <a:ext uri="{FF2B5EF4-FFF2-40B4-BE49-F238E27FC236}">
                <a16:creationId xmlns:a16="http://schemas.microsoft.com/office/drawing/2014/main" id="{91BBE332-7152-DD54-D790-B705B6FF7630}"/>
              </a:ext>
            </a:extLst>
          </p:cNvPr>
          <p:cNvSpPr/>
          <p:nvPr/>
        </p:nvSpPr>
        <p:spPr>
          <a:xfrm>
            <a:off x="7285025" y="4650105"/>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Adapts to the new layout</a:t>
            </a:r>
          </a:p>
          <a:p>
            <a:pPr algn="l">
              <a:buNone/>
            </a:pPr>
            <a:r>
              <a:rPr lang="en-US">
                <a:effectLst/>
              </a:rPr>
              <a:t> </a:t>
            </a:r>
            <a:endParaRPr lang="en-US"/>
          </a:p>
        </p:txBody>
      </p:sp>
      <p:sp>
        <p:nvSpPr>
          <p:cNvPr id="244541" name="Rectangle 244540">
            <a:extLst>
              <a:ext uri="{FF2B5EF4-FFF2-40B4-BE49-F238E27FC236}">
                <a16:creationId xmlns:a16="http://schemas.microsoft.com/office/drawing/2014/main" id="{209F9E68-34EF-DEA2-294B-4E8D8363BEED}"/>
              </a:ext>
            </a:extLst>
          </p:cNvPr>
          <p:cNvSpPr/>
          <p:nvPr/>
        </p:nvSpPr>
        <p:spPr>
          <a:xfrm>
            <a:off x="609905" y="5128514"/>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615" name="Rectangle 244614">
            <a:extLst>
              <a:ext uri="{FF2B5EF4-FFF2-40B4-BE49-F238E27FC236}">
                <a16:creationId xmlns:a16="http://schemas.microsoft.com/office/drawing/2014/main" id="{7371F0FA-4DD6-50DF-4DE8-88767AD4F5B3}"/>
              </a:ext>
            </a:extLst>
          </p:cNvPr>
          <p:cNvSpPr/>
          <p:nvPr/>
        </p:nvSpPr>
        <p:spPr>
          <a:xfrm>
            <a:off x="609905" y="5141214"/>
            <a:ext cx="256032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Speed and cost</a:t>
            </a:r>
          </a:p>
          <a:p>
            <a:pPr algn="l">
              <a:buNone/>
            </a:pPr>
            <a:r>
              <a:rPr lang="en-US">
                <a:effectLst/>
              </a:rPr>
              <a:t> </a:t>
            </a:r>
            <a:endParaRPr lang="en-US"/>
          </a:p>
        </p:txBody>
      </p:sp>
      <p:sp>
        <p:nvSpPr>
          <p:cNvPr id="244690" name="Rectangle 244689">
            <a:extLst>
              <a:ext uri="{FF2B5EF4-FFF2-40B4-BE49-F238E27FC236}">
                <a16:creationId xmlns:a16="http://schemas.microsoft.com/office/drawing/2014/main" id="{7B2F8C8C-6DED-2305-5541-231EFFF0C05C}"/>
              </a:ext>
            </a:extLst>
          </p:cNvPr>
          <p:cNvSpPr/>
          <p:nvPr/>
        </p:nvSpPr>
        <p:spPr>
          <a:xfrm>
            <a:off x="3170225" y="5141214"/>
            <a:ext cx="4114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Machine speed; Power Automate licensing</a:t>
            </a:r>
          </a:p>
          <a:p>
            <a:pPr algn="l">
              <a:buNone/>
            </a:pPr>
            <a:r>
              <a:rPr lang="en-US">
                <a:effectLst/>
              </a:rPr>
              <a:t> </a:t>
            </a:r>
            <a:endParaRPr lang="en-US"/>
          </a:p>
        </p:txBody>
      </p:sp>
      <p:sp>
        <p:nvSpPr>
          <p:cNvPr id="244766" name="Rectangle 244765">
            <a:extLst>
              <a:ext uri="{FF2B5EF4-FFF2-40B4-BE49-F238E27FC236}">
                <a16:creationId xmlns:a16="http://schemas.microsoft.com/office/drawing/2014/main" id="{9C0FEFA9-485E-BBE8-FDA4-F5B678E57899}"/>
              </a:ext>
            </a:extLst>
          </p:cNvPr>
          <p:cNvSpPr/>
          <p:nvPr/>
        </p:nvSpPr>
        <p:spPr>
          <a:xfrm>
            <a:off x="7285025" y="5141214"/>
            <a:ext cx="429768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Step-by-step reasoning; Copilot Credits per step</a:t>
            </a:r>
          </a:p>
          <a:p>
            <a:pPr algn="l">
              <a:buNone/>
            </a:pPr>
            <a:r>
              <a:rPr lang="en-US">
                <a:effectLst/>
              </a:rPr>
              <a:t> </a:t>
            </a:r>
            <a:endParaRPr lang="en-US"/>
          </a:p>
        </p:txBody>
      </p:sp>
      <p:sp>
        <p:nvSpPr>
          <p:cNvPr id="244843" name="Rectangle 244842">
            <a:extLst>
              <a:ext uri="{FF2B5EF4-FFF2-40B4-BE49-F238E27FC236}">
                <a16:creationId xmlns:a16="http://schemas.microsoft.com/office/drawing/2014/main" id="{C2A93EAB-10EC-662B-E708-BDE36BA36327}"/>
              </a:ext>
            </a:extLst>
          </p:cNvPr>
          <p:cNvSpPr/>
          <p:nvPr/>
        </p:nvSpPr>
        <p:spPr>
          <a:xfrm>
            <a:off x="609905" y="5619623"/>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21723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44921" name="Rectangle: Rounded Corners 244920">
            <a:extLst>
              <a:ext uri="{FF2B5EF4-FFF2-40B4-BE49-F238E27FC236}">
                <a16:creationId xmlns:a16="http://schemas.microsoft.com/office/drawing/2014/main" id="{247169B7-CC5D-A578-6406-A51E9B931B32}"/>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245080" name="Rectangle 245079">
            <a:extLst>
              <a:ext uri="{FF2B5EF4-FFF2-40B4-BE49-F238E27FC236}">
                <a16:creationId xmlns:a16="http://schemas.microsoft.com/office/drawing/2014/main" id="{8B6876AA-0CA5-1D43-3543-346DC3D7D0DB}"/>
              </a:ext>
            </a:extLst>
          </p:cNvPr>
          <p:cNvSpPr/>
          <p:nvPr/>
        </p:nvSpPr>
        <p:spPr>
          <a:xfrm>
            <a:off x="609905"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When to use which — and why it's often both</a:t>
            </a:r>
          </a:p>
          <a:p>
            <a:pPr algn="l">
              <a:buNone/>
            </a:pPr>
            <a:r>
              <a:rPr lang="en-US" sz="100">
                <a:effectLst/>
              </a:rPr>
              <a:t> </a:t>
            </a:r>
            <a:endParaRPr lang="en-US"/>
          </a:p>
        </p:txBody>
      </p:sp>
      <p:sp>
        <p:nvSpPr>
          <p:cNvPr id="245161" name="Rectangle 245160">
            <a:extLst>
              <a:ext uri="{FF2B5EF4-FFF2-40B4-BE49-F238E27FC236}">
                <a16:creationId xmlns:a16="http://schemas.microsoft.com/office/drawing/2014/main" id="{2E96CB2A-FCA3-AED3-446B-E59C7118889D}"/>
              </a:ext>
            </a:extLst>
          </p:cNvPr>
          <p:cNvSpPr/>
          <p:nvPr/>
        </p:nvSpPr>
        <p:spPr>
          <a:xfrm>
            <a:off x="2438705" y="1609344"/>
            <a:ext cx="4572000" cy="457200"/>
          </a:xfrm>
          <a:prstGeom prst="rect">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243" name="Rectangle 245242">
            <a:extLst>
              <a:ext uri="{FF2B5EF4-FFF2-40B4-BE49-F238E27FC236}">
                <a16:creationId xmlns:a16="http://schemas.microsoft.com/office/drawing/2014/main" id="{702DD4BD-951A-7807-F676-568AA538ADB8}"/>
              </a:ext>
            </a:extLst>
          </p:cNvPr>
          <p:cNvSpPr/>
          <p:nvPr/>
        </p:nvSpPr>
        <p:spPr>
          <a:xfrm>
            <a:off x="7010705" y="1609344"/>
            <a:ext cx="4572000" cy="457200"/>
          </a:xfrm>
          <a:prstGeom prst="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326" name="Rectangle 245325">
            <a:extLst>
              <a:ext uri="{FF2B5EF4-FFF2-40B4-BE49-F238E27FC236}">
                <a16:creationId xmlns:a16="http://schemas.microsoft.com/office/drawing/2014/main" id="{031BAA3D-06EF-1459-084F-98ABE9293A23}"/>
              </a:ext>
            </a:extLst>
          </p:cNvPr>
          <p:cNvSpPr/>
          <p:nvPr/>
        </p:nvSpPr>
        <p:spPr>
          <a:xfrm>
            <a:off x="2438705" y="1636776"/>
            <a:ext cx="4572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B1020"/>
                </a:solidFill>
                <a:effectLst/>
                <a:latin typeface="Segoe UI" panose="020B0502040204020203" pitchFamily="34" charset="0"/>
              </a:rPr>
              <a:t>Use RPA when…</a:t>
            </a:r>
          </a:p>
          <a:p>
            <a:pPr algn="l">
              <a:buNone/>
            </a:pPr>
            <a:r>
              <a:rPr lang="en-US" sz="100">
                <a:effectLst/>
              </a:rPr>
              <a:t> </a:t>
            </a:r>
            <a:endParaRPr lang="en-US"/>
          </a:p>
        </p:txBody>
      </p:sp>
      <p:sp>
        <p:nvSpPr>
          <p:cNvPr id="245410" name="Rectangle 245409">
            <a:extLst>
              <a:ext uri="{FF2B5EF4-FFF2-40B4-BE49-F238E27FC236}">
                <a16:creationId xmlns:a16="http://schemas.microsoft.com/office/drawing/2014/main" id="{8B23DBFB-65DD-75D6-1882-AE540EBB44FA}"/>
              </a:ext>
            </a:extLst>
          </p:cNvPr>
          <p:cNvSpPr/>
          <p:nvPr/>
        </p:nvSpPr>
        <p:spPr>
          <a:xfrm>
            <a:off x="7010705" y="1636776"/>
            <a:ext cx="4572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B1020"/>
                </a:solidFill>
                <a:effectLst/>
                <a:latin typeface="Segoe UI" panose="020B0502040204020203" pitchFamily="34" charset="0"/>
              </a:rPr>
              <a:t>Use computer use when…</a:t>
            </a:r>
          </a:p>
          <a:p>
            <a:pPr algn="l">
              <a:buNone/>
            </a:pPr>
            <a:r>
              <a:rPr lang="en-US" sz="100">
                <a:effectLst/>
              </a:rPr>
              <a:t> </a:t>
            </a:r>
            <a:endParaRPr lang="en-US"/>
          </a:p>
        </p:txBody>
      </p:sp>
      <p:sp>
        <p:nvSpPr>
          <p:cNvPr id="245495" name="Rectangle 245494">
            <a:extLst>
              <a:ext uri="{FF2B5EF4-FFF2-40B4-BE49-F238E27FC236}">
                <a16:creationId xmlns:a16="http://schemas.microsoft.com/office/drawing/2014/main" id="{2731EF3D-FD02-4AE4-DE68-8A120F24AB12}"/>
              </a:ext>
            </a:extLst>
          </p:cNvPr>
          <p:cNvSpPr/>
          <p:nvPr/>
        </p:nvSpPr>
        <p:spPr>
          <a:xfrm>
            <a:off x="609905" y="2194560"/>
            <a:ext cx="1828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UI</a:t>
            </a:r>
          </a:p>
          <a:p>
            <a:pPr algn="l">
              <a:buNone/>
            </a:pPr>
            <a:r>
              <a:rPr lang="en-US">
                <a:effectLst/>
              </a:rPr>
              <a:t> </a:t>
            </a:r>
            <a:endParaRPr lang="en-US"/>
          </a:p>
        </p:txBody>
      </p:sp>
      <p:sp>
        <p:nvSpPr>
          <p:cNvPr id="245581" name="Rectangle 245580">
            <a:extLst>
              <a:ext uri="{FF2B5EF4-FFF2-40B4-BE49-F238E27FC236}">
                <a16:creationId xmlns:a16="http://schemas.microsoft.com/office/drawing/2014/main" id="{8220295A-FC9A-D57C-27A3-5C8238CFD1DB}"/>
              </a:ext>
            </a:extLst>
          </p:cNvPr>
          <p:cNvSpPr/>
          <p:nvPr/>
        </p:nvSpPr>
        <p:spPr>
          <a:xfrm>
            <a:off x="2438705" y="2194560"/>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The UI is stable</a:t>
            </a:r>
          </a:p>
          <a:p>
            <a:pPr algn="l">
              <a:buNone/>
            </a:pPr>
            <a:r>
              <a:rPr lang="en-US">
                <a:effectLst/>
              </a:rPr>
              <a:t> </a:t>
            </a:r>
            <a:endParaRPr lang="en-US"/>
          </a:p>
        </p:txBody>
      </p:sp>
      <p:sp>
        <p:nvSpPr>
          <p:cNvPr id="245668" name="Rectangle 245667">
            <a:extLst>
              <a:ext uri="{FF2B5EF4-FFF2-40B4-BE49-F238E27FC236}">
                <a16:creationId xmlns:a16="http://schemas.microsoft.com/office/drawing/2014/main" id="{53AE5D24-6AB7-BCB2-0FED-E8E2B7F1C237}"/>
              </a:ext>
            </a:extLst>
          </p:cNvPr>
          <p:cNvSpPr/>
          <p:nvPr/>
        </p:nvSpPr>
        <p:spPr>
          <a:xfrm>
            <a:off x="7010705" y="2194560"/>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UIs shift or vary widely</a:t>
            </a:r>
          </a:p>
          <a:p>
            <a:pPr algn="l">
              <a:buNone/>
            </a:pPr>
            <a:r>
              <a:rPr lang="en-US">
                <a:effectLst/>
              </a:rPr>
              <a:t> </a:t>
            </a:r>
            <a:endParaRPr lang="en-US"/>
          </a:p>
        </p:txBody>
      </p:sp>
      <p:sp>
        <p:nvSpPr>
          <p:cNvPr id="245756" name="Rectangle 245755">
            <a:extLst>
              <a:ext uri="{FF2B5EF4-FFF2-40B4-BE49-F238E27FC236}">
                <a16:creationId xmlns:a16="http://schemas.microsoft.com/office/drawing/2014/main" id="{FD55B5A3-4C6A-BB14-F766-D8598D47B3B8}"/>
              </a:ext>
            </a:extLst>
          </p:cNvPr>
          <p:cNvSpPr/>
          <p:nvPr/>
        </p:nvSpPr>
        <p:spPr>
          <a:xfrm>
            <a:off x="609905" y="2672969"/>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45" name="Rectangle 245844">
            <a:extLst>
              <a:ext uri="{FF2B5EF4-FFF2-40B4-BE49-F238E27FC236}">
                <a16:creationId xmlns:a16="http://schemas.microsoft.com/office/drawing/2014/main" id="{3343CE29-6323-D7AE-2EAD-6D91214BF48A}"/>
              </a:ext>
            </a:extLst>
          </p:cNvPr>
          <p:cNvSpPr/>
          <p:nvPr/>
        </p:nvSpPr>
        <p:spPr>
          <a:xfrm>
            <a:off x="609905" y="2685669"/>
            <a:ext cx="1828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Decisions</a:t>
            </a:r>
          </a:p>
          <a:p>
            <a:pPr algn="l">
              <a:buNone/>
            </a:pPr>
            <a:r>
              <a:rPr lang="en-US">
                <a:effectLst/>
              </a:rPr>
              <a:t> </a:t>
            </a:r>
            <a:endParaRPr lang="en-US"/>
          </a:p>
        </p:txBody>
      </p:sp>
      <p:sp>
        <p:nvSpPr>
          <p:cNvPr id="245935" name="Rectangle 245934">
            <a:extLst>
              <a:ext uri="{FF2B5EF4-FFF2-40B4-BE49-F238E27FC236}">
                <a16:creationId xmlns:a16="http://schemas.microsoft.com/office/drawing/2014/main" id="{553585E9-7948-CFD9-3E45-E2F9562DB618}"/>
              </a:ext>
            </a:extLst>
          </p:cNvPr>
          <p:cNvSpPr/>
          <p:nvPr/>
        </p:nvSpPr>
        <p:spPr>
          <a:xfrm>
            <a:off x="2438705" y="2685669"/>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Rules are clear</a:t>
            </a:r>
          </a:p>
          <a:p>
            <a:pPr algn="l">
              <a:buNone/>
            </a:pPr>
            <a:r>
              <a:rPr lang="en-US">
                <a:effectLst/>
              </a:rPr>
              <a:t> </a:t>
            </a:r>
            <a:endParaRPr lang="en-US"/>
          </a:p>
        </p:txBody>
      </p:sp>
      <p:sp>
        <p:nvSpPr>
          <p:cNvPr id="246026" name="Rectangle 246025">
            <a:extLst>
              <a:ext uri="{FF2B5EF4-FFF2-40B4-BE49-F238E27FC236}">
                <a16:creationId xmlns:a16="http://schemas.microsoft.com/office/drawing/2014/main" id="{2C9E0013-5F3C-E463-3EC3-FF9C1284B01C}"/>
              </a:ext>
            </a:extLst>
          </p:cNvPr>
          <p:cNvSpPr/>
          <p:nvPr/>
        </p:nvSpPr>
        <p:spPr>
          <a:xfrm>
            <a:off x="7010705" y="2685669"/>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Decisions are fuzzy</a:t>
            </a:r>
          </a:p>
          <a:p>
            <a:pPr algn="l">
              <a:buNone/>
            </a:pPr>
            <a:r>
              <a:rPr lang="en-US">
                <a:effectLst/>
              </a:rPr>
              <a:t> </a:t>
            </a:r>
            <a:endParaRPr lang="en-US"/>
          </a:p>
        </p:txBody>
      </p:sp>
      <p:sp>
        <p:nvSpPr>
          <p:cNvPr id="246118" name="Rectangle 246117">
            <a:extLst>
              <a:ext uri="{FF2B5EF4-FFF2-40B4-BE49-F238E27FC236}">
                <a16:creationId xmlns:a16="http://schemas.microsoft.com/office/drawing/2014/main" id="{DFE4BADA-B585-1CF1-7BF5-444F9D6FF6E1}"/>
              </a:ext>
            </a:extLst>
          </p:cNvPr>
          <p:cNvSpPr/>
          <p:nvPr/>
        </p:nvSpPr>
        <p:spPr>
          <a:xfrm>
            <a:off x="609905" y="3164078"/>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211" name="Rectangle 246210">
            <a:extLst>
              <a:ext uri="{FF2B5EF4-FFF2-40B4-BE49-F238E27FC236}">
                <a16:creationId xmlns:a16="http://schemas.microsoft.com/office/drawing/2014/main" id="{8D45A56F-CB14-2467-5C2B-0786A82C7C75}"/>
              </a:ext>
            </a:extLst>
          </p:cNvPr>
          <p:cNvSpPr/>
          <p:nvPr/>
        </p:nvSpPr>
        <p:spPr>
          <a:xfrm>
            <a:off x="609905" y="3176778"/>
            <a:ext cx="1828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Workload</a:t>
            </a:r>
          </a:p>
          <a:p>
            <a:pPr algn="l">
              <a:buNone/>
            </a:pPr>
            <a:r>
              <a:rPr lang="en-US">
                <a:effectLst/>
              </a:rPr>
              <a:t> </a:t>
            </a:r>
            <a:endParaRPr lang="en-US"/>
          </a:p>
        </p:txBody>
      </p:sp>
      <p:sp>
        <p:nvSpPr>
          <p:cNvPr id="246305" name="Rectangle 246304">
            <a:extLst>
              <a:ext uri="{FF2B5EF4-FFF2-40B4-BE49-F238E27FC236}">
                <a16:creationId xmlns:a16="http://schemas.microsoft.com/office/drawing/2014/main" id="{157A905E-6C7B-7C38-501C-62B554878CF4}"/>
              </a:ext>
            </a:extLst>
          </p:cNvPr>
          <p:cNvSpPr/>
          <p:nvPr/>
        </p:nvSpPr>
        <p:spPr>
          <a:xfrm>
            <a:off x="2438705" y="3176778"/>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Speed and volume matter</a:t>
            </a:r>
          </a:p>
          <a:p>
            <a:pPr algn="l">
              <a:buNone/>
            </a:pPr>
            <a:r>
              <a:rPr lang="en-US">
                <a:effectLst/>
              </a:rPr>
              <a:t> </a:t>
            </a:r>
            <a:endParaRPr lang="en-US"/>
          </a:p>
        </p:txBody>
      </p:sp>
      <p:sp>
        <p:nvSpPr>
          <p:cNvPr id="246400" name="Rectangle 246399">
            <a:extLst>
              <a:ext uri="{FF2B5EF4-FFF2-40B4-BE49-F238E27FC236}">
                <a16:creationId xmlns:a16="http://schemas.microsoft.com/office/drawing/2014/main" id="{47851A5D-7D59-8234-6A64-430E85424D2F}"/>
              </a:ext>
            </a:extLst>
          </p:cNvPr>
          <p:cNvSpPr/>
          <p:nvPr/>
        </p:nvSpPr>
        <p:spPr>
          <a:xfrm>
            <a:off x="7010705" y="3176778"/>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What's on screen drives the task</a:t>
            </a:r>
          </a:p>
          <a:p>
            <a:pPr algn="l">
              <a:buNone/>
            </a:pPr>
            <a:r>
              <a:rPr lang="en-US">
                <a:effectLst/>
              </a:rPr>
              <a:t> </a:t>
            </a:r>
            <a:endParaRPr lang="en-US"/>
          </a:p>
        </p:txBody>
      </p:sp>
      <p:sp>
        <p:nvSpPr>
          <p:cNvPr id="246496" name="Rectangle 246495">
            <a:extLst>
              <a:ext uri="{FF2B5EF4-FFF2-40B4-BE49-F238E27FC236}">
                <a16:creationId xmlns:a16="http://schemas.microsoft.com/office/drawing/2014/main" id="{8EFBAFE4-AE8A-D13F-EF40-DDFD52DD4B5A}"/>
              </a:ext>
            </a:extLst>
          </p:cNvPr>
          <p:cNvSpPr/>
          <p:nvPr/>
        </p:nvSpPr>
        <p:spPr>
          <a:xfrm>
            <a:off x="609905" y="3655187"/>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593" name="Rectangle 246592">
            <a:extLst>
              <a:ext uri="{FF2B5EF4-FFF2-40B4-BE49-F238E27FC236}">
                <a16:creationId xmlns:a16="http://schemas.microsoft.com/office/drawing/2014/main" id="{CC950AB3-D844-7B6A-3C25-993A273414B0}"/>
              </a:ext>
            </a:extLst>
          </p:cNvPr>
          <p:cNvSpPr/>
          <p:nvPr/>
        </p:nvSpPr>
        <p:spPr>
          <a:xfrm>
            <a:off x="609905" y="3667887"/>
            <a:ext cx="1828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Team</a:t>
            </a:r>
          </a:p>
          <a:p>
            <a:pPr algn="l">
              <a:buNone/>
            </a:pPr>
            <a:r>
              <a:rPr lang="en-US">
                <a:effectLst/>
              </a:rPr>
              <a:t> </a:t>
            </a:r>
            <a:endParaRPr lang="en-US"/>
          </a:p>
        </p:txBody>
      </p:sp>
      <p:sp>
        <p:nvSpPr>
          <p:cNvPr id="246691" name="Rectangle 246690">
            <a:extLst>
              <a:ext uri="{FF2B5EF4-FFF2-40B4-BE49-F238E27FC236}">
                <a16:creationId xmlns:a16="http://schemas.microsoft.com/office/drawing/2014/main" id="{0C59D1C4-85F9-DB77-6246-29326B5D5C13}"/>
              </a:ext>
            </a:extLst>
          </p:cNvPr>
          <p:cNvSpPr/>
          <p:nvPr/>
        </p:nvSpPr>
        <p:spPr>
          <a:xfrm>
            <a:off x="2438705" y="3667887"/>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An RPA team already owns it</a:t>
            </a:r>
          </a:p>
          <a:p>
            <a:pPr algn="l">
              <a:buNone/>
            </a:pPr>
            <a:r>
              <a:rPr lang="en-US">
                <a:effectLst/>
              </a:rPr>
              <a:t> </a:t>
            </a:r>
            <a:endParaRPr lang="en-US"/>
          </a:p>
        </p:txBody>
      </p:sp>
      <p:sp>
        <p:nvSpPr>
          <p:cNvPr id="246790" name="Rectangle 246789">
            <a:extLst>
              <a:ext uri="{FF2B5EF4-FFF2-40B4-BE49-F238E27FC236}">
                <a16:creationId xmlns:a16="http://schemas.microsoft.com/office/drawing/2014/main" id="{EF69737F-50C8-6E48-D7E0-8EE0D767D2BC}"/>
              </a:ext>
            </a:extLst>
          </p:cNvPr>
          <p:cNvSpPr/>
          <p:nvPr/>
        </p:nvSpPr>
        <p:spPr>
          <a:xfrm>
            <a:off x="7010705" y="3667887"/>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No API and no RPA capacity</a:t>
            </a:r>
          </a:p>
          <a:p>
            <a:pPr algn="l">
              <a:buNone/>
            </a:pPr>
            <a:r>
              <a:rPr lang="en-US">
                <a:effectLst/>
              </a:rPr>
              <a:t> </a:t>
            </a:r>
            <a:endParaRPr lang="en-US"/>
          </a:p>
        </p:txBody>
      </p:sp>
      <p:sp>
        <p:nvSpPr>
          <p:cNvPr id="246890" name="Rectangle 246889">
            <a:extLst>
              <a:ext uri="{FF2B5EF4-FFF2-40B4-BE49-F238E27FC236}">
                <a16:creationId xmlns:a16="http://schemas.microsoft.com/office/drawing/2014/main" id="{D62C75F9-A72B-2680-DC4E-E3252C0E0B53}"/>
              </a:ext>
            </a:extLst>
          </p:cNvPr>
          <p:cNvSpPr/>
          <p:nvPr/>
        </p:nvSpPr>
        <p:spPr>
          <a:xfrm>
            <a:off x="609905" y="4146296"/>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991" name="Rectangle 246990">
            <a:extLst>
              <a:ext uri="{FF2B5EF4-FFF2-40B4-BE49-F238E27FC236}">
                <a16:creationId xmlns:a16="http://schemas.microsoft.com/office/drawing/2014/main" id="{B6A73541-91B8-B1F1-3FA8-B3C9953F961D}"/>
              </a:ext>
            </a:extLst>
          </p:cNvPr>
          <p:cNvSpPr/>
          <p:nvPr/>
        </p:nvSpPr>
        <p:spPr>
          <a:xfrm>
            <a:off x="609905" y="4158996"/>
            <a:ext cx="18288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a:solidFill>
                  <a:srgbClr val="F19D19"/>
                </a:solidFill>
                <a:effectLst/>
                <a:latin typeface="Segoe UI" panose="020B0502040204020203" pitchFamily="34" charset="0"/>
              </a:rPr>
              <a:t>Risk</a:t>
            </a:r>
          </a:p>
          <a:p>
            <a:pPr algn="l">
              <a:buNone/>
            </a:pPr>
            <a:r>
              <a:rPr lang="en-US">
                <a:effectLst/>
              </a:rPr>
              <a:t> </a:t>
            </a:r>
            <a:endParaRPr lang="en-US"/>
          </a:p>
        </p:txBody>
      </p:sp>
      <p:sp>
        <p:nvSpPr>
          <p:cNvPr id="247093" name="Rectangle 247092">
            <a:extLst>
              <a:ext uri="{FF2B5EF4-FFF2-40B4-BE49-F238E27FC236}">
                <a16:creationId xmlns:a16="http://schemas.microsoft.com/office/drawing/2014/main" id="{32132EEE-D0FF-B77E-12FE-9493AD6BE625}"/>
              </a:ext>
            </a:extLst>
          </p:cNvPr>
          <p:cNvSpPr/>
          <p:nvPr/>
        </p:nvSpPr>
        <p:spPr>
          <a:xfrm>
            <a:off x="2438705" y="4158996"/>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It's mission-critical</a:t>
            </a:r>
          </a:p>
          <a:p>
            <a:pPr algn="l">
              <a:buNone/>
            </a:pPr>
            <a:r>
              <a:rPr lang="en-US">
                <a:effectLst/>
              </a:rPr>
              <a:t> </a:t>
            </a:r>
            <a:endParaRPr lang="en-US"/>
          </a:p>
        </p:txBody>
      </p:sp>
      <p:sp>
        <p:nvSpPr>
          <p:cNvPr id="247196" name="Rectangle 247195">
            <a:extLst>
              <a:ext uri="{FF2B5EF4-FFF2-40B4-BE49-F238E27FC236}">
                <a16:creationId xmlns:a16="http://schemas.microsoft.com/office/drawing/2014/main" id="{C52C4A62-374E-BB47-CA4E-57CF2005CD40}"/>
              </a:ext>
            </a:extLst>
          </p:cNvPr>
          <p:cNvSpPr/>
          <p:nvPr/>
        </p:nvSpPr>
        <p:spPr>
          <a:xfrm>
            <a:off x="7010705" y="4158996"/>
            <a:ext cx="4572000" cy="4911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a:solidFill>
                  <a:srgbClr val="FFFFFF"/>
                </a:solidFill>
                <a:effectLst/>
                <a:latin typeface="Segoe UI" panose="020B0502040204020203" pitchFamily="34" charset="0"/>
              </a:rPr>
              <a:t>A retry or human review is acceptable</a:t>
            </a:r>
          </a:p>
          <a:p>
            <a:pPr algn="l">
              <a:buNone/>
            </a:pPr>
            <a:r>
              <a:rPr lang="en-US">
                <a:effectLst/>
              </a:rPr>
              <a:t> </a:t>
            </a:r>
            <a:endParaRPr lang="en-US"/>
          </a:p>
        </p:txBody>
      </p:sp>
      <p:sp>
        <p:nvSpPr>
          <p:cNvPr id="247300" name="Rectangle 247299">
            <a:extLst>
              <a:ext uri="{FF2B5EF4-FFF2-40B4-BE49-F238E27FC236}">
                <a16:creationId xmlns:a16="http://schemas.microsoft.com/office/drawing/2014/main" id="{805FC74A-3A5A-58DF-E427-AAF500164DF5}"/>
              </a:ext>
            </a:extLst>
          </p:cNvPr>
          <p:cNvSpPr/>
          <p:nvPr/>
        </p:nvSpPr>
        <p:spPr>
          <a:xfrm>
            <a:off x="609905" y="4637405"/>
            <a:ext cx="10972800" cy="12700"/>
          </a:xfrm>
          <a:prstGeom prst="rect">
            <a:avLst/>
          </a:prstGeom>
          <a:solidFill>
            <a:srgbClr val="FFFFFF">
              <a:alpha val="18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405" name="Rectangle 247404">
            <a:extLst>
              <a:ext uri="{FF2B5EF4-FFF2-40B4-BE49-F238E27FC236}">
                <a16:creationId xmlns:a16="http://schemas.microsoft.com/office/drawing/2014/main" id="{B5170642-2C46-0FB1-5144-A3E182009935}"/>
              </a:ext>
            </a:extLst>
          </p:cNvPr>
          <p:cNvSpPr/>
          <p:nvPr/>
        </p:nvSpPr>
        <p:spPr>
          <a:xfrm>
            <a:off x="609905" y="5292471"/>
            <a:ext cx="10972800" cy="882396"/>
          </a:xfrm>
          <a:prstGeom prst="rect">
            <a:avLst/>
          </a:prstGeom>
          <a:solidFill>
            <a:srgbClr val="F19D19">
              <a:alpha val="22000"/>
            </a:srgbClr>
          </a:solidFill>
          <a:ln w="1905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511" name="Rectangle 247510">
            <a:extLst>
              <a:ext uri="{FF2B5EF4-FFF2-40B4-BE49-F238E27FC236}">
                <a16:creationId xmlns:a16="http://schemas.microsoft.com/office/drawing/2014/main" id="{C71AD6D7-F645-A545-4C54-8C1FFCF21B74}"/>
              </a:ext>
            </a:extLst>
          </p:cNvPr>
          <p:cNvSpPr/>
          <p:nvPr/>
        </p:nvSpPr>
        <p:spPr>
          <a:xfrm>
            <a:off x="747065" y="5292471"/>
            <a:ext cx="2103120" cy="8823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b="1" spc="100">
                <a:solidFill>
                  <a:srgbClr val="F19D19"/>
                </a:solidFill>
                <a:effectLst/>
                <a:latin typeface="Segoe UI" panose="020B0502040204020203" pitchFamily="34" charset="0"/>
              </a:rPr>
              <a:t>BETTER TOGETHER</a:t>
            </a:r>
          </a:p>
          <a:p>
            <a:pPr algn="l">
              <a:buNone/>
            </a:pPr>
            <a:r>
              <a:rPr lang="en-US" sz="100">
                <a:effectLst/>
              </a:rPr>
              <a:t> </a:t>
            </a:r>
            <a:endParaRPr lang="en-US"/>
          </a:p>
        </p:txBody>
      </p:sp>
      <p:sp>
        <p:nvSpPr>
          <p:cNvPr id="247618" name="Rectangle 247617">
            <a:extLst>
              <a:ext uri="{FF2B5EF4-FFF2-40B4-BE49-F238E27FC236}">
                <a16:creationId xmlns:a16="http://schemas.microsoft.com/office/drawing/2014/main" id="{3E6D7CFE-0051-17A9-5CEF-5168B5B1A174}"/>
              </a:ext>
            </a:extLst>
          </p:cNvPr>
          <p:cNvSpPr/>
          <p:nvPr/>
        </p:nvSpPr>
        <p:spPr>
          <a:xfrm>
            <a:off x="2895905" y="5383911"/>
            <a:ext cx="8641080" cy="6995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A workflow orchestrates · RPA runs the steady path · computer use takes the variable step · a person approves what matters</a:t>
            </a:r>
          </a:p>
          <a:p>
            <a:pPr algn="l">
              <a:buNone/>
            </a:pPr>
            <a:r>
              <a:rPr lang="en-US" sz="100">
                <a:effectLst/>
              </a:rPr>
              <a:t> </a:t>
            </a:r>
            <a:endParaRPr lang="en-US"/>
          </a:p>
        </p:txBody>
      </p:sp>
    </p:spTree>
    <p:extLst>
      <p:ext uri="{BB962C8B-B14F-4D97-AF65-F5344CB8AC3E}">
        <p14:creationId xmlns:p14="http://schemas.microsoft.com/office/powerpoint/2010/main" val="40272225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72622" name="Rectangle: Rounded Corners 172621">
            <a:extLst>
              <a:ext uri="{FF2B5EF4-FFF2-40B4-BE49-F238E27FC236}">
                <a16:creationId xmlns:a16="http://schemas.microsoft.com/office/drawing/2014/main" id="{98B986E0-661A-0BEE-47F0-3E644B79ADDF}"/>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72693" name="Rectangle: Rounded Corners 172692">
            <a:extLst>
              <a:ext uri="{FF2B5EF4-FFF2-40B4-BE49-F238E27FC236}">
                <a16:creationId xmlns:a16="http://schemas.microsoft.com/office/drawing/2014/main" id="{B2448D9A-236E-C653-6547-39B3639F8747}"/>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5 · STEPS 1–2 OF 9</a:t>
            </a:r>
          </a:p>
          <a:p>
            <a:pPr algn="ctr">
              <a:buNone/>
            </a:pPr>
            <a:r>
              <a:rPr lang="en-US" sz="100">
                <a:effectLst/>
              </a:rPr>
              <a:t> </a:t>
            </a:r>
            <a:endParaRPr lang="en-US"/>
          </a:p>
        </p:txBody>
      </p:sp>
      <p:sp>
        <p:nvSpPr>
          <p:cNvPr id="172765" name="Rectangle 172764">
            <a:extLst>
              <a:ext uri="{FF2B5EF4-FFF2-40B4-BE49-F238E27FC236}">
                <a16:creationId xmlns:a16="http://schemas.microsoft.com/office/drawing/2014/main" id="{54423B85-E251-E296-F816-960C35A14F11}"/>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and test the carrier capability</a:t>
            </a:r>
          </a:p>
          <a:p>
            <a:pPr algn="l">
              <a:buNone/>
            </a:pPr>
            <a:r>
              <a:rPr lang="en-US" sz="100">
                <a:effectLst/>
              </a:rPr>
              <a:t> </a:t>
            </a:r>
            <a:endParaRPr lang="en-US"/>
          </a:p>
        </p:txBody>
      </p:sp>
      <p:sp>
        <p:nvSpPr>
          <p:cNvPr id="172838" name="Rectangle 172837">
            <a:extLst>
              <a:ext uri="{FF2B5EF4-FFF2-40B4-BE49-F238E27FC236}">
                <a16:creationId xmlns:a16="http://schemas.microsoft.com/office/drawing/2014/main" id="{640429E6-6977-0247-A668-D8C9F680DDF4}"/>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12" name="Rectangle: Rounded Corners 172911">
            <a:extLst>
              <a:ext uri="{FF2B5EF4-FFF2-40B4-BE49-F238E27FC236}">
                <a16:creationId xmlns:a16="http://schemas.microsoft.com/office/drawing/2014/main" id="{F69AB40F-5B3E-4A51-CA80-C4765E6819DB}"/>
              </a:ext>
            </a:extLst>
          </p:cNvPr>
          <p:cNvSpPr/>
          <p:nvPr/>
        </p:nvSpPr>
        <p:spPr>
          <a:xfrm>
            <a:off x="7796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1</a:t>
            </a:r>
          </a:p>
          <a:p>
            <a:pPr algn="ctr">
              <a:buNone/>
            </a:pPr>
            <a:r>
              <a:rPr lang="en-US" sz="100">
                <a:effectLst/>
              </a:rPr>
              <a:t> </a:t>
            </a:r>
            <a:endParaRPr lang="en-US"/>
          </a:p>
        </p:txBody>
      </p:sp>
      <p:sp>
        <p:nvSpPr>
          <p:cNvPr id="172987" name="Rectangle 172986">
            <a:extLst>
              <a:ext uri="{FF2B5EF4-FFF2-40B4-BE49-F238E27FC236}">
                <a16:creationId xmlns:a16="http://schemas.microsoft.com/office/drawing/2014/main" id="{50B4F97C-2C95-06BF-BAB9-A9AB7B316962}"/>
              </a:ext>
            </a:extLst>
          </p:cNvPr>
          <p:cNvSpPr/>
          <p:nvPr/>
        </p:nvSpPr>
        <p:spPr>
          <a:xfrm>
            <a:off x="14896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Carrier Operations Agent</a:t>
            </a:r>
          </a:p>
          <a:p>
            <a:pPr algn="l">
              <a:buNone/>
            </a:pPr>
            <a:r>
              <a:rPr lang="en-US" sz="100">
                <a:effectLst/>
              </a:rPr>
              <a:t> </a:t>
            </a:r>
            <a:endParaRPr lang="en-US"/>
          </a:p>
        </p:txBody>
      </p:sp>
      <p:sp>
        <p:nvSpPr>
          <p:cNvPr id="173063" name="Rectangle 173062">
            <a:extLst>
              <a:ext uri="{FF2B5EF4-FFF2-40B4-BE49-F238E27FC236}">
                <a16:creationId xmlns:a16="http://schemas.microsoft.com/office/drawing/2014/main" id="{634C0DEF-BA64-964C-6474-26E47B919F80}"/>
              </a:ext>
            </a:extLst>
          </p:cNvPr>
          <p:cNvSpPr/>
          <p:nvPr/>
        </p:nvSpPr>
        <p:spPr>
          <a:xfrm>
            <a:off x="779600" y="2808947"/>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Agent (Standard) in the solution, exact name, repo instructions</a:t>
            </a:r>
          </a:p>
          <a:p>
            <a:pPr algn="l">
              <a:buNone/>
            </a:pPr>
            <a:r>
              <a:rPr lang="en-US" sz="100">
                <a:effectLst/>
              </a:rPr>
              <a:t> </a:t>
            </a:r>
            <a:endParaRPr lang="en-US"/>
          </a:p>
        </p:txBody>
      </p:sp>
      <p:sp>
        <p:nvSpPr>
          <p:cNvPr id="173140" name="Rectangle 173139">
            <a:extLst>
              <a:ext uri="{FF2B5EF4-FFF2-40B4-BE49-F238E27FC236}">
                <a16:creationId xmlns:a16="http://schemas.microsoft.com/office/drawing/2014/main" id="{BB7DA6DB-F4A3-8023-F938-5F2FA792812C}"/>
              </a:ext>
            </a:extLst>
          </p:cNvPr>
          <p:cNvSpPr/>
          <p:nvPr/>
        </p:nvSpPr>
        <p:spPr>
          <a:xfrm>
            <a:off x="609600" y="5793872"/>
            <a:ext cx="5361400" cy="636128"/>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18" name="Rectangle 173217">
            <a:extLst>
              <a:ext uri="{FF2B5EF4-FFF2-40B4-BE49-F238E27FC236}">
                <a16:creationId xmlns:a16="http://schemas.microsoft.com/office/drawing/2014/main" id="{9BE72C8E-3B0F-45D1-8444-FCC2FA18A363}"/>
              </a:ext>
            </a:extLst>
          </p:cNvPr>
          <p:cNvSpPr/>
          <p:nvPr/>
        </p:nvSpPr>
        <p:spPr>
          <a:xfrm>
            <a:off x="779600" y="5853872"/>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Agent saved and named exactly</a:t>
            </a:r>
          </a:p>
          <a:p>
            <a:pPr algn="l">
              <a:buNone/>
            </a:pPr>
            <a:r>
              <a:rPr lang="en-US" sz="100">
                <a:effectLst/>
              </a:rPr>
              <a:t> </a:t>
            </a:r>
            <a:endParaRPr lang="en-US"/>
          </a:p>
        </p:txBody>
      </p:sp>
      <p:sp>
        <p:nvSpPr>
          <p:cNvPr id="173297" name="Rectangle 173296">
            <a:extLst>
              <a:ext uri="{FF2B5EF4-FFF2-40B4-BE49-F238E27FC236}">
                <a16:creationId xmlns:a16="http://schemas.microsoft.com/office/drawing/2014/main" id="{F258A3B5-FC1A-C1B3-ECFB-B140851D886D}"/>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77" name="Rectangle: Rounded Corners 173376">
            <a:extLst>
              <a:ext uri="{FF2B5EF4-FFF2-40B4-BE49-F238E27FC236}">
                <a16:creationId xmlns:a16="http://schemas.microsoft.com/office/drawing/2014/main" id="{FC1D6EEE-B8DE-BA12-18C5-884F1D41DB6A}"/>
              </a:ext>
            </a:extLst>
          </p:cNvPr>
          <p:cNvSpPr/>
          <p:nvPr/>
        </p:nvSpPr>
        <p:spPr>
          <a:xfrm>
            <a:off x="63910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2</a:t>
            </a:r>
          </a:p>
          <a:p>
            <a:pPr algn="ctr">
              <a:buNone/>
            </a:pPr>
            <a:r>
              <a:rPr lang="en-US" sz="100">
                <a:effectLst/>
              </a:rPr>
              <a:t> </a:t>
            </a:r>
            <a:endParaRPr lang="en-US"/>
          </a:p>
        </p:txBody>
      </p:sp>
      <p:sp>
        <p:nvSpPr>
          <p:cNvPr id="173458" name="Rectangle 173457">
            <a:extLst>
              <a:ext uri="{FF2B5EF4-FFF2-40B4-BE49-F238E27FC236}">
                <a16:creationId xmlns:a16="http://schemas.microsoft.com/office/drawing/2014/main" id="{EB4B9BE7-835D-B05A-CA17-3F7F435194F7}"/>
              </a:ext>
            </a:extLst>
          </p:cNvPr>
          <p:cNvSpPr/>
          <p:nvPr/>
        </p:nvSpPr>
        <p:spPr>
          <a:xfrm>
            <a:off x="7101000" y="1831951"/>
            <a:ext cx="431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Register Shipping Contact</a:t>
            </a:r>
          </a:p>
          <a:p>
            <a:pPr algn="l">
              <a:buNone/>
            </a:pPr>
            <a:r>
              <a:rPr lang="en-US" sz="100">
                <a:effectLst/>
              </a:rPr>
              <a:t> </a:t>
            </a:r>
            <a:endParaRPr lang="en-US"/>
          </a:p>
        </p:txBody>
      </p:sp>
      <p:sp>
        <p:nvSpPr>
          <p:cNvPr id="173540" name="Rectangle 173539">
            <a:extLst>
              <a:ext uri="{FF2B5EF4-FFF2-40B4-BE49-F238E27FC236}">
                <a16:creationId xmlns:a16="http://schemas.microsoft.com/office/drawing/2014/main" id="{25E862A7-7A86-46D2-29F4-FEA2919FA76E}"/>
              </a:ext>
            </a:extLst>
          </p:cNvPr>
          <p:cNvSpPr/>
          <p:nvPr/>
        </p:nvSpPr>
        <p:spPr>
          <a:xfrm>
            <a:off x="6391000" y="2808947"/>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Computer Use tool with 7 inputs, hosted browser, one allowed website, Edge, HTTPS</a:t>
            </a:r>
          </a:p>
          <a:p>
            <a:pPr algn="l">
              <a:buNone/>
            </a:pPr>
            <a:r>
              <a:rPr lang="en-US" sz="100">
                <a:effectLst/>
              </a:rPr>
              <a:t> </a:t>
            </a:r>
            <a:endParaRPr lang="en-US"/>
          </a:p>
        </p:txBody>
      </p:sp>
      <p:sp>
        <p:nvSpPr>
          <p:cNvPr id="173623" name="Rectangle 173622">
            <a:extLst>
              <a:ext uri="{FF2B5EF4-FFF2-40B4-BE49-F238E27FC236}">
                <a16:creationId xmlns:a16="http://schemas.microsoft.com/office/drawing/2014/main" id="{29ADED65-64CD-3894-BF7F-250AFCB36461}"/>
              </a:ext>
            </a:extLst>
          </p:cNvPr>
          <p:cNvSpPr/>
          <p:nvPr/>
        </p:nvSpPr>
        <p:spPr>
          <a:xfrm>
            <a:off x="6221000" y="5793872"/>
            <a:ext cx="5361400" cy="636128"/>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07" name="Rectangle 173706">
            <a:extLst>
              <a:ext uri="{FF2B5EF4-FFF2-40B4-BE49-F238E27FC236}">
                <a16:creationId xmlns:a16="http://schemas.microsoft.com/office/drawing/2014/main" id="{09A244EA-47A7-1A3C-1291-7E894484A7B5}"/>
              </a:ext>
            </a:extLst>
          </p:cNvPr>
          <p:cNvSpPr/>
          <p:nvPr/>
        </p:nvSpPr>
        <p:spPr>
          <a:xfrm>
            <a:off x="6391000" y="5853872"/>
            <a:ext cx="502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Tool restricted to the approved site</a:t>
            </a:r>
          </a:p>
          <a:p>
            <a:pPr algn="l">
              <a:buNone/>
            </a:pPr>
            <a:r>
              <a:rPr lang="en-US" sz="100">
                <a:effectLst/>
              </a:rPr>
              <a:t> </a:t>
            </a:r>
            <a:endParaRPr lang="en-US"/>
          </a:p>
        </p:txBody>
      </p:sp>
    </p:spTree>
    <p:extLst>
      <p:ext uri="{BB962C8B-B14F-4D97-AF65-F5344CB8AC3E}">
        <p14:creationId xmlns:p14="http://schemas.microsoft.com/office/powerpoint/2010/main" val="28451413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73792" name="Rectangle: Rounded Corners 173791">
            <a:extLst>
              <a:ext uri="{FF2B5EF4-FFF2-40B4-BE49-F238E27FC236}">
                <a16:creationId xmlns:a16="http://schemas.microsoft.com/office/drawing/2014/main" id="{243FDB02-6200-4AF6-C3BE-19F027C975D7}"/>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73878" name="Rectangle: Rounded Corners 173877">
            <a:extLst>
              <a:ext uri="{FF2B5EF4-FFF2-40B4-BE49-F238E27FC236}">
                <a16:creationId xmlns:a16="http://schemas.microsoft.com/office/drawing/2014/main" id="{4700714A-4C58-6DAD-C73E-8AE437F2CACA}"/>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5 · STEPS 3–4 OF 9</a:t>
            </a:r>
          </a:p>
          <a:p>
            <a:pPr algn="ctr">
              <a:buNone/>
            </a:pPr>
            <a:r>
              <a:rPr lang="en-US" sz="100">
                <a:effectLst/>
              </a:rPr>
              <a:t> </a:t>
            </a:r>
            <a:endParaRPr lang="en-US"/>
          </a:p>
        </p:txBody>
      </p:sp>
      <p:sp>
        <p:nvSpPr>
          <p:cNvPr id="173965" name="Rectangle 173964">
            <a:extLst>
              <a:ext uri="{FF2B5EF4-FFF2-40B4-BE49-F238E27FC236}">
                <a16:creationId xmlns:a16="http://schemas.microsoft.com/office/drawing/2014/main" id="{5BABEB88-A466-17DC-633E-881A3804196B}"/>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and test the carrier capability</a:t>
            </a:r>
          </a:p>
          <a:p>
            <a:pPr algn="l">
              <a:buNone/>
            </a:pPr>
            <a:r>
              <a:rPr lang="en-US" sz="100">
                <a:effectLst/>
              </a:rPr>
              <a:t> </a:t>
            </a:r>
            <a:endParaRPr lang="en-US"/>
          </a:p>
        </p:txBody>
      </p:sp>
      <p:sp>
        <p:nvSpPr>
          <p:cNvPr id="174053" name="Rectangle 174052">
            <a:extLst>
              <a:ext uri="{FF2B5EF4-FFF2-40B4-BE49-F238E27FC236}">
                <a16:creationId xmlns:a16="http://schemas.microsoft.com/office/drawing/2014/main" id="{406A5D10-0C4C-C1C5-E65E-DB92270B3C4B}"/>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42" name="Rectangle: Rounded Corners 174141">
            <a:extLst>
              <a:ext uri="{FF2B5EF4-FFF2-40B4-BE49-F238E27FC236}">
                <a16:creationId xmlns:a16="http://schemas.microsoft.com/office/drawing/2014/main" id="{0FC9F44B-F4A2-3774-3DD7-EBC51CFCC11C}"/>
              </a:ext>
            </a:extLst>
          </p:cNvPr>
          <p:cNvSpPr/>
          <p:nvPr/>
        </p:nvSpPr>
        <p:spPr>
          <a:xfrm>
            <a:off x="7796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3</a:t>
            </a:r>
          </a:p>
          <a:p>
            <a:pPr algn="ctr">
              <a:buNone/>
            </a:pPr>
            <a:r>
              <a:rPr lang="en-US" sz="100">
                <a:effectLst/>
              </a:rPr>
              <a:t> </a:t>
            </a:r>
            <a:endParaRPr lang="en-US"/>
          </a:p>
        </p:txBody>
      </p:sp>
      <p:sp>
        <p:nvSpPr>
          <p:cNvPr id="174232" name="Rectangle 174231">
            <a:extLst>
              <a:ext uri="{FF2B5EF4-FFF2-40B4-BE49-F238E27FC236}">
                <a16:creationId xmlns:a16="http://schemas.microsoft.com/office/drawing/2014/main" id="{8460070A-220D-F803-4388-98E2BEF4E63D}"/>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Test once and inspect replay</a:t>
            </a:r>
          </a:p>
          <a:p>
            <a:pPr algn="l">
              <a:buNone/>
            </a:pPr>
            <a:r>
              <a:rPr lang="en-US" sz="100">
                <a:effectLst/>
              </a:rPr>
              <a:t> </a:t>
            </a:r>
            <a:endParaRPr lang="en-US"/>
          </a:p>
        </p:txBody>
      </p:sp>
      <p:sp>
        <p:nvSpPr>
          <p:cNvPr id="174323" name="Rectangle 174322">
            <a:extLst>
              <a:ext uri="{FF2B5EF4-FFF2-40B4-BE49-F238E27FC236}">
                <a16:creationId xmlns:a16="http://schemas.microsoft.com/office/drawing/2014/main" id="{C0E6F465-7505-4966-01F6-B62A73B078B9}"/>
              </a:ext>
            </a:extLst>
          </p:cNvPr>
          <p:cNvSpPr/>
          <p:nvPr/>
        </p:nvSpPr>
        <p:spPr>
          <a:xfrm>
            <a:off x="7796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Run one direct test with fixture values; wait up to 10 minutes</a:t>
            </a:r>
          </a:p>
          <a:p>
            <a:pPr algn="l">
              <a:buNone/>
            </a:pPr>
            <a:r>
              <a:rPr lang="en-US" sz="100">
                <a:effectLst/>
              </a:rPr>
              <a:t> </a:t>
            </a:r>
            <a:endParaRPr lang="en-US"/>
          </a:p>
        </p:txBody>
      </p:sp>
      <p:sp>
        <p:nvSpPr>
          <p:cNvPr id="174415" name="Rectangle 174414">
            <a:extLst>
              <a:ext uri="{FF2B5EF4-FFF2-40B4-BE49-F238E27FC236}">
                <a16:creationId xmlns:a16="http://schemas.microsoft.com/office/drawing/2014/main" id="{9D796ABF-D376-B109-8AFF-CC6B9E781DC2}"/>
              </a:ext>
            </a:extLst>
          </p:cNvPr>
          <p:cNvSpPr/>
          <p:nvPr/>
        </p:nvSpPr>
        <p:spPr>
          <a:xfrm>
            <a:off x="609600" y="5453004"/>
            <a:ext cx="5361400" cy="976996"/>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08" name="Rectangle 174507">
            <a:extLst>
              <a:ext uri="{FF2B5EF4-FFF2-40B4-BE49-F238E27FC236}">
                <a16:creationId xmlns:a16="http://schemas.microsoft.com/office/drawing/2014/main" id="{46DCD9FB-2548-F9D4-C169-CADB2940FB44}"/>
              </a:ext>
            </a:extLst>
          </p:cNvPr>
          <p:cNvSpPr/>
          <p:nvPr/>
        </p:nvSpPr>
        <p:spPr>
          <a:xfrm>
            <a:off x="7796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Finished, CARRIER_VERIFIED, Submissions: 1</a:t>
            </a:r>
          </a:p>
          <a:p>
            <a:pPr algn="l">
              <a:buNone/>
            </a:pPr>
            <a:r>
              <a:rPr lang="en-US" sz="100">
                <a:effectLst/>
              </a:rPr>
              <a:t> </a:t>
            </a:r>
            <a:endParaRPr lang="en-US"/>
          </a:p>
        </p:txBody>
      </p:sp>
      <p:sp>
        <p:nvSpPr>
          <p:cNvPr id="174602" name="Rectangle 174601">
            <a:extLst>
              <a:ext uri="{FF2B5EF4-FFF2-40B4-BE49-F238E27FC236}">
                <a16:creationId xmlns:a16="http://schemas.microsoft.com/office/drawing/2014/main" id="{8083032D-9228-AFD1-F9BC-4E72004CBC36}"/>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97" name="Rectangle: Rounded Corners 174696">
            <a:extLst>
              <a:ext uri="{FF2B5EF4-FFF2-40B4-BE49-F238E27FC236}">
                <a16:creationId xmlns:a16="http://schemas.microsoft.com/office/drawing/2014/main" id="{23AACF51-DA59-890C-A1F6-D8770B7D0F3D}"/>
              </a:ext>
            </a:extLst>
          </p:cNvPr>
          <p:cNvSpPr/>
          <p:nvPr/>
        </p:nvSpPr>
        <p:spPr>
          <a:xfrm>
            <a:off x="63910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4</a:t>
            </a:r>
          </a:p>
          <a:p>
            <a:pPr algn="ctr">
              <a:buNone/>
            </a:pPr>
            <a:r>
              <a:rPr lang="en-US" sz="100">
                <a:effectLst/>
              </a:rPr>
              <a:t> </a:t>
            </a:r>
            <a:endParaRPr lang="en-US"/>
          </a:p>
        </p:txBody>
      </p:sp>
      <p:sp>
        <p:nvSpPr>
          <p:cNvPr id="174793" name="Rectangle 174792">
            <a:extLst>
              <a:ext uri="{FF2B5EF4-FFF2-40B4-BE49-F238E27FC236}">
                <a16:creationId xmlns:a16="http://schemas.microsoft.com/office/drawing/2014/main" id="{5CF14308-4B32-4030-4973-366381071BF4}"/>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Verify the prepared adapter</a:t>
            </a:r>
          </a:p>
          <a:p>
            <a:pPr algn="l">
              <a:buNone/>
            </a:pPr>
            <a:r>
              <a:rPr lang="en-US" sz="100">
                <a:effectLst/>
              </a:rPr>
              <a:t> </a:t>
            </a:r>
            <a:endParaRPr lang="en-US"/>
          </a:p>
        </p:txBody>
      </p:sp>
      <p:sp>
        <p:nvSpPr>
          <p:cNvPr id="174890" name="Rectangle 174889">
            <a:extLst>
              <a:ext uri="{FF2B5EF4-FFF2-40B4-BE49-F238E27FC236}">
                <a16:creationId xmlns:a16="http://schemas.microsoft.com/office/drawing/2014/main" id="{FA04DFA2-5E5F-EAB5-2E25-A546D6F1C086}"/>
              </a:ext>
            </a:extLst>
          </p:cNvPr>
          <p:cNvSpPr/>
          <p:nvPr/>
        </p:nvSpPr>
        <p:spPr>
          <a:xfrm>
            <a:off x="6391000" y="2511951"/>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Review Invoke Carrier Operations without editing</a:t>
            </a:r>
          </a:p>
          <a:p>
            <a:pPr algn="l">
              <a:buNone/>
            </a:pPr>
            <a:r>
              <a:rPr lang="en-US" sz="100">
                <a:effectLst/>
              </a:rPr>
              <a:t> </a:t>
            </a:r>
            <a:endParaRPr lang="en-US"/>
          </a:p>
        </p:txBody>
      </p:sp>
      <p:sp>
        <p:nvSpPr>
          <p:cNvPr id="174988" name="Rectangle 174987">
            <a:extLst>
              <a:ext uri="{FF2B5EF4-FFF2-40B4-BE49-F238E27FC236}">
                <a16:creationId xmlns:a16="http://schemas.microsoft.com/office/drawing/2014/main" id="{2D89409E-9A21-DFAB-54FA-F967AE984AFA}"/>
              </a:ext>
            </a:extLst>
          </p:cNvPr>
          <p:cNvSpPr/>
          <p:nvPr/>
        </p:nvSpPr>
        <p:spPr>
          <a:xfrm>
            <a:off x="6221000" y="5453004"/>
            <a:ext cx="5361400" cy="976996"/>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87" name="Rectangle 175086">
            <a:extLst>
              <a:ext uri="{FF2B5EF4-FFF2-40B4-BE49-F238E27FC236}">
                <a16:creationId xmlns:a16="http://schemas.microsoft.com/office/drawing/2014/main" id="{55A07045-2D4C-692A-22ED-6418B15780F0}"/>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Execute Agent and wait, durable operation and attempt records</a:t>
            </a:r>
          </a:p>
          <a:p>
            <a:pPr algn="l">
              <a:buNone/>
            </a:pPr>
            <a:r>
              <a:rPr lang="en-US" sz="100">
                <a:effectLst/>
              </a:rPr>
              <a:t> </a:t>
            </a:r>
            <a:endParaRPr lang="en-US"/>
          </a:p>
        </p:txBody>
      </p:sp>
    </p:spTree>
    <p:extLst>
      <p:ext uri="{BB962C8B-B14F-4D97-AF65-F5344CB8AC3E}">
        <p14:creationId xmlns:p14="http://schemas.microsoft.com/office/powerpoint/2010/main" val="319445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75187" name="Rectangle: Rounded Corners 175186">
            <a:extLst>
              <a:ext uri="{FF2B5EF4-FFF2-40B4-BE49-F238E27FC236}">
                <a16:creationId xmlns:a16="http://schemas.microsoft.com/office/drawing/2014/main" id="{F25FCE19-11DF-AF8B-6E4D-A30F9DC836E7}"/>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75288" name="Rectangle: Rounded Corners 175287">
            <a:extLst>
              <a:ext uri="{FF2B5EF4-FFF2-40B4-BE49-F238E27FC236}">
                <a16:creationId xmlns:a16="http://schemas.microsoft.com/office/drawing/2014/main" id="{925CED0F-590B-E638-6A18-752AF6DE4EC8}"/>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5 · STEPS 5–6 OF 9</a:t>
            </a:r>
          </a:p>
          <a:p>
            <a:pPr algn="ctr">
              <a:buNone/>
            </a:pPr>
            <a:r>
              <a:rPr lang="en-US" sz="100">
                <a:effectLst/>
              </a:rPr>
              <a:t> </a:t>
            </a:r>
            <a:endParaRPr lang="en-US"/>
          </a:p>
        </p:txBody>
      </p:sp>
      <p:sp>
        <p:nvSpPr>
          <p:cNvPr id="175390" name="Rectangle 175389">
            <a:extLst>
              <a:ext uri="{FF2B5EF4-FFF2-40B4-BE49-F238E27FC236}">
                <a16:creationId xmlns:a16="http://schemas.microsoft.com/office/drawing/2014/main" id="{46CEF3ED-4727-9545-9869-DCD3A6B4A7E8}"/>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the governed recovery flow</a:t>
            </a:r>
          </a:p>
          <a:p>
            <a:pPr algn="l">
              <a:buNone/>
            </a:pPr>
            <a:r>
              <a:rPr lang="en-US" sz="100">
                <a:effectLst/>
              </a:rPr>
              <a:t> </a:t>
            </a:r>
            <a:endParaRPr lang="en-US"/>
          </a:p>
        </p:txBody>
      </p:sp>
      <p:sp>
        <p:nvSpPr>
          <p:cNvPr id="175493" name="Rectangle 175492">
            <a:extLst>
              <a:ext uri="{FF2B5EF4-FFF2-40B4-BE49-F238E27FC236}">
                <a16:creationId xmlns:a16="http://schemas.microsoft.com/office/drawing/2014/main" id="{160D1E86-7D5E-53CB-EFB6-61408989F1E8}"/>
              </a:ext>
            </a:extLst>
          </p:cNvPr>
          <p:cNvSpPr/>
          <p:nvPr/>
        </p:nvSpPr>
        <p:spPr>
          <a:xfrm>
            <a:off x="6096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97" name="Rectangle: Rounded Corners 175596">
            <a:extLst>
              <a:ext uri="{FF2B5EF4-FFF2-40B4-BE49-F238E27FC236}">
                <a16:creationId xmlns:a16="http://schemas.microsoft.com/office/drawing/2014/main" id="{DE150BC4-CF92-0976-4CAC-9BC0726F367D}"/>
              </a:ext>
            </a:extLst>
          </p:cNvPr>
          <p:cNvSpPr/>
          <p:nvPr/>
        </p:nvSpPr>
        <p:spPr>
          <a:xfrm>
            <a:off x="7796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5</a:t>
            </a:r>
          </a:p>
          <a:p>
            <a:pPr algn="ctr">
              <a:buNone/>
            </a:pPr>
            <a:r>
              <a:rPr lang="en-US" sz="100">
                <a:effectLst/>
              </a:rPr>
              <a:t> </a:t>
            </a:r>
            <a:endParaRPr lang="en-US"/>
          </a:p>
        </p:txBody>
      </p:sp>
      <p:sp>
        <p:nvSpPr>
          <p:cNvPr id="175702" name="Rectangle 175701">
            <a:extLst>
              <a:ext uri="{FF2B5EF4-FFF2-40B4-BE49-F238E27FC236}">
                <a16:creationId xmlns:a16="http://schemas.microsoft.com/office/drawing/2014/main" id="{C767CD68-A1F6-7609-CCA0-7E59432434E4}"/>
              </a:ext>
            </a:extLst>
          </p:cNvPr>
          <p:cNvSpPr/>
          <p:nvPr/>
        </p:nvSpPr>
        <p:spPr>
          <a:xfrm>
            <a:off x="14896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Create the flow and router</a:t>
            </a:r>
          </a:p>
          <a:p>
            <a:pPr algn="l">
              <a:buNone/>
            </a:pPr>
            <a:r>
              <a:rPr lang="en-US" sz="100">
                <a:effectLst/>
              </a:rPr>
              <a:t> </a:t>
            </a:r>
            <a:endParaRPr lang="en-US"/>
          </a:p>
        </p:txBody>
      </p:sp>
      <p:sp>
        <p:nvSpPr>
          <p:cNvPr id="175808" name="Rectangle 175807">
            <a:extLst>
              <a:ext uri="{FF2B5EF4-FFF2-40B4-BE49-F238E27FC236}">
                <a16:creationId xmlns:a16="http://schemas.microsoft.com/office/drawing/2014/main" id="{B0868C7B-DD34-771D-E3AC-B172E110FEE5}"/>
              </a:ext>
            </a:extLst>
          </p:cNvPr>
          <p:cNvSpPr/>
          <p:nvPr/>
        </p:nvSpPr>
        <p:spPr>
          <a:xfrm>
            <a:off x="779600" y="2511951"/>
            <a:ext cx="5021400" cy="15387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Dataverse trigger on Recovery Decision changes; Get Decision, Get Case, List CP7; Governed Decision Router</a:t>
            </a:r>
          </a:p>
          <a:p>
            <a:pPr algn="l">
              <a:buNone/>
            </a:pPr>
            <a:r>
              <a:rPr lang="en-US" sz="100">
                <a:effectLst/>
              </a:rPr>
              <a:t> </a:t>
            </a:r>
            <a:endParaRPr lang="en-US"/>
          </a:p>
        </p:txBody>
      </p:sp>
      <p:sp>
        <p:nvSpPr>
          <p:cNvPr id="175915" name="Rectangle 175914">
            <a:extLst>
              <a:ext uri="{FF2B5EF4-FFF2-40B4-BE49-F238E27FC236}">
                <a16:creationId xmlns:a16="http://schemas.microsoft.com/office/drawing/2014/main" id="{CC3E0A18-3D01-31F4-4FB0-CBC1CA5576A7}"/>
              </a:ext>
            </a:extLst>
          </p:cNvPr>
          <p:cNvSpPr/>
          <p:nvPr/>
        </p:nvSpPr>
        <p:spPr>
          <a:xfrm>
            <a:off x="609600" y="5453004"/>
            <a:ext cx="5361400" cy="976996"/>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23" name="Rectangle 176022">
            <a:extLst>
              <a:ext uri="{FF2B5EF4-FFF2-40B4-BE49-F238E27FC236}">
                <a16:creationId xmlns:a16="http://schemas.microsoft.com/office/drawing/2014/main" id="{DB76C349-1B46-4BE1-C2D3-F850C62D6E0C}"/>
              </a:ext>
            </a:extLst>
          </p:cNvPr>
          <p:cNvSpPr/>
          <p:nvPr/>
        </p:nvSpPr>
        <p:spPr>
          <a:xfrm>
            <a:off x="7796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Router checks approval, action, recommendation, no prior CP7</a:t>
            </a:r>
          </a:p>
          <a:p>
            <a:pPr algn="l">
              <a:buNone/>
            </a:pPr>
            <a:r>
              <a:rPr lang="en-US" sz="100">
                <a:effectLst/>
              </a:rPr>
              <a:t> </a:t>
            </a:r>
            <a:endParaRPr lang="en-US"/>
          </a:p>
        </p:txBody>
      </p:sp>
      <p:sp>
        <p:nvSpPr>
          <p:cNvPr id="176132" name="Rectangle 176131">
            <a:extLst>
              <a:ext uri="{FF2B5EF4-FFF2-40B4-BE49-F238E27FC236}">
                <a16:creationId xmlns:a16="http://schemas.microsoft.com/office/drawing/2014/main" id="{202202CC-1262-FA11-ED3F-CF41CD66E023}"/>
              </a:ext>
            </a:extLst>
          </p:cNvPr>
          <p:cNvSpPr/>
          <p:nvPr/>
        </p:nvSpPr>
        <p:spPr>
          <a:xfrm>
            <a:off x="6221000" y="1661951"/>
            <a:ext cx="5361400"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42" name="Rectangle: Rounded Corners 176241">
            <a:extLst>
              <a:ext uri="{FF2B5EF4-FFF2-40B4-BE49-F238E27FC236}">
                <a16:creationId xmlns:a16="http://schemas.microsoft.com/office/drawing/2014/main" id="{EE3C0FC6-EE20-B212-562E-521B5AC9F26E}"/>
              </a:ext>
            </a:extLst>
          </p:cNvPr>
          <p:cNvSpPr/>
          <p:nvPr/>
        </p:nvSpPr>
        <p:spPr>
          <a:xfrm>
            <a:off x="63910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6</a:t>
            </a:r>
          </a:p>
          <a:p>
            <a:pPr algn="ctr">
              <a:buNone/>
            </a:pPr>
            <a:r>
              <a:rPr lang="en-US" sz="100">
                <a:effectLst/>
              </a:rPr>
              <a:t> </a:t>
            </a:r>
            <a:endParaRPr lang="en-US"/>
          </a:p>
        </p:txBody>
      </p:sp>
      <p:sp>
        <p:nvSpPr>
          <p:cNvPr id="176353" name="Rectangle 176352">
            <a:extLst>
              <a:ext uri="{FF2B5EF4-FFF2-40B4-BE49-F238E27FC236}">
                <a16:creationId xmlns:a16="http://schemas.microsoft.com/office/drawing/2014/main" id="{4D6EAB46-A6FC-B7CF-22CF-31E59CED8D7E}"/>
              </a:ext>
            </a:extLst>
          </p:cNvPr>
          <p:cNvSpPr/>
          <p:nvPr/>
        </p:nvSpPr>
        <p:spPr>
          <a:xfrm>
            <a:off x="7101000" y="1853887"/>
            <a:ext cx="43114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Add deterministic recovery</a:t>
            </a:r>
          </a:p>
          <a:p>
            <a:pPr algn="l">
              <a:buNone/>
            </a:pPr>
            <a:r>
              <a:rPr lang="en-US" sz="100">
                <a:effectLst/>
              </a:rPr>
              <a:t> </a:t>
            </a:r>
            <a:endParaRPr lang="en-US"/>
          </a:p>
        </p:txBody>
      </p:sp>
      <p:sp>
        <p:nvSpPr>
          <p:cNvPr id="176465" name="Rectangle 176464">
            <a:extLst>
              <a:ext uri="{FF2B5EF4-FFF2-40B4-BE49-F238E27FC236}">
                <a16:creationId xmlns:a16="http://schemas.microsoft.com/office/drawing/2014/main" id="{99B39FC3-BD18-628B-E35A-27A656F45471}"/>
              </a:ext>
            </a:extLst>
          </p:cNvPr>
          <p:cNvSpPr/>
          <p:nvPr/>
        </p:nvSpPr>
        <p:spPr>
          <a:xfrm>
            <a:off x="6391000" y="2511951"/>
            <a:ext cx="5021400" cy="11978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Case-specific purchase order, completed tasks, two unsent drafts, case marked running</a:t>
            </a:r>
          </a:p>
          <a:p>
            <a:pPr algn="l">
              <a:buNone/>
            </a:pPr>
            <a:r>
              <a:rPr lang="en-US" sz="100">
                <a:effectLst/>
              </a:rPr>
              <a:t> </a:t>
            </a:r>
            <a:endParaRPr lang="en-US"/>
          </a:p>
        </p:txBody>
      </p:sp>
      <p:sp>
        <p:nvSpPr>
          <p:cNvPr id="176578" name="Rectangle 176577">
            <a:extLst>
              <a:ext uri="{FF2B5EF4-FFF2-40B4-BE49-F238E27FC236}">
                <a16:creationId xmlns:a16="http://schemas.microsoft.com/office/drawing/2014/main" id="{BFC831A1-A4B4-8D6E-C8C2-18B3F091309B}"/>
              </a:ext>
            </a:extLst>
          </p:cNvPr>
          <p:cNvSpPr/>
          <p:nvPr/>
        </p:nvSpPr>
        <p:spPr>
          <a:xfrm>
            <a:off x="6221000" y="5453004"/>
            <a:ext cx="5361400" cy="976996"/>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92" name="Rectangle 176691">
            <a:extLst>
              <a:ext uri="{FF2B5EF4-FFF2-40B4-BE49-F238E27FC236}">
                <a16:creationId xmlns:a16="http://schemas.microsoft.com/office/drawing/2014/main" id="{4654E5F1-0089-F55E-602D-EBB8CFE18CD6}"/>
              </a:ext>
            </a:extLst>
          </p:cNvPr>
          <p:cNvSpPr/>
          <p:nvPr/>
        </p:nvSpPr>
        <p:spPr>
          <a:xfrm>
            <a:off x="6391000" y="5513004"/>
            <a:ext cx="5021400"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a:solidFill>
                  <a:srgbClr val="FFFFFF"/>
                </a:solidFill>
                <a:effectLst/>
                <a:latin typeface="Segoe UI" panose="020B0502040204020203" pitchFamily="34" charset="0"/>
              </a:rPr>
              <a:t>✓  Replay guard on purchase order number</a:t>
            </a:r>
          </a:p>
          <a:p>
            <a:pPr algn="l">
              <a:buNone/>
            </a:pPr>
            <a:r>
              <a:rPr lang="en-US" sz="100">
                <a:effectLst/>
              </a:rPr>
              <a:t> </a:t>
            </a:r>
            <a:endParaRPr lang="en-US"/>
          </a:p>
        </p:txBody>
      </p:sp>
    </p:spTree>
    <p:extLst>
      <p:ext uri="{BB962C8B-B14F-4D97-AF65-F5344CB8AC3E}">
        <p14:creationId xmlns:p14="http://schemas.microsoft.com/office/powerpoint/2010/main" val="18558158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76807" name="Rectangle: Rounded Corners 176806">
            <a:extLst>
              <a:ext uri="{FF2B5EF4-FFF2-40B4-BE49-F238E27FC236}">
                <a16:creationId xmlns:a16="http://schemas.microsoft.com/office/drawing/2014/main" id="{C0EAD21A-5662-94CE-FEB9-201835F75CFB}"/>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76923" name="Rectangle: Rounded Corners 176922">
            <a:extLst>
              <a:ext uri="{FF2B5EF4-FFF2-40B4-BE49-F238E27FC236}">
                <a16:creationId xmlns:a16="http://schemas.microsoft.com/office/drawing/2014/main" id="{EE38E3AF-5CF6-BB77-8F9A-189857D00886}"/>
              </a:ext>
            </a:extLst>
          </p:cNvPr>
          <p:cNvSpPr/>
          <p:nvPr/>
        </p:nvSpPr>
        <p:spPr>
          <a:xfrm>
            <a:off x="2176014" y="400000"/>
            <a:ext cx="2805937" cy="340000"/>
          </a:xfrm>
          <a:prstGeom prst="round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LAB 5 · STEPS 7–9 OF 9</a:t>
            </a:r>
          </a:p>
          <a:p>
            <a:pPr algn="ctr">
              <a:buNone/>
            </a:pPr>
            <a:r>
              <a:rPr lang="en-US" sz="100">
                <a:effectLst/>
              </a:rPr>
              <a:t> </a:t>
            </a:r>
            <a:endParaRPr lang="en-US"/>
          </a:p>
        </p:txBody>
      </p:sp>
      <p:sp>
        <p:nvSpPr>
          <p:cNvPr id="177040" name="Rectangle 177039">
            <a:extLst>
              <a:ext uri="{FF2B5EF4-FFF2-40B4-BE49-F238E27FC236}">
                <a16:creationId xmlns:a16="http://schemas.microsoft.com/office/drawing/2014/main" id="{9F1E4B36-3DFD-2595-A184-0B81493FEEAA}"/>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Build the governed recovery flow</a:t>
            </a:r>
          </a:p>
          <a:p>
            <a:pPr algn="l">
              <a:buNone/>
            </a:pPr>
            <a:r>
              <a:rPr lang="en-US" sz="100">
                <a:effectLst/>
              </a:rPr>
              <a:t> </a:t>
            </a:r>
            <a:endParaRPr lang="en-US"/>
          </a:p>
        </p:txBody>
      </p:sp>
      <p:sp>
        <p:nvSpPr>
          <p:cNvPr id="177158" name="Rectangle 177157">
            <a:extLst>
              <a:ext uri="{FF2B5EF4-FFF2-40B4-BE49-F238E27FC236}">
                <a16:creationId xmlns:a16="http://schemas.microsoft.com/office/drawing/2014/main" id="{F5DF8145-67EF-9863-985E-DB02A55A6671}"/>
              </a:ext>
            </a:extLst>
          </p:cNvPr>
          <p:cNvSpPr/>
          <p:nvPr/>
        </p:nvSpPr>
        <p:spPr>
          <a:xfrm>
            <a:off x="609600" y="1661951"/>
            <a:ext cx="3490933"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77" name="Rectangle: Rounded Corners 177276">
            <a:extLst>
              <a:ext uri="{FF2B5EF4-FFF2-40B4-BE49-F238E27FC236}">
                <a16:creationId xmlns:a16="http://schemas.microsoft.com/office/drawing/2014/main" id="{0F71F895-7A74-1C4D-AA6E-A5B319FAFFAC}"/>
              </a:ext>
            </a:extLst>
          </p:cNvPr>
          <p:cNvSpPr/>
          <p:nvPr/>
        </p:nvSpPr>
        <p:spPr>
          <a:xfrm>
            <a:off x="779600"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7</a:t>
            </a:r>
          </a:p>
          <a:p>
            <a:pPr algn="ctr">
              <a:buNone/>
            </a:pPr>
            <a:r>
              <a:rPr lang="en-US" sz="100">
                <a:effectLst/>
              </a:rPr>
              <a:t> </a:t>
            </a:r>
            <a:endParaRPr lang="en-US"/>
          </a:p>
        </p:txBody>
      </p:sp>
      <p:sp>
        <p:nvSpPr>
          <p:cNvPr id="177397" name="Rectangle 177396">
            <a:extLst>
              <a:ext uri="{FF2B5EF4-FFF2-40B4-BE49-F238E27FC236}">
                <a16:creationId xmlns:a16="http://schemas.microsoft.com/office/drawing/2014/main" id="{B7E1CB2E-09C0-4097-F1F7-DE97766C7FD8}"/>
              </a:ext>
            </a:extLst>
          </p:cNvPr>
          <p:cNvSpPr/>
          <p:nvPr/>
        </p:nvSpPr>
        <p:spPr>
          <a:xfrm>
            <a:off x="1489600" y="1831951"/>
            <a:ext cx="2440933"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Call the Carrier agent</a:t>
            </a:r>
          </a:p>
          <a:p>
            <a:pPr algn="l">
              <a:buNone/>
            </a:pPr>
            <a:r>
              <a:rPr lang="en-US" sz="100">
                <a:effectLst/>
              </a:rPr>
              <a:t> </a:t>
            </a:r>
            <a:endParaRPr lang="en-US"/>
          </a:p>
        </p:txBody>
      </p:sp>
      <p:sp>
        <p:nvSpPr>
          <p:cNvPr id="177518" name="Rectangle 177517">
            <a:extLst>
              <a:ext uri="{FF2B5EF4-FFF2-40B4-BE49-F238E27FC236}">
                <a16:creationId xmlns:a16="http://schemas.microsoft.com/office/drawing/2014/main" id="{4EC8A426-CE7C-28BB-5DB7-2B035797ADAD}"/>
              </a:ext>
            </a:extLst>
          </p:cNvPr>
          <p:cNvSpPr/>
          <p:nvPr/>
        </p:nvSpPr>
        <p:spPr>
          <a:xfrm>
            <a:off x="779600" y="2808947"/>
            <a:ext cx="315093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Run the Invoke Carrier Operations child flow with a stable operation key</a:t>
            </a:r>
          </a:p>
          <a:p>
            <a:pPr algn="l">
              <a:buNone/>
            </a:pPr>
            <a:r>
              <a:rPr lang="en-US" sz="100">
                <a:effectLst/>
              </a:rPr>
              <a:t> </a:t>
            </a:r>
            <a:endParaRPr lang="en-US"/>
          </a:p>
        </p:txBody>
      </p:sp>
      <p:sp>
        <p:nvSpPr>
          <p:cNvPr id="177640" name="Rectangle 177639">
            <a:extLst>
              <a:ext uri="{FF2B5EF4-FFF2-40B4-BE49-F238E27FC236}">
                <a16:creationId xmlns:a16="http://schemas.microsoft.com/office/drawing/2014/main" id="{D7D22BEC-70CB-70C6-E142-E1904D230A99}"/>
              </a:ext>
            </a:extLst>
          </p:cNvPr>
          <p:cNvSpPr/>
          <p:nvPr/>
        </p:nvSpPr>
        <p:spPr>
          <a:xfrm>
            <a:off x="609600" y="5522600"/>
            <a:ext cx="3490933" cy="907400"/>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63" name="Rectangle 177762">
            <a:extLst>
              <a:ext uri="{FF2B5EF4-FFF2-40B4-BE49-F238E27FC236}">
                <a16:creationId xmlns:a16="http://schemas.microsoft.com/office/drawing/2014/main" id="{0585AE56-3274-4FC2-E49A-39C87BD8E3C3}"/>
              </a:ext>
            </a:extLst>
          </p:cNvPr>
          <p:cNvSpPr/>
          <p:nvPr/>
        </p:nvSpPr>
        <p:spPr>
          <a:xfrm>
            <a:off x="779600" y="5737540"/>
            <a:ext cx="3150933"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  Child flow configured</a:t>
            </a:r>
          </a:p>
          <a:p>
            <a:pPr algn="l">
              <a:buNone/>
            </a:pPr>
            <a:r>
              <a:rPr lang="en-US" sz="100">
                <a:effectLst/>
              </a:rPr>
              <a:t> </a:t>
            </a:r>
            <a:endParaRPr lang="en-US"/>
          </a:p>
        </p:txBody>
      </p:sp>
      <p:sp>
        <p:nvSpPr>
          <p:cNvPr id="177887" name="Rectangle 177886">
            <a:extLst>
              <a:ext uri="{FF2B5EF4-FFF2-40B4-BE49-F238E27FC236}">
                <a16:creationId xmlns:a16="http://schemas.microsoft.com/office/drawing/2014/main" id="{225BAC93-EC69-4E18-053A-E97B769CEA84}"/>
              </a:ext>
            </a:extLst>
          </p:cNvPr>
          <p:cNvSpPr/>
          <p:nvPr/>
        </p:nvSpPr>
        <p:spPr>
          <a:xfrm>
            <a:off x="4350533" y="1661951"/>
            <a:ext cx="3490933"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12" name="Rectangle: Rounded Corners 178011">
            <a:extLst>
              <a:ext uri="{FF2B5EF4-FFF2-40B4-BE49-F238E27FC236}">
                <a16:creationId xmlns:a16="http://schemas.microsoft.com/office/drawing/2014/main" id="{F1A57E08-05F9-669A-4467-5F854FBE2B4D}"/>
              </a:ext>
            </a:extLst>
          </p:cNvPr>
          <p:cNvSpPr/>
          <p:nvPr/>
        </p:nvSpPr>
        <p:spPr>
          <a:xfrm>
            <a:off x="4520533"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8</a:t>
            </a:r>
          </a:p>
          <a:p>
            <a:pPr algn="ctr">
              <a:buNone/>
            </a:pPr>
            <a:r>
              <a:rPr lang="en-US" sz="100">
                <a:effectLst/>
              </a:rPr>
              <a:t> </a:t>
            </a:r>
            <a:endParaRPr lang="en-US"/>
          </a:p>
        </p:txBody>
      </p:sp>
      <p:sp>
        <p:nvSpPr>
          <p:cNvPr id="178138" name="Rectangle 178137">
            <a:extLst>
              <a:ext uri="{FF2B5EF4-FFF2-40B4-BE49-F238E27FC236}">
                <a16:creationId xmlns:a16="http://schemas.microsoft.com/office/drawing/2014/main" id="{89D40651-ECD1-E8E9-7952-AB7E07E94AB7}"/>
              </a:ext>
            </a:extLst>
          </p:cNvPr>
          <p:cNvSpPr/>
          <p:nvPr/>
        </p:nvSpPr>
        <p:spPr>
          <a:xfrm>
            <a:off x="5230533" y="1831951"/>
            <a:ext cx="2440933" cy="8569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Write evidence or fail closed</a:t>
            </a:r>
          </a:p>
          <a:p>
            <a:pPr algn="l">
              <a:buNone/>
            </a:pPr>
            <a:r>
              <a:rPr lang="en-US" sz="100">
                <a:effectLst/>
              </a:rPr>
              <a:t> </a:t>
            </a:r>
            <a:endParaRPr lang="en-US"/>
          </a:p>
        </p:txBody>
      </p:sp>
      <p:sp>
        <p:nvSpPr>
          <p:cNvPr id="178265" name="Rectangle 178264">
            <a:extLst>
              <a:ext uri="{FF2B5EF4-FFF2-40B4-BE49-F238E27FC236}">
                <a16:creationId xmlns:a16="http://schemas.microsoft.com/office/drawing/2014/main" id="{678620BE-3BC4-C1A3-F3AD-AA7064EBFFCA}"/>
              </a:ext>
            </a:extLst>
          </p:cNvPr>
          <p:cNvSpPr/>
          <p:nvPr/>
        </p:nvSpPr>
        <p:spPr>
          <a:xfrm>
            <a:off x="4520533" y="2808947"/>
            <a:ext cx="3150933" cy="1717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CP7 and resolve only for CARRIER_VERIFIED with Activity ID; else Needs Attention; handle Rejected and mismatches</a:t>
            </a:r>
          </a:p>
          <a:p>
            <a:pPr algn="l">
              <a:buNone/>
            </a:pPr>
            <a:r>
              <a:rPr lang="en-US" sz="100">
                <a:effectLst/>
              </a:rPr>
              <a:t> </a:t>
            </a:r>
            <a:endParaRPr lang="en-US"/>
          </a:p>
        </p:txBody>
      </p:sp>
      <p:sp>
        <p:nvSpPr>
          <p:cNvPr id="178393" name="Rectangle 178392">
            <a:extLst>
              <a:ext uri="{FF2B5EF4-FFF2-40B4-BE49-F238E27FC236}">
                <a16:creationId xmlns:a16="http://schemas.microsoft.com/office/drawing/2014/main" id="{CBDA6DC1-EF43-FCCB-D266-31158DB54DF1}"/>
              </a:ext>
            </a:extLst>
          </p:cNvPr>
          <p:cNvSpPr/>
          <p:nvPr/>
        </p:nvSpPr>
        <p:spPr>
          <a:xfrm>
            <a:off x="4350533" y="5522600"/>
            <a:ext cx="3490933" cy="907400"/>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22" name="Rectangle 178521">
            <a:extLst>
              <a:ext uri="{FF2B5EF4-FFF2-40B4-BE49-F238E27FC236}">
                <a16:creationId xmlns:a16="http://schemas.microsoft.com/office/drawing/2014/main" id="{8CDC4C19-8A53-809D-B205-AAAA67DDF1A6}"/>
              </a:ext>
            </a:extLst>
          </p:cNvPr>
          <p:cNvSpPr/>
          <p:nvPr/>
        </p:nvSpPr>
        <p:spPr>
          <a:xfrm>
            <a:off x="4520533" y="5582600"/>
            <a:ext cx="3150933" cy="787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  No CP7 in any false branch</a:t>
            </a:r>
          </a:p>
          <a:p>
            <a:pPr algn="l">
              <a:buNone/>
            </a:pPr>
            <a:r>
              <a:rPr lang="en-US" sz="100">
                <a:effectLst/>
              </a:rPr>
              <a:t> </a:t>
            </a:r>
            <a:endParaRPr lang="en-US"/>
          </a:p>
        </p:txBody>
      </p:sp>
      <p:sp>
        <p:nvSpPr>
          <p:cNvPr id="178652" name="Rectangle 178651">
            <a:extLst>
              <a:ext uri="{FF2B5EF4-FFF2-40B4-BE49-F238E27FC236}">
                <a16:creationId xmlns:a16="http://schemas.microsoft.com/office/drawing/2014/main" id="{59AD5B0A-BB26-2683-538E-BAA657171353}"/>
              </a:ext>
            </a:extLst>
          </p:cNvPr>
          <p:cNvSpPr/>
          <p:nvPr/>
        </p:nvSpPr>
        <p:spPr>
          <a:xfrm>
            <a:off x="8091466" y="1661951"/>
            <a:ext cx="3490933" cy="476804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83" name="Rectangle: Rounded Corners 178782">
            <a:extLst>
              <a:ext uri="{FF2B5EF4-FFF2-40B4-BE49-F238E27FC236}">
                <a16:creationId xmlns:a16="http://schemas.microsoft.com/office/drawing/2014/main" id="{F3379235-5753-4504-BBA3-0026A1A41896}"/>
              </a:ext>
            </a:extLst>
          </p:cNvPr>
          <p:cNvSpPr/>
          <p:nvPr/>
        </p:nvSpPr>
        <p:spPr>
          <a:xfrm>
            <a:off x="8261466" y="1831951"/>
            <a:ext cx="560000" cy="56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B1020"/>
                </a:solidFill>
                <a:effectLst/>
                <a:latin typeface="Segoe UI" panose="020B0502040204020203" pitchFamily="34" charset="0"/>
              </a:rPr>
              <a:t>9</a:t>
            </a:r>
          </a:p>
          <a:p>
            <a:pPr algn="ctr">
              <a:buNone/>
            </a:pPr>
            <a:r>
              <a:rPr lang="en-US" sz="100">
                <a:effectLst/>
              </a:rPr>
              <a:t> </a:t>
            </a:r>
            <a:endParaRPr lang="en-US"/>
          </a:p>
        </p:txBody>
      </p:sp>
      <p:sp>
        <p:nvSpPr>
          <p:cNvPr id="178915" name="Rectangle 178914">
            <a:extLst>
              <a:ext uri="{FF2B5EF4-FFF2-40B4-BE49-F238E27FC236}">
                <a16:creationId xmlns:a16="http://schemas.microsoft.com/office/drawing/2014/main" id="{495B5968-65AC-40AB-5729-4AF345509CCC}"/>
              </a:ext>
            </a:extLst>
          </p:cNvPr>
          <p:cNvSpPr/>
          <p:nvPr/>
        </p:nvSpPr>
        <p:spPr>
          <a:xfrm>
            <a:off x="8971466" y="1853887"/>
            <a:ext cx="2440933"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Save and publish</a:t>
            </a:r>
          </a:p>
          <a:p>
            <a:pPr algn="l">
              <a:buNone/>
            </a:pPr>
            <a:r>
              <a:rPr lang="en-US" sz="100">
                <a:effectLst/>
              </a:rPr>
              <a:t> </a:t>
            </a:r>
            <a:endParaRPr lang="en-US"/>
          </a:p>
        </p:txBody>
      </p:sp>
      <p:sp>
        <p:nvSpPr>
          <p:cNvPr id="179048" name="Rectangle 179047">
            <a:extLst>
              <a:ext uri="{FF2B5EF4-FFF2-40B4-BE49-F238E27FC236}">
                <a16:creationId xmlns:a16="http://schemas.microsoft.com/office/drawing/2014/main" id="{B79355C5-BA42-26AE-C7A9-BFA36D55D1F8}"/>
              </a:ext>
            </a:extLst>
          </p:cNvPr>
          <p:cNvSpPr/>
          <p:nvPr/>
        </p:nvSpPr>
        <p:spPr>
          <a:xfrm>
            <a:off x="8261466" y="2511951"/>
            <a:ext cx="3150933"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Do not approve</a:t>
            </a:r>
          </a:p>
          <a:p>
            <a:pPr algn="l">
              <a:buNone/>
            </a:pPr>
            <a:r>
              <a:rPr lang="en-US" sz="100">
                <a:effectLst/>
              </a:rPr>
              <a:t> </a:t>
            </a:r>
            <a:endParaRPr lang="en-US"/>
          </a:p>
        </p:txBody>
      </p:sp>
      <p:sp>
        <p:nvSpPr>
          <p:cNvPr id="179182" name="Rectangle 179181">
            <a:extLst>
              <a:ext uri="{FF2B5EF4-FFF2-40B4-BE49-F238E27FC236}">
                <a16:creationId xmlns:a16="http://schemas.microsoft.com/office/drawing/2014/main" id="{53034EF7-FCFC-6A80-CFC9-36D335F14BF4}"/>
              </a:ext>
            </a:extLst>
          </p:cNvPr>
          <p:cNvSpPr/>
          <p:nvPr/>
        </p:nvSpPr>
        <p:spPr>
          <a:xfrm>
            <a:off x="8091466" y="5522600"/>
            <a:ext cx="3490933" cy="907400"/>
          </a:xfrm>
          <a:prstGeom prst="rect">
            <a:avLst/>
          </a:prstGeom>
          <a:solidFill>
            <a:srgbClr val="F19D19">
              <a:alpha val="2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17" name="Rectangle 179316">
            <a:extLst>
              <a:ext uri="{FF2B5EF4-FFF2-40B4-BE49-F238E27FC236}">
                <a16:creationId xmlns:a16="http://schemas.microsoft.com/office/drawing/2014/main" id="{87F426BD-DC39-9733-B8E0-DFDADFA530BE}"/>
              </a:ext>
            </a:extLst>
          </p:cNvPr>
          <p:cNvSpPr/>
          <p:nvPr/>
        </p:nvSpPr>
        <p:spPr>
          <a:xfrm>
            <a:off x="8261466" y="5582600"/>
            <a:ext cx="3150933" cy="787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  Both flows in the solution and on</a:t>
            </a:r>
          </a:p>
          <a:p>
            <a:pPr algn="l">
              <a:buNone/>
            </a:pPr>
            <a:r>
              <a:rPr lang="en-US" sz="100">
                <a:effectLst/>
              </a:rPr>
              <a:t> </a:t>
            </a:r>
            <a:endParaRPr lang="en-US"/>
          </a:p>
        </p:txBody>
      </p:sp>
    </p:spTree>
    <p:extLst>
      <p:ext uri="{BB962C8B-B14F-4D97-AF65-F5344CB8AC3E}">
        <p14:creationId xmlns:p14="http://schemas.microsoft.com/office/powerpoint/2010/main" val="19422242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79453" name="Rectangle: Rounded Corners 179452">
            <a:extLst>
              <a:ext uri="{FF2B5EF4-FFF2-40B4-BE49-F238E27FC236}">
                <a16:creationId xmlns:a16="http://schemas.microsoft.com/office/drawing/2014/main" id="{8B9E994F-818F-3F9F-8131-1421C0172088}"/>
              </a:ext>
            </a:extLst>
          </p:cNvPr>
          <p:cNvSpPr/>
          <p:nvPr/>
        </p:nvSpPr>
        <p:spPr>
          <a:xfrm>
            <a:off x="609600" y="400000"/>
            <a:ext cx="1446414" cy="340000"/>
          </a:xfrm>
          <a:prstGeom prst="round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5</a:t>
            </a:r>
          </a:p>
          <a:p>
            <a:pPr algn="ctr">
              <a:buNone/>
            </a:pPr>
            <a:r>
              <a:rPr lang="en-US" sz="100">
                <a:effectLst/>
              </a:rPr>
              <a:t> </a:t>
            </a:r>
            <a:endParaRPr lang="en-US"/>
          </a:p>
        </p:txBody>
      </p:sp>
      <p:sp>
        <p:nvSpPr>
          <p:cNvPr id="179590" name="Rectangle 179589">
            <a:extLst>
              <a:ext uri="{FF2B5EF4-FFF2-40B4-BE49-F238E27FC236}">
                <a16:creationId xmlns:a16="http://schemas.microsoft.com/office/drawing/2014/main" id="{2CFA7A8B-81BF-468B-991F-CEFE401174FB}"/>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Module 5 recap: governed, evidenced execution</a:t>
            </a:r>
          </a:p>
          <a:p>
            <a:pPr algn="l">
              <a:buNone/>
            </a:pPr>
            <a:r>
              <a:rPr lang="en-US" sz="100">
                <a:effectLst/>
              </a:rPr>
              <a:t> </a:t>
            </a:r>
            <a:endParaRPr lang="en-US"/>
          </a:p>
        </p:txBody>
      </p:sp>
      <p:sp>
        <p:nvSpPr>
          <p:cNvPr id="179728" name="Rectangle 179727">
            <a:extLst>
              <a:ext uri="{FF2B5EF4-FFF2-40B4-BE49-F238E27FC236}">
                <a16:creationId xmlns:a16="http://schemas.microsoft.com/office/drawing/2014/main" id="{5B5E77CF-5261-7A83-43E3-7F4B237C7A43}"/>
              </a:ext>
            </a:extLst>
          </p:cNvPr>
          <p:cNvSpPr/>
          <p:nvPr/>
        </p:nvSpPr>
        <p:spPr>
          <a:xfrm>
            <a:off x="609600" y="166195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BUILT</a:t>
            </a:r>
          </a:p>
          <a:p>
            <a:pPr algn="l">
              <a:buNone/>
            </a:pPr>
            <a:r>
              <a:rPr lang="en-US" sz="2000">
                <a:solidFill>
                  <a:srgbClr val="FFFFFF"/>
                </a:solidFill>
                <a:effectLst/>
                <a:latin typeface="Segoe UI" panose="020B0502040204020203" pitchFamily="34" charset="0"/>
              </a:rPr>
              <a:t>Carrier Operations Agent, Register Shipping Contact, Approved Recovery Execution flow</a:t>
            </a:r>
            <a:endParaRPr lang="en-US"/>
          </a:p>
        </p:txBody>
      </p:sp>
      <p:sp>
        <p:nvSpPr>
          <p:cNvPr id="179867" name="Rectangle 179866">
            <a:extLst>
              <a:ext uri="{FF2B5EF4-FFF2-40B4-BE49-F238E27FC236}">
                <a16:creationId xmlns:a16="http://schemas.microsoft.com/office/drawing/2014/main" id="{1DD14519-03E7-79D4-AB68-CB3C381C1938}"/>
              </a:ext>
            </a:extLst>
          </p:cNvPr>
          <p:cNvSpPr/>
          <p:nvPr/>
        </p:nvSpPr>
        <p:spPr>
          <a:xfrm>
            <a:off x="609600" y="2866266"/>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CAPABILITIES USED</a:t>
            </a:r>
          </a:p>
          <a:p>
            <a:pPr algn="l">
              <a:buNone/>
            </a:pPr>
            <a:r>
              <a:rPr lang="en-US" sz="2000">
                <a:solidFill>
                  <a:srgbClr val="FFFFFF"/>
                </a:solidFill>
                <a:effectLst/>
                <a:latin typeface="Segoe UI" panose="020B0502040204020203" pitchFamily="34" charset="0"/>
              </a:rPr>
              <a:t>Computer Use, Execute Agent and wait, child flows, choice-based guards, replay protection</a:t>
            </a:r>
            <a:endParaRPr lang="en-US"/>
          </a:p>
        </p:txBody>
      </p:sp>
      <p:sp>
        <p:nvSpPr>
          <p:cNvPr id="180007" name="Rectangle 180006">
            <a:extLst>
              <a:ext uri="{FF2B5EF4-FFF2-40B4-BE49-F238E27FC236}">
                <a16:creationId xmlns:a16="http://schemas.microsoft.com/office/drawing/2014/main" id="{4ACA6FEB-B4AF-2F8B-FB0E-5894973E398E}"/>
              </a:ext>
            </a:extLst>
          </p:cNvPr>
          <p:cNvSpPr/>
          <p:nvPr/>
        </p:nvSpPr>
        <p:spPr>
          <a:xfrm>
            <a:off x="609600" y="4070581"/>
            <a:ext cx="6300000" cy="100431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BUSINESS VALUE</a:t>
            </a:r>
          </a:p>
          <a:p>
            <a:pPr algn="l">
              <a:buNone/>
            </a:pPr>
            <a:r>
              <a:rPr lang="en-US" sz="2000">
                <a:solidFill>
                  <a:srgbClr val="FFFFFF"/>
                </a:solidFill>
                <a:effectLst/>
                <a:latin typeface="Segoe UI" panose="020B0502040204020203" pitchFamily="34" charset="0"/>
              </a:rPr>
              <a:t>Approved recovery executes once, with proof — or escalates clearly</a:t>
            </a:r>
            <a:endParaRPr lang="en-US"/>
          </a:p>
        </p:txBody>
      </p:sp>
      <p:sp>
        <p:nvSpPr>
          <p:cNvPr id="180148" name="Rectangle 180147">
            <a:extLst>
              <a:ext uri="{FF2B5EF4-FFF2-40B4-BE49-F238E27FC236}">
                <a16:creationId xmlns:a16="http://schemas.microsoft.com/office/drawing/2014/main" id="{ECA5C42B-003F-966B-7EBD-D7A2B02784AC}"/>
              </a:ext>
            </a:extLst>
          </p:cNvPr>
          <p:cNvSpPr/>
          <p:nvPr/>
        </p:nvSpPr>
        <p:spPr>
          <a:xfrm>
            <a:off x="7309600" y="1661951"/>
            <a:ext cx="4272800" cy="1864075"/>
          </a:xfrm>
          <a:prstGeom prst="rect">
            <a:avLst/>
          </a:prstGeom>
          <a:solidFill>
            <a:srgbClr val="FFFFFF">
              <a:alpha val="12000"/>
            </a:srgbClr>
          </a:solidFill>
          <a:ln w="1905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90" name="Rectangle 180289">
            <a:extLst>
              <a:ext uri="{FF2B5EF4-FFF2-40B4-BE49-F238E27FC236}">
                <a16:creationId xmlns:a16="http://schemas.microsoft.com/office/drawing/2014/main" id="{13B7EC80-51D7-CF4B-735C-6DE2C8DF3094}"/>
              </a:ext>
            </a:extLst>
          </p:cNvPr>
          <p:cNvSpPr/>
          <p:nvPr/>
        </p:nvSpPr>
        <p:spPr>
          <a:xfrm>
            <a:off x="7429600" y="1781951"/>
            <a:ext cx="4032800" cy="162407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F19D19"/>
                </a:solidFill>
                <a:effectLst/>
                <a:latin typeface="Segoe UI" panose="020B0502040204020203" pitchFamily="34" charset="0"/>
              </a:rPr>
              <a:t>VALIDATE</a:t>
            </a:r>
          </a:p>
          <a:p>
            <a:pPr algn="l">
              <a:buNone/>
            </a:pPr>
            <a:r>
              <a:rPr lang="en-US" sz="2000">
                <a:solidFill>
                  <a:srgbClr val="FFFFFF"/>
                </a:solidFill>
                <a:effectLst/>
                <a:latin typeface="Segoe UI" panose="020B0502040204020203" pitchFamily="34" charset="0"/>
              </a:rPr>
              <a:t>✓  One direct test with replay</a:t>
            </a:r>
          </a:p>
          <a:p>
            <a:pPr algn="l">
              <a:buNone/>
            </a:pPr>
            <a:r>
              <a:rPr lang="en-US" sz="2000">
                <a:solidFill>
                  <a:srgbClr val="FFFFFF"/>
                </a:solidFill>
                <a:effectLst/>
                <a:latin typeface="Segoe UI" panose="020B0502040204020203" pitchFamily="34" charset="0"/>
              </a:rPr>
              <a:t>✓  Flow published with all guards</a:t>
            </a:r>
          </a:p>
          <a:p>
            <a:pPr algn="l">
              <a:buNone/>
            </a:pPr>
            <a:r>
              <a:rPr lang="en-US" sz="2000">
                <a:solidFill>
                  <a:srgbClr val="FFFFFF"/>
                </a:solidFill>
                <a:effectLst/>
                <a:latin typeface="Segoe UI" panose="020B0502040204020203" pitchFamily="34" charset="0"/>
              </a:rPr>
              <a:t>✓  Recovery Decision still Pending</a:t>
            </a:r>
            <a:endParaRPr lang="en-US"/>
          </a:p>
        </p:txBody>
      </p:sp>
      <p:sp>
        <p:nvSpPr>
          <p:cNvPr id="180433" name="Rectangle 180432">
            <a:extLst>
              <a:ext uri="{FF2B5EF4-FFF2-40B4-BE49-F238E27FC236}">
                <a16:creationId xmlns:a16="http://schemas.microsoft.com/office/drawing/2014/main" id="{436C30D2-2AF9-3FD1-CF8D-287271F4BB73}"/>
              </a:ext>
            </a:extLst>
          </p:cNvPr>
          <p:cNvSpPr/>
          <p:nvPr/>
        </p:nvSpPr>
        <p:spPr>
          <a:xfrm>
            <a:off x="609600" y="5374896"/>
            <a:ext cx="10972800" cy="947400"/>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577" name="Rectangle: Rounded Corners 180576">
            <a:extLst>
              <a:ext uri="{FF2B5EF4-FFF2-40B4-BE49-F238E27FC236}">
                <a16:creationId xmlns:a16="http://schemas.microsoft.com/office/drawing/2014/main" id="{3D315BF8-AEFF-3AEF-42A7-33E03DA4FF55}"/>
              </a:ext>
            </a:extLst>
          </p:cNvPr>
          <p:cNvSpPr/>
          <p:nvPr/>
        </p:nvSpPr>
        <p:spPr>
          <a:xfrm>
            <a:off x="759600" y="5678596"/>
            <a:ext cx="2192999"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NEXT · MODULE 6</a:t>
            </a:r>
          </a:p>
          <a:p>
            <a:pPr algn="ctr">
              <a:buNone/>
            </a:pPr>
            <a:r>
              <a:rPr lang="en-US" sz="100">
                <a:effectLst/>
              </a:rPr>
              <a:t> </a:t>
            </a:r>
            <a:endParaRPr lang="en-US"/>
          </a:p>
        </p:txBody>
      </p:sp>
      <p:sp>
        <p:nvSpPr>
          <p:cNvPr id="180722" name="Rectangle 180721">
            <a:extLst>
              <a:ext uri="{FF2B5EF4-FFF2-40B4-BE49-F238E27FC236}">
                <a16:creationId xmlns:a16="http://schemas.microsoft.com/office/drawing/2014/main" id="{BB5A52D7-C401-B22B-1CE7-E2B4C8D1FF78}"/>
              </a:ext>
            </a:extLst>
          </p:cNvPr>
          <p:cNvSpPr/>
          <p:nvPr/>
        </p:nvSpPr>
        <p:spPr>
          <a:xfrm>
            <a:off x="3102599" y="5454896"/>
            <a:ext cx="8329801" cy="787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Module 6 makes the single approval, watches it run, then deploys to TARGET</a:t>
            </a:r>
          </a:p>
          <a:p>
            <a:pPr algn="l">
              <a:buNone/>
            </a:pPr>
            <a:r>
              <a:rPr lang="en-US" sz="100">
                <a:effectLst/>
              </a:rPr>
              <a:t> </a:t>
            </a:r>
            <a:endParaRPr lang="en-US"/>
          </a:p>
        </p:txBody>
      </p:sp>
    </p:spTree>
    <p:extLst>
      <p:ext uri="{BB962C8B-B14F-4D97-AF65-F5344CB8AC3E}">
        <p14:creationId xmlns:p14="http://schemas.microsoft.com/office/powerpoint/2010/main" val="38039651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23551" name="Rectangle: Rounded Corners 223550">
            <a:extLst>
              <a:ext uri="{FF2B5EF4-FFF2-40B4-BE49-F238E27FC236}">
                <a16:creationId xmlns:a16="http://schemas.microsoft.com/office/drawing/2014/main" id="{8879546D-2158-C3C3-772E-76B71FCC68A0}"/>
              </a:ext>
            </a:extLst>
          </p:cNvPr>
          <p:cNvSpPr/>
          <p:nvPr/>
        </p:nvSpPr>
        <p:spPr>
          <a:xfrm>
            <a:off x="609600" y="400000"/>
            <a:ext cx="1647295"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TRANSITION</a:t>
            </a:r>
          </a:p>
          <a:p>
            <a:pPr algn="ctr">
              <a:buNone/>
            </a:pPr>
            <a:r>
              <a:rPr lang="en-US" sz="100">
                <a:effectLst/>
              </a:rPr>
              <a:t> </a:t>
            </a:r>
            <a:endParaRPr lang="en-US"/>
          </a:p>
        </p:txBody>
      </p:sp>
      <p:sp>
        <p:nvSpPr>
          <p:cNvPr id="223646" name="Rectangle 223645">
            <a:extLst>
              <a:ext uri="{FF2B5EF4-FFF2-40B4-BE49-F238E27FC236}">
                <a16:creationId xmlns:a16="http://schemas.microsoft.com/office/drawing/2014/main" id="{17A4B1C9-E947-665A-2927-EBB7DD1934B8}"/>
              </a:ext>
            </a:extLst>
          </p:cNvPr>
          <p:cNvSpPr/>
          <p:nvPr/>
        </p:nvSpPr>
        <p:spPr>
          <a:xfrm>
            <a:off x="609600" y="1450000"/>
            <a:ext cx="1097280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7200" b="1">
                <a:solidFill>
                  <a:srgbClr val="FFFFFF"/>
                </a:solidFill>
                <a:effectLst/>
                <a:latin typeface="Segoe UI" panose="020B0502040204020203" pitchFamily="34" charset="0"/>
              </a:rPr>
              <a:t>Break</a:t>
            </a:r>
          </a:p>
          <a:p>
            <a:pPr algn="ctr">
              <a:buNone/>
            </a:pPr>
            <a:r>
              <a:rPr lang="en-US" sz="100">
                <a:effectLst/>
              </a:rPr>
              <a:t> </a:t>
            </a:r>
            <a:endParaRPr lang="en-US"/>
          </a:p>
        </p:txBody>
      </p:sp>
      <p:sp>
        <p:nvSpPr>
          <p:cNvPr id="223742" name="Rectangle 223741">
            <a:extLst>
              <a:ext uri="{FF2B5EF4-FFF2-40B4-BE49-F238E27FC236}">
                <a16:creationId xmlns:a16="http://schemas.microsoft.com/office/drawing/2014/main" id="{27A42DB8-9EEE-8A49-3CC3-E78CE2164FCA}"/>
              </a:ext>
            </a:extLst>
          </p:cNvPr>
          <p:cNvSpPr/>
          <p:nvPr/>
        </p:nvSpPr>
        <p:spPr>
          <a:xfrm>
            <a:off x="609600" y="3081328"/>
            <a:ext cx="109728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spc="300">
                <a:solidFill>
                  <a:srgbClr val="D6D2E8"/>
                </a:solidFill>
                <a:effectLst/>
                <a:latin typeface="Segoe UI" panose="020B0502040204020203" pitchFamily="34" charset="0"/>
              </a:rPr>
              <a:t>UP NEXT</a:t>
            </a:r>
          </a:p>
          <a:p>
            <a:pPr algn="ctr">
              <a:buNone/>
            </a:pPr>
            <a:r>
              <a:rPr lang="en-US" sz="100">
                <a:effectLst/>
              </a:rPr>
              <a:t> </a:t>
            </a:r>
            <a:endParaRPr lang="en-US"/>
          </a:p>
        </p:txBody>
      </p:sp>
      <p:sp>
        <p:nvSpPr>
          <p:cNvPr id="223839" name="Rectangle: Rounded Corners 223838">
            <a:extLst>
              <a:ext uri="{FF2B5EF4-FFF2-40B4-BE49-F238E27FC236}">
                <a16:creationId xmlns:a16="http://schemas.microsoft.com/office/drawing/2014/main" id="{79391208-06D8-7E69-CA5C-0AF32E4B658F}"/>
              </a:ext>
            </a:extLst>
          </p:cNvPr>
          <p:cNvSpPr/>
          <p:nvPr/>
        </p:nvSpPr>
        <p:spPr>
          <a:xfrm>
            <a:off x="2930510" y="3680240"/>
            <a:ext cx="1573719" cy="40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23937" name="Rectangle 223936">
            <a:extLst>
              <a:ext uri="{FF2B5EF4-FFF2-40B4-BE49-F238E27FC236}">
                <a16:creationId xmlns:a16="http://schemas.microsoft.com/office/drawing/2014/main" id="{FD087705-DBDE-20DE-5E6E-0123DC48F08D}"/>
              </a:ext>
            </a:extLst>
          </p:cNvPr>
          <p:cNvSpPr/>
          <p:nvPr/>
        </p:nvSpPr>
        <p:spPr>
          <a:xfrm>
            <a:off x="4704229" y="3564265"/>
            <a:ext cx="4557261"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800" b="1">
                <a:solidFill>
                  <a:srgbClr val="FFFFFF"/>
                </a:solidFill>
                <a:latin typeface="Segoe UI"/>
                <a:cs typeface="Segoe UI"/>
              </a:rPr>
              <a:t>Deploy the Control Tower</a:t>
            </a:r>
            <a:endParaRPr lang="en-US"/>
          </a:p>
        </p:txBody>
      </p:sp>
      <p:sp>
        <p:nvSpPr>
          <p:cNvPr id="224036" name="Arrow: Pentagon 224035">
            <a:extLst>
              <a:ext uri="{FF2B5EF4-FFF2-40B4-BE49-F238E27FC236}">
                <a16:creationId xmlns:a16="http://schemas.microsoft.com/office/drawing/2014/main" id="{DE38118A-433A-3E8C-6D0D-CBFB114F4C2E}"/>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224136" name="Arrow: Chevron 224135">
            <a:extLst>
              <a:ext uri="{FF2B5EF4-FFF2-40B4-BE49-F238E27FC236}">
                <a16:creationId xmlns:a16="http://schemas.microsoft.com/office/drawing/2014/main" id="{15D12F3A-BB2F-3EFD-7317-DEB2E7719EEF}"/>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224237" name="Arrow: Chevron 224236">
            <a:extLst>
              <a:ext uri="{FF2B5EF4-FFF2-40B4-BE49-F238E27FC236}">
                <a16:creationId xmlns:a16="http://schemas.microsoft.com/office/drawing/2014/main" id="{7D75A965-733D-5DD4-188F-D762D06DE588}"/>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224339" name="Arrow: Chevron 224338">
            <a:extLst>
              <a:ext uri="{FF2B5EF4-FFF2-40B4-BE49-F238E27FC236}">
                <a16:creationId xmlns:a16="http://schemas.microsoft.com/office/drawing/2014/main" id="{8E00214A-CF2F-B3A5-1E23-13B8847F447E}"/>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224442" name="Arrow: Chevron 224441">
            <a:extLst>
              <a:ext uri="{FF2B5EF4-FFF2-40B4-BE49-F238E27FC236}">
                <a16:creationId xmlns:a16="http://schemas.microsoft.com/office/drawing/2014/main" id="{17B35919-3107-7BB0-D7B8-DE582F7D5407}"/>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224546" name="Arrow: Chevron 224545">
            <a:extLst>
              <a:ext uri="{FF2B5EF4-FFF2-40B4-BE49-F238E27FC236}">
                <a16:creationId xmlns:a16="http://schemas.microsoft.com/office/drawing/2014/main" id="{21E7C62D-533E-C698-E7D4-BB8B92FCAE4A}"/>
              </a:ext>
            </a:extLst>
          </p:cNvPr>
          <p:cNvSpPr/>
          <p:nvPr/>
        </p:nvSpPr>
        <p:spPr>
          <a:xfrm>
            <a:off x="9653600" y="5250000"/>
            <a:ext cx="1928800" cy="600000"/>
          </a:xfrm>
          <a:prstGeom prst="chevron">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extLst>
      <p:ext uri="{BB962C8B-B14F-4D97-AF65-F5344CB8AC3E}">
        <p14:creationId xmlns:p14="http://schemas.microsoft.com/office/powerpoint/2010/main" val="25178081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82540" name="Rectangle: Rounded Corners 182539">
            <a:extLst>
              <a:ext uri="{FF2B5EF4-FFF2-40B4-BE49-F238E27FC236}">
                <a16:creationId xmlns:a16="http://schemas.microsoft.com/office/drawing/2014/main" id="{2B39277D-1D0D-9F57-6FA5-878F2D46A171}"/>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182698" name="Rectangle 182697">
            <a:extLst>
              <a:ext uri="{FF2B5EF4-FFF2-40B4-BE49-F238E27FC236}">
                <a16:creationId xmlns:a16="http://schemas.microsoft.com/office/drawing/2014/main" id="{DFB729F0-CB4B-8A95-BF7D-A14DE8C3D4C6}"/>
              </a:ext>
            </a:extLst>
          </p:cNvPr>
          <p:cNvSpPr/>
          <p:nvPr/>
        </p:nvSpPr>
        <p:spPr>
          <a:xfrm>
            <a:off x="609600" y="1500000"/>
            <a:ext cx="2600000" cy="2600000"/>
          </a:xfrm>
          <a:prstGeom prst="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5000" b="1">
                <a:solidFill>
                  <a:srgbClr val="0B1020"/>
                </a:solidFill>
                <a:effectLst/>
                <a:latin typeface="Segoe UI" panose="020B0502040204020203" pitchFamily="34" charset="0"/>
              </a:rPr>
              <a:t>6</a:t>
            </a:r>
          </a:p>
          <a:p>
            <a:pPr algn="ctr">
              <a:buNone/>
            </a:pPr>
            <a:r>
              <a:rPr lang="en-US" sz="100">
                <a:effectLst/>
              </a:rPr>
              <a:t> </a:t>
            </a:r>
            <a:endParaRPr lang="en-US"/>
          </a:p>
        </p:txBody>
      </p:sp>
      <p:sp>
        <p:nvSpPr>
          <p:cNvPr id="182857" name="Rectangle 182856">
            <a:extLst>
              <a:ext uri="{FF2B5EF4-FFF2-40B4-BE49-F238E27FC236}">
                <a16:creationId xmlns:a16="http://schemas.microsoft.com/office/drawing/2014/main" id="{04515315-558C-5F38-20C1-2E477D6A0893}"/>
              </a:ext>
            </a:extLst>
          </p:cNvPr>
          <p:cNvSpPr/>
          <p:nvPr/>
        </p:nvSpPr>
        <p:spPr>
          <a:xfrm>
            <a:off x="3659600" y="1534560"/>
            <a:ext cx="7922800" cy="477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300">
                <a:solidFill>
                  <a:srgbClr val="82EBA6"/>
                </a:solidFill>
                <a:effectLst/>
                <a:latin typeface="Segoe UI" panose="020B0502040204020203" pitchFamily="34" charset="0"/>
              </a:rPr>
              <a:t>MODULE 6</a:t>
            </a:r>
          </a:p>
          <a:p>
            <a:pPr algn="l">
              <a:buNone/>
            </a:pPr>
            <a:r>
              <a:rPr lang="en-US" sz="100">
                <a:effectLst/>
              </a:rPr>
              <a:t> </a:t>
            </a:r>
            <a:endParaRPr lang="en-US"/>
          </a:p>
        </p:txBody>
      </p:sp>
      <p:sp>
        <p:nvSpPr>
          <p:cNvPr id="183017" name="M6.opener-title">
            <a:extLst>
              <a:ext uri="{FF2B5EF4-FFF2-40B4-BE49-F238E27FC236}">
                <a16:creationId xmlns:a16="http://schemas.microsoft.com/office/drawing/2014/main" id="{754E794C-D042-A45C-EDC7-038EB9B61107}"/>
              </a:ext>
            </a:extLst>
          </p:cNvPr>
          <p:cNvSpPr/>
          <p:nvPr/>
        </p:nvSpPr>
        <p:spPr>
          <a:xfrm>
            <a:off x="3659600" y="2012080"/>
            <a:ext cx="7922800" cy="148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Deploy the</a:t>
            </a:r>
          </a:p>
          <a:p>
            <a:pPr algn="l">
              <a:buNone/>
            </a:pPr>
            <a:r>
              <a:rPr lang="en-US" sz="4000" b="1">
                <a:solidFill>
                  <a:srgbClr val="FFFFFF"/>
                </a:solidFill>
                <a:effectLst/>
                <a:latin typeface="Segoe UI" panose="020B0502040204020203" pitchFamily="34" charset="0"/>
              </a:rPr>
              <a:t>Control Tower</a:t>
            </a:r>
            <a:endParaRPr lang="en-US" sz="4000">
              <a:latin typeface="Segoe UI" panose="020B0502040204020203" pitchFamily="34" charset="0"/>
            </a:endParaRPr>
          </a:p>
        </p:txBody>
      </p:sp>
      <p:sp>
        <p:nvSpPr>
          <p:cNvPr id="183178" name="M6.opener-duration">
            <a:extLst>
              <a:ext uri="{FF2B5EF4-FFF2-40B4-BE49-F238E27FC236}">
                <a16:creationId xmlns:a16="http://schemas.microsoft.com/office/drawing/2014/main" id="{32C76E28-C8DF-EC1C-4A28-6B501241FA21}"/>
              </a:ext>
            </a:extLst>
          </p:cNvPr>
          <p:cNvSpPr/>
          <p:nvPr/>
        </p:nvSpPr>
        <p:spPr>
          <a:xfrm>
            <a:off x="3751040" y="3645440"/>
            <a:ext cx="2286000" cy="420000"/>
          </a:xfrm>
          <a:prstGeom prst="roundRect">
            <a:avLst/>
          </a:prstGeom>
          <a:solidFill>
            <a:srgbClr val="82EBA6">
              <a:alpha val="22000"/>
            </a:srgbClr>
          </a:solidFill>
          <a:ln w="12700">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spc="50">
                <a:solidFill>
                  <a:srgbClr val="FFFFFF"/>
                </a:solidFill>
                <a:effectLst/>
                <a:latin typeface="Segoe UI" panose="020B0502040204020203" pitchFamily="34" charset="0"/>
              </a:rPr>
              <a:t>30 minutes</a:t>
            </a:r>
            <a:endParaRPr lang="en-US">
              <a:latin typeface="Segoe UI" panose="020B0502040204020203" pitchFamily="34" charset="0"/>
            </a:endParaRPr>
          </a:p>
        </p:txBody>
      </p:sp>
      <p:sp>
        <p:nvSpPr>
          <p:cNvPr id="183340" name="Arrow: Pentagon 183339">
            <a:extLst>
              <a:ext uri="{FF2B5EF4-FFF2-40B4-BE49-F238E27FC236}">
                <a16:creationId xmlns:a16="http://schemas.microsoft.com/office/drawing/2014/main" id="{55D225FA-3832-5CF9-80FF-016DF21A4BCB}"/>
              </a:ext>
            </a:extLst>
          </p:cNvPr>
          <p:cNvSpPr/>
          <p:nvPr/>
        </p:nvSpPr>
        <p:spPr>
          <a:xfrm>
            <a:off x="609600" y="5250000"/>
            <a:ext cx="1928800" cy="600000"/>
          </a:xfrm>
          <a:prstGeom prst="homePlate">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M1 · Orient</a:t>
            </a:r>
          </a:p>
          <a:p>
            <a:pPr algn="ctr">
              <a:buNone/>
            </a:pPr>
            <a:r>
              <a:rPr lang="en-US" sz="100">
                <a:effectLst/>
              </a:rPr>
              <a:t> </a:t>
            </a:r>
            <a:endParaRPr lang="en-US"/>
          </a:p>
        </p:txBody>
      </p:sp>
      <p:sp>
        <p:nvSpPr>
          <p:cNvPr id="183503" name="Arrow: Chevron 183502">
            <a:extLst>
              <a:ext uri="{FF2B5EF4-FFF2-40B4-BE49-F238E27FC236}">
                <a16:creationId xmlns:a16="http://schemas.microsoft.com/office/drawing/2014/main" id="{F75D76E0-C480-51DC-0F93-1E6004684D1B}"/>
              </a:ext>
            </a:extLst>
          </p:cNvPr>
          <p:cNvSpPr/>
          <p:nvPr/>
        </p:nvSpPr>
        <p:spPr>
          <a:xfrm>
            <a:off x="24184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M2 · App</a:t>
            </a:r>
          </a:p>
          <a:p>
            <a:pPr algn="ctr">
              <a:buNone/>
            </a:pPr>
            <a:r>
              <a:rPr lang="en-US" sz="100">
                <a:effectLst/>
              </a:rPr>
              <a:t> </a:t>
            </a:r>
            <a:endParaRPr lang="en-US">
              <a:solidFill>
                <a:schemeClr val="tx1"/>
              </a:solidFill>
            </a:endParaRPr>
          </a:p>
        </p:txBody>
      </p:sp>
      <p:sp>
        <p:nvSpPr>
          <p:cNvPr id="183667" name="Arrow: Chevron 183666">
            <a:extLst>
              <a:ext uri="{FF2B5EF4-FFF2-40B4-BE49-F238E27FC236}">
                <a16:creationId xmlns:a16="http://schemas.microsoft.com/office/drawing/2014/main" id="{3073EDDB-BF21-008D-0193-08FDF7B16BD6}"/>
              </a:ext>
            </a:extLst>
          </p:cNvPr>
          <p:cNvSpPr/>
          <p:nvPr/>
        </p:nvSpPr>
        <p:spPr>
          <a:xfrm>
            <a:off x="42272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M3 · Automation</a:t>
            </a:r>
          </a:p>
          <a:p>
            <a:pPr algn="ctr">
              <a:buNone/>
            </a:pPr>
            <a:r>
              <a:rPr lang="en-US" sz="100">
                <a:effectLst/>
              </a:rPr>
              <a:t> </a:t>
            </a:r>
            <a:endParaRPr lang="en-US">
              <a:solidFill>
                <a:schemeClr val="tx1"/>
              </a:solidFill>
            </a:endParaRPr>
          </a:p>
        </p:txBody>
      </p:sp>
      <p:sp>
        <p:nvSpPr>
          <p:cNvPr id="183832" name="Arrow: Chevron 183831">
            <a:extLst>
              <a:ext uri="{FF2B5EF4-FFF2-40B4-BE49-F238E27FC236}">
                <a16:creationId xmlns:a16="http://schemas.microsoft.com/office/drawing/2014/main" id="{2E513F31-0958-981B-4F6B-9325DFF8C467}"/>
              </a:ext>
            </a:extLst>
          </p:cNvPr>
          <p:cNvSpPr/>
          <p:nvPr/>
        </p:nvSpPr>
        <p:spPr>
          <a:xfrm>
            <a:off x="60360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M4 · Agents</a:t>
            </a:r>
          </a:p>
          <a:p>
            <a:pPr algn="ctr">
              <a:buNone/>
            </a:pPr>
            <a:r>
              <a:rPr lang="en-US" sz="100">
                <a:effectLst/>
              </a:rPr>
              <a:t> </a:t>
            </a:r>
            <a:endParaRPr lang="en-US">
              <a:solidFill>
                <a:schemeClr val="tx1"/>
              </a:solidFill>
            </a:endParaRPr>
          </a:p>
        </p:txBody>
      </p:sp>
      <p:sp>
        <p:nvSpPr>
          <p:cNvPr id="183998" name="Arrow: Chevron 183997">
            <a:extLst>
              <a:ext uri="{FF2B5EF4-FFF2-40B4-BE49-F238E27FC236}">
                <a16:creationId xmlns:a16="http://schemas.microsoft.com/office/drawing/2014/main" id="{87BD7833-319E-6067-7CE4-90E36379E511}"/>
              </a:ext>
            </a:extLst>
          </p:cNvPr>
          <p:cNvSpPr/>
          <p:nvPr/>
        </p:nvSpPr>
        <p:spPr>
          <a:xfrm>
            <a:off x="7844800" y="5250000"/>
            <a:ext cx="1928800" cy="600000"/>
          </a:xfrm>
          <a:prstGeom prst="chevron">
            <a:avLst/>
          </a:prstGeom>
          <a:solidFill>
            <a:srgbClr val="FFFFFF">
              <a:alpha val="10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D6D2E8"/>
                </a:solidFill>
                <a:effectLst/>
                <a:latin typeface="Segoe UI" panose="020B0502040204020203" pitchFamily="34" charset="0"/>
              </a:rPr>
              <a:t>M5 · Agent + automation</a:t>
            </a:r>
          </a:p>
          <a:p>
            <a:pPr algn="ctr">
              <a:buNone/>
            </a:pPr>
            <a:r>
              <a:rPr lang="en-US" sz="100">
                <a:effectLst/>
              </a:rPr>
              <a:t> </a:t>
            </a:r>
            <a:endParaRPr lang="en-US">
              <a:solidFill>
                <a:schemeClr val="tx1"/>
              </a:solidFill>
            </a:endParaRPr>
          </a:p>
        </p:txBody>
      </p:sp>
      <p:sp>
        <p:nvSpPr>
          <p:cNvPr id="184165" name="Arrow: Chevron 184164">
            <a:extLst>
              <a:ext uri="{FF2B5EF4-FFF2-40B4-BE49-F238E27FC236}">
                <a16:creationId xmlns:a16="http://schemas.microsoft.com/office/drawing/2014/main" id="{9BA95A7B-FAA2-EB16-77B1-6093EBCBA753}"/>
              </a:ext>
            </a:extLst>
          </p:cNvPr>
          <p:cNvSpPr/>
          <p:nvPr/>
        </p:nvSpPr>
        <p:spPr>
          <a:xfrm>
            <a:off x="9653600" y="5250000"/>
            <a:ext cx="1928800" cy="600000"/>
          </a:xfrm>
          <a:prstGeom prst="chevron">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B1020"/>
                </a:solidFill>
                <a:effectLst/>
                <a:latin typeface="Segoe UI" panose="020B0502040204020203" pitchFamily="34" charset="0"/>
              </a:rPr>
              <a:t>M6 · ALM</a:t>
            </a:r>
          </a:p>
          <a:p>
            <a:pPr algn="ctr">
              <a:buNone/>
            </a:pPr>
            <a:r>
              <a:rPr lang="en-US" sz="100">
                <a:effectLst/>
              </a:rPr>
              <a:t> </a:t>
            </a:r>
            <a:endParaRPr lang="en-US">
              <a:solidFill>
                <a:schemeClr val="tx1"/>
              </a:solidFill>
            </a:endParaRPr>
          </a:p>
        </p:txBody>
      </p:sp>
    </p:spTree>
    <p:custDataLst>
      <p:tags r:id="rId1"/>
    </p:custDataLst>
    <p:extLst>
      <p:ext uri="{BB962C8B-B14F-4D97-AF65-F5344CB8AC3E}">
        <p14:creationId xmlns:p14="http://schemas.microsoft.com/office/powerpoint/2010/main" val="306376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84333" name="Rectangle: Rounded Corners 184332">
            <a:extLst>
              <a:ext uri="{FF2B5EF4-FFF2-40B4-BE49-F238E27FC236}">
                <a16:creationId xmlns:a16="http://schemas.microsoft.com/office/drawing/2014/main" id="{BD16F766-795C-2D3A-570D-97D1860D6743}"/>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BD2D0E90-31E5-2493-6958-319E9EE4B90A}"/>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From built components to repeatable deployment</a:t>
            </a:r>
          </a:p>
        </p:txBody>
      </p:sp>
      <p:sp>
        <p:nvSpPr>
          <p:cNvPr id="3" name="M6.what-label">
            <a:extLst>
              <a:ext uri="{FF2B5EF4-FFF2-40B4-BE49-F238E27FC236}">
                <a16:creationId xmlns:a16="http://schemas.microsoft.com/office/drawing/2014/main" id="{7CCD1176-2485-F2EB-8783-35617B7F8AA9}"/>
              </a:ext>
            </a:extLst>
          </p:cNvPr>
          <p:cNvSpPr txBox="1"/>
          <p:nvPr/>
        </p:nvSpPr>
        <p:spPr>
          <a:xfrm>
            <a:off x="698500" y="1765299"/>
            <a:ext cx="64135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WHAT YOU WILL DO</a:t>
            </a:r>
          </a:p>
        </p:txBody>
      </p:sp>
      <p:sp>
        <p:nvSpPr>
          <p:cNvPr id="4" name="M6.what">
            <a:extLst>
              <a:ext uri="{FF2B5EF4-FFF2-40B4-BE49-F238E27FC236}">
                <a16:creationId xmlns:a16="http://schemas.microsoft.com/office/drawing/2014/main" id="{711C9F09-B6B1-747C-E6B1-D98EBE9FEE51}"/>
              </a:ext>
            </a:extLst>
          </p:cNvPr>
          <p:cNvSpPr txBox="1"/>
          <p:nvPr/>
        </p:nvSpPr>
        <p:spPr>
          <a:xfrm>
            <a:off x="698500" y="2095499"/>
            <a:ext cx="6413500" cy="1270000"/>
          </a:xfrm>
          <a:prstGeom prst="rect">
            <a:avLst/>
          </a:prstGeom>
          <a:noFill/>
        </p:spPr>
        <p:txBody>
          <a:bodyPr vert="horz" wrap="square" lIns="0" tIns="0" rIns="0" bIns="0" rtlCol="0" anchor="t">
            <a:noAutofit/>
          </a:bodyPr>
          <a:lstStyle/>
          <a:p>
            <a:r>
              <a:rPr lang="en-US" sz="2200">
                <a:solidFill>
                  <a:srgbClr val="FFFFFF"/>
                </a:solidFill>
                <a:latin typeface="Segoe UI" panose="020B0502040204020203" pitchFamily="34" charset="0"/>
              </a:rPr>
              <a:t>Package shared policy and the Control Tower into two solutions, version them, and deploy in dependency order.</a:t>
            </a:r>
          </a:p>
        </p:txBody>
      </p:sp>
      <p:sp>
        <p:nvSpPr>
          <p:cNvPr id="5" name="M6.outcome-label">
            <a:extLst>
              <a:ext uri="{FF2B5EF4-FFF2-40B4-BE49-F238E27FC236}">
                <a16:creationId xmlns:a16="http://schemas.microsoft.com/office/drawing/2014/main" id="{C241D837-1041-714C-C455-09A0942613CB}"/>
              </a:ext>
            </a:extLst>
          </p:cNvPr>
          <p:cNvSpPr txBox="1"/>
          <p:nvPr/>
        </p:nvSpPr>
        <p:spPr>
          <a:xfrm>
            <a:off x="698500" y="3619499"/>
            <a:ext cx="64135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BUSINESS OUTCOME</a:t>
            </a:r>
          </a:p>
        </p:txBody>
      </p:sp>
      <p:sp>
        <p:nvSpPr>
          <p:cNvPr id="6" name="M6.outcome">
            <a:extLst>
              <a:ext uri="{FF2B5EF4-FFF2-40B4-BE49-F238E27FC236}">
                <a16:creationId xmlns:a16="http://schemas.microsoft.com/office/drawing/2014/main" id="{7F2F2795-66E9-AB01-C13F-4E5CA4158646}"/>
              </a:ext>
            </a:extLst>
          </p:cNvPr>
          <p:cNvSpPr txBox="1"/>
          <p:nvPr/>
        </p:nvSpPr>
        <p:spPr>
          <a:xfrm>
            <a:off x="698500" y="3962399"/>
            <a:ext cx="6413500" cy="889000"/>
          </a:xfrm>
          <a:prstGeom prst="rect">
            <a:avLst/>
          </a:prstGeom>
          <a:noFill/>
        </p:spPr>
        <p:txBody>
          <a:bodyPr vert="horz" wrap="square" lIns="0" tIns="0" rIns="0" bIns="0" rtlCol="0" anchor="t">
            <a:noAutofit/>
          </a:bodyPr>
          <a:lstStyle/>
          <a:p>
            <a:r>
              <a:rPr lang="en-US" sz="2200">
                <a:solidFill>
                  <a:srgbClr val="FFFFFF"/>
                </a:solidFill>
                <a:latin typeface="Segoe UI" panose="020B0502040204020203" pitchFamily="34" charset="0"/>
              </a:rPr>
              <a:t>Repeatable promotion with explicit prerequisites and traceable releases.</a:t>
            </a:r>
          </a:p>
        </p:txBody>
      </p:sp>
      <p:sp>
        <p:nvSpPr>
          <p:cNvPr id="7" name="Rectangle 6">
            <a:extLst>
              <a:ext uri="{FF2B5EF4-FFF2-40B4-BE49-F238E27FC236}">
                <a16:creationId xmlns:a16="http://schemas.microsoft.com/office/drawing/2014/main" id="{0E37BEF9-9600-BA26-D4EF-C2BC1795C9DF}"/>
              </a:ext>
            </a:extLst>
          </p:cNvPr>
          <p:cNvSpPr/>
          <p:nvPr/>
        </p:nvSpPr>
        <p:spPr>
          <a:xfrm>
            <a:off x="7493000" y="1663700"/>
            <a:ext cx="4089400" cy="16383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6.duration-label">
            <a:extLst>
              <a:ext uri="{FF2B5EF4-FFF2-40B4-BE49-F238E27FC236}">
                <a16:creationId xmlns:a16="http://schemas.microsoft.com/office/drawing/2014/main" id="{0DD6C0BD-D336-467F-74DA-AE190A0B6324}"/>
              </a:ext>
            </a:extLst>
          </p:cNvPr>
          <p:cNvSpPr txBox="1"/>
          <p:nvPr/>
        </p:nvSpPr>
        <p:spPr>
          <a:xfrm>
            <a:off x="7683500" y="1879599"/>
            <a:ext cx="36830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DURATION</a:t>
            </a:r>
          </a:p>
        </p:txBody>
      </p:sp>
      <p:sp>
        <p:nvSpPr>
          <p:cNvPr id="9" name="M6.duration">
            <a:extLst>
              <a:ext uri="{FF2B5EF4-FFF2-40B4-BE49-F238E27FC236}">
                <a16:creationId xmlns:a16="http://schemas.microsoft.com/office/drawing/2014/main" id="{46E87E46-9994-0589-307F-6E7A47F7F2CE}"/>
              </a:ext>
            </a:extLst>
          </p:cNvPr>
          <p:cNvSpPr txBox="1"/>
          <p:nvPr/>
        </p:nvSpPr>
        <p:spPr>
          <a:xfrm>
            <a:off x="7683500" y="2222499"/>
            <a:ext cx="3683000" cy="762000"/>
          </a:xfrm>
          <a:prstGeom prst="rect">
            <a:avLst/>
          </a:prstGeom>
          <a:noFill/>
        </p:spPr>
        <p:txBody>
          <a:bodyPr vert="horz" wrap="square" lIns="0" tIns="0" rIns="0" bIns="0" rtlCol="0" anchor="t">
            <a:noAutofit/>
          </a:bodyPr>
          <a:lstStyle/>
          <a:p>
            <a:r>
              <a:rPr lang="en-US" sz="4400" b="1">
                <a:solidFill>
                  <a:srgbClr val="FFFFFF"/>
                </a:solidFill>
                <a:latin typeface="Segoe UI" panose="020B0502040204020203" pitchFamily="34" charset="0"/>
              </a:rPr>
              <a:t>30 min</a:t>
            </a:r>
          </a:p>
        </p:txBody>
      </p:sp>
      <p:sp>
        <p:nvSpPr>
          <p:cNvPr id="10" name="M6.duration-detail">
            <a:extLst>
              <a:ext uri="{FF2B5EF4-FFF2-40B4-BE49-F238E27FC236}">
                <a16:creationId xmlns:a16="http://schemas.microsoft.com/office/drawing/2014/main" id="{8E6AE4F6-6BB8-0C3B-DEA1-D1AE23C3E5A8}"/>
              </a:ext>
            </a:extLst>
          </p:cNvPr>
          <p:cNvSpPr txBox="1"/>
          <p:nvPr/>
        </p:nvSpPr>
        <p:spPr>
          <a:xfrm>
            <a:off x="7683500" y="2984499"/>
            <a:ext cx="3683000" cy="279400"/>
          </a:xfrm>
          <a:prstGeom prst="rect">
            <a:avLst/>
          </a:prstGeom>
          <a:noFill/>
        </p:spPr>
        <p:txBody>
          <a:bodyPr vert="horz" wrap="square" lIns="0" tIns="0" rIns="0" bIns="0" rtlCol="0" anchor="t">
            <a:noAutofit/>
          </a:bodyPr>
          <a:lstStyle/>
          <a:p>
            <a:r>
              <a:rPr lang="en-US" sz="1600">
                <a:solidFill>
                  <a:srgbClr val="FFFFFF"/>
                </a:solidFill>
                <a:latin typeface="Segoe UI" panose="020B0502040204020203" pitchFamily="34" charset="0"/>
              </a:rPr>
              <a:t>Power Platform Pipelines</a:t>
            </a:r>
          </a:p>
        </p:txBody>
      </p:sp>
      <p:sp>
        <p:nvSpPr>
          <p:cNvPr id="11" name="M6.fits-label">
            <a:extLst>
              <a:ext uri="{FF2B5EF4-FFF2-40B4-BE49-F238E27FC236}">
                <a16:creationId xmlns:a16="http://schemas.microsoft.com/office/drawing/2014/main" id="{BA6B9FF6-1ED6-7300-39FF-113B8C64A3CE}"/>
              </a:ext>
            </a:extLst>
          </p:cNvPr>
          <p:cNvSpPr txBox="1"/>
          <p:nvPr/>
        </p:nvSpPr>
        <p:spPr>
          <a:xfrm>
            <a:off x="7594600" y="3606799"/>
            <a:ext cx="38989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WHERE IT FITS</a:t>
            </a:r>
          </a:p>
        </p:txBody>
      </p:sp>
      <p:sp>
        <p:nvSpPr>
          <p:cNvPr id="12" name="M6.fits">
            <a:extLst>
              <a:ext uri="{FF2B5EF4-FFF2-40B4-BE49-F238E27FC236}">
                <a16:creationId xmlns:a16="http://schemas.microsoft.com/office/drawing/2014/main" id="{8A4FAF58-FE5D-2596-3178-F461D4717D0C}"/>
              </a:ext>
            </a:extLst>
          </p:cNvPr>
          <p:cNvSpPr txBox="1"/>
          <p:nvPr/>
        </p:nvSpPr>
        <p:spPr>
          <a:xfrm>
            <a:off x="7594600" y="3962399"/>
            <a:ext cx="3898900" cy="9017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Brings the built components together through ALM.</a:t>
            </a:r>
          </a:p>
        </p:txBody>
      </p:sp>
      <p:sp>
        <p:nvSpPr>
          <p:cNvPr id="13" name="Rectangle 12">
            <a:extLst>
              <a:ext uri="{FF2B5EF4-FFF2-40B4-BE49-F238E27FC236}">
                <a16:creationId xmlns:a16="http://schemas.microsoft.com/office/drawing/2014/main" id="{293E226E-A01A-CEC9-7CBC-C526F04BC280}"/>
              </a:ext>
            </a:extLst>
          </p:cNvPr>
          <p:cNvSpPr/>
          <p:nvPr/>
        </p:nvSpPr>
        <p:spPr>
          <a:xfrm>
            <a:off x="609600" y="5207000"/>
            <a:ext cx="5080000" cy="10922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6.from-label">
            <a:extLst>
              <a:ext uri="{FF2B5EF4-FFF2-40B4-BE49-F238E27FC236}">
                <a16:creationId xmlns:a16="http://schemas.microsoft.com/office/drawing/2014/main" id="{6CCE3BE4-723D-D1C5-E407-40584075BA8B}"/>
              </a:ext>
            </a:extLst>
          </p:cNvPr>
          <p:cNvSpPr txBox="1"/>
          <p:nvPr/>
        </p:nvSpPr>
        <p:spPr>
          <a:xfrm>
            <a:off x="800100" y="5333999"/>
            <a:ext cx="46990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FROM</a:t>
            </a:r>
          </a:p>
        </p:txBody>
      </p:sp>
      <p:sp>
        <p:nvSpPr>
          <p:cNvPr id="15" name="M6.from">
            <a:extLst>
              <a:ext uri="{FF2B5EF4-FFF2-40B4-BE49-F238E27FC236}">
                <a16:creationId xmlns:a16="http://schemas.microsoft.com/office/drawing/2014/main" id="{431C6FDA-A93F-AAEE-9BC3-F79783DAC1FB}"/>
              </a:ext>
            </a:extLst>
          </p:cNvPr>
          <p:cNvSpPr txBox="1"/>
          <p:nvPr/>
        </p:nvSpPr>
        <p:spPr>
          <a:xfrm>
            <a:off x="800100" y="5676899"/>
            <a:ext cx="4699000" cy="5715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Completed app, agents, and flows in DEV</a:t>
            </a:r>
          </a:p>
        </p:txBody>
      </p:sp>
      <p:sp>
        <p:nvSpPr>
          <p:cNvPr id="16" name="Arrow: Right 15">
            <a:extLst>
              <a:ext uri="{FF2B5EF4-FFF2-40B4-BE49-F238E27FC236}">
                <a16:creationId xmlns:a16="http://schemas.microsoft.com/office/drawing/2014/main" id="{913F4865-93FA-BB61-3D1B-8057BE89BF23}"/>
              </a:ext>
            </a:extLst>
          </p:cNvPr>
          <p:cNvSpPr/>
          <p:nvPr/>
        </p:nvSpPr>
        <p:spPr>
          <a:xfrm>
            <a:off x="5842000" y="5537200"/>
            <a:ext cx="520700" cy="393700"/>
          </a:xfrm>
          <a:prstGeom prst="rightArrow">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C67797C-26FE-DADB-60D4-847DE04B0F30}"/>
              </a:ext>
            </a:extLst>
          </p:cNvPr>
          <p:cNvSpPr/>
          <p:nvPr/>
        </p:nvSpPr>
        <p:spPr>
          <a:xfrm>
            <a:off x="6502400" y="5207000"/>
            <a:ext cx="5080000" cy="10922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M6.to-label">
            <a:extLst>
              <a:ext uri="{FF2B5EF4-FFF2-40B4-BE49-F238E27FC236}">
                <a16:creationId xmlns:a16="http://schemas.microsoft.com/office/drawing/2014/main" id="{5C4C9641-DFFF-2989-1134-128D7B90D3B6}"/>
              </a:ext>
            </a:extLst>
          </p:cNvPr>
          <p:cNvSpPr txBox="1"/>
          <p:nvPr/>
        </p:nvSpPr>
        <p:spPr>
          <a:xfrm>
            <a:off x="6692900" y="5333999"/>
            <a:ext cx="46990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TO</a:t>
            </a:r>
          </a:p>
        </p:txBody>
      </p:sp>
      <p:sp>
        <p:nvSpPr>
          <p:cNvPr id="19" name="M6.to">
            <a:extLst>
              <a:ext uri="{FF2B5EF4-FFF2-40B4-BE49-F238E27FC236}">
                <a16:creationId xmlns:a16="http://schemas.microsoft.com/office/drawing/2014/main" id="{511A2111-286E-A046-4148-5D4BBB55646B}"/>
              </a:ext>
            </a:extLst>
          </p:cNvPr>
          <p:cNvSpPr txBox="1"/>
          <p:nvPr/>
        </p:nvSpPr>
        <p:spPr>
          <a:xfrm>
            <a:off x="6692900" y="5676899"/>
            <a:ext cx="4699000" cy="6223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Two versioned, managed solutions in TARGET</a:t>
            </a:r>
          </a:p>
        </p:txBody>
      </p:sp>
    </p:spTree>
    <p:custDataLst>
      <p:tags r:id="rId1"/>
    </p:custDataLst>
    <p:extLst>
      <p:ext uri="{BB962C8B-B14F-4D97-AF65-F5344CB8AC3E}">
        <p14:creationId xmlns:p14="http://schemas.microsoft.com/office/powerpoint/2010/main" val="9167341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86248" name="Rectangle: Rounded Corners 186247">
            <a:extLst>
              <a:ext uri="{FF2B5EF4-FFF2-40B4-BE49-F238E27FC236}">
                <a16:creationId xmlns:a16="http://schemas.microsoft.com/office/drawing/2014/main" id="{E5B15871-2A1D-FB6B-27DC-E61C369A210F}"/>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13141D9B-865F-92A2-A574-A72851901158}"/>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Package components. Deploy prerequisites first.</a:t>
            </a:r>
          </a:p>
        </p:txBody>
      </p:sp>
      <p:sp>
        <p:nvSpPr>
          <p:cNvPr id="3" name="M6.definition">
            <a:extLst>
              <a:ext uri="{FF2B5EF4-FFF2-40B4-BE49-F238E27FC236}">
                <a16:creationId xmlns:a16="http://schemas.microsoft.com/office/drawing/2014/main" id="{92D5157E-D13D-9AA0-6A94-85E49DEC6B8A}"/>
              </a:ext>
            </a:extLst>
          </p:cNvPr>
          <p:cNvSpPr txBox="1"/>
          <p:nvPr/>
        </p:nvSpPr>
        <p:spPr>
          <a:xfrm>
            <a:off x="609600" y="1650999"/>
            <a:ext cx="10972800" cy="4064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A solution is a versioned container of application components.</a:t>
            </a:r>
          </a:p>
        </p:txBody>
      </p:sp>
      <p:sp>
        <p:nvSpPr>
          <p:cNvPr id="4" name="M6.solution-lifecycle">
            <a:extLst>
              <a:ext uri="{FF2B5EF4-FFF2-40B4-BE49-F238E27FC236}">
                <a16:creationId xmlns:a16="http://schemas.microsoft.com/office/drawing/2014/main" id="{564FCF82-B886-D11F-6AA3-1D3A8DD4000E}"/>
              </a:ext>
            </a:extLst>
          </p:cNvPr>
          <p:cNvSpPr txBox="1"/>
          <p:nvPr/>
        </p:nvSpPr>
        <p:spPr>
          <a:xfrm>
            <a:off x="609600" y="2209799"/>
            <a:ext cx="10972800" cy="317500"/>
          </a:xfrm>
          <a:prstGeom prst="rect">
            <a:avLst/>
          </a:prstGeom>
          <a:noFill/>
        </p:spPr>
        <p:txBody>
          <a:bodyPr vert="horz" wrap="square" lIns="0" tIns="0" rIns="0" bIns="0" rtlCol="0" anchor="t">
            <a:noAutofit/>
          </a:bodyPr>
          <a:lstStyle/>
          <a:p>
            <a:r>
              <a:rPr lang="en-US" sz="1700" b="1">
                <a:solidFill>
                  <a:srgbClr val="82EBA6"/>
                </a:solidFill>
                <a:latin typeface="Segoe UI" panose="020B0502040204020203" pitchFamily="34" charset="0"/>
              </a:rPr>
              <a:t>Develop in DEV (unmanaged) → deploy to TARGET (managed)</a:t>
            </a:r>
          </a:p>
        </p:txBody>
      </p:sp>
      <p:sp>
        <p:nvSpPr>
          <p:cNvPr id="5" name="Rectangle 4">
            <a:extLst>
              <a:ext uri="{FF2B5EF4-FFF2-40B4-BE49-F238E27FC236}">
                <a16:creationId xmlns:a16="http://schemas.microsoft.com/office/drawing/2014/main" id="{79F9AA60-93FD-F386-E958-CA28CECA22D7}"/>
              </a:ext>
            </a:extLst>
          </p:cNvPr>
          <p:cNvSpPr/>
          <p:nvPr/>
        </p:nvSpPr>
        <p:spPr>
          <a:xfrm>
            <a:off x="609600" y="2730500"/>
            <a:ext cx="4572000" cy="20955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M6.library-label">
            <a:extLst>
              <a:ext uri="{FF2B5EF4-FFF2-40B4-BE49-F238E27FC236}">
                <a16:creationId xmlns:a16="http://schemas.microsoft.com/office/drawing/2014/main" id="{809FF204-E0E4-F7B0-50F4-53F8E63849B1}"/>
              </a:ext>
            </a:extLst>
          </p:cNvPr>
          <p:cNvSpPr txBox="1"/>
          <p:nvPr/>
        </p:nvSpPr>
        <p:spPr>
          <a:xfrm>
            <a:off x="825500" y="2959099"/>
            <a:ext cx="4140200" cy="2921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1. INSTALL LIBRARY IN TARGET</a:t>
            </a:r>
          </a:p>
        </p:txBody>
      </p:sp>
      <p:sp>
        <p:nvSpPr>
          <p:cNvPr id="7" name="M6.library-name">
            <a:extLst>
              <a:ext uri="{FF2B5EF4-FFF2-40B4-BE49-F238E27FC236}">
                <a16:creationId xmlns:a16="http://schemas.microsoft.com/office/drawing/2014/main" id="{77673506-A0DE-63E2-BC64-4DD0BDB9B161}"/>
              </a:ext>
            </a:extLst>
          </p:cNvPr>
          <p:cNvSpPr txBox="1"/>
          <p:nvPr/>
        </p:nvSpPr>
        <p:spPr>
          <a:xfrm>
            <a:off x="825500" y="3454399"/>
            <a:ext cx="4140200" cy="749300"/>
          </a:xfrm>
          <a:prstGeom prst="rect">
            <a:avLst/>
          </a:prstGeom>
          <a:noFill/>
        </p:spPr>
        <p:txBody>
          <a:bodyPr vert="horz" wrap="square" lIns="0" tIns="0" rIns="0" bIns="0" rtlCol="0" anchor="t">
            <a:noAutofit/>
          </a:bodyPr>
          <a:lstStyle/>
          <a:p>
            <a:r>
              <a:rPr lang="en-US" sz="2300" b="1">
                <a:solidFill>
                  <a:srgbClr val="FFFFFF"/>
                </a:solidFill>
                <a:latin typeface="Segoe UI" panose="020B0502040204020203" pitchFamily="34" charset="0"/>
              </a:rPr>
              <a:t>PPCC Control Tower</a:t>
            </a:r>
          </a:p>
          <a:p>
            <a:r>
              <a:rPr lang="en-US" sz="2300" b="1">
                <a:solidFill>
                  <a:srgbClr val="FFFFFF"/>
                </a:solidFill>
                <a:latin typeface="Segoe UI" panose="020B0502040204020203" pitchFamily="34" charset="0"/>
              </a:rPr>
              <a:t>Business Skills</a:t>
            </a:r>
          </a:p>
        </p:txBody>
      </p:sp>
      <p:sp>
        <p:nvSpPr>
          <p:cNvPr id="8" name="M6.library-content">
            <a:extLst>
              <a:ext uri="{FF2B5EF4-FFF2-40B4-BE49-F238E27FC236}">
                <a16:creationId xmlns:a16="http://schemas.microsoft.com/office/drawing/2014/main" id="{0224AA6F-C21F-5A11-AD98-24BA3B2B6456}"/>
              </a:ext>
            </a:extLst>
          </p:cNvPr>
          <p:cNvSpPr txBox="1"/>
          <p:nvPr/>
        </p:nvSpPr>
        <p:spPr>
          <a:xfrm>
            <a:off x="825500" y="4368799"/>
            <a:ext cx="4140200" cy="304800"/>
          </a:xfrm>
          <a:prstGeom prst="rect">
            <a:avLst/>
          </a:prstGeom>
          <a:noFill/>
        </p:spPr>
        <p:txBody>
          <a:bodyPr vert="horz" wrap="square" lIns="0" tIns="0" rIns="0" bIns="0" rtlCol="0" anchor="t">
            <a:noAutofit/>
          </a:bodyPr>
          <a:lstStyle/>
          <a:p>
            <a:r>
              <a:rPr lang="en-US" sz="1600">
                <a:solidFill>
                  <a:srgbClr val="FFFFFF"/>
                </a:solidFill>
                <a:latin typeface="Segoe UI" panose="020B0502040204020203" pitchFamily="34" charset="0"/>
              </a:rPr>
              <a:t>ppcc-order-disruption-triage</a:t>
            </a:r>
          </a:p>
        </p:txBody>
      </p:sp>
      <p:sp>
        <p:nvSpPr>
          <p:cNvPr id="9" name="Arrow: Right 8">
            <a:extLst>
              <a:ext uri="{FF2B5EF4-FFF2-40B4-BE49-F238E27FC236}">
                <a16:creationId xmlns:a16="http://schemas.microsoft.com/office/drawing/2014/main" id="{CE4DB67A-0A2B-EE50-4B53-62AAA55312B1}"/>
              </a:ext>
            </a:extLst>
          </p:cNvPr>
          <p:cNvSpPr/>
          <p:nvPr/>
        </p:nvSpPr>
        <p:spPr>
          <a:xfrm>
            <a:off x="5397500" y="3352800"/>
            <a:ext cx="1346200" cy="571500"/>
          </a:xfrm>
          <a:prstGeom prst="rightArrow">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6.dependency">
            <a:extLst>
              <a:ext uri="{FF2B5EF4-FFF2-40B4-BE49-F238E27FC236}">
                <a16:creationId xmlns:a16="http://schemas.microsoft.com/office/drawing/2014/main" id="{E2857F61-2955-53B9-869A-6FE59DA7517C}"/>
              </a:ext>
            </a:extLst>
          </p:cNvPr>
          <p:cNvSpPr txBox="1"/>
          <p:nvPr/>
        </p:nvSpPr>
        <p:spPr>
          <a:xfrm>
            <a:off x="5270500" y="4140199"/>
            <a:ext cx="1600200" cy="571500"/>
          </a:xfrm>
          <a:prstGeom prst="rect">
            <a:avLst/>
          </a:prstGeom>
          <a:noFill/>
        </p:spPr>
        <p:txBody>
          <a:bodyPr vert="horz" wrap="square" lIns="0" tIns="0" rIns="0" bIns="0" rtlCol="0" anchor="t">
            <a:noAutofit/>
          </a:bodyPr>
          <a:lstStyle/>
          <a:p>
            <a:pPr algn="ctr"/>
            <a:r>
              <a:rPr lang="en-US" sz="1500">
                <a:solidFill>
                  <a:srgbClr val="FFFFFF"/>
                </a:solidFill>
                <a:latin typeface="Segoe UI" panose="020B0502040204020203" pitchFamily="34" charset="0"/>
              </a:rPr>
              <a:t>Prerequisite</a:t>
            </a:r>
          </a:p>
          <a:p>
            <a:pPr algn="ctr"/>
            <a:r>
              <a:rPr lang="en-US" sz="1500">
                <a:solidFill>
                  <a:srgbClr val="FFFFFF"/>
                </a:solidFill>
                <a:latin typeface="Segoe UI" panose="020B0502040204020203" pitchFamily="34" charset="0"/>
              </a:rPr>
              <a:t>installed first</a:t>
            </a:r>
          </a:p>
        </p:txBody>
      </p:sp>
      <p:sp>
        <p:nvSpPr>
          <p:cNvPr id="11" name="Rectangle 10">
            <a:extLst>
              <a:ext uri="{FF2B5EF4-FFF2-40B4-BE49-F238E27FC236}">
                <a16:creationId xmlns:a16="http://schemas.microsoft.com/office/drawing/2014/main" id="{A1828B51-6FAC-E1B4-3605-EF65205ADA2E}"/>
              </a:ext>
            </a:extLst>
          </p:cNvPr>
          <p:cNvSpPr/>
          <p:nvPr/>
        </p:nvSpPr>
        <p:spPr>
          <a:xfrm>
            <a:off x="6959600" y="2730500"/>
            <a:ext cx="4622800" cy="20955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6.main-label">
            <a:extLst>
              <a:ext uri="{FF2B5EF4-FFF2-40B4-BE49-F238E27FC236}">
                <a16:creationId xmlns:a16="http://schemas.microsoft.com/office/drawing/2014/main" id="{E8B58DA0-2A0F-9E5B-F83C-84E8DAF75D60}"/>
              </a:ext>
            </a:extLst>
          </p:cNvPr>
          <p:cNvSpPr txBox="1"/>
          <p:nvPr/>
        </p:nvSpPr>
        <p:spPr>
          <a:xfrm>
            <a:off x="7175500" y="2959099"/>
            <a:ext cx="4191000" cy="2921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2. INSTALL MAIN IN TARGET</a:t>
            </a:r>
          </a:p>
        </p:txBody>
      </p:sp>
      <p:sp>
        <p:nvSpPr>
          <p:cNvPr id="13" name="M6.main-name">
            <a:extLst>
              <a:ext uri="{FF2B5EF4-FFF2-40B4-BE49-F238E27FC236}">
                <a16:creationId xmlns:a16="http://schemas.microsoft.com/office/drawing/2014/main" id="{60C1C3C1-61EC-2A7C-2562-B397C2B14F6B}"/>
              </a:ext>
            </a:extLst>
          </p:cNvPr>
          <p:cNvSpPr txBox="1"/>
          <p:nvPr/>
        </p:nvSpPr>
        <p:spPr>
          <a:xfrm>
            <a:off x="7175500" y="3454399"/>
            <a:ext cx="4191000" cy="749300"/>
          </a:xfrm>
          <a:prstGeom prst="rect">
            <a:avLst/>
          </a:prstGeom>
          <a:noFill/>
        </p:spPr>
        <p:txBody>
          <a:bodyPr vert="horz" wrap="square" lIns="0" tIns="0" rIns="0" bIns="0" rtlCol="0" anchor="t">
            <a:noAutofit/>
          </a:bodyPr>
          <a:lstStyle/>
          <a:p>
            <a:r>
              <a:rPr lang="en-US" sz="2300" b="1">
                <a:solidFill>
                  <a:srgbClr val="FFFFFF"/>
                </a:solidFill>
                <a:latin typeface="Segoe UI" panose="020B0502040204020203" pitchFamily="34" charset="0"/>
              </a:rPr>
              <a:t>PPCC Agentic Operations</a:t>
            </a:r>
          </a:p>
          <a:p>
            <a:r>
              <a:rPr lang="en-US" sz="2300" b="1">
                <a:solidFill>
                  <a:srgbClr val="FFFFFF"/>
                </a:solidFill>
                <a:latin typeface="Segoe UI" panose="020B0502040204020203" pitchFamily="34" charset="0"/>
              </a:rPr>
              <a:t>Control Tower</a:t>
            </a:r>
          </a:p>
        </p:txBody>
      </p:sp>
      <p:sp>
        <p:nvSpPr>
          <p:cNvPr id="14" name="M6.main-content">
            <a:extLst>
              <a:ext uri="{FF2B5EF4-FFF2-40B4-BE49-F238E27FC236}">
                <a16:creationId xmlns:a16="http://schemas.microsoft.com/office/drawing/2014/main" id="{0844111E-570C-A4F4-2B25-A43E4211A6BA}"/>
              </a:ext>
            </a:extLst>
          </p:cNvPr>
          <p:cNvSpPr txBox="1"/>
          <p:nvPr/>
        </p:nvSpPr>
        <p:spPr>
          <a:xfrm>
            <a:off x="7175500" y="4368799"/>
            <a:ext cx="4191000" cy="406400"/>
          </a:xfrm>
          <a:prstGeom prst="rect">
            <a:avLst/>
          </a:prstGeom>
          <a:noFill/>
        </p:spPr>
        <p:txBody>
          <a:bodyPr vert="horz" wrap="square" lIns="0" tIns="0" rIns="0" bIns="0" rtlCol="0" anchor="t">
            <a:noAutofit/>
          </a:bodyPr>
          <a:lstStyle/>
          <a:p>
            <a:r>
              <a:rPr lang="en-US" sz="1600">
                <a:solidFill>
                  <a:srgbClr val="FFFFFF"/>
                </a:solidFill>
                <a:latin typeface="Segoe UI" panose="020B0502040204020203" pitchFamily="34" charset="0"/>
              </a:rPr>
              <a:t>App, agents, flows, and related components</a:t>
            </a:r>
          </a:p>
        </p:txBody>
      </p:sp>
      <p:sp>
        <p:nvSpPr>
          <p:cNvPr id="15" name="M6.sequence">
            <a:extLst>
              <a:ext uri="{FF2B5EF4-FFF2-40B4-BE49-F238E27FC236}">
                <a16:creationId xmlns:a16="http://schemas.microsoft.com/office/drawing/2014/main" id="{4DC0809B-F305-0FFB-7FD6-031BCF7A585A}"/>
              </a:ext>
            </a:extLst>
          </p:cNvPr>
          <p:cNvSpPr txBox="1"/>
          <p:nvPr/>
        </p:nvSpPr>
        <p:spPr>
          <a:xfrm>
            <a:off x="609600" y="5092699"/>
            <a:ext cx="10972800" cy="7239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Same pipeline. Same TARGET stage.</a:t>
            </a:r>
          </a:p>
          <a:p>
            <a:r>
              <a:rPr lang="en-US" sz="2100">
                <a:solidFill>
                  <a:srgbClr val="FFFFFF"/>
                </a:solidFill>
                <a:latin typeface="Segoe UI" panose="020B0502040204020203" pitchFamily="34" charset="0"/>
              </a:rPr>
              <a:t>Wait for library Succeeded, then deploy main.</a:t>
            </a:r>
          </a:p>
        </p:txBody>
      </p:sp>
      <p:sp>
        <p:nvSpPr>
          <p:cNvPr id="16" name="Rectangle 15">
            <a:extLst>
              <a:ext uri="{FF2B5EF4-FFF2-40B4-BE49-F238E27FC236}">
                <a16:creationId xmlns:a16="http://schemas.microsoft.com/office/drawing/2014/main" id="{9AC688DE-4591-6715-0274-1FC1FB4B8384}"/>
              </a:ext>
            </a:extLst>
          </p:cNvPr>
          <p:cNvSpPr/>
          <p:nvPr/>
        </p:nvSpPr>
        <p:spPr>
          <a:xfrm>
            <a:off x="609600" y="5956300"/>
            <a:ext cx="10972800" cy="5461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M6.membership">
            <a:extLst>
              <a:ext uri="{FF2B5EF4-FFF2-40B4-BE49-F238E27FC236}">
                <a16:creationId xmlns:a16="http://schemas.microsoft.com/office/drawing/2014/main" id="{CF1BF738-3D9E-7A94-D9DA-525E8A1FF761}"/>
              </a:ext>
            </a:extLst>
          </p:cNvPr>
          <p:cNvSpPr txBox="1"/>
          <p:nvPr/>
        </p:nvSpPr>
        <p:spPr>
          <a:xfrm>
            <a:off x="787400" y="6095999"/>
            <a:ext cx="10617200" cy="317500"/>
          </a:xfrm>
          <a:prstGeom prst="rect">
            <a:avLst/>
          </a:prstGeom>
          <a:noFill/>
        </p:spPr>
        <p:txBody>
          <a:bodyPr vert="horz" wrap="square" lIns="0" tIns="0" rIns="0" bIns="0" rtlCol="0" anchor="t">
            <a:noAutofit/>
          </a:bodyPr>
          <a:lstStyle/>
          <a:p>
            <a:r>
              <a:rPr lang="en-US" sz="1700">
                <a:solidFill>
                  <a:srgbClr val="FFFFFF"/>
                </a:solidFill>
                <a:latin typeface="Segoe UI" panose="020B0502040204020203" pitchFamily="34" charset="0"/>
              </a:rPr>
              <a:t>Same publisher. One original Skill. Change membership; keep the component.</a:t>
            </a:r>
          </a:p>
        </p:txBody>
      </p:sp>
    </p:spTree>
    <p:custDataLst>
      <p:tags r:id="rId1"/>
    </p:custDataLst>
    <p:extLst>
      <p:ext uri="{BB962C8B-B14F-4D97-AF65-F5344CB8AC3E}">
        <p14:creationId xmlns:p14="http://schemas.microsoft.com/office/powerpoint/2010/main" val="6343421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24651" name="Rectangle: Rounded Corners 224650">
            <a:extLst>
              <a:ext uri="{FF2B5EF4-FFF2-40B4-BE49-F238E27FC236}">
                <a16:creationId xmlns:a16="http://schemas.microsoft.com/office/drawing/2014/main" id="{98E58C54-6075-35F8-576E-4DFD69BD4043}"/>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457B58E7-7D6D-0F3E-696E-F5B577EE1EE8}"/>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Version the release before you deploy</a:t>
            </a:r>
          </a:p>
        </p:txBody>
      </p:sp>
      <p:sp>
        <p:nvSpPr>
          <p:cNvPr id="3" name="M6.version-format">
            <a:extLst>
              <a:ext uri="{FF2B5EF4-FFF2-40B4-BE49-F238E27FC236}">
                <a16:creationId xmlns:a16="http://schemas.microsoft.com/office/drawing/2014/main" id="{452B9C10-BA0F-E5BD-73C4-30AE52D7B048}"/>
              </a:ext>
            </a:extLst>
          </p:cNvPr>
          <p:cNvSpPr txBox="1"/>
          <p:nvPr/>
        </p:nvSpPr>
        <p:spPr>
          <a:xfrm>
            <a:off x="609600" y="1650999"/>
            <a:ext cx="10972800" cy="546100"/>
          </a:xfrm>
          <a:prstGeom prst="rect">
            <a:avLst/>
          </a:prstGeom>
          <a:noFill/>
        </p:spPr>
        <p:txBody>
          <a:bodyPr vert="horz" wrap="square" lIns="0" tIns="0" rIns="0" bIns="0" rtlCol="0" anchor="t">
            <a:noAutofit/>
          </a:bodyPr>
          <a:lstStyle/>
          <a:p>
            <a:r>
              <a:rPr lang="en-US" sz="2900" b="1">
                <a:solidFill>
                  <a:srgbClr val="82EBA6"/>
                </a:solidFill>
                <a:latin typeface="Segoe UI" panose="020B0502040204020203" pitchFamily="34" charset="0"/>
              </a:rPr>
              <a:t>MAJOR . MINOR . BUILD . REVISION</a:t>
            </a:r>
          </a:p>
        </p:txBody>
      </p:sp>
      <p:sp>
        <p:nvSpPr>
          <p:cNvPr id="4" name="Rectangle 3">
            <a:extLst>
              <a:ext uri="{FF2B5EF4-FFF2-40B4-BE49-F238E27FC236}">
                <a16:creationId xmlns:a16="http://schemas.microsoft.com/office/drawing/2014/main" id="{9F12B1DD-315E-7440-6A62-5A45D1E2F3F8}"/>
              </a:ext>
            </a:extLst>
          </p:cNvPr>
          <p:cNvSpPr/>
          <p:nvPr/>
        </p:nvSpPr>
        <p:spPr>
          <a:xfrm>
            <a:off x="609600" y="2374900"/>
            <a:ext cx="10972800" cy="381000"/>
          </a:xfrm>
          <a:prstGeom prst="rect">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6.table-part">
            <a:extLst>
              <a:ext uri="{FF2B5EF4-FFF2-40B4-BE49-F238E27FC236}">
                <a16:creationId xmlns:a16="http://schemas.microsoft.com/office/drawing/2014/main" id="{50D4434A-E912-8C32-1B2F-C1FC47C79C0B}"/>
              </a:ext>
            </a:extLst>
          </p:cNvPr>
          <p:cNvSpPr txBox="1"/>
          <p:nvPr/>
        </p:nvSpPr>
        <p:spPr>
          <a:xfrm>
            <a:off x="749300" y="2425699"/>
            <a:ext cx="1524000" cy="304800"/>
          </a:xfrm>
          <a:prstGeom prst="rect">
            <a:avLst/>
          </a:prstGeom>
          <a:noFill/>
        </p:spPr>
        <p:txBody>
          <a:bodyPr vert="horz" wrap="square" lIns="0" tIns="0" rIns="0" bIns="0" rtlCol="0" anchor="t">
            <a:noAutofit/>
          </a:bodyPr>
          <a:lstStyle/>
          <a:p>
            <a:r>
              <a:rPr lang="en-US" sz="1600" b="1">
                <a:solidFill>
                  <a:srgbClr val="0B0F19"/>
                </a:solidFill>
                <a:latin typeface="Segoe UI" panose="020B0502040204020203" pitchFamily="34" charset="0"/>
              </a:rPr>
              <a:t>Part</a:t>
            </a:r>
          </a:p>
        </p:txBody>
      </p:sp>
      <p:sp>
        <p:nvSpPr>
          <p:cNvPr id="6" name="M6.table-when">
            <a:extLst>
              <a:ext uri="{FF2B5EF4-FFF2-40B4-BE49-F238E27FC236}">
                <a16:creationId xmlns:a16="http://schemas.microsoft.com/office/drawing/2014/main" id="{B562FB0B-B8EB-CBEA-FD29-05E19225C7CA}"/>
              </a:ext>
            </a:extLst>
          </p:cNvPr>
          <p:cNvSpPr txBox="1"/>
          <p:nvPr/>
        </p:nvSpPr>
        <p:spPr>
          <a:xfrm>
            <a:off x="2527300" y="2425699"/>
            <a:ext cx="5969000" cy="304800"/>
          </a:xfrm>
          <a:prstGeom prst="rect">
            <a:avLst/>
          </a:prstGeom>
          <a:noFill/>
        </p:spPr>
        <p:txBody>
          <a:bodyPr vert="horz" wrap="square" lIns="0" tIns="0" rIns="0" bIns="0" rtlCol="0" anchor="t">
            <a:noAutofit/>
          </a:bodyPr>
          <a:lstStyle/>
          <a:p>
            <a:r>
              <a:rPr lang="en-US" sz="1600" b="1">
                <a:solidFill>
                  <a:srgbClr val="0B0F19"/>
                </a:solidFill>
                <a:latin typeface="Segoe UI" panose="020B0502040204020203" pitchFamily="34" charset="0"/>
              </a:rPr>
              <a:t>Typical reason to increment</a:t>
            </a:r>
          </a:p>
        </p:txBody>
      </p:sp>
      <p:sp>
        <p:nvSpPr>
          <p:cNvPr id="7" name="M6.table-example">
            <a:extLst>
              <a:ext uri="{FF2B5EF4-FFF2-40B4-BE49-F238E27FC236}">
                <a16:creationId xmlns:a16="http://schemas.microsoft.com/office/drawing/2014/main" id="{51E39637-BAAF-71FE-A089-B9640A6B4C01}"/>
              </a:ext>
            </a:extLst>
          </p:cNvPr>
          <p:cNvSpPr txBox="1"/>
          <p:nvPr/>
        </p:nvSpPr>
        <p:spPr>
          <a:xfrm>
            <a:off x="8775700" y="2425699"/>
            <a:ext cx="2667000" cy="304800"/>
          </a:xfrm>
          <a:prstGeom prst="rect">
            <a:avLst/>
          </a:prstGeom>
          <a:noFill/>
        </p:spPr>
        <p:txBody>
          <a:bodyPr vert="horz" wrap="square" lIns="0" tIns="0" rIns="0" bIns="0" rtlCol="0" anchor="t">
            <a:noAutofit/>
          </a:bodyPr>
          <a:lstStyle/>
          <a:p>
            <a:r>
              <a:rPr lang="en-US" sz="1600" b="1">
                <a:solidFill>
                  <a:srgbClr val="0B0F19"/>
                </a:solidFill>
                <a:latin typeface="Segoe UI" panose="020B0502040204020203" pitchFamily="34" charset="0"/>
              </a:rPr>
              <a:t>From 1.1.0.0</a:t>
            </a:r>
          </a:p>
        </p:txBody>
      </p:sp>
      <p:sp>
        <p:nvSpPr>
          <p:cNvPr id="8" name="Rectangle 7">
            <a:extLst>
              <a:ext uri="{FF2B5EF4-FFF2-40B4-BE49-F238E27FC236}">
                <a16:creationId xmlns:a16="http://schemas.microsoft.com/office/drawing/2014/main" id="{9247C50B-7888-1A8C-F7BA-7B33D2FF55C4}"/>
              </a:ext>
            </a:extLst>
          </p:cNvPr>
          <p:cNvSpPr/>
          <p:nvPr/>
        </p:nvSpPr>
        <p:spPr>
          <a:xfrm>
            <a:off x="609600" y="2755900"/>
            <a:ext cx="10972800" cy="5842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6.part-217">
            <a:extLst>
              <a:ext uri="{FF2B5EF4-FFF2-40B4-BE49-F238E27FC236}">
                <a16:creationId xmlns:a16="http://schemas.microsoft.com/office/drawing/2014/main" id="{057888B7-A599-0182-912E-2D136359F7E5}"/>
              </a:ext>
            </a:extLst>
          </p:cNvPr>
          <p:cNvSpPr txBox="1"/>
          <p:nvPr/>
        </p:nvSpPr>
        <p:spPr>
          <a:xfrm>
            <a:off x="749300" y="2895599"/>
            <a:ext cx="1524000" cy="330200"/>
          </a:xfrm>
          <a:prstGeom prst="rect">
            <a:avLst/>
          </a:prstGeom>
          <a:noFill/>
        </p:spPr>
        <p:txBody>
          <a:bodyPr vert="horz" wrap="square" lIns="0" tIns="0" rIns="0" bIns="0" rtlCol="0" anchor="t">
            <a:noAutofit/>
          </a:bodyPr>
          <a:lstStyle/>
          <a:p>
            <a:r>
              <a:rPr lang="en-US" b="1">
                <a:solidFill>
                  <a:srgbClr val="82EBA6"/>
                </a:solidFill>
                <a:latin typeface="Segoe UI" panose="020B0502040204020203" pitchFamily="34" charset="0"/>
              </a:rPr>
              <a:t>Major</a:t>
            </a:r>
          </a:p>
        </p:txBody>
      </p:sp>
      <p:sp>
        <p:nvSpPr>
          <p:cNvPr id="10" name="M6.reason-217">
            <a:extLst>
              <a:ext uri="{FF2B5EF4-FFF2-40B4-BE49-F238E27FC236}">
                <a16:creationId xmlns:a16="http://schemas.microsoft.com/office/drawing/2014/main" id="{5860B04C-05B2-6D9E-EA3E-AA1B9B7F39A7}"/>
              </a:ext>
            </a:extLst>
          </p:cNvPr>
          <p:cNvSpPr txBox="1"/>
          <p:nvPr/>
        </p:nvSpPr>
        <p:spPr>
          <a:xfrm>
            <a:off x="2527300" y="2895599"/>
            <a:ext cx="5969000" cy="368300"/>
          </a:xfrm>
          <a:prstGeom prst="rect">
            <a:avLst/>
          </a:prstGeom>
          <a:noFill/>
        </p:spPr>
        <p:txBody>
          <a:bodyPr vert="horz" wrap="square" lIns="0" tIns="0" rIns="0" bIns="0" rtlCol="0" anchor="t">
            <a:noAutofit/>
          </a:bodyPr>
          <a:lstStyle/>
          <a:p>
            <a:r>
              <a:rPr lang="en-US" sz="1700">
                <a:solidFill>
                  <a:srgbClr val="FFFFFF"/>
                </a:solidFill>
                <a:latin typeface="Segoe UI" panose="020B0502040204020203" pitchFamily="34" charset="0"/>
              </a:rPr>
              <a:t>Substantial release or compatibility change</a:t>
            </a:r>
          </a:p>
        </p:txBody>
      </p:sp>
      <p:sp>
        <p:nvSpPr>
          <p:cNvPr id="11" name="M6.example-217">
            <a:extLst>
              <a:ext uri="{FF2B5EF4-FFF2-40B4-BE49-F238E27FC236}">
                <a16:creationId xmlns:a16="http://schemas.microsoft.com/office/drawing/2014/main" id="{F6DF7054-0CC2-85B8-1CB3-7899E0098039}"/>
              </a:ext>
            </a:extLst>
          </p:cNvPr>
          <p:cNvSpPr txBox="1"/>
          <p:nvPr/>
        </p:nvSpPr>
        <p:spPr>
          <a:xfrm>
            <a:off x="8775700" y="2857499"/>
            <a:ext cx="2667000" cy="3810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2.0.0.0</a:t>
            </a:r>
          </a:p>
        </p:txBody>
      </p:sp>
      <p:sp>
        <p:nvSpPr>
          <p:cNvPr id="12" name="Rectangle 11">
            <a:extLst>
              <a:ext uri="{FF2B5EF4-FFF2-40B4-BE49-F238E27FC236}">
                <a16:creationId xmlns:a16="http://schemas.microsoft.com/office/drawing/2014/main" id="{C583EAED-0587-E372-74CE-E21DF261FD82}"/>
              </a:ext>
            </a:extLst>
          </p:cNvPr>
          <p:cNvSpPr/>
          <p:nvPr/>
        </p:nvSpPr>
        <p:spPr>
          <a:xfrm>
            <a:off x="609600" y="3340100"/>
            <a:ext cx="10972800" cy="5842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6.part-263">
            <a:extLst>
              <a:ext uri="{FF2B5EF4-FFF2-40B4-BE49-F238E27FC236}">
                <a16:creationId xmlns:a16="http://schemas.microsoft.com/office/drawing/2014/main" id="{09048F57-28A6-4190-2349-AB905162DF18}"/>
              </a:ext>
            </a:extLst>
          </p:cNvPr>
          <p:cNvSpPr txBox="1"/>
          <p:nvPr/>
        </p:nvSpPr>
        <p:spPr>
          <a:xfrm>
            <a:off x="749300" y="3479799"/>
            <a:ext cx="1524000" cy="330200"/>
          </a:xfrm>
          <a:prstGeom prst="rect">
            <a:avLst/>
          </a:prstGeom>
          <a:noFill/>
        </p:spPr>
        <p:txBody>
          <a:bodyPr vert="horz" wrap="square" lIns="0" tIns="0" rIns="0" bIns="0" rtlCol="0" anchor="t">
            <a:noAutofit/>
          </a:bodyPr>
          <a:lstStyle/>
          <a:p>
            <a:r>
              <a:rPr lang="en-US" b="1">
                <a:solidFill>
                  <a:srgbClr val="82EBA6"/>
                </a:solidFill>
                <a:latin typeface="Segoe UI" panose="020B0502040204020203" pitchFamily="34" charset="0"/>
              </a:rPr>
              <a:t>Minor</a:t>
            </a:r>
          </a:p>
        </p:txBody>
      </p:sp>
      <p:sp>
        <p:nvSpPr>
          <p:cNvPr id="14" name="M6.reason-263">
            <a:extLst>
              <a:ext uri="{FF2B5EF4-FFF2-40B4-BE49-F238E27FC236}">
                <a16:creationId xmlns:a16="http://schemas.microsoft.com/office/drawing/2014/main" id="{8C7222B5-84F6-5AF0-B8B6-631297D5F12C}"/>
              </a:ext>
            </a:extLst>
          </p:cNvPr>
          <p:cNvSpPr txBox="1"/>
          <p:nvPr/>
        </p:nvSpPr>
        <p:spPr>
          <a:xfrm>
            <a:off x="2527300" y="3479799"/>
            <a:ext cx="5969000" cy="368300"/>
          </a:xfrm>
          <a:prstGeom prst="rect">
            <a:avLst/>
          </a:prstGeom>
          <a:noFill/>
        </p:spPr>
        <p:txBody>
          <a:bodyPr vert="horz" wrap="square" lIns="0" tIns="0" rIns="0" bIns="0" rtlCol="0" anchor="t">
            <a:noAutofit/>
          </a:bodyPr>
          <a:lstStyle/>
          <a:p>
            <a:r>
              <a:rPr lang="en-US" sz="1700">
                <a:solidFill>
                  <a:srgbClr val="FFFFFF"/>
                </a:solidFill>
                <a:latin typeface="Segoe UI" panose="020B0502040204020203" pitchFamily="34" charset="0"/>
              </a:rPr>
              <a:t>New functionality in the current major release</a:t>
            </a:r>
          </a:p>
        </p:txBody>
      </p:sp>
      <p:sp>
        <p:nvSpPr>
          <p:cNvPr id="15" name="M6.example-263">
            <a:extLst>
              <a:ext uri="{FF2B5EF4-FFF2-40B4-BE49-F238E27FC236}">
                <a16:creationId xmlns:a16="http://schemas.microsoft.com/office/drawing/2014/main" id="{F5E46967-2628-0B68-3049-A3086FD4E33E}"/>
              </a:ext>
            </a:extLst>
          </p:cNvPr>
          <p:cNvSpPr txBox="1"/>
          <p:nvPr/>
        </p:nvSpPr>
        <p:spPr>
          <a:xfrm>
            <a:off x="8775700" y="3441699"/>
            <a:ext cx="2667000" cy="3810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1.2.0.0</a:t>
            </a:r>
          </a:p>
        </p:txBody>
      </p:sp>
      <p:sp>
        <p:nvSpPr>
          <p:cNvPr id="16" name="Rectangle 15">
            <a:extLst>
              <a:ext uri="{FF2B5EF4-FFF2-40B4-BE49-F238E27FC236}">
                <a16:creationId xmlns:a16="http://schemas.microsoft.com/office/drawing/2014/main" id="{4AD21467-F231-0134-A244-61F5628E8A90}"/>
              </a:ext>
            </a:extLst>
          </p:cNvPr>
          <p:cNvSpPr/>
          <p:nvPr/>
        </p:nvSpPr>
        <p:spPr>
          <a:xfrm>
            <a:off x="609600" y="3924300"/>
            <a:ext cx="10972800" cy="5842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M6.part-309">
            <a:extLst>
              <a:ext uri="{FF2B5EF4-FFF2-40B4-BE49-F238E27FC236}">
                <a16:creationId xmlns:a16="http://schemas.microsoft.com/office/drawing/2014/main" id="{50904A23-885F-E0D4-9CD9-52F59ED3C23D}"/>
              </a:ext>
            </a:extLst>
          </p:cNvPr>
          <p:cNvSpPr txBox="1"/>
          <p:nvPr/>
        </p:nvSpPr>
        <p:spPr>
          <a:xfrm>
            <a:off x="749300" y="4063999"/>
            <a:ext cx="1524000" cy="330200"/>
          </a:xfrm>
          <a:prstGeom prst="rect">
            <a:avLst/>
          </a:prstGeom>
          <a:noFill/>
        </p:spPr>
        <p:txBody>
          <a:bodyPr vert="horz" wrap="square" lIns="0" tIns="0" rIns="0" bIns="0" rtlCol="0" anchor="t">
            <a:noAutofit/>
          </a:bodyPr>
          <a:lstStyle/>
          <a:p>
            <a:r>
              <a:rPr lang="en-US" b="1">
                <a:solidFill>
                  <a:srgbClr val="82EBA6"/>
                </a:solidFill>
                <a:latin typeface="Segoe UI" panose="020B0502040204020203" pitchFamily="34" charset="0"/>
              </a:rPr>
              <a:t>Build</a:t>
            </a:r>
          </a:p>
        </p:txBody>
      </p:sp>
      <p:sp>
        <p:nvSpPr>
          <p:cNvPr id="18" name="M6.reason-309">
            <a:extLst>
              <a:ext uri="{FF2B5EF4-FFF2-40B4-BE49-F238E27FC236}">
                <a16:creationId xmlns:a16="http://schemas.microsoft.com/office/drawing/2014/main" id="{1B0F666D-8ECF-E019-6AB5-63793393A86D}"/>
              </a:ext>
            </a:extLst>
          </p:cNvPr>
          <p:cNvSpPr txBox="1"/>
          <p:nvPr/>
        </p:nvSpPr>
        <p:spPr>
          <a:xfrm>
            <a:off x="2527300" y="4063999"/>
            <a:ext cx="5969000" cy="368300"/>
          </a:xfrm>
          <a:prstGeom prst="rect">
            <a:avLst/>
          </a:prstGeom>
          <a:noFill/>
        </p:spPr>
        <p:txBody>
          <a:bodyPr vert="horz" wrap="square" lIns="0" tIns="0" rIns="0" bIns="0" rtlCol="0" anchor="t">
            <a:noAutofit/>
          </a:bodyPr>
          <a:lstStyle/>
          <a:p>
            <a:r>
              <a:rPr lang="en-US" sz="1700">
                <a:solidFill>
                  <a:srgbClr val="FFFFFF"/>
                </a:solidFill>
                <a:latin typeface="Segoe UI" panose="020B0502040204020203" pitchFamily="34" charset="0"/>
              </a:rPr>
              <a:t>New packaged build, often automated</a:t>
            </a:r>
          </a:p>
        </p:txBody>
      </p:sp>
      <p:sp>
        <p:nvSpPr>
          <p:cNvPr id="19" name="M6.example-309">
            <a:extLst>
              <a:ext uri="{FF2B5EF4-FFF2-40B4-BE49-F238E27FC236}">
                <a16:creationId xmlns:a16="http://schemas.microsoft.com/office/drawing/2014/main" id="{A3308A41-A812-D141-3A1F-9179A827DB76}"/>
              </a:ext>
            </a:extLst>
          </p:cNvPr>
          <p:cNvSpPr txBox="1"/>
          <p:nvPr/>
        </p:nvSpPr>
        <p:spPr>
          <a:xfrm>
            <a:off x="8775700" y="4025899"/>
            <a:ext cx="2667000" cy="3810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1.1.1.0</a:t>
            </a:r>
          </a:p>
        </p:txBody>
      </p:sp>
      <p:sp>
        <p:nvSpPr>
          <p:cNvPr id="20" name="Rectangle 19">
            <a:extLst>
              <a:ext uri="{FF2B5EF4-FFF2-40B4-BE49-F238E27FC236}">
                <a16:creationId xmlns:a16="http://schemas.microsoft.com/office/drawing/2014/main" id="{7D3AE278-6D3A-29EE-400C-15A2CC30E219}"/>
              </a:ext>
            </a:extLst>
          </p:cNvPr>
          <p:cNvSpPr/>
          <p:nvPr/>
        </p:nvSpPr>
        <p:spPr>
          <a:xfrm>
            <a:off x="609600" y="4508500"/>
            <a:ext cx="10972800" cy="5842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M6.part-355">
            <a:extLst>
              <a:ext uri="{FF2B5EF4-FFF2-40B4-BE49-F238E27FC236}">
                <a16:creationId xmlns:a16="http://schemas.microsoft.com/office/drawing/2014/main" id="{8857D3D8-73CF-8272-83BB-F840D979C574}"/>
              </a:ext>
            </a:extLst>
          </p:cNvPr>
          <p:cNvSpPr txBox="1"/>
          <p:nvPr/>
        </p:nvSpPr>
        <p:spPr>
          <a:xfrm>
            <a:off x="749300" y="4648199"/>
            <a:ext cx="1524000" cy="330200"/>
          </a:xfrm>
          <a:prstGeom prst="rect">
            <a:avLst/>
          </a:prstGeom>
          <a:noFill/>
        </p:spPr>
        <p:txBody>
          <a:bodyPr vert="horz" wrap="square" lIns="0" tIns="0" rIns="0" bIns="0" rtlCol="0" anchor="t">
            <a:noAutofit/>
          </a:bodyPr>
          <a:lstStyle/>
          <a:p>
            <a:r>
              <a:rPr lang="en-US" b="1">
                <a:solidFill>
                  <a:srgbClr val="82EBA6"/>
                </a:solidFill>
                <a:latin typeface="Segoe UI" panose="020B0502040204020203" pitchFamily="34" charset="0"/>
              </a:rPr>
              <a:t>Revision</a:t>
            </a:r>
          </a:p>
        </p:txBody>
      </p:sp>
      <p:sp>
        <p:nvSpPr>
          <p:cNvPr id="22" name="M6.reason-355">
            <a:extLst>
              <a:ext uri="{FF2B5EF4-FFF2-40B4-BE49-F238E27FC236}">
                <a16:creationId xmlns:a16="http://schemas.microsoft.com/office/drawing/2014/main" id="{CBEFA9FE-4CE3-12C6-88B3-793BBC050A9B}"/>
              </a:ext>
            </a:extLst>
          </p:cNvPr>
          <p:cNvSpPr txBox="1"/>
          <p:nvPr/>
        </p:nvSpPr>
        <p:spPr>
          <a:xfrm>
            <a:off x="2527300" y="4648199"/>
            <a:ext cx="5969000" cy="368300"/>
          </a:xfrm>
          <a:prstGeom prst="rect">
            <a:avLst/>
          </a:prstGeom>
          <a:noFill/>
        </p:spPr>
        <p:txBody>
          <a:bodyPr vert="horz" wrap="square" lIns="0" tIns="0" rIns="0" bIns="0" rtlCol="0" anchor="t">
            <a:noAutofit/>
          </a:bodyPr>
          <a:lstStyle/>
          <a:p>
            <a:r>
              <a:rPr lang="en-US" sz="1700">
                <a:solidFill>
                  <a:srgbClr val="FFFFFF"/>
                </a:solidFill>
                <a:latin typeface="Segoe UI" panose="020B0502040204020203" pitchFamily="34" charset="0"/>
              </a:rPr>
              <a:t>Small correction or revised package</a:t>
            </a:r>
          </a:p>
        </p:txBody>
      </p:sp>
      <p:sp>
        <p:nvSpPr>
          <p:cNvPr id="23" name="M6.example-355">
            <a:extLst>
              <a:ext uri="{FF2B5EF4-FFF2-40B4-BE49-F238E27FC236}">
                <a16:creationId xmlns:a16="http://schemas.microsoft.com/office/drawing/2014/main" id="{0202E4FC-9E47-11FD-27B2-4D35F5C8EE7B}"/>
              </a:ext>
            </a:extLst>
          </p:cNvPr>
          <p:cNvSpPr txBox="1"/>
          <p:nvPr/>
        </p:nvSpPr>
        <p:spPr>
          <a:xfrm>
            <a:off x="8775700" y="4610099"/>
            <a:ext cx="2667000" cy="3810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1.1.0.1</a:t>
            </a:r>
          </a:p>
        </p:txBody>
      </p:sp>
      <p:sp>
        <p:nvSpPr>
          <p:cNvPr id="24" name="M6.convention">
            <a:extLst>
              <a:ext uri="{FF2B5EF4-FFF2-40B4-BE49-F238E27FC236}">
                <a16:creationId xmlns:a16="http://schemas.microsoft.com/office/drawing/2014/main" id="{17860320-9DC0-2216-A4C2-19C2C587B4B5}"/>
              </a:ext>
            </a:extLst>
          </p:cNvPr>
          <p:cNvSpPr txBox="1"/>
          <p:nvPr/>
        </p:nvSpPr>
        <p:spPr>
          <a:xfrm>
            <a:off x="609600" y="5232399"/>
            <a:ext cx="10972800" cy="317500"/>
          </a:xfrm>
          <a:prstGeom prst="rect">
            <a:avLst/>
          </a:prstGeom>
          <a:noFill/>
        </p:spPr>
        <p:txBody>
          <a:bodyPr vert="horz" wrap="square" lIns="0" tIns="0" rIns="0" bIns="0" rtlCol="0" anchor="t">
            <a:noAutofit/>
          </a:bodyPr>
          <a:lstStyle/>
          <a:p>
            <a:r>
              <a:rPr lang="en-US" sz="1600">
                <a:solidFill>
                  <a:srgbClr val="FFFFFF"/>
                </a:solidFill>
                <a:latin typeface="Segoe UI" panose="020B0502040204020203" pitchFamily="34" charset="0"/>
              </a:rPr>
              <a:t>These are release conventions; the platform does not infer change impact.</a:t>
            </a:r>
          </a:p>
        </p:txBody>
      </p:sp>
      <p:sp>
        <p:nvSpPr>
          <p:cNvPr id="25" name="Rectangle 24">
            <a:extLst>
              <a:ext uri="{FF2B5EF4-FFF2-40B4-BE49-F238E27FC236}">
                <a16:creationId xmlns:a16="http://schemas.microsoft.com/office/drawing/2014/main" id="{566C5397-7E9C-4EEC-914B-705B8E99C7C3}"/>
              </a:ext>
            </a:extLst>
          </p:cNvPr>
          <p:cNvSpPr/>
          <p:nvPr/>
        </p:nvSpPr>
        <p:spPr>
          <a:xfrm>
            <a:off x="609600" y="5689600"/>
            <a:ext cx="10972800" cy="8255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6.lab-version-label">
            <a:extLst>
              <a:ext uri="{FF2B5EF4-FFF2-40B4-BE49-F238E27FC236}">
                <a16:creationId xmlns:a16="http://schemas.microsoft.com/office/drawing/2014/main" id="{0E47663B-C534-63D2-D0C9-065B37128BD3}"/>
              </a:ext>
            </a:extLst>
          </p:cNvPr>
          <p:cNvSpPr txBox="1"/>
          <p:nvPr/>
        </p:nvSpPr>
        <p:spPr>
          <a:xfrm>
            <a:off x="787400" y="5803900"/>
            <a:ext cx="10617200" cy="254000"/>
          </a:xfrm>
          <a:prstGeom prst="rect">
            <a:avLst/>
          </a:prstGeom>
          <a:noFill/>
        </p:spPr>
        <p:txBody>
          <a:bodyPr vert="horz" wrap="square" lIns="0" tIns="0" rIns="0" bIns="0" rtlCol="0" anchor="t">
            <a:noAutofit/>
          </a:bodyPr>
          <a:lstStyle/>
          <a:p>
            <a:r>
              <a:rPr lang="en-US" sz="1300" b="1">
                <a:solidFill>
                  <a:srgbClr val="82EBA6"/>
                </a:solidFill>
                <a:latin typeface="Segoe UI" panose="020B0502040204020203" pitchFamily="34" charset="0"/>
              </a:rPr>
              <a:t>IN THIS LAB</a:t>
            </a:r>
          </a:p>
        </p:txBody>
      </p:sp>
      <p:sp>
        <p:nvSpPr>
          <p:cNvPr id="27" name="M6.lab-versions">
            <a:extLst>
              <a:ext uri="{FF2B5EF4-FFF2-40B4-BE49-F238E27FC236}">
                <a16:creationId xmlns:a16="http://schemas.microsoft.com/office/drawing/2014/main" id="{9BF5A8C1-E0FF-4776-0D2B-75034E266D77}"/>
              </a:ext>
            </a:extLst>
          </p:cNvPr>
          <p:cNvSpPr txBox="1"/>
          <p:nvPr/>
        </p:nvSpPr>
        <p:spPr>
          <a:xfrm>
            <a:off x="787400" y="6121399"/>
            <a:ext cx="10617200" cy="3302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Library 1.0.0.0 → 1.0.0.1  |  Main 1.1.0.0 → 1.1.0.1</a:t>
            </a:r>
          </a:p>
        </p:txBody>
      </p:sp>
    </p:spTree>
    <p:custDataLst>
      <p:tags r:id="rId1"/>
    </p:custDataLst>
    <p:extLst>
      <p:ext uri="{BB962C8B-B14F-4D97-AF65-F5344CB8AC3E}">
        <p14:creationId xmlns:p14="http://schemas.microsoft.com/office/powerpoint/2010/main" val="8959836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87472" name="Rectangle: Rounded Corners 187471">
            <a:extLst>
              <a:ext uri="{FF2B5EF4-FFF2-40B4-BE49-F238E27FC236}">
                <a16:creationId xmlns:a16="http://schemas.microsoft.com/office/drawing/2014/main" id="{99350BC0-1515-7FBA-CFD7-F58B9234B436}"/>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232EF945-6D66-BB2D-F70D-8F6935AE9D33}"/>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Lab 6 · Deploy the Control Tower</a:t>
            </a:r>
          </a:p>
        </p:txBody>
      </p:sp>
      <p:sp>
        <p:nvSpPr>
          <p:cNvPr id="3" name="Rectangle: Rounded Corners 2">
            <a:extLst>
              <a:ext uri="{FF2B5EF4-FFF2-40B4-BE49-F238E27FC236}">
                <a16:creationId xmlns:a16="http://schemas.microsoft.com/office/drawing/2014/main" id="{33E291F8-8408-9AD1-1E24-FB93E4390B50}"/>
              </a:ext>
            </a:extLst>
          </p:cNvPr>
          <p:cNvSpPr/>
          <p:nvPr/>
        </p:nvSpPr>
        <p:spPr>
          <a:xfrm>
            <a:off x="2171700" y="393700"/>
            <a:ext cx="3937000" cy="3429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6.lab-tag">
            <a:extLst>
              <a:ext uri="{FF2B5EF4-FFF2-40B4-BE49-F238E27FC236}">
                <a16:creationId xmlns:a16="http://schemas.microsoft.com/office/drawing/2014/main" id="{42DD631F-3F36-B2E2-8F54-E68692A693EE}"/>
              </a:ext>
            </a:extLst>
          </p:cNvPr>
          <p:cNvSpPr txBox="1"/>
          <p:nvPr/>
        </p:nvSpPr>
        <p:spPr>
          <a:xfrm>
            <a:off x="2311400" y="444500"/>
            <a:ext cx="3670300" cy="254000"/>
          </a:xfrm>
          <a:prstGeom prst="rect">
            <a:avLst/>
          </a:prstGeom>
          <a:noFill/>
        </p:spPr>
        <p:txBody>
          <a:bodyPr vert="horz" wrap="square" lIns="0" tIns="0" rIns="0" bIns="0" rtlCol="0" anchor="t">
            <a:noAutofit/>
          </a:bodyPr>
          <a:lstStyle/>
          <a:p>
            <a:r>
              <a:rPr lang="en-US" sz="1300" b="1">
                <a:solidFill>
                  <a:srgbClr val="0B0F19"/>
                </a:solidFill>
                <a:latin typeface="Segoe UI" panose="020B0502040204020203" pitchFamily="34" charset="0"/>
              </a:rPr>
              <a:t>LAB 6</a:t>
            </a:r>
          </a:p>
        </p:txBody>
      </p:sp>
      <p:sp>
        <p:nvSpPr>
          <p:cNvPr id="5" name="Rectangle 4">
            <a:extLst>
              <a:ext uri="{FF2B5EF4-FFF2-40B4-BE49-F238E27FC236}">
                <a16:creationId xmlns:a16="http://schemas.microsoft.com/office/drawing/2014/main" id="{E0351253-9067-3870-3868-6489E40C667A}"/>
              </a:ext>
            </a:extLst>
          </p:cNvPr>
          <p:cNvSpPr/>
          <p:nvPr/>
        </p:nvSpPr>
        <p:spPr>
          <a:xfrm>
            <a:off x="609600" y="1663700"/>
            <a:ext cx="10972800" cy="4318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M6.overview-label-131">
            <a:extLst>
              <a:ext uri="{FF2B5EF4-FFF2-40B4-BE49-F238E27FC236}">
                <a16:creationId xmlns:a16="http://schemas.microsoft.com/office/drawing/2014/main" id="{16F0871B-7AE2-5908-79FD-4EEEFFA8D174}"/>
              </a:ext>
            </a:extLst>
          </p:cNvPr>
          <p:cNvSpPr txBox="1"/>
          <p:nvPr/>
        </p:nvSpPr>
        <p:spPr>
          <a:xfrm>
            <a:off x="762000" y="1727199"/>
            <a:ext cx="1828800" cy="3683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OBJECTIVE</a:t>
            </a:r>
          </a:p>
        </p:txBody>
      </p:sp>
      <p:sp>
        <p:nvSpPr>
          <p:cNvPr id="7" name="M6.overview-body-131">
            <a:extLst>
              <a:ext uri="{FF2B5EF4-FFF2-40B4-BE49-F238E27FC236}">
                <a16:creationId xmlns:a16="http://schemas.microsoft.com/office/drawing/2014/main" id="{EDCFF4A3-18ED-C1CD-E35A-1AA1F6D7A3E2}"/>
              </a:ext>
            </a:extLst>
          </p:cNvPr>
          <p:cNvSpPr txBox="1"/>
          <p:nvPr/>
        </p:nvSpPr>
        <p:spPr>
          <a:xfrm>
            <a:off x="2743200" y="1727199"/>
            <a:ext cx="8636000" cy="368300"/>
          </a:xfrm>
          <a:prstGeom prst="rect">
            <a:avLst/>
          </a:prstGeom>
          <a:noFill/>
        </p:spPr>
        <p:txBody>
          <a:bodyPr vert="horz" wrap="square" lIns="0" tIns="0" rIns="0" bIns="0" rtlCol="0" anchor="t">
            <a:noAutofit/>
          </a:bodyPr>
          <a:lstStyle/>
          <a:p>
            <a:r>
              <a:rPr lang="en-US">
                <a:solidFill>
                  <a:srgbClr val="FFFFFF"/>
                </a:solidFill>
                <a:latin typeface="Segoe UI" panose="020B0502040204020203" pitchFamily="34" charset="0"/>
              </a:rPr>
              <a:t>Install two managed solutions in TARGET, in dependency order.</a:t>
            </a:r>
          </a:p>
        </p:txBody>
      </p:sp>
      <p:sp>
        <p:nvSpPr>
          <p:cNvPr id="8" name="Rectangle 7">
            <a:extLst>
              <a:ext uri="{FF2B5EF4-FFF2-40B4-BE49-F238E27FC236}">
                <a16:creationId xmlns:a16="http://schemas.microsoft.com/office/drawing/2014/main" id="{850598A3-9E81-EACA-782A-98BDF71BEBBC}"/>
              </a:ext>
            </a:extLst>
          </p:cNvPr>
          <p:cNvSpPr/>
          <p:nvPr/>
        </p:nvSpPr>
        <p:spPr>
          <a:xfrm>
            <a:off x="609600" y="2146300"/>
            <a:ext cx="10972800" cy="7366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6.overview-label-169">
            <a:extLst>
              <a:ext uri="{FF2B5EF4-FFF2-40B4-BE49-F238E27FC236}">
                <a16:creationId xmlns:a16="http://schemas.microsoft.com/office/drawing/2014/main" id="{BC269C98-3C75-079D-3275-C3292EE80058}"/>
              </a:ext>
            </a:extLst>
          </p:cNvPr>
          <p:cNvSpPr txBox="1"/>
          <p:nvPr/>
        </p:nvSpPr>
        <p:spPr>
          <a:xfrm>
            <a:off x="762000" y="2209799"/>
            <a:ext cx="1828800" cy="6731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STARTING POINT</a:t>
            </a:r>
          </a:p>
        </p:txBody>
      </p:sp>
      <p:sp>
        <p:nvSpPr>
          <p:cNvPr id="10" name="M6.overview-body-169">
            <a:extLst>
              <a:ext uri="{FF2B5EF4-FFF2-40B4-BE49-F238E27FC236}">
                <a16:creationId xmlns:a16="http://schemas.microsoft.com/office/drawing/2014/main" id="{35C356C0-8BFE-8602-F318-F56D42B66EAC}"/>
              </a:ext>
            </a:extLst>
          </p:cNvPr>
          <p:cNvSpPr txBox="1"/>
          <p:nvPr/>
        </p:nvSpPr>
        <p:spPr>
          <a:xfrm>
            <a:off x="2743200" y="2209799"/>
            <a:ext cx="8636000" cy="673100"/>
          </a:xfrm>
          <a:prstGeom prst="rect">
            <a:avLst/>
          </a:prstGeom>
          <a:noFill/>
        </p:spPr>
        <p:txBody>
          <a:bodyPr vert="horz" wrap="square" lIns="0" tIns="0" rIns="0" bIns="0" rtlCol="0" anchor="t">
            <a:noAutofit/>
          </a:bodyPr>
          <a:lstStyle/>
          <a:p>
            <a:r>
              <a:rPr lang="en-US">
                <a:solidFill>
                  <a:srgbClr val="FFFFFF"/>
                </a:solidFill>
                <a:latin typeface="Segoe UI" panose="020B0502040204020203" pitchFamily="34" charset="0"/>
              </a:rPr>
              <a:t>Completed components in DEV; assigned pipeline and TARGET;</a:t>
            </a:r>
          </a:p>
          <a:p>
            <a:r>
              <a:rPr lang="en-US">
                <a:solidFill>
                  <a:srgbClr val="FFFFFF"/>
                </a:solidFill>
                <a:latin typeface="Segoe UI" panose="020B0502040204020203" pitchFamily="34" charset="0"/>
              </a:rPr>
              <a:t>demo account for deployment-time connections.</a:t>
            </a:r>
          </a:p>
        </p:txBody>
      </p:sp>
      <p:sp>
        <p:nvSpPr>
          <p:cNvPr id="11" name="Rectangle 10">
            <a:extLst>
              <a:ext uri="{FF2B5EF4-FFF2-40B4-BE49-F238E27FC236}">
                <a16:creationId xmlns:a16="http://schemas.microsoft.com/office/drawing/2014/main" id="{67252083-3508-7415-FC16-2CF315703487}"/>
              </a:ext>
            </a:extLst>
          </p:cNvPr>
          <p:cNvSpPr/>
          <p:nvPr/>
        </p:nvSpPr>
        <p:spPr>
          <a:xfrm>
            <a:off x="609600" y="2933700"/>
            <a:ext cx="10972800" cy="10541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6.overview-label-231">
            <a:extLst>
              <a:ext uri="{FF2B5EF4-FFF2-40B4-BE49-F238E27FC236}">
                <a16:creationId xmlns:a16="http://schemas.microsoft.com/office/drawing/2014/main" id="{9428E4A1-8B29-584B-5D64-5D5B73EF2C7D}"/>
              </a:ext>
            </a:extLst>
          </p:cNvPr>
          <p:cNvSpPr txBox="1"/>
          <p:nvPr/>
        </p:nvSpPr>
        <p:spPr>
          <a:xfrm>
            <a:off x="762000" y="2997199"/>
            <a:ext cx="1828800" cy="9906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MAJOR TASKS</a:t>
            </a:r>
          </a:p>
        </p:txBody>
      </p:sp>
      <p:sp>
        <p:nvSpPr>
          <p:cNvPr id="13" name="M6.overview-body-231">
            <a:extLst>
              <a:ext uri="{FF2B5EF4-FFF2-40B4-BE49-F238E27FC236}">
                <a16:creationId xmlns:a16="http://schemas.microsoft.com/office/drawing/2014/main" id="{A6949F6B-7705-0B95-D9BF-D8AD9BDA0ED1}"/>
              </a:ext>
            </a:extLst>
          </p:cNvPr>
          <p:cNvSpPr txBox="1"/>
          <p:nvPr/>
        </p:nvSpPr>
        <p:spPr>
          <a:xfrm>
            <a:off x="2743200" y="2997199"/>
            <a:ext cx="8636000" cy="990600"/>
          </a:xfrm>
          <a:prstGeom prst="rect">
            <a:avLst/>
          </a:prstGeom>
          <a:noFill/>
        </p:spPr>
        <p:txBody>
          <a:bodyPr vert="horz" wrap="square" lIns="0" tIns="0" rIns="0" bIns="0" rtlCol="0" anchor="t">
            <a:noAutofit/>
          </a:bodyPr>
          <a:lstStyle/>
          <a:p>
            <a:r>
              <a:rPr lang="en-US">
                <a:solidFill>
                  <a:srgbClr val="FFFFFF"/>
                </a:solidFill>
                <a:latin typeface="Segoe UI" panose="020B0502040204020203" pitchFamily="34" charset="0"/>
              </a:rPr>
              <a:t>1 Create library · 2 Increase versions</a:t>
            </a:r>
          </a:p>
          <a:p>
            <a:r>
              <a:rPr lang="en-US">
                <a:solidFill>
                  <a:srgbClr val="FFFFFF"/>
                </a:solidFill>
                <a:latin typeface="Segoe UI" panose="020B0502040204020203" pitchFamily="34" charset="0"/>
              </a:rPr>
              <a:t>3 Deploy library · 4 Deploy main · 5 Confirm installation</a:t>
            </a:r>
          </a:p>
        </p:txBody>
      </p:sp>
      <p:sp>
        <p:nvSpPr>
          <p:cNvPr id="14" name="Rectangle 13">
            <a:extLst>
              <a:ext uri="{FF2B5EF4-FFF2-40B4-BE49-F238E27FC236}">
                <a16:creationId xmlns:a16="http://schemas.microsoft.com/office/drawing/2014/main" id="{6E720B5B-597A-DA35-341C-AB885B7563AE}"/>
              </a:ext>
            </a:extLst>
          </p:cNvPr>
          <p:cNvSpPr/>
          <p:nvPr/>
        </p:nvSpPr>
        <p:spPr>
          <a:xfrm>
            <a:off x="609600" y="4025900"/>
            <a:ext cx="10972800" cy="5842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6.overview-label-317">
            <a:extLst>
              <a:ext uri="{FF2B5EF4-FFF2-40B4-BE49-F238E27FC236}">
                <a16:creationId xmlns:a16="http://schemas.microsoft.com/office/drawing/2014/main" id="{CE38337B-C720-7D53-AA34-2B4B3911E463}"/>
              </a:ext>
            </a:extLst>
          </p:cNvPr>
          <p:cNvSpPr txBox="1"/>
          <p:nvPr/>
        </p:nvSpPr>
        <p:spPr>
          <a:xfrm>
            <a:off x="762000" y="4089399"/>
            <a:ext cx="1828800" cy="5207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COMPONENTS CREATED</a:t>
            </a:r>
          </a:p>
        </p:txBody>
      </p:sp>
      <p:sp>
        <p:nvSpPr>
          <p:cNvPr id="16" name="M6.overview-body-317">
            <a:extLst>
              <a:ext uri="{FF2B5EF4-FFF2-40B4-BE49-F238E27FC236}">
                <a16:creationId xmlns:a16="http://schemas.microsoft.com/office/drawing/2014/main" id="{EA1C8178-0926-44D1-8DA8-5E0E3770F769}"/>
              </a:ext>
            </a:extLst>
          </p:cNvPr>
          <p:cNvSpPr txBox="1"/>
          <p:nvPr/>
        </p:nvSpPr>
        <p:spPr>
          <a:xfrm>
            <a:off x="2743200" y="4089399"/>
            <a:ext cx="8636000" cy="520700"/>
          </a:xfrm>
          <a:prstGeom prst="rect">
            <a:avLst/>
          </a:prstGeom>
          <a:noFill/>
        </p:spPr>
        <p:txBody>
          <a:bodyPr vert="horz" wrap="square" lIns="0" tIns="0" rIns="0" bIns="0" rtlCol="0" anchor="t">
            <a:noAutofit/>
          </a:bodyPr>
          <a:lstStyle/>
          <a:p>
            <a:r>
              <a:rPr lang="en-US">
                <a:solidFill>
                  <a:srgbClr val="FFFFFF"/>
                </a:solidFill>
                <a:latin typeface="Segoe UI" panose="020B0502040204020203" pitchFamily="34" charset="0"/>
              </a:rPr>
              <a:t>Business Skills library + two managed TARGET installations</a:t>
            </a:r>
          </a:p>
        </p:txBody>
      </p:sp>
      <p:sp>
        <p:nvSpPr>
          <p:cNvPr id="17" name="Rectangle 16">
            <a:extLst>
              <a:ext uri="{FF2B5EF4-FFF2-40B4-BE49-F238E27FC236}">
                <a16:creationId xmlns:a16="http://schemas.microsoft.com/office/drawing/2014/main" id="{417B1424-6415-A1BD-CAEF-001EAD3C0041}"/>
              </a:ext>
            </a:extLst>
          </p:cNvPr>
          <p:cNvSpPr/>
          <p:nvPr/>
        </p:nvSpPr>
        <p:spPr>
          <a:xfrm>
            <a:off x="609600" y="4660900"/>
            <a:ext cx="10972800" cy="4318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M6.overview-label-367">
            <a:extLst>
              <a:ext uri="{FF2B5EF4-FFF2-40B4-BE49-F238E27FC236}">
                <a16:creationId xmlns:a16="http://schemas.microsoft.com/office/drawing/2014/main" id="{9602C393-B21B-DE95-2EAD-AF6DC2819A1F}"/>
              </a:ext>
            </a:extLst>
          </p:cNvPr>
          <p:cNvSpPr txBox="1"/>
          <p:nvPr/>
        </p:nvSpPr>
        <p:spPr>
          <a:xfrm>
            <a:off x="762000" y="4724399"/>
            <a:ext cx="1828800" cy="3683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DEPENDS ON</a:t>
            </a:r>
          </a:p>
        </p:txBody>
      </p:sp>
      <p:sp>
        <p:nvSpPr>
          <p:cNvPr id="19" name="M6.overview-body-367">
            <a:extLst>
              <a:ext uri="{FF2B5EF4-FFF2-40B4-BE49-F238E27FC236}">
                <a16:creationId xmlns:a16="http://schemas.microsoft.com/office/drawing/2014/main" id="{22902CBC-5E1E-CCE1-DE75-80D7C0E08171}"/>
              </a:ext>
            </a:extLst>
          </p:cNvPr>
          <p:cNvSpPr txBox="1"/>
          <p:nvPr/>
        </p:nvSpPr>
        <p:spPr>
          <a:xfrm>
            <a:off x="2743200" y="4724399"/>
            <a:ext cx="8636000" cy="368300"/>
          </a:xfrm>
          <a:prstGeom prst="rect">
            <a:avLst/>
          </a:prstGeom>
          <a:noFill/>
        </p:spPr>
        <p:txBody>
          <a:bodyPr vert="horz" wrap="square" lIns="0" tIns="0" rIns="0" bIns="0" rtlCol="0" anchor="t">
            <a:noAutofit/>
          </a:bodyPr>
          <a:lstStyle/>
          <a:p>
            <a:r>
              <a:rPr lang="en-US">
                <a:solidFill>
                  <a:srgbClr val="FFFFFF"/>
                </a:solidFill>
                <a:latin typeface="Segoe UI" panose="020B0502040204020203" pitchFamily="34" charset="0"/>
              </a:rPr>
              <a:t>Modules 1–5; assigned pipeline/stage and environment access</a:t>
            </a:r>
          </a:p>
        </p:txBody>
      </p:sp>
      <p:sp>
        <p:nvSpPr>
          <p:cNvPr id="20" name="Rectangle 19">
            <a:extLst>
              <a:ext uri="{FF2B5EF4-FFF2-40B4-BE49-F238E27FC236}">
                <a16:creationId xmlns:a16="http://schemas.microsoft.com/office/drawing/2014/main" id="{0C00C843-BD2A-5A3C-5C7F-30C0FE50BA46}"/>
              </a:ext>
            </a:extLst>
          </p:cNvPr>
          <p:cNvSpPr/>
          <p:nvPr/>
        </p:nvSpPr>
        <p:spPr>
          <a:xfrm>
            <a:off x="609600" y="5143500"/>
            <a:ext cx="10972800" cy="7366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M6.overview-label-405">
            <a:extLst>
              <a:ext uri="{FF2B5EF4-FFF2-40B4-BE49-F238E27FC236}">
                <a16:creationId xmlns:a16="http://schemas.microsoft.com/office/drawing/2014/main" id="{DD69D919-EFA9-A437-F833-B69C41E843A2}"/>
              </a:ext>
            </a:extLst>
          </p:cNvPr>
          <p:cNvSpPr txBox="1"/>
          <p:nvPr/>
        </p:nvSpPr>
        <p:spPr>
          <a:xfrm>
            <a:off x="762000" y="5206999"/>
            <a:ext cx="1828800" cy="673100"/>
          </a:xfrm>
          <a:prstGeom prst="rect">
            <a:avLst/>
          </a:prstGeom>
          <a:noFill/>
        </p:spPr>
        <p:txBody>
          <a:bodyPr vert="horz" wrap="square" lIns="0" tIns="0" rIns="0" bIns="0" rtlCol="0" anchor="t">
            <a:noAutofit/>
          </a:bodyPr>
          <a:lstStyle/>
          <a:p>
            <a:r>
              <a:rPr lang="en-US" sz="1500" b="1">
                <a:solidFill>
                  <a:srgbClr val="82EBA6"/>
                </a:solidFill>
                <a:latin typeface="Segoe UI" panose="020B0502040204020203" pitchFamily="34" charset="0"/>
              </a:rPr>
              <a:t>SUCCESS LOOKS LIKE</a:t>
            </a:r>
          </a:p>
        </p:txBody>
      </p:sp>
      <p:sp>
        <p:nvSpPr>
          <p:cNvPr id="22" name="M6.overview-body-405">
            <a:extLst>
              <a:ext uri="{FF2B5EF4-FFF2-40B4-BE49-F238E27FC236}">
                <a16:creationId xmlns:a16="http://schemas.microsoft.com/office/drawing/2014/main" id="{E35150AA-19E4-E941-31D4-CAFFD0AE3109}"/>
              </a:ext>
            </a:extLst>
          </p:cNvPr>
          <p:cNvSpPr txBox="1"/>
          <p:nvPr/>
        </p:nvSpPr>
        <p:spPr>
          <a:xfrm>
            <a:off x="2743200" y="5206999"/>
            <a:ext cx="8636000" cy="673100"/>
          </a:xfrm>
          <a:prstGeom prst="rect">
            <a:avLst/>
          </a:prstGeom>
          <a:noFill/>
        </p:spPr>
        <p:txBody>
          <a:bodyPr vert="horz" wrap="square" lIns="0" tIns="0" rIns="0" bIns="0" rtlCol="0" anchor="t">
            <a:noAutofit/>
          </a:bodyPr>
          <a:lstStyle/>
          <a:p>
            <a:r>
              <a:rPr lang="en-US">
                <a:solidFill>
                  <a:srgbClr val="FFFFFF"/>
                </a:solidFill>
                <a:latin typeface="Segoe UI" panose="020B0502040204020203" pitchFamily="34" charset="0"/>
              </a:rPr>
              <a:t>Both pipeline runs Succeeded; both solutions Managed;</a:t>
            </a:r>
          </a:p>
          <a:p>
            <a:r>
              <a:rPr lang="en-US">
                <a:solidFill>
                  <a:srgbClr val="FFFFFF"/>
                </a:solidFill>
                <a:latin typeface="Segoe UI" panose="020B0502040204020203" pitchFamily="34" charset="0"/>
              </a:rPr>
              <a:t>TARGET connection bindings configured.</a:t>
            </a:r>
          </a:p>
        </p:txBody>
      </p:sp>
    </p:spTree>
    <p:custDataLst>
      <p:tags r:id="rId1"/>
    </p:custDataLst>
    <p:extLst>
      <p:ext uri="{BB962C8B-B14F-4D97-AF65-F5344CB8AC3E}">
        <p14:creationId xmlns:p14="http://schemas.microsoft.com/office/powerpoint/2010/main" val="42318086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88732" name="Rectangle: Rounded Corners 188731">
            <a:extLst>
              <a:ext uri="{FF2B5EF4-FFF2-40B4-BE49-F238E27FC236}">
                <a16:creationId xmlns:a16="http://schemas.microsoft.com/office/drawing/2014/main" id="{4C0BCE69-A70F-9375-3DEF-58A41AB52237}"/>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C881CE17-E4DB-BE28-4370-E9E4F97EEA88}"/>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Prepare the two solutions</a:t>
            </a:r>
          </a:p>
        </p:txBody>
      </p:sp>
      <p:sp>
        <p:nvSpPr>
          <p:cNvPr id="3" name="Rectangle: Rounded Corners 2">
            <a:extLst>
              <a:ext uri="{FF2B5EF4-FFF2-40B4-BE49-F238E27FC236}">
                <a16:creationId xmlns:a16="http://schemas.microsoft.com/office/drawing/2014/main" id="{CC0B0C3F-2D8A-A33F-531A-FC3F741D9761}"/>
              </a:ext>
            </a:extLst>
          </p:cNvPr>
          <p:cNvSpPr/>
          <p:nvPr/>
        </p:nvSpPr>
        <p:spPr>
          <a:xfrm>
            <a:off x="2171700" y="393700"/>
            <a:ext cx="3937000" cy="3429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6.lab-tag">
            <a:extLst>
              <a:ext uri="{FF2B5EF4-FFF2-40B4-BE49-F238E27FC236}">
                <a16:creationId xmlns:a16="http://schemas.microsoft.com/office/drawing/2014/main" id="{7AF5ADEB-54F4-6EFB-BE88-62D76886F350}"/>
              </a:ext>
            </a:extLst>
          </p:cNvPr>
          <p:cNvSpPr txBox="1"/>
          <p:nvPr/>
        </p:nvSpPr>
        <p:spPr>
          <a:xfrm>
            <a:off x="2311400" y="444500"/>
            <a:ext cx="3670300" cy="254000"/>
          </a:xfrm>
          <a:prstGeom prst="rect">
            <a:avLst/>
          </a:prstGeom>
          <a:noFill/>
        </p:spPr>
        <p:txBody>
          <a:bodyPr vert="horz" wrap="square" lIns="0" tIns="0" rIns="0" bIns="0" rtlCol="0" anchor="t">
            <a:noAutofit/>
          </a:bodyPr>
          <a:lstStyle/>
          <a:p>
            <a:r>
              <a:rPr lang="en-US" sz="1300" b="1">
                <a:solidFill>
                  <a:srgbClr val="0B0F19"/>
                </a:solidFill>
                <a:latin typeface="Segoe UI" panose="020B0502040204020203" pitchFamily="34" charset="0"/>
              </a:rPr>
              <a:t>LAB 6 · STEPS 1–2 OF 5</a:t>
            </a:r>
          </a:p>
        </p:txBody>
      </p:sp>
      <p:sp>
        <p:nvSpPr>
          <p:cNvPr id="5" name="Rectangle 4">
            <a:extLst>
              <a:ext uri="{FF2B5EF4-FFF2-40B4-BE49-F238E27FC236}">
                <a16:creationId xmlns:a16="http://schemas.microsoft.com/office/drawing/2014/main" id="{99A787B7-F4D1-731A-322B-39B19BAB694C}"/>
              </a:ext>
            </a:extLst>
          </p:cNvPr>
          <p:cNvSpPr/>
          <p:nvPr/>
        </p:nvSpPr>
        <p:spPr>
          <a:xfrm>
            <a:off x="6096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200E46E-DADF-203D-7CCE-3E083B439CD4}"/>
              </a:ext>
            </a:extLst>
          </p:cNvPr>
          <p:cNvSpPr/>
          <p:nvPr/>
        </p:nvSpPr>
        <p:spPr>
          <a:xfrm>
            <a:off x="774700" y="1828800"/>
            <a:ext cx="558800" cy="558800"/>
          </a:xfrm>
          <a:prstGeom prst="roundRect">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6.step-1">
            <a:extLst>
              <a:ext uri="{FF2B5EF4-FFF2-40B4-BE49-F238E27FC236}">
                <a16:creationId xmlns:a16="http://schemas.microsoft.com/office/drawing/2014/main" id="{3ABF63B3-4D05-4F5D-5D92-B4367639B49E}"/>
              </a:ext>
            </a:extLst>
          </p:cNvPr>
          <p:cNvSpPr txBox="1"/>
          <p:nvPr/>
        </p:nvSpPr>
        <p:spPr>
          <a:xfrm>
            <a:off x="774700" y="1892299"/>
            <a:ext cx="558800" cy="431800"/>
          </a:xfrm>
          <a:prstGeom prst="rect">
            <a:avLst/>
          </a:prstGeom>
          <a:noFill/>
        </p:spPr>
        <p:txBody>
          <a:bodyPr vert="horz" wrap="square" lIns="0" tIns="0" rIns="0" bIns="0" rtlCol="0" anchor="t">
            <a:noAutofit/>
          </a:bodyPr>
          <a:lstStyle/>
          <a:p>
            <a:pPr algn="ctr"/>
            <a:r>
              <a:rPr lang="en-US" sz="2400" b="1">
                <a:solidFill>
                  <a:srgbClr val="0B0F19"/>
                </a:solidFill>
                <a:latin typeface="Segoe UI" panose="020B0502040204020203" pitchFamily="34" charset="0"/>
              </a:rPr>
              <a:t>1</a:t>
            </a:r>
          </a:p>
        </p:txBody>
      </p:sp>
      <p:sp>
        <p:nvSpPr>
          <p:cNvPr id="8" name="M6.step-1-title">
            <a:extLst>
              <a:ext uri="{FF2B5EF4-FFF2-40B4-BE49-F238E27FC236}">
                <a16:creationId xmlns:a16="http://schemas.microsoft.com/office/drawing/2014/main" id="{AA340732-B7D6-D7DF-39DE-2590741F886F}"/>
              </a:ext>
            </a:extLst>
          </p:cNvPr>
          <p:cNvSpPr txBox="1"/>
          <p:nvPr/>
        </p:nvSpPr>
        <p:spPr>
          <a:xfrm>
            <a:off x="1574800" y="1904999"/>
            <a:ext cx="4216400" cy="495300"/>
          </a:xfrm>
          <a:prstGeom prst="rect">
            <a:avLst/>
          </a:prstGeom>
          <a:noFill/>
        </p:spPr>
        <p:txBody>
          <a:bodyPr vert="horz" wrap="square" lIns="0" tIns="0" rIns="0" bIns="0" rtlCol="0" anchor="t">
            <a:noAutofit/>
          </a:bodyPr>
          <a:lstStyle/>
          <a:p>
            <a:r>
              <a:rPr lang="en-US" sz="2100" b="1">
                <a:solidFill>
                  <a:srgbClr val="FFFFFF"/>
                </a:solidFill>
                <a:latin typeface="Segoe UI" panose="020B0502040204020203" pitchFamily="34" charset="0"/>
              </a:rPr>
              <a:t>Create the Skill library</a:t>
            </a:r>
          </a:p>
        </p:txBody>
      </p:sp>
      <p:sp>
        <p:nvSpPr>
          <p:cNvPr id="9" name="M6.step-1-body">
            <a:extLst>
              <a:ext uri="{FF2B5EF4-FFF2-40B4-BE49-F238E27FC236}">
                <a16:creationId xmlns:a16="http://schemas.microsoft.com/office/drawing/2014/main" id="{E8695D54-4A14-5426-9DC4-10D01248F06B}"/>
              </a:ext>
            </a:extLst>
          </p:cNvPr>
          <p:cNvSpPr txBox="1"/>
          <p:nvPr/>
        </p:nvSpPr>
        <p:spPr>
          <a:xfrm>
            <a:off x="863600" y="2590799"/>
            <a:ext cx="4851400" cy="26035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Create PPCC Control Tower</a:t>
            </a:r>
          </a:p>
          <a:p>
            <a:r>
              <a:rPr lang="en-US" sz="2000">
                <a:solidFill>
                  <a:srgbClr val="FFFFFF"/>
                </a:solidFill>
                <a:latin typeface="Segoe UI" panose="020B0502040204020203" pitchFamily="34" charset="0"/>
              </a:rPr>
              <a:t>Business Skills with the main</a:t>
            </a:r>
          </a:p>
          <a:p>
            <a:r>
              <a:rPr lang="en-US" sz="2000">
                <a:solidFill>
                  <a:srgbClr val="FFFFFF"/>
                </a:solidFill>
                <a:latin typeface="Segoe UI" panose="020B0502040204020203" pitchFamily="34" charset="0"/>
              </a:rPr>
              <a:t>solution's publisher.</a:t>
            </a:r>
          </a:p>
          <a:p>
            <a:endParaRPr lang="en-US" sz="2000">
              <a:solidFill>
                <a:srgbClr val="FFFFFF"/>
              </a:solidFill>
              <a:latin typeface="Segoe UI" panose="020B0502040204020203" pitchFamily="34" charset="0"/>
            </a:endParaRPr>
          </a:p>
          <a:p>
            <a:r>
              <a:rPr lang="en-US" sz="2000">
                <a:solidFill>
                  <a:srgbClr val="FFFFFF"/>
                </a:solidFill>
                <a:latin typeface="Segoe UI" panose="020B0502040204020203" pitchFamily="34" charset="0"/>
              </a:rPr>
              <a:t>Add the original Skill, then remove</a:t>
            </a:r>
          </a:p>
          <a:p>
            <a:r>
              <a:rPr lang="en-US" sz="2000">
                <a:solidFill>
                  <a:srgbClr val="FFFFFF"/>
                </a:solidFill>
                <a:latin typeface="Segoe UI" panose="020B0502040204020203" pitchFamily="34" charset="0"/>
              </a:rPr>
              <a:t>its membership from main.</a:t>
            </a:r>
          </a:p>
        </p:txBody>
      </p:sp>
      <p:sp>
        <p:nvSpPr>
          <p:cNvPr id="10" name="Rectangle 9">
            <a:extLst>
              <a:ext uri="{FF2B5EF4-FFF2-40B4-BE49-F238E27FC236}">
                <a16:creationId xmlns:a16="http://schemas.microsoft.com/office/drawing/2014/main" id="{060FFB16-D1E7-E20B-7060-5F8FD6211A46}"/>
              </a:ext>
            </a:extLst>
          </p:cNvPr>
          <p:cNvSpPr/>
          <p:nvPr/>
        </p:nvSpPr>
        <p:spPr>
          <a:xfrm>
            <a:off x="609600" y="5448300"/>
            <a:ext cx="5359400" cy="977900"/>
          </a:xfrm>
          <a:prstGeom prst="rect">
            <a:avLst/>
          </a:prstGeom>
          <a:solidFill>
            <a:srgbClr val="FFFFFF">
              <a:alpha val="22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6.step-1-check">
            <a:extLst>
              <a:ext uri="{FF2B5EF4-FFF2-40B4-BE49-F238E27FC236}">
                <a16:creationId xmlns:a16="http://schemas.microsoft.com/office/drawing/2014/main" id="{80BE2F7D-133E-F4F1-0B2C-DA8FB94FA4DE}"/>
              </a:ext>
            </a:extLst>
          </p:cNvPr>
          <p:cNvSpPr txBox="1"/>
          <p:nvPr/>
        </p:nvSpPr>
        <p:spPr>
          <a:xfrm>
            <a:off x="863600" y="5600699"/>
            <a:ext cx="4851400" cy="7366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 Original Skill and DEV feed remain.</a:t>
            </a:r>
          </a:p>
        </p:txBody>
      </p:sp>
      <p:sp>
        <p:nvSpPr>
          <p:cNvPr id="12" name="Rectangle 11">
            <a:extLst>
              <a:ext uri="{FF2B5EF4-FFF2-40B4-BE49-F238E27FC236}">
                <a16:creationId xmlns:a16="http://schemas.microsoft.com/office/drawing/2014/main" id="{16612054-2BE0-A528-60CC-00A016F660AD}"/>
              </a:ext>
            </a:extLst>
          </p:cNvPr>
          <p:cNvSpPr/>
          <p:nvPr/>
        </p:nvSpPr>
        <p:spPr>
          <a:xfrm>
            <a:off x="62230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7090ABB2-3AE7-082E-B4D7-DFF5A67445F6}"/>
              </a:ext>
            </a:extLst>
          </p:cNvPr>
          <p:cNvSpPr/>
          <p:nvPr/>
        </p:nvSpPr>
        <p:spPr>
          <a:xfrm>
            <a:off x="6388100" y="1828800"/>
            <a:ext cx="558800" cy="558800"/>
          </a:xfrm>
          <a:prstGeom prst="roundRect">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6.step-2">
            <a:extLst>
              <a:ext uri="{FF2B5EF4-FFF2-40B4-BE49-F238E27FC236}">
                <a16:creationId xmlns:a16="http://schemas.microsoft.com/office/drawing/2014/main" id="{065F2622-6F42-B77F-7E93-1229C7B12EB5}"/>
              </a:ext>
            </a:extLst>
          </p:cNvPr>
          <p:cNvSpPr txBox="1"/>
          <p:nvPr/>
        </p:nvSpPr>
        <p:spPr>
          <a:xfrm>
            <a:off x="6388100" y="1892299"/>
            <a:ext cx="558800" cy="431800"/>
          </a:xfrm>
          <a:prstGeom prst="rect">
            <a:avLst/>
          </a:prstGeom>
          <a:noFill/>
        </p:spPr>
        <p:txBody>
          <a:bodyPr vert="horz" wrap="square" lIns="0" tIns="0" rIns="0" bIns="0" rtlCol="0" anchor="t">
            <a:noAutofit/>
          </a:bodyPr>
          <a:lstStyle/>
          <a:p>
            <a:pPr algn="ctr"/>
            <a:r>
              <a:rPr lang="en-US" sz="2400" b="1">
                <a:solidFill>
                  <a:srgbClr val="0B0F19"/>
                </a:solidFill>
                <a:latin typeface="Segoe UI" panose="020B0502040204020203" pitchFamily="34" charset="0"/>
              </a:rPr>
              <a:t>2</a:t>
            </a:r>
          </a:p>
        </p:txBody>
      </p:sp>
      <p:sp>
        <p:nvSpPr>
          <p:cNvPr id="15" name="M6.step-2-title">
            <a:extLst>
              <a:ext uri="{FF2B5EF4-FFF2-40B4-BE49-F238E27FC236}">
                <a16:creationId xmlns:a16="http://schemas.microsoft.com/office/drawing/2014/main" id="{C70FC060-B647-A358-C834-0C10906EC4DA}"/>
              </a:ext>
            </a:extLst>
          </p:cNvPr>
          <p:cNvSpPr txBox="1"/>
          <p:nvPr/>
        </p:nvSpPr>
        <p:spPr>
          <a:xfrm>
            <a:off x="7188200" y="1904999"/>
            <a:ext cx="4216400" cy="495300"/>
          </a:xfrm>
          <a:prstGeom prst="rect">
            <a:avLst/>
          </a:prstGeom>
          <a:noFill/>
        </p:spPr>
        <p:txBody>
          <a:bodyPr vert="horz" wrap="square" lIns="0" tIns="0" rIns="0" bIns="0" rtlCol="0" anchor="t">
            <a:noAutofit/>
          </a:bodyPr>
          <a:lstStyle/>
          <a:p>
            <a:r>
              <a:rPr lang="en-US" sz="2100" b="1">
                <a:solidFill>
                  <a:srgbClr val="FFFFFF"/>
                </a:solidFill>
                <a:latin typeface="Segoe UI" panose="020B0502040204020203" pitchFamily="34" charset="0"/>
              </a:rPr>
              <a:t>Increase both versions</a:t>
            </a:r>
          </a:p>
        </p:txBody>
      </p:sp>
      <p:sp>
        <p:nvSpPr>
          <p:cNvPr id="16" name="M6.step-2-body">
            <a:extLst>
              <a:ext uri="{FF2B5EF4-FFF2-40B4-BE49-F238E27FC236}">
                <a16:creationId xmlns:a16="http://schemas.microsoft.com/office/drawing/2014/main" id="{688585FF-9D5D-27A3-1C96-FB3148C0D4FF}"/>
              </a:ext>
            </a:extLst>
          </p:cNvPr>
          <p:cNvSpPr txBox="1"/>
          <p:nvPr/>
        </p:nvSpPr>
        <p:spPr>
          <a:xfrm>
            <a:off x="6477000" y="2590799"/>
            <a:ext cx="4851400" cy="26035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Overview → Edit details → Version</a:t>
            </a:r>
          </a:p>
          <a:p>
            <a:endParaRPr lang="en-US" sz="2000">
              <a:solidFill>
                <a:srgbClr val="FFFFFF"/>
              </a:solidFill>
              <a:latin typeface="Segoe UI" panose="020B0502040204020203" pitchFamily="34" charset="0"/>
            </a:endParaRPr>
          </a:p>
          <a:p>
            <a:r>
              <a:rPr lang="en-US" sz="2000">
                <a:solidFill>
                  <a:srgbClr val="FFFFFF"/>
                </a:solidFill>
                <a:latin typeface="Segoe UI" panose="020B0502040204020203" pitchFamily="34" charset="0"/>
              </a:rPr>
              <a:t>Library: 1.0.0.0 → 1.0.0.1</a:t>
            </a:r>
          </a:p>
          <a:p>
            <a:r>
              <a:rPr lang="en-US" sz="2000">
                <a:solidFill>
                  <a:srgbClr val="FFFFFF"/>
                </a:solidFill>
                <a:latin typeface="Segoe UI" panose="020B0502040204020203" pitchFamily="34" charset="0"/>
              </a:rPr>
              <a:t>Main: increase its last number</a:t>
            </a:r>
          </a:p>
          <a:p>
            <a:r>
              <a:rPr lang="en-US" sz="2000">
                <a:solidFill>
                  <a:srgbClr val="FFFFFF"/>
                </a:solidFill>
                <a:latin typeface="Segoe UI" panose="020B0502040204020203" pitchFamily="34" charset="0"/>
              </a:rPr>
              <a:t>(e.g. 1.1.0.0 → 1.1.0.1)</a:t>
            </a:r>
          </a:p>
        </p:txBody>
      </p:sp>
      <p:sp>
        <p:nvSpPr>
          <p:cNvPr id="17" name="Rectangle 16">
            <a:extLst>
              <a:ext uri="{FF2B5EF4-FFF2-40B4-BE49-F238E27FC236}">
                <a16:creationId xmlns:a16="http://schemas.microsoft.com/office/drawing/2014/main" id="{B4FD7D3C-CFAD-B78C-6A67-C5A7A18FADAF}"/>
              </a:ext>
            </a:extLst>
          </p:cNvPr>
          <p:cNvSpPr/>
          <p:nvPr/>
        </p:nvSpPr>
        <p:spPr>
          <a:xfrm>
            <a:off x="6223000" y="5448300"/>
            <a:ext cx="5359400" cy="977900"/>
          </a:xfrm>
          <a:prstGeom prst="rect">
            <a:avLst/>
          </a:prstGeom>
          <a:solidFill>
            <a:srgbClr val="FFFFFF">
              <a:alpha val="22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M6.step-2-check">
            <a:extLst>
              <a:ext uri="{FF2B5EF4-FFF2-40B4-BE49-F238E27FC236}">
                <a16:creationId xmlns:a16="http://schemas.microsoft.com/office/drawing/2014/main" id="{C4DAFB22-007A-379D-9CB5-3323CC08989B}"/>
              </a:ext>
            </a:extLst>
          </p:cNvPr>
          <p:cNvSpPr txBox="1"/>
          <p:nvPr/>
        </p:nvSpPr>
        <p:spPr>
          <a:xfrm>
            <a:off x="6477000" y="5600699"/>
            <a:ext cx="4851400" cy="7366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 Both versions increased; they need not match.</a:t>
            </a:r>
          </a:p>
        </p:txBody>
      </p:sp>
    </p:spTree>
    <p:custDataLst>
      <p:tags r:id="rId1"/>
    </p:custDataLst>
    <p:extLst>
      <p:ext uri="{BB962C8B-B14F-4D97-AF65-F5344CB8AC3E}">
        <p14:creationId xmlns:p14="http://schemas.microsoft.com/office/powerpoint/2010/main" val="516407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89902" name="Rectangle: Rounded Corners 189901">
            <a:extLst>
              <a:ext uri="{FF2B5EF4-FFF2-40B4-BE49-F238E27FC236}">
                <a16:creationId xmlns:a16="http://schemas.microsoft.com/office/drawing/2014/main" id="{0209888A-C788-FDBE-E206-BFFB1D03AAB4}"/>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E2991FFC-1714-5E4A-ECAB-1E5C6B6A27D9}"/>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Deploy the Skill library first</a:t>
            </a:r>
          </a:p>
        </p:txBody>
      </p:sp>
      <p:sp>
        <p:nvSpPr>
          <p:cNvPr id="3" name="Rectangle: Rounded Corners 2">
            <a:extLst>
              <a:ext uri="{FF2B5EF4-FFF2-40B4-BE49-F238E27FC236}">
                <a16:creationId xmlns:a16="http://schemas.microsoft.com/office/drawing/2014/main" id="{5D6F9E28-5872-E88B-5705-942C26C8F403}"/>
              </a:ext>
            </a:extLst>
          </p:cNvPr>
          <p:cNvSpPr/>
          <p:nvPr/>
        </p:nvSpPr>
        <p:spPr>
          <a:xfrm>
            <a:off x="2171700" y="393700"/>
            <a:ext cx="3937000" cy="3429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6.lab-tag">
            <a:extLst>
              <a:ext uri="{FF2B5EF4-FFF2-40B4-BE49-F238E27FC236}">
                <a16:creationId xmlns:a16="http://schemas.microsoft.com/office/drawing/2014/main" id="{00A719D1-FB62-5F13-E36D-67870F4F67C8}"/>
              </a:ext>
            </a:extLst>
          </p:cNvPr>
          <p:cNvSpPr txBox="1"/>
          <p:nvPr/>
        </p:nvSpPr>
        <p:spPr>
          <a:xfrm>
            <a:off x="2311400" y="444500"/>
            <a:ext cx="3670300" cy="254000"/>
          </a:xfrm>
          <a:prstGeom prst="rect">
            <a:avLst/>
          </a:prstGeom>
          <a:noFill/>
        </p:spPr>
        <p:txBody>
          <a:bodyPr vert="horz" wrap="square" lIns="0" tIns="0" rIns="0" bIns="0" rtlCol="0" anchor="t">
            <a:noAutofit/>
          </a:bodyPr>
          <a:lstStyle/>
          <a:p>
            <a:r>
              <a:rPr lang="en-US" sz="1300" b="1">
                <a:solidFill>
                  <a:srgbClr val="0B0F19"/>
                </a:solidFill>
                <a:latin typeface="Segoe UI" panose="020B0502040204020203" pitchFamily="34" charset="0"/>
              </a:rPr>
              <a:t>LAB 6 · STEP 3 OF 5</a:t>
            </a:r>
          </a:p>
        </p:txBody>
      </p:sp>
      <p:sp>
        <p:nvSpPr>
          <p:cNvPr id="5" name="Rectangle 4">
            <a:extLst>
              <a:ext uri="{FF2B5EF4-FFF2-40B4-BE49-F238E27FC236}">
                <a16:creationId xmlns:a16="http://schemas.microsoft.com/office/drawing/2014/main" id="{88EAF19B-0604-3A4A-DA25-F6A3137D2792}"/>
              </a:ext>
            </a:extLst>
          </p:cNvPr>
          <p:cNvSpPr/>
          <p:nvPr/>
        </p:nvSpPr>
        <p:spPr>
          <a:xfrm>
            <a:off x="6096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39849AF-C4D1-F65A-3921-45E068E545A0}"/>
              </a:ext>
            </a:extLst>
          </p:cNvPr>
          <p:cNvSpPr/>
          <p:nvPr/>
        </p:nvSpPr>
        <p:spPr>
          <a:xfrm>
            <a:off x="774700" y="1828800"/>
            <a:ext cx="558800" cy="558800"/>
          </a:xfrm>
          <a:prstGeom prst="roundRect">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6.step-3">
            <a:extLst>
              <a:ext uri="{FF2B5EF4-FFF2-40B4-BE49-F238E27FC236}">
                <a16:creationId xmlns:a16="http://schemas.microsoft.com/office/drawing/2014/main" id="{40943170-83CE-797E-F8DA-140B14A55E27}"/>
              </a:ext>
            </a:extLst>
          </p:cNvPr>
          <p:cNvSpPr txBox="1"/>
          <p:nvPr/>
        </p:nvSpPr>
        <p:spPr>
          <a:xfrm>
            <a:off x="774700" y="1892299"/>
            <a:ext cx="558800" cy="431800"/>
          </a:xfrm>
          <a:prstGeom prst="rect">
            <a:avLst/>
          </a:prstGeom>
          <a:noFill/>
        </p:spPr>
        <p:txBody>
          <a:bodyPr vert="horz" wrap="square" lIns="0" tIns="0" rIns="0" bIns="0" rtlCol="0" anchor="t">
            <a:noAutofit/>
          </a:bodyPr>
          <a:lstStyle/>
          <a:p>
            <a:pPr algn="ctr"/>
            <a:r>
              <a:rPr lang="en-US" sz="2400" b="1">
                <a:solidFill>
                  <a:srgbClr val="0B0F19"/>
                </a:solidFill>
                <a:latin typeface="Segoe UI" panose="020B0502040204020203" pitchFamily="34" charset="0"/>
              </a:rPr>
              <a:t>3</a:t>
            </a:r>
          </a:p>
        </p:txBody>
      </p:sp>
      <p:sp>
        <p:nvSpPr>
          <p:cNvPr id="8" name="M6.step-3-title">
            <a:extLst>
              <a:ext uri="{FF2B5EF4-FFF2-40B4-BE49-F238E27FC236}">
                <a16:creationId xmlns:a16="http://schemas.microsoft.com/office/drawing/2014/main" id="{306CE2C0-FD41-859A-187E-2742C9683566}"/>
              </a:ext>
            </a:extLst>
          </p:cNvPr>
          <p:cNvSpPr txBox="1"/>
          <p:nvPr/>
        </p:nvSpPr>
        <p:spPr>
          <a:xfrm>
            <a:off x="1574800" y="1904999"/>
            <a:ext cx="4216400" cy="495300"/>
          </a:xfrm>
          <a:prstGeom prst="rect">
            <a:avLst/>
          </a:prstGeom>
          <a:noFill/>
        </p:spPr>
        <p:txBody>
          <a:bodyPr vert="horz" wrap="square" lIns="0" tIns="0" rIns="0" bIns="0" rtlCol="0" anchor="t">
            <a:noAutofit/>
          </a:bodyPr>
          <a:lstStyle/>
          <a:p>
            <a:r>
              <a:rPr lang="en-US" sz="2100" b="1">
                <a:solidFill>
                  <a:srgbClr val="FFFFFF"/>
                </a:solidFill>
                <a:latin typeface="Segoe UI" panose="020B0502040204020203" pitchFamily="34" charset="0"/>
              </a:rPr>
              <a:t>Deploy the prerequisite</a:t>
            </a:r>
          </a:p>
        </p:txBody>
      </p:sp>
      <p:sp>
        <p:nvSpPr>
          <p:cNvPr id="9" name="M6.step-3-body">
            <a:extLst>
              <a:ext uri="{FF2B5EF4-FFF2-40B4-BE49-F238E27FC236}">
                <a16:creationId xmlns:a16="http://schemas.microsoft.com/office/drawing/2014/main" id="{A350B225-CFA7-1569-B8DB-96AAC4491306}"/>
              </a:ext>
            </a:extLst>
          </p:cNvPr>
          <p:cNvSpPr txBox="1"/>
          <p:nvPr/>
        </p:nvSpPr>
        <p:spPr>
          <a:xfrm>
            <a:off x="863600" y="2590799"/>
            <a:ext cx="4851400" cy="26035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Open the Business Skills library</a:t>
            </a:r>
          </a:p>
          <a:p>
            <a:r>
              <a:rPr lang="en-US" sz="2000">
                <a:solidFill>
                  <a:srgbClr val="FFFFFF"/>
                </a:solidFill>
                <a:latin typeface="Segoe UI" panose="020B0502040204020203" pitchFamily="34" charset="0"/>
              </a:rPr>
              <a:t>→ Pipelines → assigned stage.</a:t>
            </a:r>
          </a:p>
          <a:p>
            <a:endParaRPr lang="en-US" sz="2000">
              <a:solidFill>
                <a:srgbClr val="FFFFFF"/>
              </a:solidFill>
              <a:latin typeface="Segoe UI" panose="020B0502040204020203" pitchFamily="34" charset="0"/>
            </a:endParaRPr>
          </a:p>
          <a:p>
            <a:r>
              <a:rPr lang="en-US" sz="2000">
                <a:solidFill>
                  <a:srgbClr val="FFFFFF"/>
                </a:solidFill>
                <a:latin typeface="Segoe UI" panose="020B0502040204020203" pitchFamily="34" charset="0"/>
              </a:rPr>
              <a:t>Confirm DEV, TARGET, and version.</a:t>
            </a:r>
          </a:p>
          <a:p>
            <a:r>
              <a:rPr lang="en-US" sz="2000">
                <a:solidFill>
                  <a:srgbClr val="FFFFFF"/>
                </a:solidFill>
                <a:latin typeface="Segoe UI" panose="020B0502040204020203" pitchFamily="34" charset="0"/>
              </a:rPr>
              <a:t>Select Deploy once.</a:t>
            </a:r>
          </a:p>
        </p:txBody>
      </p:sp>
      <p:sp>
        <p:nvSpPr>
          <p:cNvPr id="10" name="Rectangle 9">
            <a:extLst>
              <a:ext uri="{FF2B5EF4-FFF2-40B4-BE49-F238E27FC236}">
                <a16:creationId xmlns:a16="http://schemas.microsoft.com/office/drawing/2014/main" id="{A24193AE-8813-7F2D-8222-8C708DE59807}"/>
              </a:ext>
            </a:extLst>
          </p:cNvPr>
          <p:cNvSpPr/>
          <p:nvPr/>
        </p:nvSpPr>
        <p:spPr>
          <a:xfrm>
            <a:off x="609600" y="5448300"/>
            <a:ext cx="5359400" cy="977900"/>
          </a:xfrm>
          <a:prstGeom prst="rect">
            <a:avLst/>
          </a:prstGeom>
          <a:solidFill>
            <a:srgbClr val="FFFFFF">
              <a:alpha val="22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6.step-3-check">
            <a:extLst>
              <a:ext uri="{FF2B5EF4-FFF2-40B4-BE49-F238E27FC236}">
                <a16:creationId xmlns:a16="http://schemas.microsoft.com/office/drawing/2014/main" id="{1A6D36FA-87A4-A59E-065B-2DA5107F18E5}"/>
              </a:ext>
            </a:extLst>
          </p:cNvPr>
          <p:cNvSpPr txBox="1"/>
          <p:nvPr/>
        </p:nvSpPr>
        <p:spPr>
          <a:xfrm>
            <a:off x="863600" y="5600699"/>
            <a:ext cx="4851400" cy="7366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 Run Succeeded</a:t>
            </a:r>
          </a:p>
          <a:p>
            <a:r>
              <a:rPr lang="en-US" sz="1900">
                <a:solidFill>
                  <a:srgbClr val="FFFFFF"/>
                </a:solidFill>
                <a:latin typeface="Segoe UI" panose="020B0502040204020203" pitchFamily="34" charset="0"/>
              </a:rPr>
              <a:t>✓ Library Managed in TARGET</a:t>
            </a:r>
          </a:p>
        </p:txBody>
      </p:sp>
      <p:sp>
        <p:nvSpPr>
          <p:cNvPr id="12" name="Rectangle 11">
            <a:extLst>
              <a:ext uri="{FF2B5EF4-FFF2-40B4-BE49-F238E27FC236}">
                <a16:creationId xmlns:a16="http://schemas.microsoft.com/office/drawing/2014/main" id="{A172791E-FB42-F974-D825-38D606E18173}"/>
              </a:ext>
            </a:extLst>
          </p:cNvPr>
          <p:cNvSpPr/>
          <p:nvPr/>
        </p:nvSpPr>
        <p:spPr>
          <a:xfrm>
            <a:off x="6223000" y="1663700"/>
            <a:ext cx="5359400" cy="47625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6.gate-label">
            <a:extLst>
              <a:ext uri="{FF2B5EF4-FFF2-40B4-BE49-F238E27FC236}">
                <a16:creationId xmlns:a16="http://schemas.microsoft.com/office/drawing/2014/main" id="{1F5EA06F-1A07-9230-A327-A9C06635C0CE}"/>
              </a:ext>
            </a:extLst>
          </p:cNvPr>
          <p:cNvSpPr txBox="1"/>
          <p:nvPr/>
        </p:nvSpPr>
        <p:spPr>
          <a:xfrm>
            <a:off x="6477000" y="1943099"/>
            <a:ext cx="4851400" cy="2921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DEPENDENCY GATE</a:t>
            </a:r>
          </a:p>
        </p:txBody>
      </p:sp>
      <p:sp>
        <p:nvSpPr>
          <p:cNvPr id="14" name="M6.gate-library">
            <a:extLst>
              <a:ext uri="{FF2B5EF4-FFF2-40B4-BE49-F238E27FC236}">
                <a16:creationId xmlns:a16="http://schemas.microsoft.com/office/drawing/2014/main" id="{6A9FA0CC-AA85-D15F-D7AD-C7914D9139FE}"/>
              </a:ext>
            </a:extLst>
          </p:cNvPr>
          <p:cNvSpPr txBox="1"/>
          <p:nvPr/>
        </p:nvSpPr>
        <p:spPr>
          <a:xfrm>
            <a:off x="6477000" y="2552699"/>
            <a:ext cx="4851400" cy="469900"/>
          </a:xfrm>
          <a:prstGeom prst="rect">
            <a:avLst/>
          </a:prstGeom>
          <a:noFill/>
        </p:spPr>
        <p:txBody>
          <a:bodyPr vert="horz" wrap="square" lIns="0" tIns="0" rIns="0" bIns="0" rtlCol="0" anchor="t">
            <a:noAutofit/>
          </a:bodyPr>
          <a:lstStyle/>
          <a:p>
            <a:pPr algn="ctr"/>
            <a:r>
              <a:rPr lang="en-US" sz="2600" b="1">
                <a:solidFill>
                  <a:srgbClr val="FFFFFF"/>
                </a:solidFill>
                <a:latin typeface="Segoe UI" panose="020B0502040204020203" pitchFamily="34" charset="0"/>
              </a:rPr>
              <a:t>Business Skills library</a:t>
            </a:r>
          </a:p>
        </p:txBody>
      </p:sp>
      <p:sp>
        <p:nvSpPr>
          <p:cNvPr id="15" name="Arrow: Down 14">
            <a:extLst>
              <a:ext uri="{FF2B5EF4-FFF2-40B4-BE49-F238E27FC236}">
                <a16:creationId xmlns:a16="http://schemas.microsoft.com/office/drawing/2014/main" id="{B5F80F52-FE68-F8BA-1D1C-ECD3BD82412B}"/>
              </a:ext>
            </a:extLst>
          </p:cNvPr>
          <p:cNvSpPr/>
          <p:nvPr/>
        </p:nvSpPr>
        <p:spPr>
          <a:xfrm>
            <a:off x="8712200" y="3162300"/>
            <a:ext cx="406400" cy="368300"/>
          </a:xfrm>
          <a:prstGeom prst="downArrow">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6.gate-success">
            <a:extLst>
              <a:ext uri="{FF2B5EF4-FFF2-40B4-BE49-F238E27FC236}">
                <a16:creationId xmlns:a16="http://schemas.microsoft.com/office/drawing/2014/main" id="{0089D546-5BF8-9731-EE83-A9006DF2975C}"/>
              </a:ext>
            </a:extLst>
          </p:cNvPr>
          <p:cNvSpPr txBox="1"/>
          <p:nvPr/>
        </p:nvSpPr>
        <p:spPr>
          <a:xfrm>
            <a:off x="6477000" y="3733799"/>
            <a:ext cx="4851400" cy="469900"/>
          </a:xfrm>
          <a:prstGeom prst="rect">
            <a:avLst/>
          </a:prstGeom>
          <a:noFill/>
        </p:spPr>
        <p:txBody>
          <a:bodyPr vert="horz" wrap="square" lIns="0" tIns="0" rIns="0" bIns="0" rtlCol="0" anchor="t">
            <a:noAutofit/>
          </a:bodyPr>
          <a:lstStyle/>
          <a:p>
            <a:pPr algn="ctr"/>
            <a:r>
              <a:rPr lang="en-US" sz="2700" b="1">
                <a:solidFill>
                  <a:srgbClr val="82EBA6"/>
                </a:solidFill>
                <a:latin typeface="Segoe UI" panose="020B0502040204020203" pitchFamily="34" charset="0"/>
              </a:rPr>
              <a:t>Succeeded</a:t>
            </a:r>
          </a:p>
        </p:txBody>
      </p:sp>
      <p:sp>
        <p:nvSpPr>
          <p:cNvPr id="17" name="M6.gate-managed">
            <a:extLst>
              <a:ext uri="{FF2B5EF4-FFF2-40B4-BE49-F238E27FC236}">
                <a16:creationId xmlns:a16="http://schemas.microsoft.com/office/drawing/2014/main" id="{B232172D-6877-38E2-6883-B18BCD55A1AF}"/>
              </a:ext>
            </a:extLst>
          </p:cNvPr>
          <p:cNvSpPr txBox="1"/>
          <p:nvPr/>
        </p:nvSpPr>
        <p:spPr>
          <a:xfrm>
            <a:off x="6477000" y="4356099"/>
            <a:ext cx="4851400" cy="393700"/>
          </a:xfrm>
          <a:prstGeom prst="rect">
            <a:avLst/>
          </a:prstGeom>
          <a:noFill/>
        </p:spPr>
        <p:txBody>
          <a:bodyPr vert="horz" wrap="square" lIns="0" tIns="0" rIns="0" bIns="0" rtlCol="0" anchor="t">
            <a:noAutofit/>
          </a:bodyPr>
          <a:lstStyle/>
          <a:p>
            <a:pPr algn="ctr"/>
            <a:r>
              <a:rPr lang="en-US" sz="2200">
                <a:solidFill>
                  <a:srgbClr val="FFFFFF"/>
                </a:solidFill>
                <a:latin typeface="Segoe UI" panose="020B0502040204020203" pitchFamily="34" charset="0"/>
              </a:rPr>
              <a:t>Managed in TARGET</a:t>
            </a:r>
          </a:p>
        </p:txBody>
      </p:sp>
      <p:sp>
        <p:nvSpPr>
          <p:cNvPr id="18" name="M6.gate-next">
            <a:extLst>
              <a:ext uri="{FF2B5EF4-FFF2-40B4-BE49-F238E27FC236}">
                <a16:creationId xmlns:a16="http://schemas.microsoft.com/office/drawing/2014/main" id="{38FB9928-E5C9-940E-6F1F-4B2A674F73C2}"/>
              </a:ext>
            </a:extLst>
          </p:cNvPr>
          <p:cNvSpPr txBox="1"/>
          <p:nvPr/>
        </p:nvSpPr>
        <p:spPr>
          <a:xfrm>
            <a:off x="6477000" y="5270499"/>
            <a:ext cx="4851400" cy="749300"/>
          </a:xfrm>
          <a:prstGeom prst="rect">
            <a:avLst/>
          </a:prstGeom>
          <a:noFill/>
        </p:spPr>
        <p:txBody>
          <a:bodyPr vert="horz" wrap="square" lIns="0" tIns="0" rIns="0" bIns="0" rtlCol="0" anchor="t">
            <a:noAutofit/>
          </a:bodyPr>
          <a:lstStyle/>
          <a:p>
            <a:pPr algn="ctr"/>
            <a:r>
              <a:rPr lang="en-US" sz="2000">
                <a:solidFill>
                  <a:srgbClr val="FFFFFF"/>
                </a:solidFill>
                <a:latin typeface="Segoe UI" panose="020B0502040204020203" pitchFamily="34" charset="0"/>
              </a:rPr>
              <a:t>Then continue to the main deployment</a:t>
            </a:r>
          </a:p>
        </p:txBody>
      </p:sp>
    </p:spTree>
    <p:custDataLst>
      <p:tags r:id="rId1"/>
    </p:custDataLst>
    <p:extLst>
      <p:ext uri="{BB962C8B-B14F-4D97-AF65-F5344CB8AC3E}">
        <p14:creationId xmlns:p14="http://schemas.microsoft.com/office/powerpoint/2010/main" val="17014191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91812" name="Rectangle: Rounded Corners 191811">
            <a:extLst>
              <a:ext uri="{FF2B5EF4-FFF2-40B4-BE49-F238E27FC236}">
                <a16:creationId xmlns:a16="http://schemas.microsoft.com/office/drawing/2014/main" id="{C7B43173-4792-43C7-9A3B-BDC821984F11}"/>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5EB90E89-932D-E2A5-8B06-1DA47A83D17D}"/>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Deploy the Control Tower second</a:t>
            </a:r>
          </a:p>
        </p:txBody>
      </p:sp>
      <p:sp>
        <p:nvSpPr>
          <p:cNvPr id="3" name="Rectangle: Rounded Corners 2">
            <a:extLst>
              <a:ext uri="{FF2B5EF4-FFF2-40B4-BE49-F238E27FC236}">
                <a16:creationId xmlns:a16="http://schemas.microsoft.com/office/drawing/2014/main" id="{89120427-5693-2AD0-89A6-636CA6584659}"/>
              </a:ext>
            </a:extLst>
          </p:cNvPr>
          <p:cNvSpPr/>
          <p:nvPr/>
        </p:nvSpPr>
        <p:spPr>
          <a:xfrm>
            <a:off x="2171700" y="393700"/>
            <a:ext cx="3937000" cy="3429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6.lab-tag">
            <a:extLst>
              <a:ext uri="{FF2B5EF4-FFF2-40B4-BE49-F238E27FC236}">
                <a16:creationId xmlns:a16="http://schemas.microsoft.com/office/drawing/2014/main" id="{54C4988F-838C-3789-64A5-1F778269C805}"/>
              </a:ext>
            </a:extLst>
          </p:cNvPr>
          <p:cNvSpPr txBox="1"/>
          <p:nvPr/>
        </p:nvSpPr>
        <p:spPr>
          <a:xfrm>
            <a:off x="2311400" y="444500"/>
            <a:ext cx="3670300" cy="254000"/>
          </a:xfrm>
          <a:prstGeom prst="rect">
            <a:avLst/>
          </a:prstGeom>
          <a:noFill/>
        </p:spPr>
        <p:txBody>
          <a:bodyPr vert="horz" wrap="square" lIns="0" tIns="0" rIns="0" bIns="0" rtlCol="0" anchor="t">
            <a:noAutofit/>
          </a:bodyPr>
          <a:lstStyle/>
          <a:p>
            <a:r>
              <a:rPr lang="en-US" sz="1300" b="1">
                <a:solidFill>
                  <a:srgbClr val="0B0F19"/>
                </a:solidFill>
                <a:latin typeface="Segoe UI" panose="020B0502040204020203" pitchFamily="34" charset="0"/>
              </a:rPr>
              <a:t>LAB 6 · STEP 4 OF 5</a:t>
            </a:r>
          </a:p>
        </p:txBody>
      </p:sp>
      <p:sp>
        <p:nvSpPr>
          <p:cNvPr id="5" name="Rectangle 4">
            <a:extLst>
              <a:ext uri="{FF2B5EF4-FFF2-40B4-BE49-F238E27FC236}">
                <a16:creationId xmlns:a16="http://schemas.microsoft.com/office/drawing/2014/main" id="{58BFD7D0-4702-F102-0472-1A1DB05AEA44}"/>
              </a:ext>
            </a:extLst>
          </p:cNvPr>
          <p:cNvSpPr/>
          <p:nvPr/>
        </p:nvSpPr>
        <p:spPr>
          <a:xfrm>
            <a:off x="6096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4159707-3D69-4114-0E31-11C0F69C0E2C}"/>
              </a:ext>
            </a:extLst>
          </p:cNvPr>
          <p:cNvSpPr/>
          <p:nvPr/>
        </p:nvSpPr>
        <p:spPr>
          <a:xfrm>
            <a:off x="774700" y="1828800"/>
            <a:ext cx="558800" cy="558800"/>
          </a:xfrm>
          <a:prstGeom prst="roundRect">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6.step-4">
            <a:extLst>
              <a:ext uri="{FF2B5EF4-FFF2-40B4-BE49-F238E27FC236}">
                <a16:creationId xmlns:a16="http://schemas.microsoft.com/office/drawing/2014/main" id="{478DD274-C700-E15B-1B5C-6388CAB21B10}"/>
              </a:ext>
            </a:extLst>
          </p:cNvPr>
          <p:cNvSpPr txBox="1"/>
          <p:nvPr/>
        </p:nvSpPr>
        <p:spPr>
          <a:xfrm>
            <a:off x="774700" y="1892299"/>
            <a:ext cx="558800" cy="431800"/>
          </a:xfrm>
          <a:prstGeom prst="rect">
            <a:avLst/>
          </a:prstGeom>
          <a:noFill/>
        </p:spPr>
        <p:txBody>
          <a:bodyPr vert="horz" wrap="square" lIns="0" tIns="0" rIns="0" bIns="0" rtlCol="0" anchor="t">
            <a:noAutofit/>
          </a:bodyPr>
          <a:lstStyle/>
          <a:p>
            <a:pPr algn="ctr"/>
            <a:r>
              <a:rPr lang="en-US" sz="2400" b="1">
                <a:solidFill>
                  <a:srgbClr val="0B0F19"/>
                </a:solidFill>
                <a:latin typeface="Segoe UI" panose="020B0502040204020203" pitchFamily="34" charset="0"/>
              </a:rPr>
              <a:t>4</a:t>
            </a:r>
          </a:p>
        </p:txBody>
      </p:sp>
      <p:sp>
        <p:nvSpPr>
          <p:cNvPr id="8" name="M6.step-4-title">
            <a:extLst>
              <a:ext uri="{FF2B5EF4-FFF2-40B4-BE49-F238E27FC236}">
                <a16:creationId xmlns:a16="http://schemas.microsoft.com/office/drawing/2014/main" id="{F1567ECE-95D1-EE3E-01E1-CC2A05C417DD}"/>
              </a:ext>
            </a:extLst>
          </p:cNvPr>
          <p:cNvSpPr txBox="1"/>
          <p:nvPr/>
        </p:nvSpPr>
        <p:spPr>
          <a:xfrm>
            <a:off x="1574800" y="1904999"/>
            <a:ext cx="4216400" cy="495300"/>
          </a:xfrm>
          <a:prstGeom prst="rect">
            <a:avLst/>
          </a:prstGeom>
          <a:noFill/>
        </p:spPr>
        <p:txBody>
          <a:bodyPr vert="horz" wrap="square" lIns="0" tIns="0" rIns="0" bIns="0" rtlCol="0" anchor="t">
            <a:noAutofit/>
          </a:bodyPr>
          <a:lstStyle/>
          <a:p>
            <a:r>
              <a:rPr lang="en-US" sz="2100" b="1">
                <a:solidFill>
                  <a:srgbClr val="FFFFFF"/>
                </a:solidFill>
                <a:latin typeface="Segoe UI" panose="020B0502040204020203" pitchFamily="34" charset="0"/>
              </a:rPr>
              <a:t>Deploy main next</a:t>
            </a:r>
          </a:p>
        </p:txBody>
      </p:sp>
      <p:sp>
        <p:nvSpPr>
          <p:cNvPr id="9" name="M6.step-4-body">
            <a:extLst>
              <a:ext uri="{FF2B5EF4-FFF2-40B4-BE49-F238E27FC236}">
                <a16:creationId xmlns:a16="http://schemas.microsoft.com/office/drawing/2014/main" id="{DDC09F3E-3217-A1AF-6397-F0C68D795589}"/>
              </a:ext>
            </a:extLst>
          </p:cNvPr>
          <p:cNvSpPr txBox="1"/>
          <p:nvPr/>
        </p:nvSpPr>
        <p:spPr>
          <a:xfrm>
            <a:off x="863600" y="2590799"/>
            <a:ext cx="4851400" cy="26035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Use the same pipeline and</a:t>
            </a:r>
          </a:p>
          <a:p>
            <a:r>
              <a:rPr lang="en-US" sz="2000">
                <a:solidFill>
                  <a:srgbClr val="FFFFFF"/>
                </a:solidFill>
                <a:latin typeface="Segoe UI" panose="020B0502040204020203" pitchFamily="34" charset="0"/>
              </a:rPr>
              <a:t>TARGET stage.</a:t>
            </a:r>
          </a:p>
          <a:p>
            <a:endParaRPr lang="en-US" sz="2000">
              <a:solidFill>
                <a:srgbClr val="FFFFFF"/>
              </a:solidFill>
              <a:latin typeface="Segoe UI" panose="020B0502040204020203" pitchFamily="34" charset="0"/>
            </a:endParaRPr>
          </a:p>
          <a:p>
            <a:r>
              <a:rPr lang="en-US" sz="2000">
                <a:solidFill>
                  <a:srgbClr val="FFFFFF"/>
                </a:solidFill>
                <a:latin typeface="Segoe UI" panose="020B0502040204020203" pitchFamily="34" charset="0"/>
              </a:rPr>
              <a:t>Create connections in the wizard.</a:t>
            </a:r>
          </a:p>
          <a:p>
            <a:r>
              <a:rPr lang="en-US" sz="2000">
                <a:solidFill>
                  <a:srgbClr val="FFFFFF"/>
                </a:solidFill>
                <a:latin typeface="Segoe UI" panose="020B0502040204020203" pitchFamily="34" charset="0"/>
              </a:rPr>
              <a:t>Set PPCC Intake Subject Prefix:</a:t>
            </a:r>
          </a:p>
          <a:p>
            <a:r>
              <a:rPr lang="en-US" sz="2000">
                <a:solidFill>
                  <a:srgbClr val="FFFFFF"/>
                </a:solidFill>
                <a:latin typeface="Segoe UI" panose="020B0502040204020203" pitchFamily="34" charset="0"/>
              </a:rPr>
              <a:t>PPCC-TARGET</a:t>
            </a:r>
          </a:p>
        </p:txBody>
      </p:sp>
      <p:sp>
        <p:nvSpPr>
          <p:cNvPr id="10" name="Rectangle 9">
            <a:extLst>
              <a:ext uri="{FF2B5EF4-FFF2-40B4-BE49-F238E27FC236}">
                <a16:creationId xmlns:a16="http://schemas.microsoft.com/office/drawing/2014/main" id="{651BD9A8-9EA5-FD83-460B-63CE558E6230}"/>
              </a:ext>
            </a:extLst>
          </p:cNvPr>
          <p:cNvSpPr/>
          <p:nvPr/>
        </p:nvSpPr>
        <p:spPr>
          <a:xfrm>
            <a:off x="609600" y="5448300"/>
            <a:ext cx="5359400" cy="977900"/>
          </a:xfrm>
          <a:prstGeom prst="rect">
            <a:avLst/>
          </a:prstGeom>
          <a:solidFill>
            <a:srgbClr val="FFFFFF">
              <a:alpha val="22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6.step-4-check">
            <a:extLst>
              <a:ext uri="{FF2B5EF4-FFF2-40B4-BE49-F238E27FC236}">
                <a16:creationId xmlns:a16="http://schemas.microsoft.com/office/drawing/2014/main" id="{8A79429C-5477-6D20-D190-1D11966E2F42}"/>
              </a:ext>
            </a:extLst>
          </p:cNvPr>
          <p:cNvSpPr txBox="1"/>
          <p:nvPr/>
        </p:nvSpPr>
        <p:spPr>
          <a:xfrm>
            <a:off x="863600" y="5600699"/>
            <a:ext cx="4851400" cy="7366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 Main deployment Succeeded</a:t>
            </a:r>
          </a:p>
        </p:txBody>
      </p:sp>
      <p:sp>
        <p:nvSpPr>
          <p:cNvPr id="12" name="Rectangle 11">
            <a:extLst>
              <a:ext uri="{FF2B5EF4-FFF2-40B4-BE49-F238E27FC236}">
                <a16:creationId xmlns:a16="http://schemas.microsoft.com/office/drawing/2014/main" id="{3E2EB17B-4483-8EEF-1D19-CC3BA2022532}"/>
              </a:ext>
            </a:extLst>
          </p:cNvPr>
          <p:cNvSpPr/>
          <p:nvPr/>
        </p:nvSpPr>
        <p:spPr>
          <a:xfrm>
            <a:off x="62230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6.bindings-title">
            <a:extLst>
              <a:ext uri="{FF2B5EF4-FFF2-40B4-BE49-F238E27FC236}">
                <a16:creationId xmlns:a16="http://schemas.microsoft.com/office/drawing/2014/main" id="{F7608C97-C2C2-E23F-16FA-77C508075E41}"/>
              </a:ext>
            </a:extLst>
          </p:cNvPr>
          <p:cNvSpPr txBox="1"/>
          <p:nvPr/>
        </p:nvSpPr>
        <p:spPr>
          <a:xfrm>
            <a:off x="6477000" y="1943099"/>
            <a:ext cx="4851400" cy="330200"/>
          </a:xfrm>
          <a:prstGeom prst="rect">
            <a:avLst/>
          </a:prstGeom>
          <a:noFill/>
        </p:spPr>
        <p:txBody>
          <a:bodyPr vert="horz" wrap="square" lIns="0" tIns="0" rIns="0" bIns="0" rtlCol="0" anchor="t">
            <a:noAutofit/>
          </a:bodyPr>
          <a:lstStyle/>
          <a:p>
            <a:r>
              <a:rPr lang="en-US" sz="1700" b="1">
                <a:solidFill>
                  <a:srgbClr val="82EBA6"/>
                </a:solidFill>
                <a:latin typeface="Segoe UI" panose="020B0502040204020203" pitchFamily="34" charset="0"/>
              </a:rPr>
              <a:t>MAP ALL SIX BINDINGS</a:t>
            </a:r>
          </a:p>
        </p:txBody>
      </p:sp>
      <p:sp>
        <p:nvSpPr>
          <p:cNvPr id="14" name="M6.binding-204">
            <a:extLst>
              <a:ext uri="{FF2B5EF4-FFF2-40B4-BE49-F238E27FC236}">
                <a16:creationId xmlns:a16="http://schemas.microsoft.com/office/drawing/2014/main" id="{DB0E7156-DF1B-2213-853C-F9831984CC9E}"/>
              </a:ext>
            </a:extLst>
          </p:cNvPr>
          <p:cNvSpPr txBox="1"/>
          <p:nvPr/>
        </p:nvSpPr>
        <p:spPr>
          <a:xfrm>
            <a:off x="6477000" y="2590799"/>
            <a:ext cx="4165600" cy="3937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Microsoft Dataverse</a:t>
            </a:r>
          </a:p>
        </p:txBody>
      </p:sp>
      <p:sp>
        <p:nvSpPr>
          <p:cNvPr id="15" name="M6.count-204">
            <a:extLst>
              <a:ext uri="{FF2B5EF4-FFF2-40B4-BE49-F238E27FC236}">
                <a16:creationId xmlns:a16="http://schemas.microsoft.com/office/drawing/2014/main" id="{781D7218-665F-C1FD-51E8-4490EF9D355F}"/>
              </a:ext>
            </a:extLst>
          </p:cNvPr>
          <p:cNvSpPr txBox="1"/>
          <p:nvPr/>
        </p:nvSpPr>
        <p:spPr>
          <a:xfrm>
            <a:off x="10833100" y="2590799"/>
            <a:ext cx="469900" cy="393700"/>
          </a:xfrm>
          <a:prstGeom prst="rect">
            <a:avLst/>
          </a:prstGeom>
          <a:noFill/>
        </p:spPr>
        <p:txBody>
          <a:bodyPr vert="horz" wrap="square" lIns="0" tIns="0" rIns="0" bIns="0" rtlCol="0" anchor="t">
            <a:noAutofit/>
          </a:bodyPr>
          <a:lstStyle/>
          <a:p>
            <a:pPr algn="ctr"/>
            <a:r>
              <a:rPr lang="en-US" sz="2000" b="1">
                <a:solidFill>
                  <a:srgbClr val="82EBA6"/>
                </a:solidFill>
                <a:latin typeface="Segoe UI" panose="020B0502040204020203" pitchFamily="34" charset="0"/>
              </a:rPr>
              <a:t>2</a:t>
            </a:r>
          </a:p>
        </p:txBody>
      </p:sp>
      <p:sp>
        <p:nvSpPr>
          <p:cNvPr id="16" name="M6.binding-243">
            <a:extLst>
              <a:ext uri="{FF2B5EF4-FFF2-40B4-BE49-F238E27FC236}">
                <a16:creationId xmlns:a16="http://schemas.microsoft.com/office/drawing/2014/main" id="{8944E6EA-3ABC-2089-6D0F-58A320547797}"/>
              </a:ext>
            </a:extLst>
          </p:cNvPr>
          <p:cNvSpPr txBox="1"/>
          <p:nvPr/>
        </p:nvSpPr>
        <p:spPr>
          <a:xfrm>
            <a:off x="6477000" y="3086099"/>
            <a:ext cx="4165600" cy="3937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Microsoft Copilot Studio</a:t>
            </a:r>
          </a:p>
        </p:txBody>
      </p:sp>
      <p:sp>
        <p:nvSpPr>
          <p:cNvPr id="17" name="M6.count-243">
            <a:extLst>
              <a:ext uri="{FF2B5EF4-FFF2-40B4-BE49-F238E27FC236}">
                <a16:creationId xmlns:a16="http://schemas.microsoft.com/office/drawing/2014/main" id="{0E10A5B4-2E2D-ADF7-4E5F-701179CD01BD}"/>
              </a:ext>
            </a:extLst>
          </p:cNvPr>
          <p:cNvSpPr txBox="1"/>
          <p:nvPr/>
        </p:nvSpPr>
        <p:spPr>
          <a:xfrm>
            <a:off x="10833100" y="3086099"/>
            <a:ext cx="469900" cy="393700"/>
          </a:xfrm>
          <a:prstGeom prst="rect">
            <a:avLst/>
          </a:prstGeom>
          <a:noFill/>
        </p:spPr>
        <p:txBody>
          <a:bodyPr vert="horz" wrap="square" lIns="0" tIns="0" rIns="0" bIns="0" rtlCol="0" anchor="t">
            <a:noAutofit/>
          </a:bodyPr>
          <a:lstStyle/>
          <a:p>
            <a:pPr algn="ctr"/>
            <a:r>
              <a:rPr lang="en-US" sz="2000" b="1">
                <a:solidFill>
                  <a:srgbClr val="82EBA6"/>
                </a:solidFill>
                <a:latin typeface="Segoe UI" panose="020B0502040204020203" pitchFamily="34" charset="0"/>
              </a:rPr>
              <a:t>1</a:t>
            </a:r>
          </a:p>
        </p:txBody>
      </p:sp>
      <p:sp>
        <p:nvSpPr>
          <p:cNvPr id="18" name="M6.binding-282">
            <a:extLst>
              <a:ext uri="{FF2B5EF4-FFF2-40B4-BE49-F238E27FC236}">
                <a16:creationId xmlns:a16="http://schemas.microsoft.com/office/drawing/2014/main" id="{E166CCF4-7461-CD5D-BCCC-FC9FDF95CB17}"/>
              </a:ext>
            </a:extLst>
          </p:cNvPr>
          <p:cNvSpPr txBox="1"/>
          <p:nvPr/>
        </p:nvSpPr>
        <p:spPr>
          <a:xfrm>
            <a:off x="6477000" y="3581399"/>
            <a:ext cx="4165600" cy="3937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Power Apps MCP Server</a:t>
            </a:r>
          </a:p>
        </p:txBody>
      </p:sp>
      <p:sp>
        <p:nvSpPr>
          <p:cNvPr id="19" name="M6.count-282">
            <a:extLst>
              <a:ext uri="{FF2B5EF4-FFF2-40B4-BE49-F238E27FC236}">
                <a16:creationId xmlns:a16="http://schemas.microsoft.com/office/drawing/2014/main" id="{418742D7-B4C9-F0DF-8516-D8E869EEF9AF}"/>
              </a:ext>
            </a:extLst>
          </p:cNvPr>
          <p:cNvSpPr txBox="1"/>
          <p:nvPr/>
        </p:nvSpPr>
        <p:spPr>
          <a:xfrm>
            <a:off x="10833100" y="3581399"/>
            <a:ext cx="469900" cy="393700"/>
          </a:xfrm>
          <a:prstGeom prst="rect">
            <a:avLst/>
          </a:prstGeom>
          <a:noFill/>
        </p:spPr>
        <p:txBody>
          <a:bodyPr vert="horz" wrap="square" lIns="0" tIns="0" rIns="0" bIns="0" rtlCol="0" anchor="t">
            <a:noAutofit/>
          </a:bodyPr>
          <a:lstStyle/>
          <a:p>
            <a:pPr algn="ctr"/>
            <a:r>
              <a:rPr lang="en-US" sz="2000" b="1">
                <a:solidFill>
                  <a:srgbClr val="82EBA6"/>
                </a:solidFill>
                <a:latin typeface="Segoe UI" panose="020B0502040204020203" pitchFamily="34" charset="0"/>
              </a:rPr>
              <a:t>1</a:t>
            </a:r>
          </a:p>
        </p:txBody>
      </p:sp>
      <p:sp>
        <p:nvSpPr>
          <p:cNvPr id="20" name="M6.binding-321">
            <a:extLst>
              <a:ext uri="{FF2B5EF4-FFF2-40B4-BE49-F238E27FC236}">
                <a16:creationId xmlns:a16="http://schemas.microsoft.com/office/drawing/2014/main" id="{177AC3A4-CCEF-EF53-CBD3-8C8A011FE39A}"/>
              </a:ext>
            </a:extLst>
          </p:cNvPr>
          <p:cNvSpPr txBox="1"/>
          <p:nvPr/>
        </p:nvSpPr>
        <p:spPr>
          <a:xfrm>
            <a:off x="6477000" y="4076699"/>
            <a:ext cx="4165600" cy="3937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Office 365 Outlook</a:t>
            </a:r>
          </a:p>
        </p:txBody>
      </p:sp>
      <p:sp>
        <p:nvSpPr>
          <p:cNvPr id="21" name="M6.count-321">
            <a:extLst>
              <a:ext uri="{FF2B5EF4-FFF2-40B4-BE49-F238E27FC236}">
                <a16:creationId xmlns:a16="http://schemas.microsoft.com/office/drawing/2014/main" id="{ECC17FB6-EBF2-71A0-122E-62A900718077}"/>
              </a:ext>
            </a:extLst>
          </p:cNvPr>
          <p:cNvSpPr txBox="1"/>
          <p:nvPr/>
        </p:nvSpPr>
        <p:spPr>
          <a:xfrm>
            <a:off x="10833100" y="4076699"/>
            <a:ext cx="469900" cy="393700"/>
          </a:xfrm>
          <a:prstGeom prst="rect">
            <a:avLst/>
          </a:prstGeom>
          <a:noFill/>
        </p:spPr>
        <p:txBody>
          <a:bodyPr vert="horz" wrap="square" lIns="0" tIns="0" rIns="0" bIns="0" rtlCol="0" anchor="t">
            <a:noAutofit/>
          </a:bodyPr>
          <a:lstStyle/>
          <a:p>
            <a:pPr algn="ctr"/>
            <a:r>
              <a:rPr lang="en-US" sz="2000" b="1">
                <a:solidFill>
                  <a:srgbClr val="82EBA6"/>
                </a:solidFill>
                <a:latin typeface="Segoe UI" panose="020B0502040204020203" pitchFamily="34" charset="0"/>
              </a:rPr>
              <a:t>1</a:t>
            </a:r>
          </a:p>
        </p:txBody>
      </p:sp>
      <p:sp>
        <p:nvSpPr>
          <p:cNvPr id="22" name="M6.binding-360">
            <a:extLst>
              <a:ext uri="{FF2B5EF4-FFF2-40B4-BE49-F238E27FC236}">
                <a16:creationId xmlns:a16="http://schemas.microsoft.com/office/drawing/2014/main" id="{F1D395E5-C6C7-A367-BD5F-AD92795C52E7}"/>
              </a:ext>
            </a:extLst>
          </p:cNvPr>
          <p:cNvSpPr txBox="1"/>
          <p:nvPr/>
        </p:nvSpPr>
        <p:spPr>
          <a:xfrm>
            <a:off x="6477000" y="4571999"/>
            <a:ext cx="4165600" cy="3937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Computer use</a:t>
            </a:r>
          </a:p>
        </p:txBody>
      </p:sp>
      <p:sp>
        <p:nvSpPr>
          <p:cNvPr id="23" name="M6.count-360">
            <a:extLst>
              <a:ext uri="{FF2B5EF4-FFF2-40B4-BE49-F238E27FC236}">
                <a16:creationId xmlns:a16="http://schemas.microsoft.com/office/drawing/2014/main" id="{6EB82E09-F085-1410-FFE6-7BE59E27313E}"/>
              </a:ext>
            </a:extLst>
          </p:cNvPr>
          <p:cNvSpPr txBox="1"/>
          <p:nvPr/>
        </p:nvSpPr>
        <p:spPr>
          <a:xfrm>
            <a:off x="10833100" y="4571999"/>
            <a:ext cx="469900" cy="393700"/>
          </a:xfrm>
          <a:prstGeom prst="rect">
            <a:avLst/>
          </a:prstGeom>
          <a:noFill/>
        </p:spPr>
        <p:txBody>
          <a:bodyPr vert="horz" wrap="square" lIns="0" tIns="0" rIns="0" bIns="0" rtlCol="0" anchor="t">
            <a:noAutofit/>
          </a:bodyPr>
          <a:lstStyle/>
          <a:p>
            <a:pPr algn="ctr"/>
            <a:r>
              <a:rPr lang="en-US" sz="2000" b="1">
                <a:solidFill>
                  <a:srgbClr val="82EBA6"/>
                </a:solidFill>
                <a:latin typeface="Segoe UI" panose="020B0502040204020203" pitchFamily="34" charset="0"/>
              </a:rPr>
              <a:t>1</a:t>
            </a:r>
          </a:p>
        </p:txBody>
      </p:sp>
      <p:sp>
        <p:nvSpPr>
          <p:cNvPr id="24" name="Rectangle 23">
            <a:extLst>
              <a:ext uri="{FF2B5EF4-FFF2-40B4-BE49-F238E27FC236}">
                <a16:creationId xmlns:a16="http://schemas.microsoft.com/office/drawing/2014/main" id="{662D2601-0B16-7BB6-5392-39631033F0BD}"/>
              </a:ext>
            </a:extLst>
          </p:cNvPr>
          <p:cNvSpPr/>
          <p:nvPr/>
        </p:nvSpPr>
        <p:spPr>
          <a:xfrm>
            <a:off x="6223000" y="5448300"/>
            <a:ext cx="5359400" cy="9779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6.hosted-browser">
            <a:extLst>
              <a:ext uri="{FF2B5EF4-FFF2-40B4-BE49-F238E27FC236}">
                <a16:creationId xmlns:a16="http://schemas.microsoft.com/office/drawing/2014/main" id="{65CF4AD3-0EE5-08EF-C8E7-1A533EA39059}"/>
              </a:ext>
            </a:extLst>
          </p:cNvPr>
          <p:cNvSpPr txBox="1"/>
          <p:nvPr/>
        </p:nvSpPr>
        <p:spPr>
          <a:xfrm>
            <a:off x="6477000" y="5613399"/>
            <a:ext cx="4851400" cy="7366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Computer use →</a:t>
            </a:r>
          </a:p>
          <a:p>
            <a:r>
              <a:rPr lang="en-US" sz="2000">
                <a:solidFill>
                  <a:srgbClr val="FFFFFF"/>
                </a:solidFill>
                <a:latin typeface="Segoe UI" panose="020B0502040204020203" pitchFamily="34" charset="0"/>
              </a:rPr>
              <a:t>Connect to hosted browser</a:t>
            </a:r>
          </a:p>
        </p:txBody>
      </p:sp>
    </p:spTree>
    <p:custDataLst>
      <p:tags r:id="rId1"/>
    </p:custDataLst>
    <p:extLst>
      <p:ext uri="{BB962C8B-B14F-4D97-AF65-F5344CB8AC3E}">
        <p14:creationId xmlns:p14="http://schemas.microsoft.com/office/powerpoint/2010/main" val="21460611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93507" name="Rectangle: Rounded Corners 193506">
            <a:extLst>
              <a:ext uri="{FF2B5EF4-FFF2-40B4-BE49-F238E27FC236}">
                <a16:creationId xmlns:a16="http://schemas.microsoft.com/office/drawing/2014/main" id="{68201506-42BB-72F2-670B-EB296E7B9820}"/>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D983AF99-E100-99FD-443A-5D3A56F41B02}"/>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Confirm the managed deployment</a:t>
            </a:r>
          </a:p>
        </p:txBody>
      </p:sp>
      <p:sp>
        <p:nvSpPr>
          <p:cNvPr id="3" name="Rectangle: Rounded Corners 2">
            <a:extLst>
              <a:ext uri="{FF2B5EF4-FFF2-40B4-BE49-F238E27FC236}">
                <a16:creationId xmlns:a16="http://schemas.microsoft.com/office/drawing/2014/main" id="{429D900B-D51A-7096-185A-219F99ECCF5C}"/>
              </a:ext>
            </a:extLst>
          </p:cNvPr>
          <p:cNvSpPr/>
          <p:nvPr/>
        </p:nvSpPr>
        <p:spPr>
          <a:xfrm>
            <a:off x="2171700" y="393700"/>
            <a:ext cx="3937000" cy="3429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6.lab-tag">
            <a:extLst>
              <a:ext uri="{FF2B5EF4-FFF2-40B4-BE49-F238E27FC236}">
                <a16:creationId xmlns:a16="http://schemas.microsoft.com/office/drawing/2014/main" id="{9C4F03B2-942B-9BFC-2D3E-5A696BA186F7}"/>
              </a:ext>
            </a:extLst>
          </p:cNvPr>
          <p:cNvSpPr txBox="1"/>
          <p:nvPr/>
        </p:nvSpPr>
        <p:spPr>
          <a:xfrm>
            <a:off x="2311400" y="444500"/>
            <a:ext cx="3670300" cy="254000"/>
          </a:xfrm>
          <a:prstGeom prst="rect">
            <a:avLst/>
          </a:prstGeom>
          <a:noFill/>
        </p:spPr>
        <p:txBody>
          <a:bodyPr vert="horz" wrap="square" lIns="0" tIns="0" rIns="0" bIns="0" rtlCol="0" anchor="t">
            <a:noAutofit/>
          </a:bodyPr>
          <a:lstStyle/>
          <a:p>
            <a:r>
              <a:rPr lang="en-US" sz="1300" b="1">
                <a:solidFill>
                  <a:srgbClr val="0B0F19"/>
                </a:solidFill>
                <a:latin typeface="Segoe UI" panose="020B0502040204020203" pitchFamily="34" charset="0"/>
              </a:rPr>
              <a:t>LAB 6 · STEP 5 OF 5</a:t>
            </a:r>
          </a:p>
        </p:txBody>
      </p:sp>
      <p:sp>
        <p:nvSpPr>
          <p:cNvPr id="5" name="Rectangle 4">
            <a:extLst>
              <a:ext uri="{FF2B5EF4-FFF2-40B4-BE49-F238E27FC236}">
                <a16:creationId xmlns:a16="http://schemas.microsoft.com/office/drawing/2014/main" id="{BF1598D0-8ABD-ED54-3ECB-07A382C6196B}"/>
              </a:ext>
            </a:extLst>
          </p:cNvPr>
          <p:cNvSpPr/>
          <p:nvPr/>
        </p:nvSpPr>
        <p:spPr>
          <a:xfrm>
            <a:off x="6096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E18C871-407B-DA18-895B-F11E60CAE282}"/>
              </a:ext>
            </a:extLst>
          </p:cNvPr>
          <p:cNvSpPr/>
          <p:nvPr/>
        </p:nvSpPr>
        <p:spPr>
          <a:xfrm>
            <a:off x="774700" y="1828800"/>
            <a:ext cx="558800" cy="558800"/>
          </a:xfrm>
          <a:prstGeom prst="roundRect">
            <a:avLst/>
          </a:prstGeom>
          <a:solidFill>
            <a:srgbClr val="82EB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6.step-5">
            <a:extLst>
              <a:ext uri="{FF2B5EF4-FFF2-40B4-BE49-F238E27FC236}">
                <a16:creationId xmlns:a16="http://schemas.microsoft.com/office/drawing/2014/main" id="{5163CFEC-0892-820B-5463-C98750893B2C}"/>
              </a:ext>
            </a:extLst>
          </p:cNvPr>
          <p:cNvSpPr txBox="1"/>
          <p:nvPr/>
        </p:nvSpPr>
        <p:spPr>
          <a:xfrm>
            <a:off x="774700" y="1892299"/>
            <a:ext cx="558800" cy="431800"/>
          </a:xfrm>
          <a:prstGeom prst="rect">
            <a:avLst/>
          </a:prstGeom>
          <a:noFill/>
        </p:spPr>
        <p:txBody>
          <a:bodyPr vert="horz" wrap="square" lIns="0" tIns="0" rIns="0" bIns="0" rtlCol="0" anchor="t">
            <a:noAutofit/>
          </a:bodyPr>
          <a:lstStyle/>
          <a:p>
            <a:pPr algn="ctr"/>
            <a:r>
              <a:rPr lang="en-US" sz="2400" b="1">
                <a:solidFill>
                  <a:srgbClr val="0B0F19"/>
                </a:solidFill>
                <a:latin typeface="Segoe UI" panose="020B0502040204020203" pitchFamily="34" charset="0"/>
              </a:rPr>
              <a:t>5</a:t>
            </a:r>
          </a:p>
        </p:txBody>
      </p:sp>
      <p:sp>
        <p:nvSpPr>
          <p:cNvPr id="8" name="M6.step-5-title">
            <a:extLst>
              <a:ext uri="{FF2B5EF4-FFF2-40B4-BE49-F238E27FC236}">
                <a16:creationId xmlns:a16="http://schemas.microsoft.com/office/drawing/2014/main" id="{5DAAD708-8B8E-2D6E-DAF1-B728B092426B}"/>
              </a:ext>
            </a:extLst>
          </p:cNvPr>
          <p:cNvSpPr txBox="1"/>
          <p:nvPr/>
        </p:nvSpPr>
        <p:spPr>
          <a:xfrm>
            <a:off x="1574800" y="1904999"/>
            <a:ext cx="4216400" cy="495300"/>
          </a:xfrm>
          <a:prstGeom prst="rect">
            <a:avLst/>
          </a:prstGeom>
          <a:noFill/>
        </p:spPr>
        <p:txBody>
          <a:bodyPr vert="horz" wrap="square" lIns="0" tIns="0" rIns="0" bIns="0" rtlCol="0" anchor="t">
            <a:noAutofit/>
          </a:bodyPr>
          <a:lstStyle/>
          <a:p>
            <a:r>
              <a:rPr lang="en-US" sz="2100" b="1">
                <a:solidFill>
                  <a:srgbClr val="FFFFFF"/>
                </a:solidFill>
                <a:latin typeface="Segoe UI" panose="020B0502040204020203" pitchFamily="34" charset="0"/>
              </a:rPr>
              <a:t>Pipeline run history</a:t>
            </a:r>
          </a:p>
        </p:txBody>
      </p:sp>
      <p:sp>
        <p:nvSpPr>
          <p:cNvPr id="9" name="M6.step-5-body">
            <a:extLst>
              <a:ext uri="{FF2B5EF4-FFF2-40B4-BE49-F238E27FC236}">
                <a16:creationId xmlns:a16="http://schemas.microsoft.com/office/drawing/2014/main" id="{05A87B20-FB09-4FFF-1BE0-E9D8802DEDD3}"/>
              </a:ext>
            </a:extLst>
          </p:cNvPr>
          <p:cNvSpPr txBox="1"/>
          <p:nvPr/>
        </p:nvSpPr>
        <p:spPr>
          <a:xfrm>
            <a:off x="863600" y="2590799"/>
            <a:ext cx="4851400" cy="2603500"/>
          </a:xfrm>
          <a:prstGeom prst="rect">
            <a:avLst/>
          </a:prstGeom>
          <a:noFill/>
        </p:spPr>
        <p:txBody>
          <a:bodyPr vert="horz" wrap="square" lIns="0" tIns="0" rIns="0" bIns="0" rtlCol="0" anchor="t">
            <a:noAutofit/>
          </a:bodyPr>
          <a:lstStyle/>
          <a:p>
            <a:r>
              <a:rPr lang="en-US" sz="2000">
                <a:solidFill>
                  <a:srgbClr val="FFFFFF"/>
                </a:solidFill>
                <a:latin typeface="Segoe UI" panose="020B0502040204020203" pitchFamily="34" charset="0"/>
              </a:rPr>
              <a:t>Business Skills library</a:t>
            </a:r>
          </a:p>
          <a:p>
            <a:r>
              <a:rPr lang="en-US" sz="2000">
                <a:solidFill>
                  <a:srgbClr val="FFFFFF"/>
                </a:solidFill>
                <a:latin typeface="Segoe UI" panose="020B0502040204020203" pitchFamily="34" charset="0"/>
              </a:rPr>
              <a:t>Succeeded</a:t>
            </a:r>
          </a:p>
          <a:p>
            <a:endParaRPr lang="en-US" sz="2000">
              <a:solidFill>
                <a:srgbClr val="FFFFFF"/>
              </a:solidFill>
              <a:latin typeface="Segoe UI" panose="020B0502040204020203" pitchFamily="34" charset="0"/>
            </a:endParaRPr>
          </a:p>
          <a:p>
            <a:r>
              <a:rPr lang="en-US" sz="2000">
                <a:solidFill>
                  <a:srgbClr val="FFFFFF"/>
                </a:solidFill>
                <a:latin typeface="Segoe UI" panose="020B0502040204020203" pitchFamily="34" charset="0"/>
              </a:rPr>
              <a:t>Main Control Tower</a:t>
            </a:r>
          </a:p>
          <a:p>
            <a:r>
              <a:rPr lang="en-US" sz="2000">
                <a:solidFill>
                  <a:srgbClr val="FFFFFF"/>
                </a:solidFill>
                <a:latin typeface="Segoe UI" panose="020B0502040204020203" pitchFamily="34" charset="0"/>
              </a:rPr>
              <a:t>Succeeded</a:t>
            </a:r>
          </a:p>
        </p:txBody>
      </p:sp>
      <p:sp>
        <p:nvSpPr>
          <p:cNvPr id="10" name="Rectangle 9">
            <a:extLst>
              <a:ext uri="{FF2B5EF4-FFF2-40B4-BE49-F238E27FC236}">
                <a16:creationId xmlns:a16="http://schemas.microsoft.com/office/drawing/2014/main" id="{51B23052-EA82-3978-EDB5-86BD23C4C656}"/>
              </a:ext>
            </a:extLst>
          </p:cNvPr>
          <p:cNvSpPr/>
          <p:nvPr/>
        </p:nvSpPr>
        <p:spPr>
          <a:xfrm>
            <a:off x="609600" y="5448300"/>
            <a:ext cx="5359400" cy="977900"/>
          </a:xfrm>
          <a:prstGeom prst="rect">
            <a:avLst/>
          </a:prstGeom>
          <a:solidFill>
            <a:srgbClr val="FFFFFF">
              <a:alpha val="22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6.step-5-check">
            <a:extLst>
              <a:ext uri="{FF2B5EF4-FFF2-40B4-BE49-F238E27FC236}">
                <a16:creationId xmlns:a16="http://schemas.microsoft.com/office/drawing/2014/main" id="{7F18F192-9BD4-0C8F-8444-9B2E6FBB54BA}"/>
              </a:ext>
            </a:extLst>
          </p:cNvPr>
          <p:cNvSpPr txBox="1"/>
          <p:nvPr/>
        </p:nvSpPr>
        <p:spPr>
          <a:xfrm>
            <a:off x="863600" y="5600699"/>
            <a:ext cx="4851400" cy="7366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 Library first, main second</a:t>
            </a:r>
          </a:p>
        </p:txBody>
      </p:sp>
      <p:sp>
        <p:nvSpPr>
          <p:cNvPr id="12" name="Rectangle 11">
            <a:extLst>
              <a:ext uri="{FF2B5EF4-FFF2-40B4-BE49-F238E27FC236}">
                <a16:creationId xmlns:a16="http://schemas.microsoft.com/office/drawing/2014/main" id="{AF607EA5-3922-5248-4716-0B4D536E95C7}"/>
              </a:ext>
            </a:extLst>
          </p:cNvPr>
          <p:cNvSpPr/>
          <p:nvPr/>
        </p:nvSpPr>
        <p:spPr>
          <a:xfrm>
            <a:off x="6223000" y="1663700"/>
            <a:ext cx="5359400" cy="4762500"/>
          </a:xfrm>
          <a:prstGeom prst="rect">
            <a:avLst/>
          </a:prstGeom>
          <a:solidFill>
            <a:srgbClr val="FFFFFF">
              <a:alpha val="8000"/>
            </a:srgbClr>
          </a:solidFill>
          <a:ln w="7620" cap="flat" cmpd="sng" algn="ctr">
            <a:solidFill>
              <a:srgbClr val="FFFFFF">
                <a:alpha val="2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6.installed-title">
            <a:extLst>
              <a:ext uri="{FF2B5EF4-FFF2-40B4-BE49-F238E27FC236}">
                <a16:creationId xmlns:a16="http://schemas.microsoft.com/office/drawing/2014/main" id="{5753A4DB-D26D-E93E-C09E-97B9F1A34CD2}"/>
              </a:ext>
            </a:extLst>
          </p:cNvPr>
          <p:cNvSpPr txBox="1"/>
          <p:nvPr/>
        </p:nvSpPr>
        <p:spPr>
          <a:xfrm>
            <a:off x="6477000" y="1943099"/>
            <a:ext cx="4851400" cy="330200"/>
          </a:xfrm>
          <a:prstGeom prst="rect">
            <a:avLst/>
          </a:prstGeom>
          <a:noFill/>
        </p:spPr>
        <p:txBody>
          <a:bodyPr vert="horz" wrap="square" lIns="0" tIns="0" rIns="0" bIns="0" rtlCol="0" anchor="t">
            <a:noAutofit/>
          </a:bodyPr>
          <a:lstStyle/>
          <a:p>
            <a:r>
              <a:rPr lang="en-US" sz="1700" b="1">
                <a:solidFill>
                  <a:srgbClr val="82EBA6"/>
                </a:solidFill>
                <a:latin typeface="Segoe UI" panose="020B0502040204020203" pitchFamily="34" charset="0"/>
              </a:rPr>
              <a:t>TARGET SOLUTION LIST</a:t>
            </a:r>
          </a:p>
        </p:txBody>
      </p:sp>
      <p:sp>
        <p:nvSpPr>
          <p:cNvPr id="14" name="M6.installed-library">
            <a:extLst>
              <a:ext uri="{FF2B5EF4-FFF2-40B4-BE49-F238E27FC236}">
                <a16:creationId xmlns:a16="http://schemas.microsoft.com/office/drawing/2014/main" id="{7EA3BC7B-3097-03BB-F676-26DDF19E2639}"/>
              </a:ext>
            </a:extLst>
          </p:cNvPr>
          <p:cNvSpPr txBox="1"/>
          <p:nvPr/>
        </p:nvSpPr>
        <p:spPr>
          <a:xfrm>
            <a:off x="6477000" y="2590799"/>
            <a:ext cx="4851400" cy="774700"/>
          </a:xfrm>
          <a:prstGeom prst="rect">
            <a:avLst/>
          </a:prstGeom>
          <a:noFill/>
        </p:spPr>
        <p:txBody>
          <a:bodyPr vert="horz" wrap="square" lIns="0" tIns="0" rIns="0" bIns="0" rtlCol="0" anchor="t">
            <a:noAutofit/>
          </a:bodyPr>
          <a:lstStyle/>
          <a:p>
            <a:r>
              <a:rPr lang="en-US" sz="2300" b="1">
                <a:solidFill>
                  <a:srgbClr val="FFFFFF"/>
                </a:solidFill>
                <a:latin typeface="Segoe UI" panose="020B0502040204020203" pitchFamily="34" charset="0"/>
              </a:rPr>
              <a:t>PPCC Control Tower</a:t>
            </a:r>
          </a:p>
          <a:p>
            <a:r>
              <a:rPr lang="en-US" sz="2300" b="1">
                <a:solidFill>
                  <a:srgbClr val="FFFFFF"/>
                </a:solidFill>
                <a:latin typeface="Segoe UI" panose="020B0502040204020203" pitchFamily="34" charset="0"/>
              </a:rPr>
              <a:t>Business Skills</a:t>
            </a:r>
          </a:p>
        </p:txBody>
      </p:sp>
      <p:sp>
        <p:nvSpPr>
          <p:cNvPr id="15" name="M6.installed-library-state">
            <a:extLst>
              <a:ext uri="{FF2B5EF4-FFF2-40B4-BE49-F238E27FC236}">
                <a16:creationId xmlns:a16="http://schemas.microsoft.com/office/drawing/2014/main" id="{5584B7A5-3243-E5DE-0675-5D7C85CB616D}"/>
              </a:ext>
            </a:extLst>
          </p:cNvPr>
          <p:cNvSpPr txBox="1"/>
          <p:nvPr/>
        </p:nvSpPr>
        <p:spPr>
          <a:xfrm>
            <a:off x="6477000" y="3517899"/>
            <a:ext cx="4851400" cy="393700"/>
          </a:xfrm>
          <a:prstGeom prst="rect">
            <a:avLst/>
          </a:prstGeom>
          <a:noFill/>
        </p:spPr>
        <p:txBody>
          <a:bodyPr vert="horz" wrap="square" lIns="0" tIns="0" rIns="0" bIns="0" rtlCol="0" anchor="t">
            <a:noAutofit/>
          </a:bodyPr>
          <a:lstStyle/>
          <a:p>
            <a:r>
              <a:rPr lang="en-US" sz="2200" b="1">
                <a:solidFill>
                  <a:srgbClr val="82EBA6"/>
                </a:solidFill>
                <a:latin typeface="Segoe UI" panose="020B0502040204020203" pitchFamily="34" charset="0"/>
              </a:rPr>
              <a:t>Managed</a:t>
            </a:r>
          </a:p>
        </p:txBody>
      </p:sp>
      <p:sp>
        <p:nvSpPr>
          <p:cNvPr id="16" name="M6.installed-main">
            <a:extLst>
              <a:ext uri="{FF2B5EF4-FFF2-40B4-BE49-F238E27FC236}">
                <a16:creationId xmlns:a16="http://schemas.microsoft.com/office/drawing/2014/main" id="{B8A6B971-6EDC-3CC4-16B7-FD2BFCF4FC5B}"/>
              </a:ext>
            </a:extLst>
          </p:cNvPr>
          <p:cNvSpPr txBox="1"/>
          <p:nvPr/>
        </p:nvSpPr>
        <p:spPr>
          <a:xfrm>
            <a:off x="6477000" y="4216399"/>
            <a:ext cx="4851400" cy="774700"/>
          </a:xfrm>
          <a:prstGeom prst="rect">
            <a:avLst/>
          </a:prstGeom>
          <a:noFill/>
        </p:spPr>
        <p:txBody>
          <a:bodyPr vert="horz" wrap="square" lIns="0" tIns="0" rIns="0" bIns="0" rtlCol="0" anchor="t">
            <a:noAutofit/>
          </a:bodyPr>
          <a:lstStyle/>
          <a:p>
            <a:r>
              <a:rPr lang="en-US" sz="2300" b="1">
                <a:solidFill>
                  <a:srgbClr val="FFFFFF"/>
                </a:solidFill>
                <a:latin typeface="Segoe UI" panose="020B0502040204020203" pitchFamily="34" charset="0"/>
              </a:rPr>
              <a:t>PPCC Agentic Operations</a:t>
            </a:r>
          </a:p>
          <a:p>
            <a:r>
              <a:rPr lang="en-US" sz="2300" b="1">
                <a:solidFill>
                  <a:srgbClr val="FFFFFF"/>
                </a:solidFill>
                <a:latin typeface="Segoe UI" panose="020B0502040204020203" pitchFamily="34" charset="0"/>
              </a:rPr>
              <a:t>Control Tower</a:t>
            </a:r>
          </a:p>
        </p:txBody>
      </p:sp>
      <p:sp>
        <p:nvSpPr>
          <p:cNvPr id="17" name="M6.installed-main-state">
            <a:extLst>
              <a:ext uri="{FF2B5EF4-FFF2-40B4-BE49-F238E27FC236}">
                <a16:creationId xmlns:a16="http://schemas.microsoft.com/office/drawing/2014/main" id="{3DE03009-7BAE-ACBE-356D-8CA9C79C2CA9}"/>
              </a:ext>
            </a:extLst>
          </p:cNvPr>
          <p:cNvSpPr txBox="1"/>
          <p:nvPr/>
        </p:nvSpPr>
        <p:spPr>
          <a:xfrm>
            <a:off x="6477000" y="5143499"/>
            <a:ext cx="4851400" cy="393700"/>
          </a:xfrm>
          <a:prstGeom prst="rect">
            <a:avLst/>
          </a:prstGeom>
          <a:noFill/>
        </p:spPr>
        <p:txBody>
          <a:bodyPr vert="horz" wrap="square" lIns="0" tIns="0" rIns="0" bIns="0" rtlCol="0" anchor="t">
            <a:noAutofit/>
          </a:bodyPr>
          <a:lstStyle/>
          <a:p>
            <a:r>
              <a:rPr lang="en-US" sz="2200" b="1">
                <a:solidFill>
                  <a:srgbClr val="82EBA6"/>
                </a:solidFill>
                <a:latin typeface="Segoe UI" panose="020B0502040204020203" pitchFamily="34" charset="0"/>
              </a:rPr>
              <a:t>Managed</a:t>
            </a:r>
          </a:p>
        </p:txBody>
      </p:sp>
    </p:spTree>
    <p:custDataLst>
      <p:tags r:id="rId1"/>
    </p:custDataLst>
    <p:extLst>
      <p:ext uri="{BB962C8B-B14F-4D97-AF65-F5344CB8AC3E}">
        <p14:creationId xmlns:p14="http://schemas.microsoft.com/office/powerpoint/2010/main" val="38546504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195427" name="Rectangle: Rounded Corners 195426">
            <a:extLst>
              <a:ext uri="{FF2B5EF4-FFF2-40B4-BE49-F238E27FC236}">
                <a16:creationId xmlns:a16="http://schemas.microsoft.com/office/drawing/2014/main" id="{F27D3174-C77E-8E61-5406-2141309E3CAF}"/>
              </a:ext>
            </a:extLst>
          </p:cNvPr>
          <p:cNvSpPr/>
          <p:nvPr/>
        </p:nvSpPr>
        <p:spPr>
          <a:xfrm>
            <a:off x="609600" y="400000"/>
            <a:ext cx="1446414" cy="340000"/>
          </a:xfrm>
          <a:prstGeom prst="round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0B1020"/>
                </a:solidFill>
                <a:effectLst/>
                <a:latin typeface="Segoe UI" panose="020B0502040204020203" pitchFamily="34" charset="0"/>
              </a:rPr>
              <a:t>MODULE 6</a:t>
            </a:r>
          </a:p>
          <a:p>
            <a:pPr algn="ctr">
              <a:buNone/>
            </a:pPr>
            <a:r>
              <a:rPr lang="en-US" sz="100">
                <a:effectLst/>
              </a:rPr>
              <a:t> </a:t>
            </a:r>
            <a:endParaRPr lang="en-US"/>
          </a:p>
        </p:txBody>
      </p:sp>
      <p:sp>
        <p:nvSpPr>
          <p:cNvPr id="2" name="M6.title">
            <a:extLst>
              <a:ext uri="{FF2B5EF4-FFF2-40B4-BE49-F238E27FC236}">
                <a16:creationId xmlns:a16="http://schemas.microsoft.com/office/drawing/2014/main" id="{BF1DA52A-6B5F-912C-DB0A-9684600FDCF2}"/>
              </a:ext>
            </a:extLst>
          </p:cNvPr>
          <p:cNvSpPr txBox="1"/>
          <p:nvPr/>
        </p:nvSpPr>
        <p:spPr>
          <a:xfrm>
            <a:off x="609600" y="952499"/>
            <a:ext cx="10972800" cy="546100"/>
          </a:xfrm>
          <a:prstGeom prst="rect">
            <a:avLst/>
          </a:prstGeom>
          <a:noFill/>
        </p:spPr>
        <p:txBody>
          <a:bodyPr vert="horz" wrap="square" lIns="0" tIns="0" rIns="0" bIns="0" rtlCol="0" anchor="t">
            <a:noAutofit/>
          </a:bodyPr>
          <a:lstStyle/>
          <a:p>
            <a:r>
              <a:rPr lang="en-US" sz="2800" b="1">
                <a:solidFill>
                  <a:srgbClr val="FFFFFF"/>
                </a:solidFill>
                <a:latin typeface="Segoe UI" panose="020B0502040204020203" pitchFamily="34" charset="0"/>
              </a:rPr>
              <a:t>Module 6 recap: versioned, deployed, dependency-aware</a:t>
            </a:r>
          </a:p>
        </p:txBody>
      </p:sp>
      <p:sp>
        <p:nvSpPr>
          <p:cNvPr id="3" name="M6.delivered-label">
            <a:extLst>
              <a:ext uri="{FF2B5EF4-FFF2-40B4-BE49-F238E27FC236}">
                <a16:creationId xmlns:a16="http://schemas.microsoft.com/office/drawing/2014/main" id="{AB3C159D-B999-69D8-0692-37C680605501}"/>
              </a:ext>
            </a:extLst>
          </p:cNvPr>
          <p:cNvSpPr txBox="1"/>
          <p:nvPr/>
        </p:nvSpPr>
        <p:spPr>
          <a:xfrm>
            <a:off x="698500" y="1816099"/>
            <a:ext cx="62230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DELIVERED</a:t>
            </a:r>
          </a:p>
        </p:txBody>
      </p:sp>
      <p:sp>
        <p:nvSpPr>
          <p:cNvPr id="4" name="M6.delivered">
            <a:extLst>
              <a:ext uri="{FF2B5EF4-FFF2-40B4-BE49-F238E27FC236}">
                <a16:creationId xmlns:a16="http://schemas.microsoft.com/office/drawing/2014/main" id="{B3640E98-C982-36ED-76A8-2C0B00CC2017}"/>
              </a:ext>
            </a:extLst>
          </p:cNvPr>
          <p:cNvSpPr txBox="1"/>
          <p:nvPr/>
        </p:nvSpPr>
        <p:spPr>
          <a:xfrm>
            <a:off x="698500" y="2184399"/>
            <a:ext cx="6223000" cy="8382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Two managed solutions in TARGET,</a:t>
            </a:r>
          </a:p>
          <a:p>
            <a:r>
              <a:rPr lang="en-US" sz="2100">
                <a:solidFill>
                  <a:srgbClr val="FFFFFF"/>
                </a:solidFill>
                <a:latin typeface="Segoe UI" panose="020B0502040204020203" pitchFamily="34" charset="0"/>
              </a:rPr>
              <a:t>installed in dependency order.</a:t>
            </a:r>
          </a:p>
        </p:txBody>
      </p:sp>
      <p:sp>
        <p:nvSpPr>
          <p:cNvPr id="5" name="M6.capabilities-label">
            <a:extLst>
              <a:ext uri="{FF2B5EF4-FFF2-40B4-BE49-F238E27FC236}">
                <a16:creationId xmlns:a16="http://schemas.microsoft.com/office/drawing/2014/main" id="{A696D1C6-F7F1-F7D5-5410-3542FE979AEC}"/>
              </a:ext>
            </a:extLst>
          </p:cNvPr>
          <p:cNvSpPr txBox="1"/>
          <p:nvPr/>
        </p:nvSpPr>
        <p:spPr>
          <a:xfrm>
            <a:off x="698500" y="3390899"/>
            <a:ext cx="62230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CAPABILITIES USED</a:t>
            </a:r>
          </a:p>
        </p:txBody>
      </p:sp>
      <p:sp>
        <p:nvSpPr>
          <p:cNvPr id="6" name="M6.capabilities">
            <a:extLst>
              <a:ext uri="{FF2B5EF4-FFF2-40B4-BE49-F238E27FC236}">
                <a16:creationId xmlns:a16="http://schemas.microsoft.com/office/drawing/2014/main" id="{97D63185-D7EE-F429-C69A-D264B1638D7D}"/>
              </a:ext>
            </a:extLst>
          </p:cNvPr>
          <p:cNvSpPr txBox="1"/>
          <p:nvPr/>
        </p:nvSpPr>
        <p:spPr>
          <a:xfrm>
            <a:off x="698500" y="3759199"/>
            <a:ext cx="6223000" cy="8382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Solution packaging, version numbering,</a:t>
            </a:r>
          </a:p>
          <a:p>
            <a:r>
              <a:rPr lang="en-US" sz="2100">
                <a:solidFill>
                  <a:srgbClr val="FFFFFF"/>
                </a:solidFill>
                <a:latin typeface="Segoe UI" panose="020B0502040204020203" pitchFamily="34" charset="0"/>
              </a:rPr>
              <a:t>and Power Platform Pipelines.</a:t>
            </a:r>
          </a:p>
        </p:txBody>
      </p:sp>
      <p:sp>
        <p:nvSpPr>
          <p:cNvPr id="7" name="M6.value-label">
            <a:extLst>
              <a:ext uri="{FF2B5EF4-FFF2-40B4-BE49-F238E27FC236}">
                <a16:creationId xmlns:a16="http://schemas.microsoft.com/office/drawing/2014/main" id="{BD20BE33-9054-4FA0-2883-45C472788801}"/>
              </a:ext>
            </a:extLst>
          </p:cNvPr>
          <p:cNvSpPr txBox="1"/>
          <p:nvPr/>
        </p:nvSpPr>
        <p:spPr>
          <a:xfrm>
            <a:off x="698500" y="4952999"/>
            <a:ext cx="6223000" cy="2794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BUSINESS VALUE</a:t>
            </a:r>
          </a:p>
        </p:txBody>
      </p:sp>
      <p:sp>
        <p:nvSpPr>
          <p:cNvPr id="8" name="M6.value">
            <a:extLst>
              <a:ext uri="{FF2B5EF4-FFF2-40B4-BE49-F238E27FC236}">
                <a16:creationId xmlns:a16="http://schemas.microsoft.com/office/drawing/2014/main" id="{F9C7C012-160C-32E0-3B33-631259E68426}"/>
              </a:ext>
            </a:extLst>
          </p:cNvPr>
          <p:cNvSpPr txBox="1"/>
          <p:nvPr/>
        </p:nvSpPr>
        <p:spPr>
          <a:xfrm>
            <a:off x="698500" y="5321299"/>
            <a:ext cx="6223000" cy="838200"/>
          </a:xfrm>
          <a:prstGeom prst="rect">
            <a:avLst/>
          </a:prstGeom>
          <a:noFill/>
        </p:spPr>
        <p:txBody>
          <a:bodyPr vert="horz" wrap="square" lIns="0" tIns="0" rIns="0" bIns="0" rtlCol="0" anchor="t">
            <a:noAutofit/>
          </a:bodyPr>
          <a:lstStyle/>
          <a:p>
            <a:r>
              <a:rPr lang="en-US" sz="2100">
                <a:solidFill>
                  <a:srgbClr val="FFFFFF"/>
                </a:solidFill>
                <a:latin typeface="Segoe UI" panose="020B0502040204020203" pitchFamily="34" charset="0"/>
              </a:rPr>
              <a:t>Repeatable promotion with explicit</a:t>
            </a:r>
          </a:p>
          <a:p>
            <a:r>
              <a:rPr lang="en-US" sz="2100">
                <a:solidFill>
                  <a:srgbClr val="FFFFFF"/>
                </a:solidFill>
                <a:latin typeface="Segoe UI" panose="020B0502040204020203" pitchFamily="34" charset="0"/>
              </a:rPr>
              <a:t>prerequisites and traceable releases.</a:t>
            </a:r>
          </a:p>
        </p:txBody>
      </p:sp>
      <p:sp>
        <p:nvSpPr>
          <p:cNvPr id="9" name="Rectangle 8">
            <a:extLst>
              <a:ext uri="{FF2B5EF4-FFF2-40B4-BE49-F238E27FC236}">
                <a16:creationId xmlns:a16="http://schemas.microsoft.com/office/drawing/2014/main" id="{67CC7794-D3C1-D97F-70BD-076DD986D449}"/>
              </a:ext>
            </a:extLst>
          </p:cNvPr>
          <p:cNvSpPr/>
          <p:nvPr/>
        </p:nvSpPr>
        <p:spPr>
          <a:xfrm>
            <a:off x="7302500" y="1663700"/>
            <a:ext cx="4279900" cy="3365500"/>
          </a:xfrm>
          <a:prstGeom prst="rect">
            <a:avLst/>
          </a:prstGeom>
          <a:solidFill>
            <a:srgbClr val="FFFFFF">
              <a:alpha val="8000"/>
            </a:srgbClr>
          </a:solidFill>
          <a:ln w="13970" cap="flat" cmpd="sng" algn="ctr">
            <a:solidFill>
              <a:srgbClr val="82EBA6"/>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6.validate-label">
            <a:extLst>
              <a:ext uri="{FF2B5EF4-FFF2-40B4-BE49-F238E27FC236}">
                <a16:creationId xmlns:a16="http://schemas.microsoft.com/office/drawing/2014/main" id="{3EB6910B-E52E-47BA-0D23-58B539780057}"/>
              </a:ext>
            </a:extLst>
          </p:cNvPr>
          <p:cNvSpPr txBox="1"/>
          <p:nvPr/>
        </p:nvSpPr>
        <p:spPr>
          <a:xfrm>
            <a:off x="7518400" y="1917699"/>
            <a:ext cx="3848100" cy="292100"/>
          </a:xfrm>
          <a:prstGeom prst="rect">
            <a:avLst/>
          </a:prstGeom>
          <a:noFill/>
        </p:spPr>
        <p:txBody>
          <a:bodyPr vert="horz" wrap="square" lIns="0" tIns="0" rIns="0" bIns="0" rtlCol="0" anchor="t">
            <a:noAutofit/>
          </a:bodyPr>
          <a:lstStyle/>
          <a:p>
            <a:r>
              <a:rPr lang="en-US" sz="1400" b="1">
                <a:solidFill>
                  <a:srgbClr val="82EBA6"/>
                </a:solidFill>
                <a:latin typeface="Segoe UI" panose="020B0502040204020203" pitchFamily="34" charset="0"/>
              </a:rPr>
              <a:t>VALIDATE</a:t>
            </a:r>
          </a:p>
        </p:txBody>
      </p:sp>
      <p:sp>
        <p:nvSpPr>
          <p:cNvPr id="11" name="M6.validate">
            <a:extLst>
              <a:ext uri="{FF2B5EF4-FFF2-40B4-BE49-F238E27FC236}">
                <a16:creationId xmlns:a16="http://schemas.microsoft.com/office/drawing/2014/main" id="{2EC08201-D763-F816-EBF6-8BD53B319928}"/>
              </a:ext>
            </a:extLst>
          </p:cNvPr>
          <p:cNvSpPr txBox="1"/>
          <p:nvPr/>
        </p:nvSpPr>
        <p:spPr>
          <a:xfrm>
            <a:off x="7518400" y="2374899"/>
            <a:ext cx="3848100" cy="2514600"/>
          </a:xfrm>
          <a:prstGeom prst="rect">
            <a:avLst/>
          </a:prstGeom>
          <a:noFill/>
        </p:spPr>
        <p:txBody>
          <a:bodyPr vert="horz" wrap="square" lIns="0" tIns="0" rIns="0" bIns="0" rtlCol="0" anchor="t">
            <a:noAutofit/>
          </a:bodyPr>
          <a:lstStyle/>
          <a:p>
            <a:r>
              <a:rPr lang="en-US" sz="1900">
                <a:solidFill>
                  <a:srgbClr val="FFFFFF"/>
                </a:solidFill>
                <a:latin typeface="Segoe UI" panose="020B0502040204020203" pitchFamily="34" charset="0"/>
              </a:rPr>
              <a:t>✓ Library first; main second</a:t>
            </a:r>
          </a:p>
          <a:p>
            <a:endParaRPr lang="en-US" sz="1900">
              <a:solidFill>
                <a:srgbClr val="FFFFFF"/>
              </a:solidFill>
              <a:latin typeface="Segoe UI" panose="020B0502040204020203" pitchFamily="34" charset="0"/>
            </a:endParaRPr>
          </a:p>
          <a:p>
            <a:r>
              <a:rPr lang="en-US" sz="1900">
                <a:solidFill>
                  <a:srgbClr val="FFFFFF"/>
                </a:solidFill>
                <a:latin typeface="Segoe UI" panose="020B0502040204020203" pitchFamily="34" charset="0"/>
              </a:rPr>
              <a:t>✓ Both pipeline runs Succeeded</a:t>
            </a:r>
          </a:p>
          <a:p>
            <a:endParaRPr lang="en-US" sz="1900">
              <a:solidFill>
                <a:srgbClr val="FFFFFF"/>
              </a:solidFill>
              <a:latin typeface="Segoe UI" panose="020B0502040204020203" pitchFamily="34" charset="0"/>
            </a:endParaRPr>
          </a:p>
          <a:p>
            <a:r>
              <a:rPr lang="en-US" sz="1900">
                <a:solidFill>
                  <a:srgbClr val="FFFFFF"/>
                </a:solidFill>
                <a:latin typeface="Segoe UI" panose="020B0502040204020203" pitchFamily="34" charset="0"/>
              </a:rPr>
              <a:t>✓ Both solutions Managed</a:t>
            </a:r>
          </a:p>
          <a:p>
            <a:endParaRPr lang="en-US" sz="1900">
              <a:solidFill>
                <a:srgbClr val="FFFFFF"/>
              </a:solidFill>
              <a:latin typeface="Segoe UI" panose="020B0502040204020203" pitchFamily="34" charset="0"/>
            </a:endParaRPr>
          </a:p>
          <a:p>
            <a:r>
              <a:rPr lang="en-US" sz="1900">
                <a:solidFill>
                  <a:srgbClr val="FFFFFF"/>
                </a:solidFill>
                <a:latin typeface="Segoe UI" panose="020B0502040204020203" pitchFamily="34" charset="0"/>
              </a:rPr>
              <a:t>✓ TARGET connections mapped</a:t>
            </a:r>
          </a:p>
        </p:txBody>
      </p:sp>
    </p:spTree>
    <p:custDataLst>
      <p:tags r:id="rId1"/>
    </p:custDataLst>
    <p:extLst>
      <p:ext uri="{BB962C8B-B14F-4D97-AF65-F5344CB8AC3E}">
        <p14:creationId xmlns:p14="http://schemas.microsoft.com/office/powerpoint/2010/main" val="33635052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28266" name="Rectangle: Rounded Corners 228265">
            <a:extLst>
              <a:ext uri="{FF2B5EF4-FFF2-40B4-BE49-F238E27FC236}">
                <a16:creationId xmlns:a16="http://schemas.microsoft.com/office/drawing/2014/main" id="{9A597A25-B961-A8C7-43B1-717660E23F3E}"/>
              </a:ext>
            </a:extLst>
          </p:cNvPr>
          <p:cNvSpPr/>
          <p:nvPr/>
        </p:nvSpPr>
        <p:spPr>
          <a:xfrm>
            <a:off x="609600" y="400000"/>
            <a:ext cx="1360164"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WRAP-UP</a:t>
            </a:r>
          </a:p>
          <a:p>
            <a:pPr algn="ctr">
              <a:buNone/>
            </a:pPr>
            <a:r>
              <a:rPr lang="en-US" sz="100">
                <a:effectLst/>
              </a:rPr>
              <a:t> </a:t>
            </a:r>
            <a:endParaRPr lang="en-US"/>
          </a:p>
        </p:txBody>
      </p:sp>
      <p:sp>
        <p:nvSpPr>
          <p:cNvPr id="228402" name="Rectangle 228401">
            <a:extLst>
              <a:ext uri="{FF2B5EF4-FFF2-40B4-BE49-F238E27FC236}">
                <a16:creationId xmlns:a16="http://schemas.microsoft.com/office/drawing/2014/main" id="{8375A45F-C303-FF70-00F3-7661EEBEC1FC}"/>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What you built today: one intelligent business process</a:t>
            </a:r>
          </a:p>
          <a:p>
            <a:pPr algn="l">
              <a:buNone/>
            </a:pPr>
            <a:r>
              <a:rPr lang="en-US" sz="100">
                <a:effectLst/>
              </a:rPr>
              <a:t> </a:t>
            </a:r>
            <a:endParaRPr lang="en-US"/>
          </a:p>
        </p:txBody>
      </p:sp>
      <p:sp>
        <p:nvSpPr>
          <p:cNvPr id="228539" name="Rectangle 228538">
            <a:extLst>
              <a:ext uri="{FF2B5EF4-FFF2-40B4-BE49-F238E27FC236}">
                <a16:creationId xmlns:a16="http://schemas.microsoft.com/office/drawing/2014/main" id="{FE224A2E-F6D9-18A5-D91B-3C9AF6C194A9}"/>
              </a:ext>
            </a:extLst>
          </p:cNvPr>
          <p:cNvSpPr/>
          <p:nvPr/>
        </p:nvSpPr>
        <p:spPr>
          <a:xfrm>
            <a:off x="609600" y="2451063"/>
            <a:ext cx="1687133" cy="2339824"/>
          </a:xfrm>
          <a:prstGeom prst="rect">
            <a:avLst/>
          </a:prstGeom>
          <a:solidFill>
            <a:srgbClr val="FFFFFF">
              <a:alpha val="7000"/>
            </a:srgbClr>
          </a:solidFill>
          <a:ln w="19050">
            <a:solidFill>
              <a:srgbClr val="3A7B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677" name="Rectangle 228676">
            <a:extLst>
              <a:ext uri="{FF2B5EF4-FFF2-40B4-BE49-F238E27FC236}">
                <a16:creationId xmlns:a16="http://schemas.microsoft.com/office/drawing/2014/main" id="{44AE4EAD-D29D-0DDF-EECC-EFECDD4FF079}"/>
              </a:ext>
            </a:extLst>
          </p:cNvPr>
          <p:cNvSpPr/>
          <p:nvPr/>
        </p:nvSpPr>
        <p:spPr>
          <a:xfrm>
            <a:off x="609600" y="2451063"/>
            <a:ext cx="1687133" cy="480000"/>
          </a:xfrm>
          <a:prstGeom prst="rect">
            <a:avLst/>
          </a:prstGeom>
          <a:solidFill>
            <a:srgbClr val="3A7B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0B1020"/>
                </a:solidFill>
                <a:effectLst/>
                <a:latin typeface="Segoe UI" panose="020B0502040204020203" pitchFamily="34" charset="0"/>
              </a:rPr>
              <a:t>M1</a:t>
            </a:r>
          </a:p>
          <a:p>
            <a:pPr algn="ctr">
              <a:buNone/>
            </a:pPr>
            <a:r>
              <a:rPr lang="en-US" sz="100">
                <a:effectLst/>
              </a:rPr>
              <a:t> </a:t>
            </a:r>
            <a:endParaRPr lang="en-US"/>
          </a:p>
        </p:txBody>
      </p:sp>
      <p:sp>
        <p:nvSpPr>
          <p:cNvPr id="228816" name="Rectangle 228815">
            <a:extLst>
              <a:ext uri="{FF2B5EF4-FFF2-40B4-BE49-F238E27FC236}">
                <a16:creationId xmlns:a16="http://schemas.microsoft.com/office/drawing/2014/main" id="{BFE9B903-172D-1B7E-5EEB-47919A23CEC1}"/>
              </a:ext>
            </a:extLst>
          </p:cNvPr>
          <p:cNvSpPr/>
          <p:nvPr/>
        </p:nvSpPr>
        <p:spPr>
          <a:xfrm>
            <a:off x="709600" y="3031063"/>
            <a:ext cx="1487133" cy="8961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Verified baseline and authority rules</a:t>
            </a:r>
          </a:p>
          <a:p>
            <a:pPr algn="l">
              <a:buNone/>
            </a:pPr>
            <a:r>
              <a:rPr lang="en-US" sz="100">
                <a:effectLst/>
              </a:rPr>
              <a:t> </a:t>
            </a:r>
            <a:endParaRPr lang="en-US"/>
          </a:p>
        </p:txBody>
      </p:sp>
      <p:sp>
        <p:nvSpPr>
          <p:cNvPr id="228956" name="Arrow: Right 228955">
            <a:extLst>
              <a:ext uri="{FF2B5EF4-FFF2-40B4-BE49-F238E27FC236}">
                <a16:creationId xmlns:a16="http://schemas.microsoft.com/office/drawing/2014/main" id="{C00FF12B-B001-830D-FB4A-E3396C606D01}"/>
              </a:ext>
            </a:extLst>
          </p:cNvPr>
          <p:cNvSpPr/>
          <p:nvPr/>
        </p:nvSpPr>
        <p:spPr>
          <a:xfrm>
            <a:off x="2316733" y="3530975"/>
            <a:ext cx="130000" cy="18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097" name="Rectangle 229096">
            <a:extLst>
              <a:ext uri="{FF2B5EF4-FFF2-40B4-BE49-F238E27FC236}">
                <a16:creationId xmlns:a16="http://schemas.microsoft.com/office/drawing/2014/main" id="{0AB8C565-5D43-1C7C-EEE4-F7ACD1885A82}"/>
              </a:ext>
            </a:extLst>
          </p:cNvPr>
          <p:cNvSpPr/>
          <p:nvPr/>
        </p:nvSpPr>
        <p:spPr>
          <a:xfrm>
            <a:off x="2466733" y="2451063"/>
            <a:ext cx="1687133" cy="2339824"/>
          </a:xfrm>
          <a:prstGeom prst="rect">
            <a:avLst/>
          </a:prstGeom>
          <a:solidFill>
            <a:srgbClr val="FFFFFF">
              <a:alpha val="7000"/>
            </a:srgbClr>
          </a:solidFill>
          <a:ln w="19050">
            <a:solidFill>
              <a:srgbClr val="2FFFE0"/>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239" name="Rectangle 229238">
            <a:extLst>
              <a:ext uri="{FF2B5EF4-FFF2-40B4-BE49-F238E27FC236}">
                <a16:creationId xmlns:a16="http://schemas.microsoft.com/office/drawing/2014/main" id="{23C13349-8BBE-5057-02F1-3474B7201BAE}"/>
              </a:ext>
            </a:extLst>
          </p:cNvPr>
          <p:cNvSpPr/>
          <p:nvPr/>
        </p:nvSpPr>
        <p:spPr>
          <a:xfrm>
            <a:off x="2466733" y="2451063"/>
            <a:ext cx="1687133" cy="480000"/>
          </a:xfrm>
          <a:prstGeom prst="rect">
            <a:avLst/>
          </a:prstGeom>
          <a:solidFill>
            <a:srgbClr val="2FFFE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0B1020"/>
                </a:solidFill>
                <a:effectLst/>
                <a:latin typeface="Segoe UI" panose="020B0502040204020203" pitchFamily="34" charset="0"/>
              </a:rPr>
              <a:t>M2</a:t>
            </a:r>
          </a:p>
          <a:p>
            <a:pPr algn="ctr">
              <a:buNone/>
            </a:pPr>
            <a:r>
              <a:rPr lang="en-US" sz="100">
                <a:effectLst/>
              </a:rPr>
              <a:t> </a:t>
            </a:r>
            <a:endParaRPr lang="en-US"/>
          </a:p>
        </p:txBody>
      </p:sp>
      <p:sp>
        <p:nvSpPr>
          <p:cNvPr id="229382" name="Rectangle 229381">
            <a:extLst>
              <a:ext uri="{FF2B5EF4-FFF2-40B4-BE49-F238E27FC236}">
                <a16:creationId xmlns:a16="http://schemas.microsoft.com/office/drawing/2014/main" id="{756658AC-8574-65A9-5CD8-C43B74A29B35}"/>
              </a:ext>
            </a:extLst>
          </p:cNvPr>
          <p:cNvSpPr/>
          <p:nvPr/>
        </p:nvSpPr>
        <p:spPr>
          <a:xfrm>
            <a:off x="2566733" y="3031063"/>
            <a:ext cx="1487133" cy="11440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Supplier offer comparison in the Control Tower</a:t>
            </a:r>
          </a:p>
          <a:p>
            <a:pPr algn="l">
              <a:buNone/>
            </a:pPr>
            <a:r>
              <a:rPr lang="en-US" sz="100">
                <a:effectLst/>
              </a:rPr>
              <a:t> </a:t>
            </a:r>
            <a:endParaRPr lang="en-US"/>
          </a:p>
        </p:txBody>
      </p:sp>
      <p:sp>
        <p:nvSpPr>
          <p:cNvPr id="229526" name="Arrow: Right 229525">
            <a:extLst>
              <a:ext uri="{FF2B5EF4-FFF2-40B4-BE49-F238E27FC236}">
                <a16:creationId xmlns:a16="http://schemas.microsoft.com/office/drawing/2014/main" id="{AADD81DB-14BD-14C7-C34D-8093C65C8A8D}"/>
              </a:ext>
            </a:extLst>
          </p:cNvPr>
          <p:cNvSpPr/>
          <p:nvPr/>
        </p:nvSpPr>
        <p:spPr>
          <a:xfrm>
            <a:off x="4173866" y="3530975"/>
            <a:ext cx="130000" cy="18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671" name="Rectangle 229670">
            <a:extLst>
              <a:ext uri="{FF2B5EF4-FFF2-40B4-BE49-F238E27FC236}">
                <a16:creationId xmlns:a16="http://schemas.microsoft.com/office/drawing/2014/main" id="{C85F7073-4BFB-8E8E-EE81-614A0C2876FE}"/>
              </a:ext>
            </a:extLst>
          </p:cNvPr>
          <p:cNvSpPr/>
          <p:nvPr/>
        </p:nvSpPr>
        <p:spPr>
          <a:xfrm>
            <a:off x="4323866" y="2451063"/>
            <a:ext cx="1687133" cy="2339824"/>
          </a:xfrm>
          <a:prstGeom prst="rect">
            <a:avLst/>
          </a:prstGeom>
          <a:solidFill>
            <a:srgbClr val="FFFFFF">
              <a:alpha val="7000"/>
            </a:srgbClr>
          </a:solidFill>
          <a:ln w="19050">
            <a:solidFill>
              <a:srgbClr val="FF00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17" name="Rectangle 229816">
            <a:extLst>
              <a:ext uri="{FF2B5EF4-FFF2-40B4-BE49-F238E27FC236}">
                <a16:creationId xmlns:a16="http://schemas.microsoft.com/office/drawing/2014/main" id="{39408D8B-5CB3-3326-6467-3530580D04CE}"/>
              </a:ext>
            </a:extLst>
          </p:cNvPr>
          <p:cNvSpPr/>
          <p:nvPr/>
        </p:nvSpPr>
        <p:spPr>
          <a:xfrm>
            <a:off x="4323866" y="2451063"/>
            <a:ext cx="1687133" cy="480000"/>
          </a:xfrm>
          <a:prstGeom prst="rect">
            <a:avLst/>
          </a:prstGeom>
          <a:solidFill>
            <a:srgbClr val="FF00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0B1020"/>
                </a:solidFill>
                <a:effectLst/>
                <a:latin typeface="Segoe UI" panose="020B0502040204020203" pitchFamily="34" charset="0"/>
              </a:rPr>
              <a:t>M3</a:t>
            </a:r>
          </a:p>
          <a:p>
            <a:pPr algn="ctr">
              <a:buNone/>
            </a:pPr>
            <a:r>
              <a:rPr lang="en-US" sz="100">
                <a:effectLst/>
              </a:rPr>
              <a:t> </a:t>
            </a:r>
            <a:endParaRPr lang="en-US"/>
          </a:p>
        </p:txBody>
      </p:sp>
      <p:sp>
        <p:nvSpPr>
          <p:cNvPr id="229964" name="Rectangle 229963">
            <a:extLst>
              <a:ext uri="{FF2B5EF4-FFF2-40B4-BE49-F238E27FC236}">
                <a16:creationId xmlns:a16="http://schemas.microsoft.com/office/drawing/2014/main" id="{76A83407-3E1C-BD2A-692A-73C81FEB8133}"/>
              </a:ext>
            </a:extLst>
          </p:cNvPr>
          <p:cNvSpPr/>
          <p:nvPr/>
        </p:nvSpPr>
        <p:spPr>
          <a:xfrm>
            <a:off x="4423866" y="3031063"/>
            <a:ext cx="1487133" cy="8961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AI-assisted intake and impact flows</a:t>
            </a:r>
          </a:p>
          <a:p>
            <a:pPr algn="l">
              <a:buNone/>
            </a:pPr>
            <a:r>
              <a:rPr lang="en-US" sz="100">
                <a:effectLst/>
              </a:rPr>
              <a:t> </a:t>
            </a:r>
            <a:endParaRPr lang="en-US"/>
          </a:p>
        </p:txBody>
      </p:sp>
      <p:sp>
        <p:nvSpPr>
          <p:cNvPr id="230112" name="Arrow: Right 230111">
            <a:extLst>
              <a:ext uri="{FF2B5EF4-FFF2-40B4-BE49-F238E27FC236}">
                <a16:creationId xmlns:a16="http://schemas.microsoft.com/office/drawing/2014/main" id="{06E68274-10DE-B698-9471-122492AFF598}"/>
              </a:ext>
            </a:extLst>
          </p:cNvPr>
          <p:cNvSpPr/>
          <p:nvPr/>
        </p:nvSpPr>
        <p:spPr>
          <a:xfrm>
            <a:off x="6030999" y="3530975"/>
            <a:ext cx="130000" cy="18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261" name="Rectangle 230260">
            <a:extLst>
              <a:ext uri="{FF2B5EF4-FFF2-40B4-BE49-F238E27FC236}">
                <a16:creationId xmlns:a16="http://schemas.microsoft.com/office/drawing/2014/main" id="{62007C29-F94B-5184-C0DD-1AB373EF4AE8}"/>
              </a:ext>
            </a:extLst>
          </p:cNvPr>
          <p:cNvSpPr/>
          <p:nvPr/>
        </p:nvSpPr>
        <p:spPr>
          <a:xfrm>
            <a:off x="6180999" y="2451063"/>
            <a:ext cx="1687133" cy="2339824"/>
          </a:xfrm>
          <a:prstGeom prst="rect">
            <a:avLst/>
          </a:prstGeom>
          <a:solidFill>
            <a:srgbClr val="FFFFFF">
              <a:alpha val="7000"/>
            </a:srgbClr>
          </a:solidFill>
          <a:ln w="19050">
            <a:solidFill>
              <a:srgbClr val="B2AAF8"/>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411" name="Rectangle 230410">
            <a:extLst>
              <a:ext uri="{FF2B5EF4-FFF2-40B4-BE49-F238E27FC236}">
                <a16:creationId xmlns:a16="http://schemas.microsoft.com/office/drawing/2014/main" id="{F0F9DD86-D353-D20D-4973-020D0109DF0A}"/>
              </a:ext>
            </a:extLst>
          </p:cNvPr>
          <p:cNvSpPr/>
          <p:nvPr/>
        </p:nvSpPr>
        <p:spPr>
          <a:xfrm>
            <a:off x="6180999" y="2451063"/>
            <a:ext cx="1687133" cy="480000"/>
          </a:xfrm>
          <a:prstGeom prst="rect">
            <a:avLst/>
          </a:prstGeom>
          <a:solidFill>
            <a:srgbClr val="B2AAF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0B1020"/>
                </a:solidFill>
                <a:effectLst/>
                <a:latin typeface="Segoe UI" panose="020B0502040204020203" pitchFamily="34" charset="0"/>
              </a:rPr>
              <a:t>M4</a:t>
            </a:r>
          </a:p>
          <a:p>
            <a:pPr algn="ctr">
              <a:buNone/>
            </a:pPr>
            <a:r>
              <a:rPr lang="en-US" sz="100">
                <a:effectLst/>
              </a:rPr>
              <a:t> </a:t>
            </a:r>
            <a:endParaRPr lang="en-US"/>
          </a:p>
        </p:txBody>
      </p:sp>
      <p:sp>
        <p:nvSpPr>
          <p:cNvPr id="230562" name="Rectangle 230561">
            <a:extLst>
              <a:ext uri="{FF2B5EF4-FFF2-40B4-BE49-F238E27FC236}">
                <a16:creationId xmlns:a16="http://schemas.microsoft.com/office/drawing/2014/main" id="{26FCE1F0-01ED-64AF-0DED-FB12BE470A3D}"/>
              </a:ext>
            </a:extLst>
          </p:cNvPr>
          <p:cNvSpPr/>
          <p:nvPr/>
        </p:nvSpPr>
        <p:spPr>
          <a:xfrm>
            <a:off x="6280999" y="3031063"/>
            <a:ext cx="1487133" cy="11440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Policy skill, Commander, Handoff to Agent feed</a:t>
            </a:r>
          </a:p>
          <a:p>
            <a:pPr algn="l">
              <a:buNone/>
            </a:pPr>
            <a:r>
              <a:rPr lang="en-US" sz="100">
                <a:effectLst/>
              </a:rPr>
              <a:t> </a:t>
            </a:r>
            <a:endParaRPr lang="en-US"/>
          </a:p>
        </p:txBody>
      </p:sp>
      <p:sp>
        <p:nvSpPr>
          <p:cNvPr id="230714" name="Arrow: Right 230713">
            <a:extLst>
              <a:ext uri="{FF2B5EF4-FFF2-40B4-BE49-F238E27FC236}">
                <a16:creationId xmlns:a16="http://schemas.microsoft.com/office/drawing/2014/main" id="{0650487B-F112-547A-C1B9-583E182037DD}"/>
              </a:ext>
            </a:extLst>
          </p:cNvPr>
          <p:cNvSpPr/>
          <p:nvPr/>
        </p:nvSpPr>
        <p:spPr>
          <a:xfrm>
            <a:off x="7888132" y="3530975"/>
            <a:ext cx="130000" cy="18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867" name="Rectangle 230866">
            <a:extLst>
              <a:ext uri="{FF2B5EF4-FFF2-40B4-BE49-F238E27FC236}">
                <a16:creationId xmlns:a16="http://schemas.microsoft.com/office/drawing/2014/main" id="{57FA2CF3-6B3B-C6BE-1AFC-732FDB8B1132}"/>
              </a:ext>
            </a:extLst>
          </p:cNvPr>
          <p:cNvSpPr/>
          <p:nvPr/>
        </p:nvSpPr>
        <p:spPr>
          <a:xfrm>
            <a:off x="8038132" y="2451063"/>
            <a:ext cx="1687133" cy="2339824"/>
          </a:xfrm>
          <a:prstGeom prst="rect">
            <a:avLst/>
          </a:prstGeom>
          <a:solidFill>
            <a:srgbClr val="FFFFFF">
              <a:alpha val="7000"/>
            </a:srgbClr>
          </a:solidFill>
          <a:ln w="19050">
            <a:solidFill>
              <a:srgbClr val="F19D19"/>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021" name="Rectangle 231020">
            <a:extLst>
              <a:ext uri="{FF2B5EF4-FFF2-40B4-BE49-F238E27FC236}">
                <a16:creationId xmlns:a16="http://schemas.microsoft.com/office/drawing/2014/main" id="{29F73A0A-0706-61BF-40AA-628C102A2EA5}"/>
              </a:ext>
            </a:extLst>
          </p:cNvPr>
          <p:cNvSpPr/>
          <p:nvPr/>
        </p:nvSpPr>
        <p:spPr>
          <a:xfrm>
            <a:off x="8038132" y="2451063"/>
            <a:ext cx="1687133" cy="480000"/>
          </a:xfrm>
          <a:prstGeom prst="rect">
            <a:avLst/>
          </a:prstGeom>
          <a:solidFill>
            <a:srgbClr val="F19D1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0B1020"/>
                </a:solidFill>
                <a:effectLst/>
                <a:latin typeface="Segoe UI" panose="020B0502040204020203" pitchFamily="34" charset="0"/>
              </a:rPr>
              <a:t>M5</a:t>
            </a:r>
          </a:p>
          <a:p>
            <a:pPr algn="ctr">
              <a:buNone/>
            </a:pPr>
            <a:r>
              <a:rPr lang="en-US" sz="100">
                <a:effectLst/>
              </a:rPr>
              <a:t> </a:t>
            </a:r>
            <a:endParaRPr lang="en-US"/>
          </a:p>
        </p:txBody>
      </p:sp>
      <p:sp>
        <p:nvSpPr>
          <p:cNvPr id="231176" name="Rectangle 231175">
            <a:extLst>
              <a:ext uri="{FF2B5EF4-FFF2-40B4-BE49-F238E27FC236}">
                <a16:creationId xmlns:a16="http://schemas.microsoft.com/office/drawing/2014/main" id="{BB7E4225-3A9A-726C-F217-F0284CED3040}"/>
              </a:ext>
            </a:extLst>
          </p:cNvPr>
          <p:cNvSpPr/>
          <p:nvPr/>
        </p:nvSpPr>
        <p:spPr>
          <a:xfrm>
            <a:off x="8138132" y="3031063"/>
            <a:ext cx="1487133" cy="16398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Carrier agent with Computer Use and governed recovery</a:t>
            </a:r>
          </a:p>
          <a:p>
            <a:pPr algn="l">
              <a:buNone/>
            </a:pPr>
            <a:r>
              <a:rPr lang="en-US" sz="100">
                <a:effectLst/>
              </a:rPr>
              <a:t> </a:t>
            </a:r>
            <a:endParaRPr lang="en-US"/>
          </a:p>
        </p:txBody>
      </p:sp>
      <p:sp>
        <p:nvSpPr>
          <p:cNvPr id="231332" name="Arrow: Right 231331">
            <a:extLst>
              <a:ext uri="{FF2B5EF4-FFF2-40B4-BE49-F238E27FC236}">
                <a16:creationId xmlns:a16="http://schemas.microsoft.com/office/drawing/2014/main" id="{C01E2BBE-749A-F0EB-DFD7-8DDE4126ED18}"/>
              </a:ext>
            </a:extLst>
          </p:cNvPr>
          <p:cNvSpPr/>
          <p:nvPr/>
        </p:nvSpPr>
        <p:spPr>
          <a:xfrm>
            <a:off x="9745265" y="3530975"/>
            <a:ext cx="130000" cy="180000"/>
          </a:xfrm>
          <a:prstGeom prst="rightArrow">
            <a:avLst/>
          </a:prstGeom>
          <a:solidFill>
            <a:srgbClr val="D6D2E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489" name="Rectangle 231488">
            <a:extLst>
              <a:ext uri="{FF2B5EF4-FFF2-40B4-BE49-F238E27FC236}">
                <a16:creationId xmlns:a16="http://schemas.microsoft.com/office/drawing/2014/main" id="{00BC9174-8585-7F45-8B20-FB47523E9AD6}"/>
              </a:ext>
            </a:extLst>
          </p:cNvPr>
          <p:cNvSpPr/>
          <p:nvPr/>
        </p:nvSpPr>
        <p:spPr>
          <a:xfrm>
            <a:off x="9895265" y="2451063"/>
            <a:ext cx="1687133" cy="2339824"/>
          </a:xfrm>
          <a:prstGeom prst="rect">
            <a:avLst/>
          </a:prstGeom>
          <a:solidFill>
            <a:srgbClr val="FFFFFF">
              <a:alpha val="7000"/>
            </a:srgbClr>
          </a:solidFill>
          <a:ln w="19050">
            <a:solidFill>
              <a:srgbClr val="82EBA6"/>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647" name="Rectangle 231646">
            <a:extLst>
              <a:ext uri="{FF2B5EF4-FFF2-40B4-BE49-F238E27FC236}">
                <a16:creationId xmlns:a16="http://schemas.microsoft.com/office/drawing/2014/main" id="{4DC840B9-D5F9-0DBC-5A94-D39A04578B57}"/>
              </a:ext>
            </a:extLst>
          </p:cNvPr>
          <p:cNvSpPr/>
          <p:nvPr/>
        </p:nvSpPr>
        <p:spPr>
          <a:xfrm>
            <a:off x="9895265" y="2451063"/>
            <a:ext cx="1687133" cy="480000"/>
          </a:xfrm>
          <a:prstGeom prst="rect">
            <a:avLst/>
          </a:prstGeom>
          <a:solidFill>
            <a:srgbClr val="82EBA6"/>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0B1020"/>
                </a:solidFill>
                <a:effectLst/>
                <a:latin typeface="Segoe UI" panose="020B0502040204020203" pitchFamily="34" charset="0"/>
              </a:rPr>
              <a:t>M6</a:t>
            </a:r>
          </a:p>
          <a:p>
            <a:pPr algn="ctr">
              <a:buNone/>
            </a:pPr>
            <a:r>
              <a:rPr lang="en-US" sz="100">
                <a:effectLst/>
              </a:rPr>
              <a:t> </a:t>
            </a:r>
            <a:endParaRPr lang="en-US"/>
          </a:p>
        </p:txBody>
      </p:sp>
      <p:sp>
        <p:nvSpPr>
          <p:cNvPr id="231806" name="Rectangle 231805">
            <a:extLst>
              <a:ext uri="{FF2B5EF4-FFF2-40B4-BE49-F238E27FC236}">
                <a16:creationId xmlns:a16="http://schemas.microsoft.com/office/drawing/2014/main" id="{64984739-30F8-61E6-87B2-4FF4B808A01C}"/>
              </a:ext>
            </a:extLst>
          </p:cNvPr>
          <p:cNvSpPr/>
          <p:nvPr/>
        </p:nvSpPr>
        <p:spPr>
          <a:xfrm>
            <a:off x="9995265" y="3031063"/>
            <a:ext cx="1487133" cy="1391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a:solidFill>
                  <a:srgbClr val="FFFFFF"/>
                </a:solidFill>
                <a:latin typeface="Segoe UI"/>
                <a:cs typeface="Segoe UI"/>
              </a:rPr>
              <a:t>Two managed solutions deployed through the same </a:t>
            </a:r>
            <a:r>
              <a:rPr lang="en-US" sz="1600">
                <a:solidFill>
                  <a:srgbClr val="FFFFFF"/>
                </a:solidFill>
                <a:effectLst/>
                <a:latin typeface="Segoe UI"/>
                <a:cs typeface="Segoe UI"/>
              </a:rPr>
              <a:t>pipeline</a:t>
            </a:r>
            <a:endParaRPr lang="en-US" sz="1600">
              <a:latin typeface="Segoe UI"/>
              <a:cs typeface="Segoe UI"/>
            </a:endParaRPr>
          </a:p>
        </p:txBody>
      </p:sp>
      <p:sp>
        <p:nvSpPr>
          <p:cNvPr id="231966" name="Rectangle 231965">
            <a:extLst>
              <a:ext uri="{FF2B5EF4-FFF2-40B4-BE49-F238E27FC236}">
                <a16:creationId xmlns:a16="http://schemas.microsoft.com/office/drawing/2014/main" id="{D4AE0216-2A61-A660-70CF-AF489AB34612}"/>
              </a:ext>
            </a:extLst>
          </p:cNvPr>
          <p:cNvSpPr/>
          <p:nvPr/>
        </p:nvSpPr>
        <p:spPr>
          <a:xfrm>
            <a:off x="609600" y="5780000"/>
            <a:ext cx="10972800" cy="650000"/>
          </a:xfrm>
          <a:prstGeom prst="rect">
            <a:avLst/>
          </a:prstGeom>
          <a:solidFill>
            <a:srgbClr val="FFFFFF">
              <a:alpha val="12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Segoe UI" panose="020B0502040204020203" pitchFamily="34" charset="0"/>
              </a:rPr>
              <a:t>Dataverse — system of record for every step</a:t>
            </a:r>
          </a:p>
          <a:p>
            <a:pPr algn="ctr">
              <a:buNone/>
            </a:pPr>
            <a:r>
              <a:rPr lang="en-US" sz="100">
                <a:effectLst/>
              </a:rPr>
              <a:t> </a:t>
            </a:r>
            <a:endParaRPr lang="en-US"/>
          </a:p>
        </p:txBody>
      </p:sp>
    </p:spTree>
    <p:extLst>
      <p:ext uri="{BB962C8B-B14F-4D97-AF65-F5344CB8AC3E}">
        <p14:creationId xmlns:p14="http://schemas.microsoft.com/office/powerpoint/2010/main" val="42333908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00276" name="Rectangle: Rounded Corners 200275">
            <a:extLst>
              <a:ext uri="{FF2B5EF4-FFF2-40B4-BE49-F238E27FC236}">
                <a16:creationId xmlns:a16="http://schemas.microsoft.com/office/drawing/2014/main" id="{E6123793-91A5-F40A-CEA3-8C4C9B1012EA}"/>
              </a:ext>
            </a:extLst>
          </p:cNvPr>
          <p:cNvSpPr/>
          <p:nvPr/>
        </p:nvSpPr>
        <p:spPr>
          <a:xfrm>
            <a:off x="609600" y="400000"/>
            <a:ext cx="1360164"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WRAP-UP</a:t>
            </a:r>
          </a:p>
          <a:p>
            <a:pPr algn="ctr">
              <a:buNone/>
            </a:pPr>
            <a:r>
              <a:rPr lang="en-US" sz="100">
                <a:effectLst/>
              </a:rPr>
              <a:t> </a:t>
            </a:r>
            <a:endParaRPr lang="en-US"/>
          </a:p>
        </p:txBody>
      </p:sp>
      <p:sp>
        <p:nvSpPr>
          <p:cNvPr id="200278" name="Rectangle 200277">
            <a:extLst>
              <a:ext uri="{FF2B5EF4-FFF2-40B4-BE49-F238E27FC236}">
                <a16:creationId xmlns:a16="http://schemas.microsoft.com/office/drawing/2014/main" id="{13B98B16-3BDD-1A1A-557F-C2E54E385D33}"/>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Key takeaways</a:t>
            </a:r>
          </a:p>
          <a:p>
            <a:pPr algn="l">
              <a:buNone/>
            </a:pPr>
            <a:r>
              <a:rPr lang="en-US" sz="100">
                <a:effectLst/>
              </a:rPr>
              <a:t> </a:t>
            </a:r>
            <a:endParaRPr lang="en-US"/>
          </a:p>
        </p:txBody>
      </p:sp>
      <p:sp>
        <p:nvSpPr>
          <p:cNvPr id="200281" name="Rectangle 200280">
            <a:extLst>
              <a:ext uri="{FF2B5EF4-FFF2-40B4-BE49-F238E27FC236}">
                <a16:creationId xmlns:a16="http://schemas.microsoft.com/office/drawing/2014/main" id="{62CF8CDE-CED4-E0A3-3550-C6A134DFCF90}"/>
              </a:ext>
            </a:extLst>
          </p:cNvPr>
          <p:cNvSpPr/>
          <p:nvPr/>
        </p:nvSpPr>
        <p:spPr>
          <a:xfrm>
            <a:off x="609600" y="1661951"/>
            <a:ext cx="10972800" cy="87360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285" name="Rectangle 200284">
            <a:extLst>
              <a:ext uri="{FF2B5EF4-FFF2-40B4-BE49-F238E27FC236}">
                <a16:creationId xmlns:a16="http://schemas.microsoft.com/office/drawing/2014/main" id="{4533A295-36C4-91E4-5E23-AC17183312DE}"/>
              </a:ext>
            </a:extLst>
          </p:cNvPr>
          <p:cNvSpPr/>
          <p:nvPr/>
        </p:nvSpPr>
        <p:spPr>
          <a:xfrm>
            <a:off x="609600" y="1661951"/>
            <a:ext cx="900000" cy="8736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3200" b="1">
                <a:solidFill>
                  <a:srgbClr val="FFFFFF"/>
                </a:solidFill>
                <a:effectLst/>
                <a:latin typeface="Segoe UI" panose="020B0502040204020203" pitchFamily="34" charset="0"/>
              </a:rPr>
              <a:t>1</a:t>
            </a:r>
          </a:p>
          <a:p>
            <a:pPr algn="ctr">
              <a:buNone/>
            </a:pPr>
            <a:r>
              <a:rPr lang="en-US" sz="100">
                <a:effectLst/>
              </a:rPr>
              <a:t> </a:t>
            </a:r>
            <a:endParaRPr lang="en-US"/>
          </a:p>
        </p:txBody>
      </p:sp>
      <p:sp>
        <p:nvSpPr>
          <p:cNvPr id="200290" name="Rectangle 200289">
            <a:extLst>
              <a:ext uri="{FF2B5EF4-FFF2-40B4-BE49-F238E27FC236}">
                <a16:creationId xmlns:a16="http://schemas.microsoft.com/office/drawing/2014/main" id="{A4565579-C631-9CD4-4578-E913A4726BD0}"/>
              </a:ext>
            </a:extLst>
          </p:cNvPr>
          <p:cNvSpPr/>
          <p:nvPr/>
        </p:nvSpPr>
        <p:spPr>
          <a:xfrm>
            <a:off x="1509600" y="1685751"/>
            <a:ext cx="9922800" cy="826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Extend what exists</a:t>
            </a:r>
          </a:p>
          <a:p>
            <a:pPr algn="l">
              <a:buNone/>
            </a:pPr>
            <a:r>
              <a:rPr lang="en-US" sz="2000">
                <a:solidFill>
                  <a:srgbClr val="D6D2E8"/>
                </a:solidFill>
                <a:effectLst/>
                <a:latin typeface="Segoe UI" panose="020B0502040204020203" pitchFamily="34" charset="0"/>
              </a:rPr>
              <a:t>build on Dataverse and the installed app instead of rebuilding</a:t>
            </a:r>
            <a:endParaRPr lang="en-US"/>
          </a:p>
        </p:txBody>
      </p:sp>
      <p:sp>
        <p:nvSpPr>
          <p:cNvPr id="200296" name="Rectangle 200295">
            <a:extLst>
              <a:ext uri="{FF2B5EF4-FFF2-40B4-BE49-F238E27FC236}">
                <a16:creationId xmlns:a16="http://schemas.microsoft.com/office/drawing/2014/main" id="{A8CAE085-85FD-0636-E9BA-5BC49C99E53E}"/>
              </a:ext>
            </a:extLst>
          </p:cNvPr>
          <p:cNvSpPr/>
          <p:nvPr/>
        </p:nvSpPr>
        <p:spPr>
          <a:xfrm>
            <a:off x="609600" y="2635560"/>
            <a:ext cx="10972800" cy="87360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03" name="Rectangle 200302">
            <a:extLst>
              <a:ext uri="{FF2B5EF4-FFF2-40B4-BE49-F238E27FC236}">
                <a16:creationId xmlns:a16="http://schemas.microsoft.com/office/drawing/2014/main" id="{A1AD20BB-AC41-914B-54B1-9CD109E56959}"/>
              </a:ext>
            </a:extLst>
          </p:cNvPr>
          <p:cNvSpPr/>
          <p:nvPr/>
        </p:nvSpPr>
        <p:spPr>
          <a:xfrm>
            <a:off x="609600" y="2635560"/>
            <a:ext cx="900000" cy="8736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3200" b="1">
                <a:solidFill>
                  <a:srgbClr val="FFFFFF"/>
                </a:solidFill>
                <a:effectLst/>
                <a:latin typeface="Segoe UI" panose="020B0502040204020203" pitchFamily="34" charset="0"/>
              </a:rPr>
              <a:t>2</a:t>
            </a:r>
          </a:p>
          <a:p>
            <a:pPr algn="ctr">
              <a:buNone/>
            </a:pPr>
            <a:r>
              <a:rPr lang="en-US" sz="100">
                <a:effectLst/>
              </a:rPr>
              <a:t> </a:t>
            </a:r>
            <a:endParaRPr lang="en-US"/>
          </a:p>
        </p:txBody>
      </p:sp>
      <p:sp>
        <p:nvSpPr>
          <p:cNvPr id="200311" name="Rectangle 200310">
            <a:extLst>
              <a:ext uri="{FF2B5EF4-FFF2-40B4-BE49-F238E27FC236}">
                <a16:creationId xmlns:a16="http://schemas.microsoft.com/office/drawing/2014/main" id="{9BB106D4-D4AE-4FCA-2B24-902902EEB8AE}"/>
              </a:ext>
            </a:extLst>
          </p:cNvPr>
          <p:cNvSpPr/>
          <p:nvPr/>
        </p:nvSpPr>
        <p:spPr>
          <a:xfrm>
            <a:off x="1509600" y="2814300"/>
            <a:ext cx="9922800" cy="516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Let automation calculate and control; let AI interpret and explain</a:t>
            </a:r>
          </a:p>
          <a:p>
            <a:pPr algn="l">
              <a:buNone/>
            </a:pPr>
            <a:r>
              <a:rPr lang="en-US" sz="100">
                <a:effectLst/>
              </a:rPr>
              <a:t> </a:t>
            </a:r>
            <a:endParaRPr lang="en-US"/>
          </a:p>
        </p:txBody>
      </p:sp>
      <p:sp>
        <p:nvSpPr>
          <p:cNvPr id="200320" name="Rectangle 200319">
            <a:extLst>
              <a:ext uri="{FF2B5EF4-FFF2-40B4-BE49-F238E27FC236}">
                <a16:creationId xmlns:a16="http://schemas.microsoft.com/office/drawing/2014/main" id="{B0B3529C-563F-589D-6129-95C7B27BFAA0}"/>
              </a:ext>
            </a:extLst>
          </p:cNvPr>
          <p:cNvSpPr/>
          <p:nvPr/>
        </p:nvSpPr>
        <p:spPr>
          <a:xfrm>
            <a:off x="609600" y="3609169"/>
            <a:ext cx="10972800" cy="87360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30" name="Rectangle 200329">
            <a:extLst>
              <a:ext uri="{FF2B5EF4-FFF2-40B4-BE49-F238E27FC236}">
                <a16:creationId xmlns:a16="http://schemas.microsoft.com/office/drawing/2014/main" id="{76D87119-F07F-5469-98BF-46780C9CDBA1}"/>
              </a:ext>
            </a:extLst>
          </p:cNvPr>
          <p:cNvSpPr/>
          <p:nvPr/>
        </p:nvSpPr>
        <p:spPr>
          <a:xfrm>
            <a:off x="609600" y="3609169"/>
            <a:ext cx="900000" cy="8736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3200" b="1">
                <a:solidFill>
                  <a:srgbClr val="FFFFFF"/>
                </a:solidFill>
                <a:effectLst/>
                <a:latin typeface="Segoe UI" panose="020B0502040204020203" pitchFamily="34" charset="0"/>
              </a:rPr>
              <a:t>3</a:t>
            </a:r>
          </a:p>
          <a:p>
            <a:pPr algn="ctr">
              <a:buNone/>
            </a:pPr>
            <a:r>
              <a:rPr lang="en-US" sz="100">
                <a:effectLst/>
              </a:rPr>
              <a:t> </a:t>
            </a:r>
            <a:endParaRPr lang="en-US"/>
          </a:p>
        </p:txBody>
      </p:sp>
      <p:sp>
        <p:nvSpPr>
          <p:cNvPr id="200341" name="Rectangle 200340">
            <a:extLst>
              <a:ext uri="{FF2B5EF4-FFF2-40B4-BE49-F238E27FC236}">
                <a16:creationId xmlns:a16="http://schemas.microsoft.com/office/drawing/2014/main" id="{A0CCDA9A-458A-CDD1-B871-08A5C4C22DD7}"/>
              </a:ext>
            </a:extLst>
          </p:cNvPr>
          <p:cNvSpPr/>
          <p:nvPr/>
        </p:nvSpPr>
        <p:spPr>
          <a:xfrm>
            <a:off x="1509600" y="3632969"/>
            <a:ext cx="9922800" cy="826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Bound every agent</a:t>
            </a:r>
          </a:p>
          <a:p>
            <a:pPr algn="l">
              <a:buNone/>
            </a:pPr>
            <a:r>
              <a:rPr lang="en-US" sz="2000">
                <a:solidFill>
                  <a:srgbClr val="D6D2E8"/>
                </a:solidFill>
                <a:effectLst/>
                <a:latin typeface="Segoe UI" panose="020B0502040204020203" pitchFamily="34" charset="0"/>
              </a:rPr>
              <a:t>read-only data, minimal tools, restricted sites</a:t>
            </a:r>
            <a:endParaRPr lang="en-US"/>
          </a:p>
        </p:txBody>
      </p:sp>
      <p:sp>
        <p:nvSpPr>
          <p:cNvPr id="200353" name="Rectangle 200352">
            <a:extLst>
              <a:ext uri="{FF2B5EF4-FFF2-40B4-BE49-F238E27FC236}">
                <a16:creationId xmlns:a16="http://schemas.microsoft.com/office/drawing/2014/main" id="{36C69F15-A60D-B45E-9B76-519BEE2F8E01}"/>
              </a:ext>
            </a:extLst>
          </p:cNvPr>
          <p:cNvSpPr/>
          <p:nvPr/>
        </p:nvSpPr>
        <p:spPr>
          <a:xfrm>
            <a:off x="609600" y="4582778"/>
            <a:ext cx="10972800" cy="87360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66" name="Rectangle 200365">
            <a:extLst>
              <a:ext uri="{FF2B5EF4-FFF2-40B4-BE49-F238E27FC236}">
                <a16:creationId xmlns:a16="http://schemas.microsoft.com/office/drawing/2014/main" id="{0558B5D3-1023-4127-7BD9-63D346A968F3}"/>
              </a:ext>
            </a:extLst>
          </p:cNvPr>
          <p:cNvSpPr/>
          <p:nvPr/>
        </p:nvSpPr>
        <p:spPr>
          <a:xfrm>
            <a:off x="609600" y="4582778"/>
            <a:ext cx="900000" cy="8736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3200" b="1">
                <a:solidFill>
                  <a:srgbClr val="FFFFFF"/>
                </a:solidFill>
                <a:effectLst/>
                <a:latin typeface="Segoe UI" panose="020B0502040204020203" pitchFamily="34" charset="0"/>
              </a:rPr>
              <a:t>4</a:t>
            </a:r>
          </a:p>
          <a:p>
            <a:pPr algn="ctr">
              <a:buNone/>
            </a:pPr>
            <a:r>
              <a:rPr lang="en-US" sz="100">
                <a:effectLst/>
              </a:rPr>
              <a:t> </a:t>
            </a:r>
            <a:endParaRPr lang="en-US"/>
          </a:p>
        </p:txBody>
      </p:sp>
      <p:sp>
        <p:nvSpPr>
          <p:cNvPr id="200380" name="Rectangle 200379">
            <a:extLst>
              <a:ext uri="{FF2B5EF4-FFF2-40B4-BE49-F238E27FC236}">
                <a16:creationId xmlns:a16="http://schemas.microsoft.com/office/drawing/2014/main" id="{418A8946-27CF-2F26-B85A-28D9D2E2C2F7}"/>
              </a:ext>
            </a:extLst>
          </p:cNvPr>
          <p:cNvSpPr/>
          <p:nvPr/>
        </p:nvSpPr>
        <p:spPr>
          <a:xfrm>
            <a:off x="1509600" y="4606578"/>
            <a:ext cx="9922800" cy="826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Keep people in charge</a:t>
            </a:r>
          </a:p>
          <a:p>
            <a:pPr algn="l">
              <a:buNone/>
            </a:pPr>
            <a:r>
              <a:rPr lang="en-US" sz="2000">
                <a:solidFill>
                  <a:srgbClr val="D6D2E8"/>
                </a:solidFill>
                <a:effectLst/>
                <a:latin typeface="Segoe UI" panose="020B0502040204020203" pitchFamily="34" charset="0"/>
              </a:rPr>
              <a:t>a recommendation is not approval; approval is persisted in the app</a:t>
            </a:r>
            <a:endParaRPr lang="en-US"/>
          </a:p>
        </p:txBody>
      </p:sp>
      <p:sp>
        <p:nvSpPr>
          <p:cNvPr id="200395" name="Rectangle 200394">
            <a:extLst>
              <a:ext uri="{FF2B5EF4-FFF2-40B4-BE49-F238E27FC236}">
                <a16:creationId xmlns:a16="http://schemas.microsoft.com/office/drawing/2014/main" id="{62665FD3-A7ED-2E05-FCA6-D099F90DBE54}"/>
              </a:ext>
            </a:extLst>
          </p:cNvPr>
          <p:cNvSpPr/>
          <p:nvPr/>
        </p:nvSpPr>
        <p:spPr>
          <a:xfrm>
            <a:off x="609600" y="5556387"/>
            <a:ext cx="10972800" cy="873609"/>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411" name="Rectangle 200410">
            <a:extLst>
              <a:ext uri="{FF2B5EF4-FFF2-40B4-BE49-F238E27FC236}">
                <a16:creationId xmlns:a16="http://schemas.microsoft.com/office/drawing/2014/main" id="{F3565A41-92A2-5B56-D22A-EBA4B517975B}"/>
              </a:ext>
            </a:extLst>
          </p:cNvPr>
          <p:cNvSpPr/>
          <p:nvPr/>
        </p:nvSpPr>
        <p:spPr>
          <a:xfrm>
            <a:off x="609600" y="5556387"/>
            <a:ext cx="900000" cy="87360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3200" b="1">
                <a:solidFill>
                  <a:srgbClr val="FFFFFF"/>
                </a:solidFill>
                <a:effectLst/>
                <a:latin typeface="Segoe UI" panose="020B0502040204020203" pitchFamily="34" charset="0"/>
              </a:rPr>
              <a:t>5</a:t>
            </a:r>
          </a:p>
          <a:p>
            <a:pPr algn="ctr">
              <a:buNone/>
            </a:pPr>
            <a:r>
              <a:rPr lang="en-US" sz="100">
                <a:effectLst/>
              </a:rPr>
              <a:t> </a:t>
            </a:r>
            <a:endParaRPr lang="en-US"/>
          </a:p>
        </p:txBody>
      </p:sp>
      <p:sp>
        <p:nvSpPr>
          <p:cNvPr id="200428" name="Rectangle 200427">
            <a:extLst>
              <a:ext uri="{FF2B5EF4-FFF2-40B4-BE49-F238E27FC236}">
                <a16:creationId xmlns:a16="http://schemas.microsoft.com/office/drawing/2014/main" id="{AA019DF6-9117-9092-E9D0-DDF6477C30A3}"/>
              </a:ext>
            </a:extLst>
          </p:cNvPr>
          <p:cNvSpPr/>
          <p:nvPr/>
        </p:nvSpPr>
        <p:spPr>
          <a:xfrm>
            <a:off x="1509600" y="5580187"/>
            <a:ext cx="9922800" cy="8260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FFFFFF"/>
                </a:solidFill>
                <a:effectLst/>
                <a:latin typeface="Segoe UI" panose="020B0502040204020203" pitchFamily="34" charset="0"/>
              </a:rPr>
              <a:t>Fail closed and prove it</a:t>
            </a:r>
          </a:p>
          <a:p>
            <a:pPr algn="l">
              <a:buNone/>
            </a:pPr>
            <a:r>
              <a:rPr lang="en-US" sz="2000">
                <a:solidFill>
                  <a:srgbClr val="D6D2E8"/>
                </a:solidFill>
                <a:effectLst/>
                <a:latin typeface="Segoe UI" panose="020B0502040204020203" pitchFamily="34" charset="0"/>
              </a:rPr>
              <a:t>evidence before resolution, pipelines before production</a:t>
            </a:r>
            <a:endParaRPr lang="en-US"/>
          </a:p>
        </p:txBody>
      </p:sp>
    </p:spTree>
    <p:extLst>
      <p:ext uri="{BB962C8B-B14F-4D97-AF65-F5344CB8AC3E}">
        <p14:creationId xmlns:p14="http://schemas.microsoft.com/office/powerpoint/2010/main" val="27056022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4142-3F27-3FC3-9E90-35A8273C9CE9}"/>
            </a:ext>
          </a:extLst>
        </p:cNvPr>
        <p:cNvGrpSpPr/>
        <p:nvPr/>
      </p:nvGrpSpPr>
      <p:grpSpPr>
        <a:xfrm>
          <a:off x="0" y="0"/>
          <a:ext cx="0" cy="0"/>
          <a:chOff x="0" y="0"/>
          <a:chExt cx="0" cy="0"/>
        </a:xfrm>
      </p:grpSpPr>
      <p:sp>
        <p:nvSpPr>
          <p:cNvPr id="200446" name="Rectangle: Rounded Corners 200445">
            <a:extLst>
              <a:ext uri="{FF2B5EF4-FFF2-40B4-BE49-F238E27FC236}">
                <a16:creationId xmlns:a16="http://schemas.microsoft.com/office/drawing/2014/main" id="{69DBE1F6-347A-78DB-E89A-D33603966633}"/>
              </a:ext>
            </a:extLst>
          </p:cNvPr>
          <p:cNvSpPr/>
          <p:nvPr/>
        </p:nvSpPr>
        <p:spPr>
          <a:xfrm>
            <a:off x="609600" y="400000"/>
            <a:ext cx="1360164" cy="340000"/>
          </a:xfrm>
          <a:prstGeom prst="roundRect">
            <a:avLst/>
          </a:prstGeom>
          <a:solidFill>
            <a:srgbClr val="FFFFFF">
              <a:alpha val="1600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spc="150">
                <a:solidFill>
                  <a:srgbClr val="FFFFFF"/>
                </a:solidFill>
                <a:effectLst/>
                <a:latin typeface="Segoe UI" panose="020B0502040204020203" pitchFamily="34" charset="0"/>
              </a:rPr>
              <a:t>WRAP-UP</a:t>
            </a:r>
          </a:p>
          <a:p>
            <a:pPr algn="ctr">
              <a:buNone/>
            </a:pPr>
            <a:r>
              <a:rPr lang="en-US" sz="100">
                <a:effectLst/>
              </a:rPr>
              <a:t> </a:t>
            </a:r>
            <a:endParaRPr lang="en-US"/>
          </a:p>
        </p:txBody>
      </p:sp>
      <p:sp>
        <p:nvSpPr>
          <p:cNvPr id="200465" name="Rectangle 200464">
            <a:extLst>
              <a:ext uri="{FF2B5EF4-FFF2-40B4-BE49-F238E27FC236}">
                <a16:creationId xmlns:a16="http://schemas.microsoft.com/office/drawing/2014/main" id="{AE8DBA9C-A90E-BC62-B6B3-B65BB23D6932}"/>
              </a:ext>
            </a:extLst>
          </p:cNvPr>
          <p:cNvSpPr/>
          <p:nvPr/>
        </p:nvSpPr>
        <p:spPr>
          <a:xfrm>
            <a:off x="609600" y="860000"/>
            <a:ext cx="10972800" cy="6319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Segoe UI" panose="020B0502040204020203" pitchFamily="34" charset="0"/>
              </a:rPr>
              <a:t>Keep learning</a:t>
            </a:r>
          </a:p>
          <a:p>
            <a:pPr algn="l">
              <a:buNone/>
            </a:pPr>
            <a:r>
              <a:rPr lang="en-US" sz="100">
                <a:effectLst/>
              </a:rPr>
              <a:t> </a:t>
            </a:r>
            <a:endParaRPr lang="en-US"/>
          </a:p>
        </p:txBody>
      </p:sp>
      <p:sp>
        <p:nvSpPr>
          <p:cNvPr id="200485" name="Rectangle 200484">
            <a:extLst>
              <a:ext uri="{FF2B5EF4-FFF2-40B4-BE49-F238E27FC236}">
                <a16:creationId xmlns:a16="http://schemas.microsoft.com/office/drawing/2014/main" id="{D85C25AA-DFF3-79DE-0E79-56F65EA108CD}"/>
              </a:ext>
            </a:extLst>
          </p:cNvPr>
          <p:cNvSpPr/>
          <p:nvPr/>
        </p:nvSpPr>
        <p:spPr>
          <a:xfrm>
            <a:off x="609600" y="1661951"/>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506" name="Rectangle 200505">
            <a:extLst>
              <a:ext uri="{FF2B5EF4-FFF2-40B4-BE49-F238E27FC236}">
                <a16:creationId xmlns:a16="http://schemas.microsoft.com/office/drawing/2014/main" id="{DE7D812F-0B48-B385-C9DB-08A1E7619F3F}"/>
              </a:ext>
            </a:extLst>
          </p:cNvPr>
          <p:cNvSpPr/>
          <p:nvPr/>
        </p:nvSpPr>
        <p:spPr>
          <a:xfrm>
            <a:off x="729600" y="1741600"/>
            <a:ext cx="5156400" cy="95021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Build and edit model-driven apps with AI code generation tools</a:t>
            </a:r>
          </a:p>
          <a:p>
            <a:pPr algn="l">
              <a:buNone/>
            </a:pPr>
            <a:r>
              <a:rPr lang="en-US" sz="1500">
                <a:solidFill>
                  <a:srgbClr val="D6D2E8"/>
                </a:solidFill>
                <a:effectLst/>
                <a:latin typeface="Segoe UI" panose="020B0502040204020203" pitchFamily="34" charset="0"/>
              </a:rPr>
              <a:t>learn.microsoft.com/power-apps/maker/model-driven-apps/model-driven-app-external-tools</a:t>
            </a:r>
            <a:endParaRPr lang="en-US"/>
          </a:p>
        </p:txBody>
      </p:sp>
      <p:sp>
        <p:nvSpPr>
          <p:cNvPr id="200528" name="Rectangle 200527">
            <a:extLst>
              <a:ext uri="{FF2B5EF4-FFF2-40B4-BE49-F238E27FC236}">
                <a16:creationId xmlns:a16="http://schemas.microsoft.com/office/drawing/2014/main" id="{1B5784BB-B1D4-A7C1-FF8C-EDE60DA056DE}"/>
              </a:ext>
            </a:extLst>
          </p:cNvPr>
          <p:cNvSpPr/>
          <p:nvPr/>
        </p:nvSpPr>
        <p:spPr>
          <a:xfrm>
            <a:off x="609600" y="2881463"/>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551" name="Rectangle 200550">
            <a:extLst>
              <a:ext uri="{FF2B5EF4-FFF2-40B4-BE49-F238E27FC236}">
                <a16:creationId xmlns:a16="http://schemas.microsoft.com/office/drawing/2014/main" id="{818D175F-F005-78BF-E353-FB405CE26F9F}"/>
              </a:ext>
            </a:extLst>
          </p:cNvPr>
          <p:cNvSpPr/>
          <p:nvPr/>
        </p:nvSpPr>
        <p:spPr>
          <a:xfrm>
            <a:off x="729600" y="2961112"/>
            <a:ext cx="5156400" cy="95021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Power Platform skills for GitHub Copilot (model-apps / app-builder)</a:t>
            </a:r>
          </a:p>
          <a:p>
            <a:pPr algn="l">
              <a:buNone/>
            </a:pPr>
            <a:r>
              <a:rPr lang="en-US" sz="1500">
                <a:solidFill>
                  <a:srgbClr val="D6D2E8"/>
                </a:solidFill>
                <a:effectLst/>
                <a:latin typeface="Segoe UI" panose="020B0502040204020203" pitchFamily="34" charset="0"/>
              </a:rPr>
              <a:t>github.com/microsoft/power-platform-skills</a:t>
            </a:r>
            <a:endParaRPr lang="en-US"/>
          </a:p>
        </p:txBody>
      </p:sp>
      <p:sp>
        <p:nvSpPr>
          <p:cNvPr id="200575" name="Rectangle 200574">
            <a:extLst>
              <a:ext uri="{FF2B5EF4-FFF2-40B4-BE49-F238E27FC236}">
                <a16:creationId xmlns:a16="http://schemas.microsoft.com/office/drawing/2014/main" id="{2B1AD3B2-A06F-59B1-A59A-A140A2586CA9}"/>
              </a:ext>
            </a:extLst>
          </p:cNvPr>
          <p:cNvSpPr/>
          <p:nvPr/>
        </p:nvSpPr>
        <p:spPr>
          <a:xfrm>
            <a:off x="609600" y="4100975"/>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600" name="Rectangle 200599">
            <a:extLst>
              <a:ext uri="{FF2B5EF4-FFF2-40B4-BE49-F238E27FC236}">
                <a16:creationId xmlns:a16="http://schemas.microsoft.com/office/drawing/2014/main" id="{6D59D6CF-D324-F1A4-5788-21CB4FD3CD29}"/>
              </a:ext>
            </a:extLst>
          </p:cNvPr>
          <p:cNvSpPr/>
          <p:nvPr/>
        </p:nvSpPr>
        <p:spPr>
          <a:xfrm>
            <a:off x="729600" y="4320070"/>
            <a:ext cx="5156400" cy="6713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Install GitHub Copilot CLI</a:t>
            </a:r>
          </a:p>
          <a:p>
            <a:pPr algn="l">
              <a:buNone/>
            </a:pPr>
            <a:r>
              <a:rPr lang="en-US" sz="1500">
                <a:solidFill>
                  <a:srgbClr val="D6D2E8"/>
                </a:solidFill>
                <a:effectLst/>
                <a:latin typeface="Segoe UI" panose="020B0502040204020203" pitchFamily="34" charset="0"/>
              </a:rPr>
              <a:t>docs.github.com</a:t>
            </a:r>
            <a:endParaRPr lang="en-US"/>
          </a:p>
        </p:txBody>
      </p:sp>
      <p:sp>
        <p:nvSpPr>
          <p:cNvPr id="200626" name="Rectangle 200625">
            <a:extLst>
              <a:ext uri="{FF2B5EF4-FFF2-40B4-BE49-F238E27FC236}">
                <a16:creationId xmlns:a16="http://schemas.microsoft.com/office/drawing/2014/main" id="{BEACDFBC-8CFD-C004-8F5E-B052882CB3C6}"/>
              </a:ext>
            </a:extLst>
          </p:cNvPr>
          <p:cNvSpPr/>
          <p:nvPr/>
        </p:nvSpPr>
        <p:spPr>
          <a:xfrm>
            <a:off x="609600" y="5320487"/>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653" name="Rectangle 200652">
            <a:extLst>
              <a:ext uri="{FF2B5EF4-FFF2-40B4-BE49-F238E27FC236}">
                <a16:creationId xmlns:a16="http://schemas.microsoft.com/office/drawing/2014/main" id="{755F9D0D-9EEB-76C0-95D0-EBF7358EFCE0}"/>
              </a:ext>
            </a:extLst>
          </p:cNvPr>
          <p:cNvSpPr/>
          <p:nvPr/>
        </p:nvSpPr>
        <p:spPr>
          <a:xfrm>
            <a:off x="729600" y="5539582"/>
            <a:ext cx="5156400" cy="6713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Use Run a prompt in Power Automate</a:t>
            </a:r>
          </a:p>
          <a:p>
            <a:pPr algn="l">
              <a:buNone/>
            </a:pPr>
            <a:r>
              <a:rPr lang="en-US" sz="1500">
                <a:solidFill>
                  <a:srgbClr val="D6D2E8"/>
                </a:solidFill>
                <a:effectLst/>
                <a:latin typeface="Segoe UI" panose="020B0502040204020203" pitchFamily="34" charset="0"/>
              </a:rPr>
              <a:t>learn.microsoft.com/ai-builder/use-a-custom-prompt-in-flow</a:t>
            </a:r>
            <a:endParaRPr lang="en-US"/>
          </a:p>
        </p:txBody>
      </p:sp>
      <p:sp>
        <p:nvSpPr>
          <p:cNvPr id="200681" name="Rectangle 200680">
            <a:extLst>
              <a:ext uri="{FF2B5EF4-FFF2-40B4-BE49-F238E27FC236}">
                <a16:creationId xmlns:a16="http://schemas.microsoft.com/office/drawing/2014/main" id="{EAC08BD7-86CD-E93C-6121-FB07946C7B8F}"/>
              </a:ext>
            </a:extLst>
          </p:cNvPr>
          <p:cNvSpPr/>
          <p:nvPr/>
        </p:nvSpPr>
        <p:spPr>
          <a:xfrm>
            <a:off x="6186000" y="1661951"/>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10" name="Rectangle 200709">
            <a:extLst>
              <a:ext uri="{FF2B5EF4-FFF2-40B4-BE49-F238E27FC236}">
                <a16:creationId xmlns:a16="http://schemas.microsoft.com/office/drawing/2014/main" id="{6CE5B3E4-CAD7-6882-AEC5-4316D912D0EC}"/>
              </a:ext>
            </a:extLst>
          </p:cNvPr>
          <p:cNvSpPr/>
          <p:nvPr/>
        </p:nvSpPr>
        <p:spPr>
          <a:xfrm>
            <a:off x="6306000" y="1881046"/>
            <a:ext cx="5156400" cy="6713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Create a custom prompt</a:t>
            </a:r>
          </a:p>
          <a:p>
            <a:pPr algn="l">
              <a:buNone/>
            </a:pPr>
            <a:r>
              <a:rPr lang="en-US" sz="1500">
                <a:solidFill>
                  <a:srgbClr val="D6D2E8"/>
                </a:solidFill>
                <a:effectLst/>
                <a:latin typeface="Segoe UI" panose="020B0502040204020203" pitchFamily="34" charset="0"/>
              </a:rPr>
              <a:t>learn.microsoft.com/microsoft-copilot-studio/create-custom-prompt</a:t>
            </a:r>
            <a:endParaRPr lang="en-US"/>
          </a:p>
        </p:txBody>
      </p:sp>
      <p:sp>
        <p:nvSpPr>
          <p:cNvPr id="200740" name="Rectangle 200739">
            <a:extLst>
              <a:ext uri="{FF2B5EF4-FFF2-40B4-BE49-F238E27FC236}">
                <a16:creationId xmlns:a16="http://schemas.microsoft.com/office/drawing/2014/main" id="{7F1F60DB-E752-D462-9693-4824586280F1}"/>
              </a:ext>
            </a:extLst>
          </p:cNvPr>
          <p:cNvSpPr/>
          <p:nvPr/>
        </p:nvSpPr>
        <p:spPr>
          <a:xfrm>
            <a:off x="6186000" y="2881463"/>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71" name="Rectangle 200770">
            <a:extLst>
              <a:ext uri="{FF2B5EF4-FFF2-40B4-BE49-F238E27FC236}">
                <a16:creationId xmlns:a16="http://schemas.microsoft.com/office/drawing/2014/main" id="{3877DAB1-5730-8DA0-2AEC-4DF320BD7A90}"/>
              </a:ext>
            </a:extLst>
          </p:cNvPr>
          <p:cNvSpPr/>
          <p:nvPr/>
        </p:nvSpPr>
        <p:spPr>
          <a:xfrm>
            <a:off x="6306000" y="3100558"/>
            <a:ext cx="5156400" cy="6713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Create a cloud flow in a solution</a:t>
            </a:r>
          </a:p>
          <a:p>
            <a:pPr algn="l">
              <a:buNone/>
            </a:pPr>
            <a:r>
              <a:rPr lang="en-US" sz="1500">
                <a:solidFill>
                  <a:srgbClr val="D6D2E8"/>
                </a:solidFill>
                <a:effectLst/>
                <a:latin typeface="Segoe UI" panose="020B0502040204020203" pitchFamily="34" charset="0"/>
              </a:rPr>
              <a:t>learn.microsoft.com/power-automate/create-flow-solution</a:t>
            </a:r>
            <a:endParaRPr lang="en-US"/>
          </a:p>
        </p:txBody>
      </p:sp>
      <p:sp>
        <p:nvSpPr>
          <p:cNvPr id="200803" name="Rectangle 200802">
            <a:extLst>
              <a:ext uri="{FF2B5EF4-FFF2-40B4-BE49-F238E27FC236}">
                <a16:creationId xmlns:a16="http://schemas.microsoft.com/office/drawing/2014/main" id="{664FC80B-017C-79E0-A01B-BA14A0FE7F39}"/>
              </a:ext>
            </a:extLst>
          </p:cNvPr>
          <p:cNvSpPr/>
          <p:nvPr/>
        </p:nvSpPr>
        <p:spPr>
          <a:xfrm>
            <a:off x="6186000" y="4100975"/>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836" name="Rectangle 200835">
            <a:extLst>
              <a:ext uri="{FF2B5EF4-FFF2-40B4-BE49-F238E27FC236}">
                <a16:creationId xmlns:a16="http://schemas.microsoft.com/office/drawing/2014/main" id="{7933CE25-EE40-65E6-E13C-68042705F663}"/>
              </a:ext>
            </a:extLst>
          </p:cNvPr>
          <p:cNvSpPr/>
          <p:nvPr/>
        </p:nvSpPr>
        <p:spPr>
          <a:xfrm>
            <a:off x="6306000" y="4320070"/>
            <a:ext cx="5156400" cy="6713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Power Platform CLI authentication</a:t>
            </a:r>
          </a:p>
          <a:p>
            <a:pPr algn="l">
              <a:buNone/>
            </a:pPr>
            <a:r>
              <a:rPr lang="en-US" sz="1500">
                <a:solidFill>
                  <a:srgbClr val="D6D2E8"/>
                </a:solidFill>
                <a:effectLst/>
                <a:latin typeface="Segoe UI" panose="020B0502040204020203" pitchFamily="34" charset="0"/>
              </a:rPr>
              <a:t>learn.microsoft.com/power-platform/developer/cli/reference/auth</a:t>
            </a:r>
            <a:endParaRPr lang="en-US"/>
          </a:p>
        </p:txBody>
      </p:sp>
      <p:sp>
        <p:nvSpPr>
          <p:cNvPr id="200870" name="Rectangle 200869">
            <a:extLst>
              <a:ext uri="{FF2B5EF4-FFF2-40B4-BE49-F238E27FC236}">
                <a16:creationId xmlns:a16="http://schemas.microsoft.com/office/drawing/2014/main" id="{3CAAB73F-55D7-39B3-85B2-50490B14BB5D}"/>
              </a:ext>
            </a:extLst>
          </p:cNvPr>
          <p:cNvSpPr/>
          <p:nvPr/>
        </p:nvSpPr>
        <p:spPr>
          <a:xfrm>
            <a:off x="6186000" y="5320487"/>
            <a:ext cx="5396400" cy="1109512"/>
          </a:xfrm>
          <a:prstGeom prst="rect">
            <a:avLst/>
          </a:prstGeom>
          <a:solidFill>
            <a:srgbClr val="FFFFFF">
              <a:alpha val="7000"/>
            </a:srgbClr>
          </a:solidFill>
          <a:ln w="9525">
            <a:solidFill>
              <a:srgbClr val="FFFFFF">
                <a:alpha val="2200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905" name="Rectangle 200904">
            <a:extLst>
              <a:ext uri="{FF2B5EF4-FFF2-40B4-BE49-F238E27FC236}">
                <a16:creationId xmlns:a16="http://schemas.microsoft.com/office/drawing/2014/main" id="{19E38F11-3D74-1D42-9B74-AE9C0857758A}"/>
              </a:ext>
            </a:extLst>
          </p:cNvPr>
          <p:cNvSpPr/>
          <p:nvPr/>
        </p:nvSpPr>
        <p:spPr>
          <a:xfrm>
            <a:off x="6306000" y="5400136"/>
            <a:ext cx="5156400" cy="95021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Segoe UI" panose="020B0502040204020203" pitchFamily="34" charset="0"/>
              </a:rPr>
              <a:t>Workshop repository (lab guides, prompts, fixtures)</a:t>
            </a:r>
          </a:p>
          <a:p>
            <a:pPr algn="l">
              <a:buNone/>
            </a:pPr>
            <a:r>
              <a:rPr lang="en-US" sz="1500">
                <a:solidFill>
                  <a:srgbClr val="D6D2E8"/>
                </a:solidFill>
                <a:effectLst/>
                <a:latin typeface="Segoe UI" panose="020B0502040204020203" pitchFamily="34" charset="0"/>
              </a:rPr>
              <a:t>provided by your facilitator</a:t>
            </a:r>
            <a:endParaRPr lang="en-US"/>
          </a:p>
        </p:txBody>
      </p:sp>
    </p:spTree>
    <p:extLst>
      <p:ext uri="{BB962C8B-B14F-4D97-AF65-F5344CB8AC3E}">
        <p14:creationId xmlns:p14="http://schemas.microsoft.com/office/powerpoint/2010/main" val="12767988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670142-75FD-32BC-4DB6-0CE056DF77EB}"/>
              </a:ext>
            </a:extLst>
          </p:cNvPr>
          <p:cNvSpPr>
            <a:spLocks noGrp="1"/>
          </p:cNvSpPr>
          <p:nvPr>
            <p:ph type="body" sz="quarter" idx="11"/>
          </p:nvPr>
        </p:nvSpPr>
        <p:spPr/>
        <p:txBody>
          <a:bodyPr/>
          <a:lstStyle/>
          <a:p>
            <a:endParaRPr lang="en-US"/>
          </a:p>
        </p:txBody>
      </p:sp>
      <p:sp>
        <p:nvSpPr>
          <p:cNvPr id="8" name="Title 4">
            <a:extLst>
              <a:ext uri="{FF2B5EF4-FFF2-40B4-BE49-F238E27FC236}">
                <a16:creationId xmlns:a16="http://schemas.microsoft.com/office/drawing/2014/main" id="{8A84D0B5-651C-AA2D-A97A-32EBF11C8432}"/>
              </a:ext>
            </a:extLst>
          </p:cNvPr>
          <p:cNvSpPr txBox="1">
            <a:spLocks/>
          </p:cNvSpPr>
          <p:nvPr/>
        </p:nvSpPr>
        <p:spPr>
          <a:xfrm>
            <a:off x="736600" y="3013502"/>
            <a:ext cx="10718800" cy="830997"/>
          </a:xfrm>
          <a:prstGeom prst="rect">
            <a:avLst/>
          </a:prstGeom>
          <a:noFill/>
        </p:spPr>
        <p:txBody>
          <a:bodyPr wrap="square" lIns="0" tIns="0" rIns="0" bIns="0" anchor="b" anchorCtr="0">
            <a:spAutoFit/>
          </a:bodyPr>
          <a:lstStyle>
            <a:lvl1pPr algn="l" defTabSz="914400" rtl="0" eaLnBrk="1" latinLnBrk="0" hangingPunct="1">
              <a:lnSpc>
                <a:spcPct val="90000"/>
              </a:lnSpc>
              <a:spcBef>
                <a:spcPct val="0"/>
              </a:spcBef>
              <a:buNone/>
              <a:defRPr sz="6400" b="1" i="0" kern="1200" spc="-50" baseline="0">
                <a:solidFill>
                  <a:schemeClr val="bg1"/>
                </a:solidFill>
                <a:latin typeface="Segoe UI Semibold" panose="020B0502040204020203" pitchFamily="34" charset="0"/>
                <a:ea typeface="+mj-ea"/>
                <a:cs typeface="Segoe UI Semibold" panose="020B0502040204020203"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u="none" strike="noStrike" kern="1200" cap="none" spc="-90" normalizeH="0" baseline="0" noProof="0">
                <a:ln>
                  <a:noFill/>
                </a:ln>
                <a:solidFill>
                  <a:srgbClr val="FFFFFF"/>
                </a:solidFill>
                <a:effectLst/>
                <a:uLnTx/>
                <a:uFillTx/>
                <a:latin typeface="Segoe Sans Display Semibold" pitchFamily="2" charset="0"/>
                <a:cs typeface="Segoe Sans Display Semibold" pitchFamily="2" charset="0"/>
                <a:sym typeface="Graphik Light"/>
              </a:rPr>
              <a:t>Questions?</a:t>
            </a:r>
          </a:p>
        </p:txBody>
      </p:sp>
      <p:sp>
        <p:nvSpPr>
          <p:cNvPr id="200941" name="Rectangle 200940">
            <a:extLst>
              <a:ext uri="{FF2B5EF4-FFF2-40B4-BE49-F238E27FC236}">
                <a16:creationId xmlns:a16="http://schemas.microsoft.com/office/drawing/2014/main" id="{1FC954DA-F3D6-58F5-AFA5-FBEABF73D9BC}"/>
              </a:ext>
            </a:extLst>
          </p:cNvPr>
          <p:cNvSpPr/>
          <p:nvPr/>
        </p:nvSpPr>
        <p:spPr>
          <a:xfrm>
            <a:off x="736600" y="3950000"/>
            <a:ext cx="107188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a:solidFill>
                  <a:srgbClr val="D6D2E8"/>
                </a:solidFill>
                <a:effectLst/>
                <a:latin typeface="Segoe UI" panose="020B0502040204020203" pitchFamily="34" charset="0"/>
              </a:rPr>
              <a:t>Build Intelligent Business Processes with Apps, Automations, and Agents</a:t>
            </a:r>
          </a:p>
          <a:p>
            <a:pPr algn="ctr">
              <a:buNone/>
            </a:pPr>
            <a:r>
              <a:rPr lang="en-US" sz="100">
                <a:effectLst/>
              </a:rPr>
              <a:t> </a:t>
            </a:r>
            <a:endParaRPr lang="en-US"/>
          </a:p>
        </p:txBody>
      </p:sp>
    </p:spTree>
    <p:extLst>
      <p:ext uri="{BB962C8B-B14F-4D97-AF65-F5344CB8AC3E}">
        <p14:creationId xmlns:p14="http://schemas.microsoft.com/office/powerpoint/2010/main" val="17936198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670142-75FD-32BC-4DB6-0CE056DF77EB}"/>
              </a:ext>
            </a:extLst>
          </p:cNvPr>
          <p:cNvSpPr>
            <a:spLocks noGrp="1"/>
          </p:cNvSpPr>
          <p:nvPr>
            <p:ph type="body" sz="quarter" idx="11"/>
          </p:nvPr>
        </p:nvSpPr>
        <p:spPr/>
        <p:txBody>
          <a:bodyPr/>
          <a:lstStyle/>
          <a:p>
            <a:endParaRPr lang="en-US"/>
          </a:p>
        </p:txBody>
      </p:sp>
      <p:sp>
        <p:nvSpPr>
          <p:cNvPr id="8" name="Title 4">
            <a:extLst>
              <a:ext uri="{FF2B5EF4-FFF2-40B4-BE49-F238E27FC236}">
                <a16:creationId xmlns:a16="http://schemas.microsoft.com/office/drawing/2014/main" id="{8A84D0B5-651C-AA2D-A97A-32EBF11C8432}"/>
              </a:ext>
            </a:extLst>
          </p:cNvPr>
          <p:cNvSpPr txBox="1">
            <a:spLocks/>
          </p:cNvSpPr>
          <p:nvPr/>
        </p:nvSpPr>
        <p:spPr>
          <a:xfrm>
            <a:off x="736600" y="3013502"/>
            <a:ext cx="10718800" cy="830997"/>
          </a:xfrm>
          <a:prstGeom prst="rect">
            <a:avLst/>
          </a:prstGeom>
          <a:noFill/>
        </p:spPr>
        <p:txBody>
          <a:bodyPr wrap="square" lIns="0" tIns="0" rIns="0" bIns="0" anchor="b" anchorCtr="0">
            <a:spAutoFit/>
          </a:bodyPr>
          <a:lstStyle>
            <a:lvl1pPr algn="l" defTabSz="914400" rtl="0" eaLnBrk="1" latinLnBrk="0" hangingPunct="1">
              <a:lnSpc>
                <a:spcPct val="90000"/>
              </a:lnSpc>
              <a:spcBef>
                <a:spcPct val="0"/>
              </a:spcBef>
              <a:buNone/>
              <a:defRPr sz="6400" b="1" i="0" kern="1200" spc="-50" baseline="0">
                <a:solidFill>
                  <a:schemeClr val="bg1"/>
                </a:solidFill>
                <a:latin typeface="Segoe UI Semibold" panose="020B0502040204020203" pitchFamily="34" charset="0"/>
                <a:ea typeface="+mj-ea"/>
                <a:cs typeface="Segoe UI Semibold" panose="020B0502040204020203"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u="none" strike="noStrike" kern="1200" cap="none" spc="-90" normalizeH="0" baseline="0" noProof="0">
                <a:ln>
                  <a:noFill/>
                </a:ln>
                <a:solidFill>
                  <a:srgbClr val="FFFFFF"/>
                </a:solidFill>
                <a:effectLst/>
                <a:uLnTx/>
                <a:uFillTx/>
                <a:latin typeface="Segoe Sans Display Semibold" pitchFamily="2" charset="0"/>
                <a:cs typeface="Segoe Sans Display Semibold" pitchFamily="2" charset="0"/>
                <a:sym typeface="Graphik Light"/>
              </a:rPr>
              <a:t>Thank You!</a:t>
            </a:r>
          </a:p>
        </p:txBody>
      </p:sp>
    </p:spTree>
    <p:extLst>
      <p:ext uri="{BB962C8B-B14F-4D97-AF65-F5344CB8AC3E}">
        <p14:creationId xmlns:p14="http://schemas.microsoft.com/office/powerpoint/2010/main" val="10028695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670142-75FD-32BC-4DB6-0CE056DF77EB}"/>
              </a:ext>
            </a:extLst>
          </p:cNvPr>
          <p:cNvSpPr>
            <a:spLocks noGrp="1"/>
          </p:cNvSpPr>
          <p:nvPr>
            <p:ph type="body" sz="quarter" idx="11"/>
          </p:nvPr>
        </p:nvSpPr>
        <p:spPr/>
        <p:txBody>
          <a:bodyPr/>
          <a:lstStyle/>
          <a:p>
            <a:endParaRPr lang="en-US"/>
          </a:p>
        </p:txBody>
      </p:sp>
      <p:sp>
        <p:nvSpPr>
          <p:cNvPr id="8" name="Title 4">
            <a:extLst>
              <a:ext uri="{FF2B5EF4-FFF2-40B4-BE49-F238E27FC236}">
                <a16:creationId xmlns:a16="http://schemas.microsoft.com/office/drawing/2014/main" id="{8A84D0B5-651C-AA2D-A97A-32EBF11C8432}"/>
              </a:ext>
            </a:extLst>
          </p:cNvPr>
          <p:cNvSpPr txBox="1">
            <a:spLocks/>
          </p:cNvSpPr>
          <p:nvPr/>
        </p:nvSpPr>
        <p:spPr>
          <a:xfrm>
            <a:off x="736600" y="2165253"/>
            <a:ext cx="10718800" cy="1107996"/>
          </a:xfrm>
          <a:prstGeom prst="rect">
            <a:avLst/>
          </a:prstGeom>
          <a:noFill/>
        </p:spPr>
        <p:txBody>
          <a:bodyPr wrap="square" lIns="0" tIns="0" rIns="0" bIns="0" anchor="b" anchorCtr="0">
            <a:spAutoFit/>
          </a:bodyPr>
          <a:lstStyle>
            <a:lvl1pPr algn="l" defTabSz="914400" rtl="0" eaLnBrk="1" latinLnBrk="0" hangingPunct="1">
              <a:lnSpc>
                <a:spcPct val="90000"/>
              </a:lnSpc>
              <a:spcBef>
                <a:spcPct val="0"/>
              </a:spcBef>
              <a:buNone/>
              <a:defRPr sz="6400" b="1" i="0" kern="1200" spc="-50" baseline="0">
                <a:solidFill>
                  <a:schemeClr val="bg1"/>
                </a:solidFill>
                <a:latin typeface="Segoe UI Semibold" panose="020B0502040204020203" pitchFamily="34" charset="0"/>
                <a:ea typeface="+mj-ea"/>
                <a:cs typeface="Segoe UI Semibold" panose="020B0502040204020203" pitchFamily="34" charset="0"/>
              </a:defRPr>
            </a:lvl1pPr>
          </a:lstStyle>
          <a:p>
            <a:pPr lvl="0" algn="ctr">
              <a:defRPr/>
            </a:pPr>
            <a:r>
              <a:rPr lang="en-US" sz="4000" spc="-90">
                <a:solidFill>
                  <a:srgbClr val="FFFFFF"/>
                </a:solidFill>
                <a:latin typeface="Segoe Sans Display Semibold" pitchFamily="2" charset="0"/>
                <a:cs typeface="Segoe Sans Display Semibold" pitchFamily="2" charset="0"/>
                <a:sym typeface="Graphik Light"/>
              </a:rPr>
              <a:t>Your feedback is valuable. Please submit your thoughts about this session at:</a:t>
            </a:r>
            <a:endParaRPr kumimoji="0" lang="en-US" sz="6000" u="none" strike="noStrike" kern="1200" cap="none" spc="-90" normalizeH="0" baseline="0" noProof="0">
              <a:ln>
                <a:noFill/>
              </a:ln>
              <a:solidFill>
                <a:srgbClr val="FFFFFF"/>
              </a:solidFill>
              <a:effectLst/>
              <a:uLnTx/>
              <a:uFillTx/>
              <a:latin typeface="Segoe Sans Display Semibold" pitchFamily="2" charset="0"/>
              <a:cs typeface="Segoe Sans Display Semibold" pitchFamily="2" charset="0"/>
              <a:sym typeface="Graphik Light"/>
            </a:endParaRPr>
          </a:p>
        </p:txBody>
      </p:sp>
      <p:sp>
        <p:nvSpPr>
          <p:cNvPr id="6" name="Graphic 3">
            <a:extLst>
              <a:ext uri="{FF2B5EF4-FFF2-40B4-BE49-F238E27FC236}">
                <a16:creationId xmlns:a16="http://schemas.microsoft.com/office/drawing/2014/main" id="{F95F6B82-661E-239A-D7E9-9A0135912E75}"/>
              </a:ext>
            </a:extLst>
          </p:cNvPr>
          <p:cNvSpPr/>
          <p:nvPr/>
        </p:nvSpPr>
        <p:spPr>
          <a:xfrm>
            <a:off x="5667177" y="954594"/>
            <a:ext cx="857644" cy="857669"/>
          </a:xfrm>
          <a:custGeom>
            <a:avLst/>
            <a:gdLst>
              <a:gd name="csX0" fmla="*/ 428822 w 857644"/>
              <a:gd name="csY0" fmla="*/ 0 h 857669"/>
              <a:gd name="csX1" fmla="*/ 857645 w 857644"/>
              <a:gd name="csY1" fmla="*/ 428822 h 857669"/>
              <a:gd name="csX2" fmla="*/ 428822 w 857644"/>
              <a:gd name="csY2" fmla="*/ 857645 h 857669"/>
              <a:gd name="csX3" fmla="*/ 235139 w 857644"/>
              <a:gd name="csY3" fmla="*/ 811509 h 857669"/>
              <a:gd name="csX4" fmla="*/ 228670 w 857644"/>
              <a:gd name="csY4" fmla="*/ 808062 h 857669"/>
              <a:gd name="csX5" fmla="*/ 33292 w 857644"/>
              <a:gd name="csY5" fmla="*/ 856846 h 857669"/>
              <a:gd name="csX6" fmla="*/ 70 w 857644"/>
              <a:gd name="csY6" fmla="*/ 833191 h 857669"/>
              <a:gd name="csX7" fmla="*/ 61 w 857644"/>
              <a:gd name="csY7" fmla="*/ 828828 h 857669"/>
              <a:gd name="csX8" fmla="*/ 800 w 857644"/>
              <a:gd name="csY8" fmla="*/ 824341 h 857669"/>
              <a:gd name="csX9" fmla="*/ 49583 w 857644"/>
              <a:gd name="csY9" fmla="*/ 629029 h 857669"/>
              <a:gd name="csX10" fmla="*/ 46189 w 857644"/>
              <a:gd name="csY10" fmla="*/ 622613 h 857669"/>
              <a:gd name="csX11" fmla="*/ 1755 w 857644"/>
              <a:gd name="csY11" fmla="*/ 467861 h 857669"/>
              <a:gd name="csX12" fmla="*/ 396 w 857644"/>
              <a:gd name="csY12" fmla="*/ 447385 h 857669"/>
              <a:gd name="csX13" fmla="*/ 0 w 857644"/>
              <a:gd name="csY13" fmla="*/ 428822 h 857669"/>
              <a:gd name="csX14" fmla="*/ 428822 w 857644"/>
              <a:gd name="csY14" fmla="*/ 0 h 857669"/>
              <a:gd name="csX15" fmla="*/ 455624 w 857644"/>
              <a:gd name="csY15" fmla="*/ 482425 h 857669"/>
              <a:gd name="csX16" fmla="*/ 294815 w 857644"/>
              <a:gd name="csY16" fmla="*/ 482425 h 857669"/>
              <a:gd name="csX17" fmla="*/ 289998 w 857644"/>
              <a:gd name="csY17" fmla="*/ 482859 h 857669"/>
              <a:gd name="csX18" fmla="*/ 268014 w 857644"/>
              <a:gd name="csY18" fmla="*/ 509227 h 857669"/>
              <a:gd name="csX19" fmla="*/ 289998 w 857644"/>
              <a:gd name="csY19" fmla="*/ 535594 h 857669"/>
              <a:gd name="csX20" fmla="*/ 294815 w 857644"/>
              <a:gd name="csY20" fmla="*/ 536028 h 857669"/>
              <a:gd name="csX21" fmla="*/ 455624 w 857644"/>
              <a:gd name="csY21" fmla="*/ 536028 h 857669"/>
              <a:gd name="csX22" fmla="*/ 460443 w 857644"/>
              <a:gd name="csY22" fmla="*/ 535594 h 857669"/>
              <a:gd name="csX23" fmla="*/ 482425 w 857644"/>
              <a:gd name="csY23" fmla="*/ 509227 h 857669"/>
              <a:gd name="csX24" fmla="*/ 460443 w 857644"/>
              <a:gd name="csY24" fmla="*/ 482859 h 857669"/>
              <a:gd name="csX25" fmla="*/ 455624 w 857644"/>
              <a:gd name="csY25" fmla="*/ 482425 h 857669"/>
              <a:gd name="csX26" fmla="*/ 562829 w 857644"/>
              <a:gd name="csY26" fmla="*/ 321617 h 857669"/>
              <a:gd name="csX27" fmla="*/ 294815 w 857644"/>
              <a:gd name="csY27" fmla="*/ 321617 h 857669"/>
              <a:gd name="csX28" fmla="*/ 289998 w 857644"/>
              <a:gd name="csY28" fmla="*/ 322049 h 857669"/>
              <a:gd name="csX29" fmla="*/ 268014 w 857644"/>
              <a:gd name="csY29" fmla="*/ 348418 h 857669"/>
              <a:gd name="csX30" fmla="*/ 289998 w 857644"/>
              <a:gd name="csY30" fmla="*/ 374788 h 857669"/>
              <a:gd name="csX31" fmla="*/ 294815 w 857644"/>
              <a:gd name="csY31" fmla="*/ 375220 h 857669"/>
              <a:gd name="csX32" fmla="*/ 562829 w 857644"/>
              <a:gd name="csY32" fmla="*/ 375220 h 857669"/>
              <a:gd name="csX33" fmla="*/ 567648 w 857644"/>
              <a:gd name="csY33" fmla="*/ 374788 h 857669"/>
              <a:gd name="csX34" fmla="*/ 589631 w 857644"/>
              <a:gd name="csY34" fmla="*/ 348418 h 857669"/>
              <a:gd name="csX35" fmla="*/ 567648 w 857644"/>
              <a:gd name="csY35" fmla="*/ 322049 h 857669"/>
              <a:gd name="csX36" fmla="*/ 562829 w 857644"/>
              <a:gd name="csY36" fmla="*/ 321617 h 857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57644" h="857669">
                <a:moveTo>
                  <a:pt x="428822" y="0"/>
                </a:moveTo>
                <a:cubicBezTo>
                  <a:pt x="665656" y="0"/>
                  <a:pt x="857645" y="191990"/>
                  <a:pt x="857645" y="428822"/>
                </a:cubicBezTo>
                <a:cubicBezTo>
                  <a:pt x="857645" y="665656"/>
                  <a:pt x="665656" y="857645"/>
                  <a:pt x="428822" y="857645"/>
                </a:cubicBezTo>
                <a:cubicBezTo>
                  <a:pt x="360575" y="857645"/>
                  <a:pt x="294596" y="841660"/>
                  <a:pt x="235139" y="811509"/>
                </a:cubicBezTo>
                <a:lnTo>
                  <a:pt x="228670" y="808062"/>
                </a:lnTo>
                <a:lnTo>
                  <a:pt x="33292" y="856846"/>
                </a:lnTo>
                <a:cubicBezTo>
                  <a:pt x="16685" y="860995"/>
                  <a:pt x="1405" y="848902"/>
                  <a:pt x="70" y="833191"/>
                </a:cubicBezTo>
                <a:lnTo>
                  <a:pt x="61" y="828828"/>
                </a:lnTo>
                <a:lnTo>
                  <a:pt x="800" y="824341"/>
                </a:lnTo>
                <a:lnTo>
                  <a:pt x="49583" y="629029"/>
                </a:lnTo>
                <a:lnTo>
                  <a:pt x="46189" y="622613"/>
                </a:lnTo>
                <a:cubicBezTo>
                  <a:pt x="21795" y="574547"/>
                  <a:pt x="6664" y="522209"/>
                  <a:pt x="1755" y="467861"/>
                </a:cubicBezTo>
                <a:lnTo>
                  <a:pt x="396" y="447385"/>
                </a:lnTo>
                <a:lnTo>
                  <a:pt x="0" y="428822"/>
                </a:lnTo>
                <a:cubicBezTo>
                  <a:pt x="0" y="191990"/>
                  <a:pt x="191990" y="0"/>
                  <a:pt x="428822" y="0"/>
                </a:cubicBezTo>
                <a:close/>
                <a:moveTo>
                  <a:pt x="455624" y="482425"/>
                </a:moveTo>
                <a:lnTo>
                  <a:pt x="294815" y="482425"/>
                </a:lnTo>
                <a:lnTo>
                  <a:pt x="289998" y="482859"/>
                </a:lnTo>
                <a:cubicBezTo>
                  <a:pt x="277495" y="485127"/>
                  <a:pt x="268014" y="496067"/>
                  <a:pt x="268014" y="509227"/>
                </a:cubicBezTo>
                <a:cubicBezTo>
                  <a:pt x="268014" y="522386"/>
                  <a:pt x="277495" y="533326"/>
                  <a:pt x="289998" y="535594"/>
                </a:cubicBezTo>
                <a:lnTo>
                  <a:pt x="294815" y="536028"/>
                </a:lnTo>
                <a:lnTo>
                  <a:pt x="455624" y="536028"/>
                </a:lnTo>
                <a:lnTo>
                  <a:pt x="460443" y="535594"/>
                </a:lnTo>
                <a:cubicBezTo>
                  <a:pt x="472943" y="533326"/>
                  <a:pt x="482425" y="522386"/>
                  <a:pt x="482425" y="509227"/>
                </a:cubicBezTo>
                <a:cubicBezTo>
                  <a:pt x="482425" y="496067"/>
                  <a:pt x="472943" y="485127"/>
                  <a:pt x="460443" y="482859"/>
                </a:cubicBezTo>
                <a:lnTo>
                  <a:pt x="455624" y="482425"/>
                </a:lnTo>
                <a:close/>
                <a:moveTo>
                  <a:pt x="562829" y="321617"/>
                </a:moveTo>
                <a:lnTo>
                  <a:pt x="294815" y="321617"/>
                </a:lnTo>
                <a:lnTo>
                  <a:pt x="289998" y="322049"/>
                </a:lnTo>
                <a:cubicBezTo>
                  <a:pt x="277495" y="324318"/>
                  <a:pt x="268014" y="335261"/>
                  <a:pt x="268014" y="348418"/>
                </a:cubicBezTo>
                <a:cubicBezTo>
                  <a:pt x="268014" y="361576"/>
                  <a:pt x="277495" y="372519"/>
                  <a:pt x="289998" y="374788"/>
                </a:cubicBezTo>
                <a:lnTo>
                  <a:pt x="294815" y="375220"/>
                </a:lnTo>
                <a:lnTo>
                  <a:pt x="562829" y="375220"/>
                </a:lnTo>
                <a:lnTo>
                  <a:pt x="567648" y="374788"/>
                </a:lnTo>
                <a:cubicBezTo>
                  <a:pt x="580149" y="372519"/>
                  <a:pt x="589631" y="361576"/>
                  <a:pt x="589631" y="348418"/>
                </a:cubicBezTo>
                <a:cubicBezTo>
                  <a:pt x="589631" y="335261"/>
                  <a:pt x="580149" y="324318"/>
                  <a:pt x="567648" y="322049"/>
                </a:cubicBezTo>
                <a:lnTo>
                  <a:pt x="562829" y="321617"/>
                </a:lnTo>
                <a:close/>
              </a:path>
            </a:pathLst>
          </a:custGeom>
          <a:gradFill>
            <a:gsLst>
              <a:gs pos="11000">
                <a:srgbClr val="E405ED"/>
              </a:gs>
              <a:gs pos="66000">
                <a:srgbClr val="F75ECE"/>
              </a:gs>
            </a:gsLst>
            <a:path path="circle">
              <a:fillToRect l="100000" t="100000"/>
            </a:path>
          </a:gradFill>
          <a:ln w="53340" cap="flat">
            <a:noFill/>
            <a:prstDash val="solid"/>
            <a:miter/>
          </a:ln>
        </p:spPr>
        <p:txBody>
          <a:bodyPr/>
          <a:lstStyle/>
          <a:p>
            <a:endParaRPr lang="en-US"/>
          </a:p>
        </p:txBody>
      </p:sp>
    </p:spTree>
    <p:extLst>
      <p:ext uri="{BB962C8B-B14F-4D97-AF65-F5344CB8AC3E}">
        <p14:creationId xmlns:p14="http://schemas.microsoft.com/office/powerpoint/2010/main" val="38526090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STERSLIDE" val="69"/>
</p:tagLst>
</file>

<file path=ppt/tags/tag2.xml><?xml version="1.0" encoding="utf-8"?>
<p:tagLst xmlns:a="http://schemas.openxmlformats.org/drawingml/2006/main" xmlns:r="http://schemas.openxmlformats.org/officeDocument/2006/relationships" xmlns:p="http://schemas.openxmlformats.org/presentationml/2006/main">
  <p:tag name="MASTERSLIDE" val="70"/>
</p:tagLst>
</file>

<file path=ppt/tags/tag3.xml><?xml version="1.0" encoding="utf-8"?>
<p:tagLst xmlns:a="http://schemas.openxmlformats.org/drawingml/2006/main" xmlns:r="http://schemas.openxmlformats.org/officeDocument/2006/relationships" xmlns:p="http://schemas.openxmlformats.org/presentationml/2006/main">
  <p:tag name="MASTERSLIDE" val="71"/>
</p:tagLst>
</file>

<file path=ppt/tags/tag4.xml><?xml version="1.0" encoding="utf-8"?>
<p:tagLst xmlns:a="http://schemas.openxmlformats.org/drawingml/2006/main" xmlns:r="http://schemas.openxmlformats.org/officeDocument/2006/relationships" xmlns:p="http://schemas.openxmlformats.org/presentationml/2006/main">
  <p:tag name="MASTERSLIDE" val="72"/>
</p:tagLst>
</file>

<file path=ppt/tags/tag5.xml><?xml version="1.0" encoding="utf-8"?>
<p:tagLst xmlns:a="http://schemas.openxmlformats.org/drawingml/2006/main" xmlns:r="http://schemas.openxmlformats.org/officeDocument/2006/relationships" xmlns:p="http://schemas.openxmlformats.org/presentationml/2006/main">
  <p:tag name="MASTERSLIDE" val="73"/>
</p:tagLst>
</file>

<file path=ppt/tags/tag6.xml><?xml version="1.0" encoding="utf-8"?>
<p:tagLst xmlns:a="http://schemas.openxmlformats.org/drawingml/2006/main" xmlns:r="http://schemas.openxmlformats.org/officeDocument/2006/relationships" xmlns:p="http://schemas.openxmlformats.org/presentationml/2006/main">
  <p:tag name="MASTERSLIDE" val="74"/>
</p:tagLst>
</file>

<file path=ppt/tags/tag7.xml><?xml version="1.0" encoding="utf-8"?>
<p:tagLst xmlns:a="http://schemas.openxmlformats.org/drawingml/2006/main" xmlns:r="http://schemas.openxmlformats.org/officeDocument/2006/relationships" xmlns:p="http://schemas.openxmlformats.org/presentationml/2006/main">
  <p:tag name="MASTERSLIDE" val="75"/>
</p:tagLst>
</file>

<file path=ppt/tags/tag8.xml><?xml version="1.0" encoding="utf-8"?>
<p:tagLst xmlns:a="http://schemas.openxmlformats.org/drawingml/2006/main" xmlns:r="http://schemas.openxmlformats.org/officeDocument/2006/relationships" xmlns:p="http://schemas.openxmlformats.org/presentationml/2006/main">
  <p:tag name="MASTERSLIDE" val="76"/>
</p:tagLst>
</file>

<file path=ppt/tags/tag9.xml><?xml version="1.0" encoding="utf-8"?>
<p:tagLst xmlns:a="http://schemas.openxmlformats.org/drawingml/2006/main" xmlns:r="http://schemas.openxmlformats.org/officeDocument/2006/relationships" xmlns:p="http://schemas.openxmlformats.org/presentationml/2006/main">
  <p:tag name="MASTERSLIDE" val="77"/>
</p:tagLst>
</file>

<file path=ppt/tags/tag10.xml><?xml version="1.0" encoding="utf-8"?>
<p:tagLst xmlns:a="http://schemas.openxmlformats.org/drawingml/2006/main" xmlns:r="http://schemas.openxmlformats.org/officeDocument/2006/relationships" xmlns:p="http://schemas.openxmlformats.org/presentationml/2006/main">
  <p:tag name="MASTERSLIDE" val="78"/>
</p:tagLst>
</file>

<file path=ppt/theme/theme1.xml><?xml version="1.0" encoding="utf-8"?>
<a:theme xmlns:a="http://schemas.openxmlformats.org/drawingml/2006/main" name="BIC">
  <a:themeElements>
    <a:clrScheme name="Custom 1">
      <a:dk1>
        <a:srgbClr val="FFFFFF"/>
      </a:dk1>
      <a:lt1>
        <a:srgbClr val="FFFFFF"/>
      </a:lt1>
      <a:dk2>
        <a:srgbClr val="000000"/>
      </a:dk2>
      <a:lt2>
        <a:srgbClr val="000000"/>
      </a:lt2>
      <a:accent1>
        <a:srgbClr val="B2AAF8"/>
      </a:accent1>
      <a:accent2>
        <a:srgbClr val="5B57C0"/>
      </a:accent2>
      <a:accent3>
        <a:srgbClr val="36AFCE"/>
      </a:accent3>
      <a:accent4>
        <a:srgbClr val="5B57C0"/>
      </a:accent4>
      <a:accent5>
        <a:srgbClr val="B74919"/>
      </a:accent5>
      <a:accent6>
        <a:srgbClr val="F19D19"/>
      </a:accent6>
      <a:hlink>
        <a:srgbClr val="30FEE0"/>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EABF9C666F3F34C9AE00CD2D96C82E5" ma:contentTypeVersion="18" ma:contentTypeDescription="Create a new document." ma:contentTypeScope="" ma:versionID="89b3a669ee281b514147c137d92b6a74">
  <xsd:schema xmlns:xsd="http://www.w3.org/2001/XMLSchema" xmlns:xs="http://www.w3.org/2001/XMLSchema" xmlns:p="http://schemas.microsoft.com/office/2006/metadata/properties" xmlns:ns1="http://schemas.microsoft.com/sharepoint/v3" xmlns:ns2="0e5da4ae-2edd-4b1d-aed1-1da00b8a7b91" xmlns:ns3="c7357a24-6494-4dea-a223-c4d05f8036eb" targetNamespace="http://schemas.microsoft.com/office/2006/metadata/properties" ma:root="true" ma:fieldsID="90430c092110bcf1641f80c6dc7e8cec" ns1:_="" ns2:_="" ns3:_="">
    <xsd:import namespace="http://schemas.microsoft.com/sharepoint/v3"/>
    <xsd:import namespace="0e5da4ae-2edd-4b1d-aed1-1da00b8a7b91"/>
    <xsd:import namespace="c7357a24-6494-4dea-a223-c4d05f8036e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element ref="ns2:MediaLengthInSeconds" minOccurs="0"/>
                <xsd:element ref="ns2:MediaServiceLocation" minOccurs="0"/>
                <xsd:element ref="ns2:DeliverableFolder"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5da4ae-2edd-4b1d-aed1-1da00b8a7b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DeliverableFolder" ma:index="23" nillable="true" ma:displayName="Deliverable Folder" ma:format="Hyperlink" ma:internalName="DeliverableFolder">
      <xsd:complexType>
        <xsd:complexContent>
          <xsd:extension base="dms:URL">
            <xsd:sequence>
              <xsd:element name="Url" type="dms:ValidUrl" minOccurs="0" nillable="true"/>
              <xsd:element name="Description" type="xsd:string" nillable="true"/>
            </xsd:sequence>
          </xsd:extension>
        </xsd:complexContent>
      </xsd:complexType>
    </xsd:element>
    <xsd:element name="HasDigitalSignature" ma:index="24" nillable="true" ma:displayName="Signed electronically" ma:internalName="HasDigitalSignature" ma:readOnly="true">
      <xsd:simpleType>
        <xsd:restriction base="dms:Boolean"/>
      </xsd:simpleType>
    </xsd:element>
    <xsd:element name="DigitalSignatureProvider" ma:index="2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357a24-6494-4dea-a223-c4d05f8036eb"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a44920f-731b-4ca7-adef-6d3b792fcee8}" ma:internalName="TaxCatchAll" ma:showField="CatchAllData" ma:web="c7357a24-6494-4dea-a223-c4d05f8036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0e5da4ae-2edd-4b1d-aed1-1da00b8a7b91">
      <Terms xmlns="http://schemas.microsoft.com/office/infopath/2007/PartnerControls"/>
    </lcf76f155ced4ddcb4097134ff3c332f>
    <_ip_UnifiedCompliancePolicyProperties xmlns="http://schemas.microsoft.com/sharepoint/v3" xsi:nil="true"/>
    <DeliverableFolder xmlns="0e5da4ae-2edd-4b1d-aed1-1da00b8a7b91">
      <Url xsi:nil="true"/>
      <Description xsi:nil="true"/>
    </DeliverableFolder>
    <TaxCatchAll xmlns="c7357a24-6494-4dea-a223-c4d05f8036eb" xsi:nil="true"/>
  </documentManagement>
</p:properties>
</file>

<file path=customXml/itemProps1.xml><?xml version="1.0" encoding="utf-8"?>
<ds:datastoreItem xmlns:ds="http://schemas.openxmlformats.org/officeDocument/2006/customXml" ds:itemID="{670BD360-9C89-478D-B93F-10C7650041CE}">
  <ds:schemaRefs>
    <ds:schemaRef ds:uri="http://schemas.microsoft.com/sharepoint/v3/contenttype/forms"/>
  </ds:schemaRefs>
</ds:datastoreItem>
</file>

<file path=customXml/itemProps2.xml><?xml version="1.0" encoding="utf-8"?>
<ds:datastoreItem xmlns:ds="http://schemas.openxmlformats.org/officeDocument/2006/customXml" ds:itemID="{778C9813-0BA4-492A-A235-58586A2759ED}">
  <ds:schemaRefs>
    <ds:schemaRef ds:uri="0e5da4ae-2edd-4b1d-aed1-1da00b8a7b91"/>
    <ds:schemaRef ds:uri="c7357a24-6494-4dea-a223-c4d05f8036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E9846C9-91B1-44AC-9839-B9F0551F4705}">
  <ds:schemaRefs>
    <ds:schemaRef ds:uri="http://schemas.microsoft.com/office/infopath/2007/PartnerControls"/>
    <ds:schemaRef ds:uri="http://www.w3.org/XML/1998/namespace"/>
    <ds:schemaRef ds:uri="http://purl.org/dc/elements/1.1/"/>
    <ds:schemaRef ds:uri="http://schemas.microsoft.com/sharepoint/v3"/>
    <ds:schemaRef ds:uri="http://purl.org/dc/dcmitype/"/>
    <ds:schemaRef ds:uri="http://schemas.microsoft.com/office/2006/metadata/properties"/>
    <ds:schemaRef ds:uri="http://schemas.microsoft.com/office/2006/documentManagement/types"/>
    <ds:schemaRef ds:uri="http://purl.org/dc/terms/"/>
    <ds:schemaRef ds:uri="http://schemas.openxmlformats.org/package/2006/metadata/core-properties"/>
    <ds:schemaRef ds:uri="c7357a24-6494-4dea-a223-c4d05f8036eb"/>
    <ds:schemaRef ds:uri="0e5da4ae-2edd-4b1d-aed1-1da00b8a7b91"/>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TotalTime>
  <Words>17324</Words>
  <Application>Microsoft Office PowerPoint</Application>
  <PresentationFormat>Widescreen</PresentationFormat>
  <Paragraphs>2334</Paragraphs>
  <Slides>83</Slides>
  <Notes>81</Notes>
  <HiddenSlides>1</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Aptos</vt:lpstr>
      <vt:lpstr>Arial</vt:lpstr>
      <vt:lpstr>Segoe UI Semibold</vt:lpstr>
      <vt:lpstr>Consolas</vt:lpstr>
      <vt:lpstr>Segoe UI</vt:lpstr>
      <vt:lpstr>Segoe Sans Display Semibold</vt:lpstr>
      <vt:lpstr>Calibri</vt:lpstr>
      <vt:lpstr>BIC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Special Guest…   Saurabh Pant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BIC AMA_062625</dc:title>
  <dc:creator>Tahira Al-Faham</dc:creator>
  <cp:lastModifiedBy>Olivier Conort</cp:lastModifiedBy>
  <cp:revision>2</cp:revision>
  <dcterms:created xsi:type="dcterms:W3CDTF">2025-06-23T16:28:26Z</dcterms:created>
  <dcterms:modified xsi:type="dcterms:W3CDTF">2026-10-27T17:39:42Z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0x0101007EABF9C666F3F34C9AE00CD2D96C82E5</vt:lpwstr>
  </property>
  <property fmtid="{D5CDD505-2E9C-101B-9397-08002B2CF9AE}" pid="3" name="MediaServiceImageTags">
    <vt:lpwstr/>
  </property>
</Properties>
</file>